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1" r:id="rId2"/>
    <p:sldId id="290" r:id="rId3"/>
    <p:sldId id="342" r:id="rId4"/>
    <p:sldId id="295" r:id="rId5"/>
    <p:sldId id="296" r:id="rId6"/>
    <p:sldId id="297" r:id="rId7"/>
    <p:sldId id="299" r:id="rId8"/>
    <p:sldId id="300" r:id="rId9"/>
    <p:sldId id="303" r:id="rId10"/>
    <p:sldId id="379" r:id="rId11"/>
    <p:sldId id="441" r:id="rId12"/>
    <p:sldId id="344" r:id="rId13"/>
    <p:sldId id="411" r:id="rId14"/>
    <p:sldId id="412" r:id="rId15"/>
    <p:sldId id="413" r:id="rId16"/>
    <p:sldId id="417" r:id="rId17"/>
    <p:sldId id="345" r:id="rId18"/>
    <p:sldId id="435" r:id="rId19"/>
    <p:sldId id="321" r:id="rId20"/>
    <p:sldId id="322" r:id="rId21"/>
    <p:sldId id="323" r:id="rId22"/>
    <p:sldId id="325" r:id="rId23"/>
    <p:sldId id="326" r:id="rId24"/>
    <p:sldId id="327" r:id="rId25"/>
    <p:sldId id="328" r:id="rId26"/>
    <p:sldId id="329" r:id="rId27"/>
    <p:sldId id="335" r:id="rId28"/>
    <p:sldId id="337" r:id="rId29"/>
    <p:sldId id="338" r:id="rId30"/>
    <p:sldId id="395" r:id="rId31"/>
    <p:sldId id="396" r:id="rId32"/>
    <p:sldId id="397" r:id="rId33"/>
    <p:sldId id="398" r:id="rId34"/>
    <p:sldId id="430" r:id="rId35"/>
    <p:sldId id="431" r:id="rId36"/>
    <p:sldId id="432" r:id="rId37"/>
    <p:sldId id="440" r:id="rId38"/>
    <p:sldId id="348" r:id="rId39"/>
    <p:sldId id="389" r:id="rId40"/>
    <p:sldId id="387" r:id="rId41"/>
    <p:sldId id="391" r:id="rId42"/>
    <p:sldId id="352" r:id="rId43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29D02C-457C-4B8F-984B-E72CAD0984C1}">
          <p14:sldIdLst>
            <p14:sldId id="341"/>
          </p14:sldIdLst>
        </p14:section>
        <p14:section name="제목 없는 구역" id="{C7526B7E-285C-496C-81BD-109B7837CE12}">
          <p14:sldIdLst>
            <p14:sldId id="290"/>
          </p14:sldIdLst>
        </p14:section>
        <p14:section name="제목 없는 구역" id="{3D8632F8-821A-42BD-AAD3-8AA61129DA65}">
          <p14:sldIdLst>
            <p14:sldId id="342"/>
            <p14:sldId id="295"/>
            <p14:sldId id="296"/>
            <p14:sldId id="297"/>
            <p14:sldId id="299"/>
            <p14:sldId id="300"/>
            <p14:sldId id="303"/>
            <p14:sldId id="379"/>
            <p14:sldId id="441"/>
          </p14:sldIdLst>
        </p14:section>
        <p14:section name="제목 없는 구역" id="{CFE5521E-AEC0-4D6C-A31D-E6FCCDFC05AA}">
          <p14:sldIdLst/>
        </p14:section>
        <p14:section name="제목 없는 구역" id="{13896777-0A74-450F-A4DE-2F4C9C60860D}">
          <p14:sldIdLst>
            <p14:sldId id="344"/>
            <p14:sldId id="411"/>
            <p14:sldId id="412"/>
            <p14:sldId id="413"/>
            <p14:sldId id="417"/>
          </p14:sldIdLst>
        </p14:section>
        <p14:section name="제목 없는 구역" id="{C5CE1FE0-2BAA-4A6C-AAC9-2BF8407ACB93}">
          <p14:sldIdLst>
            <p14:sldId id="345"/>
            <p14:sldId id="435"/>
            <p14:sldId id="321"/>
            <p14:sldId id="322"/>
            <p14:sldId id="323"/>
            <p14:sldId id="325"/>
            <p14:sldId id="326"/>
            <p14:sldId id="327"/>
            <p14:sldId id="328"/>
            <p14:sldId id="329"/>
            <p14:sldId id="335"/>
            <p14:sldId id="337"/>
            <p14:sldId id="338"/>
            <p14:sldId id="395"/>
            <p14:sldId id="396"/>
            <p14:sldId id="397"/>
            <p14:sldId id="398"/>
          </p14:sldIdLst>
        </p14:section>
        <p14:section name="제목 없는 구역" id="{F7C4759E-9076-4A10-A7D2-A6E55B5D7421}">
          <p14:sldIdLst>
            <p14:sldId id="430"/>
            <p14:sldId id="431"/>
            <p14:sldId id="432"/>
          </p14:sldIdLst>
        </p14:section>
        <p14:section name="제목 없는 구역" id="{94D4B5A0-C60B-4F70-A21F-D3DC30E21CED}">
          <p14:sldIdLst>
            <p14:sldId id="440"/>
          </p14:sldIdLst>
        </p14:section>
        <p14:section name="제목 없는 구역" id="{848E4A42-6B9B-4663-A68E-61A77D0E6458}">
          <p14:sldIdLst>
            <p14:sldId id="348"/>
            <p14:sldId id="389"/>
            <p14:sldId id="387"/>
            <p14:sldId id="391"/>
          </p14:sldIdLst>
        </p14:section>
        <p14:section name="제목 없는 구역" id="{B6C95134-9E71-4162-8BC4-5DB0D21F120A}">
          <p14:sldIdLst/>
        </p14:section>
        <p14:section name="제목 없는 구역" id="{A50864A7-1F83-4A35-B463-7EA38C2B59A2}">
          <p14:sldIdLst/>
        </p14:section>
        <p14:section name="제목 없는 구역" id="{74D42103-3353-45B9-8854-421D83A58823}">
          <p14:sldIdLst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orient="horz" pos="799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f44beb1aa6ae25d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55B8"/>
    <a:srgbClr val="F2F2F2"/>
    <a:srgbClr val="434348"/>
    <a:srgbClr val="7F7F7F"/>
    <a:srgbClr val="F9E5E5"/>
    <a:srgbClr val="C00000"/>
    <a:srgbClr val="94B74E"/>
    <a:srgbClr val="37284A"/>
    <a:srgbClr val="BC4441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05" autoAdjust="0"/>
    <p:restoredTop sz="94660"/>
  </p:normalViewPr>
  <p:slideViewPr>
    <p:cSldViewPr snapToGrid="0" showGuides="1">
      <p:cViewPr varScale="1">
        <p:scale>
          <a:sx n="120" d="100"/>
          <a:sy n="120" d="100"/>
        </p:scale>
        <p:origin x="588" y="114"/>
      </p:cViewPr>
      <p:guideLst>
        <p:guide orient="horz" pos="1026"/>
        <p:guide orient="horz" pos="79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hong\Dropbox\1_WORKING\2019_IITP&#52572;&#51333;&#48156;&#54364;&#51088;&#47308;\&#48660;&#47197;&#49373;&#49457;&#49884;&#44036;&#54364;_v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 w="3175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7CB5EC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105-42ED-8A81-93D22B8C8FDC}"/>
              </c:ext>
            </c:extLst>
          </c:dPt>
          <c:dPt>
            <c:idx val="1"/>
            <c:bubble3D val="0"/>
            <c:spPr>
              <a:solidFill>
                <a:srgbClr val="434348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105-42ED-8A81-93D22B8C8FDC}"/>
              </c:ext>
            </c:extLst>
          </c:dPt>
          <c:dPt>
            <c:idx val="2"/>
            <c:bubble3D val="0"/>
            <c:spPr>
              <a:solidFill>
                <a:srgbClr val="90ED7D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105-42ED-8A81-93D22B8C8FDC}"/>
              </c:ext>
            </c:extLst>
          </c:dPt>
          <c:dPt>
            <c:idx val="3"/>
            <c:bubble3D val="0"/>
            <c:spPr>
              <a:solidFill>
                <a:srgbClr val="F7A35C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6105-42ED-8A81-93D22B8C8FDC}"/>
              </c:ext>
            </c:extLst>
          </c:dPt>
          <c:dPt>
            <c:idx val="4"/>
            <c:bubble3D val="0"/>
            <c:spPr>
              <a:solidFill>
                <a:srgbClr val="8085E9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105-42ED-8A81-93D22B8C8FDC}"/>
              </c:ext>
            </c:extLst>
          </c:dPt>
          <c:dPt>
            <c:idx val="5"/>
            <c:bubble3D val="0"/>
            <c:spPr>
              <a:solidFill>
                <a:srgbClr val="F15C80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6105-42ED-8A81-93D22B8C8FDC}"/>
              </c:ext>
            </c:extLst>
          </c:dPt>
          <c:dPt>
            <c:idx val="6"/>
            <c:bubble3D val="0"/>
            <c:spPr>
              <a:solidFill>
                <a:srgbClr val="E4D354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105-42ED-8A81-93D22B8C8FDC}"/>
              </c:ext>
            </c:extLst>
          </c:dPt>
          <c:dPt>
            <c:idx val="7"/>
            <c:bubble3D val="0"/>
            <c:spPr>
              <a:solidFill>
                <a:srgbClr val="2B908F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6105-42ED-8A81-93D22B8C8FDC}"/>
              </c:ext>
            </c:extLst>
          </c:dPt>
          <c:dPt>
            <c:idx val="8"/>
            <c:bubble3D val="0"/>
            <c:spPr>
              <a:solidFill>
                <a:srgbClr val="F45B5B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105-42ED-8A81-93D22B8C8FDC}"/>
              </c:ext>
            </c:extLst>
          </c:dPt>
          <c:dPt>
            <c:idx val="9"/>
            <c:bubble3D val="0"/>
            <c:spPr>
              <a:solidFill>
                <a:srgbClr val="8DE7E0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6105-42ED-8A81-93D22B8C8FDC}"/>
              </c:ext>
            </c:extLst>
          </c:dPt>
          <c:dPt>
            <c:idx val="10"/>
            <c:bubble3D val="0"/>
            <c:spPr>
              <a:solidFill>
                <a:srgbClr val="7CB5EC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105-42ED-8A81-93D22B8C8FDC}"/>
              </c:ext>
            </c:extLst>
          </c:dPt>
          <c:dPt>
            <c:idx val="11"/>
            <c:bubble3D val="0"/>
            <c:spPr>
              <a:solidFill>
                <a:srgbClr val="434348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6105-42ED-8A81-93D22B8C8FDC}"/>
              </c:ext>
            </c:extLst>
          </c:dPt>
          <c:dPt>
            <c:idx val="12"/>
            <c:bubble3D val="0"/>
            <c:spPr>
              <a:solidFill>
                <a:schemeClr val="accent2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105-42ED-8A81-93D22B8C8FDC}"/>
              </c:ext>
            </c:extLst>
          </c:dPt>
          <c:dPt>
            <c:idx val="13"/>
            <c:bubble3D val="0"/>
            <c:spPr>
              <a:solidFill>
                <a:schemeClr val="accent6"/>
              </a:solidFill>
              <a:ln w="317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6105-42ED-8A81-93D22B8C8FDC}"/>
              </c:ext>
            </c:extLst>
          </c:dPt>
          <c:cat>
            <c:strRef>
              <c:f>Sheet1!$A$2:$A$15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05-42ED-8A81-93D22B8C8F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490186316483623E-2"/>
          <c:y val="9.2476528429835669E-2"/>
          <c:w val="0.90327278328781602"/>
          <c:h val="0.62009456668888896"/>
        </c:manualLayout>
      </c:layout>
      <c:lineChart>
        <c:grouping val="standard"/>
        <c:varyColors val="0"/>
        <c:ser>
          <c:idx val="0"/>
          <c:order val="0"/>
          <c:tx>
            <c:v>블록생성시간</c:v>
          </c:tx>
          <c:spPr>
            <a:ln w="28575" cap="rnd">
              <a:solidFill>
                <a:srgbClr val="0255B8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rgbClr val="0255B8"/>
                </a:solidFill>
              </a:ln>
              <a:effectLst/>
            </c:spPr>
          </c:marker>
          <c:val>
            <c:numRef>
              <c:f>Sheet1!$C$3:$C$551</c:f>
              <c:numCache>
                <c:formatCode>h:mm:ss;@</c:formatCode>
                <c:ptCount val="549"/>
                <c:pt idx="0">
                  <c:v>5.7870370370360913E-5</c:v>
                </c:pt>
                <c:pt idx="1">
                  <c:v>5.0925925925926485E-4</c:v>
                </c:pt>
                <c:pt idx="2">
                  <c:v>3.4722222222199894E-5</c:v>
                </c:pt>
                <c:pt idx="3">
                  <c:v>1.5046296296297723E-4</c:v>
                </c:pt>
                <c:pt idx="4">
                  <c:v>1.5046296296294948E-4</c:v>
                </c:pt>
                <c:pt idx="5">
                  <c:v>1.2731481481484397E-4</c:v>
                </c:pt>
                <c:pt idx="6">
                  <c:v>2.3148148148147141E-4</c:v>
                </c:pt>
                <c:pt idx="7">
                  <c:v>2.3148148148161019E-5</c:v>
                </c:pt>
                <c:pt idx="8">
                  <c:v>2.0833333333333814E-4</c:v>
                </c:pt>
                <c:pt idx="9">
                  <c:v>1.0416666666662744E-4</c:v>
                </c:pt>
                <c:pt idx="10">
                  <c:v>1.0416666666668295E-4</c:v>
                </c:pt>
                <c:pt idx="11">
                  <c:v>1.0416666666668295E-4</c:v>
                </c:pt>
                <c:pt idx="12">
                  <c:v>5.7870370370360913E-5</c:v>
                </c:pt>
                <c:pt idx="13">
                  <c:v>1.5046296296294948E-4</c:v>
                </c:pt>
                <c:pt idx="14">
                  <c:v>2.083333333333659E-4</c:v>
                </c:pt>
                <c:pt idx="15">
                  <c:v>1.1574074074072183E-4</c:v>
                </c:pt>
                <c:pt idx="16">
                  <c:v>1.1574074074074958E-4</c:v>
                </c:pt>
                <c:pt idx="17">
                  <c:v>1.2731481481478846E-4</c:v>
                </c:pt>
                <c:pt idx="18">
                  <c:v>1.1574074074094387E-5</c:v>
                </c:pt>
                <c:pt idx="19">
                  <c:v>2.3148148148133263E-5</c:v>
                </c:pt>
                <c:pt idx="20">
                  <c:v>6.94444444444553E-5</c:v>
                </c:pt>
                <c:pt idx="21">
                  <c:v>8.1018518518494176E-5</c:v>
                </c:pt>
                <c:pt idx="22">
                  <c:v>1.5046296296300499E-4</c:v>
                </c:pt>
                <c:pt idx="23">
                  <c:v>8.1018518518521931E-5</c:v>
                </c:pt>
                <c:pt idx="24">
                  <c:v>1.0416666666665519E-4</c:v>
                </c:pt>
                <c:pt idx="25">
                  <c:v>1.0416666666662744E-4</c:v>
                </c:pt>
                <c:pt idx="26">
                  <c:v>3.4722222222283161E-5</c:v>
                </c:pt>
                <c:pt idx="27">
                  <c:v>1.1574074074038876E-5</c:v>
                </c:pt>
                <c:pt idx="28">
                  <c:v>2.1990740740740478E-4</c:v>
                </c:pt>
                <c:pt idx="29">
                  <c:v>8.1018518518521931E-5</c:v>
                </c:pt>
                <c:pt idx="30">
                  <c:v>5.7870370370388668E-5</c:v>
                </c:pt>
                <c:pt idx="31">
                  <c:v>5.7870370370360913E-5</c:v>
                </c:pt>
                <c:pt idx="32">
                  <c:v>1.6203703703704386E-4</c:v>
                </c:pt>
                <c:pt idx="33">
                  <c:v>8.1018518518494176E-5</c:v>
                </c:pt>
                <c:pt idx="34">
                  <c:v>1.7361111111113825E-4</c:v>
                </c:pt>
                <c:pt idx="35">
                  <c:v>4.6296296296294281E-5</c:v>
                </c:pt>
                <c:pt idx="36">
                  <c:v>3.5879629629628762E-4</c:v>
                </c:pt>
                <c:pt idx="37">
                  <c:v>4.6296296296294281E-5</c:v>
                </c:pt>
                <c:pt idx="38">
                  <c:v>9.2592592592616318E-5</c:v>
                </c:pt>
                <c:pt idx="39">
                  <c:v>9.2592592592560807E-5</c:v>
                </c:pt>
                <c:pt idx="40">
                  <c:v>6.94444444444553E-5</c:v>
                </c:pt>
                <c:pt idx="41">
                  <c:v>1.1574074074066631E-5</c:v>
                </c:pt>
                <c:pt idx="42">
                  <c:v>1.8518518518517713E-4</c:v>
                </c:pt>
                <c:pt idx="43">
                  <c:v>5.7870370370388668E-5</c:v>
                </c:pt>
                <c:pt idx="44">
                  <c:v>1.1574074074072183E-4</c:v>
                </c:pt>
                <c:pt idx="45">
                  <c:v>2.3148148148161019E-5</c:v>
                </c:pt>
                <c:pt idx="46">
                  <c:v>6.94444444444553E-5</c:v>
                </c:pt>
                <c:pt idx="47">
                  <c:v>5.7870370370360913E-5</c:v>
                </c:pt>
                <c:pt idx="48">
                  <c:v>1.6203703703704386E-4</c:v>
                </c:pt>
                <c:pt idx="49">
                  <c:v>6.94444444444553E-5</c:v>
                </c:pt>
                <c:pt idx="50">
                  <c:v>9.2592592592560807E-5</c:v>
                </c:pt>
                <c:pt idx="51">
                  <c:v>1.0416666666668295E-4</c:v>
                </c:pt>
                <c:pt idx="52">
                  <c:v>3.472222222222765E-5</c:v>
                </c:pt>
                <c:pt idx="53">
                  <c:v>1.5046296296294948E-4</c:v>
                </c:pt>
                <c:pt idx="54">
                  <c:v>8.1018518518521931E-5</c:v>
                </c:pt>
                <c:pt idx="55">
                  <c:v>2.1990740740740478E-4</c:v>
                </c:pt>
                <c:pt idx="56">
                  <c:v>6.9444444444427544E-5</c:v>
                </c:pt>
                <c:pt idx="57">
                  <c:v>1.0416666666668295E-4</c:v>
                </c:pt>
                <c:pt idx="58">
                  <c:v>9.2592592592616318E-5</c:v>
                </c:pt>
                <c:pt idx="59">
                  <c:v>3.472222222222765E-5</c:v>
                </c:pt>
                <c:pt idx="60">
                  <c:v>2.1990740740740478E-4</c:v>
                </c:pt>
                <c:pt idx="61">
                  <c:v>2.3148148148147141E-4</c:v>
                </c:pt>
                <c:pt idx="62">
                  <c:v>6.9444444444427544E-5</c:v>
                </c:pt>
                <c:pt idx="63">
                  <c:v>5.7870370370360913E-5</c:v>
                </c:pt>
                <c:pt idx="64">
                  <c:v>5.7870370370388668E-5</c:v>
                </c:pt>
                <c:pt idx="65">
                  <c:v>1.2731481481478846E-4</c:v>
                </c:pt>
                <c:pt idx="66">
                  <c:v>0</c:v>
                </c:pt>
                <c:pt idx="67">
                  <c:v>4.6296296296322037E-5</c:v>
                </c:pt>
                <c:pt idx="68">
                  <c:v>1.8518518518517713E-4</c:v>
                </c:pt>
                <c:pt idx="69">
                  <c:v>1.5046296296297723E-4</c:v>
                </c:pt>
                <c:pt idx="70">
                  <c:v>9.2592592592560807E-5</c:v>
                </c:pt>
                <c:pt idx="71">
                  <c:v>2.0833333333333814E-4</c:v>
                </c:pt>
                <c:pt idx="72">
                  <c:v>2.7777777777779344E-4</c:v>
                </c:pt>
                <c:pt idx="73">
                  <c:v>4.6296296296294281E-5</c:v>
                </c:pt>
                <c:pt idx="74">
                  <c:v>5.7870370370388668E-5</c:v>
                </c:pt>
                <c:pt idx="75">
                  <c:v>1.1574074074072183E-4</c:v>
                </c:pt>
                <c:pt idx="76">
                  <c:v>1.7361111111113825E-4</c:v>
                </c:pt>
                <c:pt idx="77">
                  <c:v>3.4722222222172139E-5</c:v>
                </c:pt>
                <c:pt idx="78">
                  <c:v>1.388888888889106E-4</c:v>
                </c:pt>
                <c:pt idx="79">
                  <c:v>1.6203703703704386E-4</c:v>
                </c:pt>
                <c:pt idx="80">
                  <c:v>2.3148148148133263E-5</c:v>
                </c:pt>
                <c:pt idx="81">
                  <c:v>8.1018518518549687E-5</c:v>
                </c:pt>
                <c:pt idx="82">
                  <c:v>1.3888888888885509E-4</c:v>
                </c:pt>
                <c:pt idx="83">
                  <c:v>5.7870370370388668E-5</c:v>
                </c:pt>
                <c:pt idx="84">
                  <c:v>4.6296296296294281E-5</c:v>
                </c:pt>
                <c:pt idx="85">
                  <c:v>1.8518518518517713E-4</c:v>
                </c:pt>
                <c:pt idx="86">
                  <c:v>8.1018518518549687E-5</c:v>
                </c:pt>
                <c:pt idx="87">
                  <c:v>1.3888888888885509E-4</c:v>
                </c:pt>
                <c:pt idx="88">
                  <c:v>1.1574074074094387E-5</c:v>
                </c:pt>
                <c:pt idx="89">
                  <c:v>8.1018518518494176E-5</c:v>
                </c:pt>
                <c:pt idx="90">
                  <c:v>1.2731481481481621E-4</c:v>
                </c:pt>
                <c:pt idx="91">
                  <c:v>4.6296296296322037E-5</c:v>
                </c:pt>
                <c:pt idx="92">
                  <c:v>2.3148148148147141E-4</c:v>
                </c:pt>
                <c:pt idx="93">
                  <c:v>1.9675925925924376E-4</c:v>
                </c:pt>
                <c:pt idx="94">
                  <c:v>3.472222222222765E-5</c:v>
                </c:pt>
                <c:pt idx="95">
                  <c:v>1.7361111111111049E-4</c:v>
                </c:pt>
                <c:pt idx="96">
                  <c:v>1.2731481481484397E-4</c:v>
                </c:pt>
                <c:pt idx="97">
                  <c:v>3.4722222222172139E-5</c:v>
                </c:pt>
                <c:pt idx="98">
                  <c:v>4.6296296296322037E-5</c:v>
                </c:pt>
                <c:pt idx="99">
                  <c:v>2.3148148148133263E-5</c:v>
                </c:pt>
                <c:pt idx="100">
                  <c:v>5.7870370370388668E-5</c:v>
                </c:pt>
                <c:pt idx="101">
                  <c:v>1.1574074074066631E-5</c:v>
                </c:pt>
                <c:pt idx="102">
                  <c:v>3.472222222222765E-5</c:v>
                </c:pt>
                <c:pt idx="103">
                  <c:v>1.1574074074094387E-5</c:v>
                </c:pt>
                <c:pt idx="104">
                  <c:v>3.4722222222172139E-5</c:v>
                </c:pt>
                <c:pt idx="105">
                  <c:v>6.94444444444553E-5</c:v>
                </c:pt>
                <c:pt idx="106">
                  <c:v>2.3148148148161019E-5</c:v>
                </c:pt>
                <c:pt idx="107">
                  <c:v>2.3148148148161019E-5</c:v>
                </c:pt>
                <c:pt idx="108">
                  <c:v>4.6296296296294281E-5</c:v>
                </c:pt>
                <c:pt idx="109">
                  <c:v>3.472222222222765E-5</c:v>
                </c:pt>
                <c:pt idx="110">
                  <c:v>5.7870370370388668E-5</c:v>
                </c:pt>
                <c:pt idx="111">
                  <c:v>5.7870370370333157E-5</c:v>
                </c:pt>
                <c:pt idx="112">
                  <c:v>3.472222222222765E-5</c:v>
                </c:pt>
                <c:pt idx="113">
                  <c:v>2.3148148148161019E-5</c:v>
                </c:pt>
                <c:pt idx="114">
                  <c:v>3.472222222222765E-5</c:v>
                </c:pt>
                <c:pt idx="115">
                  <c:v>5.7870370370360913E-5</c:v>
                </c:pt>
                <c:pt idx="116">
                  <c:v>6.9444444444427544E-5</c:v>
                </c:pt>
                <c:pt idx="117">
                  <c:v>2.3148148148161019E-5</c:v>
                </c:pt>
                <c:pt idx="118">
                  <c:v>6.94444444444553E-5</c:v>
                </c:pt>
                <c:pt idx="119">
                  <c:v>2.3148148148133263E-5</c:v>
                </c:pt>
                <c:pt idx="120">
                  <c:v>3.472222222222765E-5</c:v>
                </c:pt>
                <c:pt idx="121">
                  <c:v>2.3148148148133263E-5</c:v>
                </c:pt>
                <c:pt idx="122">
                  <c:v>4.6296296296294281E-5</c:v>
                </c:pt>
                <c:pt idx="123">
                  <c:v>8.1018518518521931E-5</c:v>
                </c:pt>
                <c:pt idx="124">
                  <c:v>2.3148148148161019E-5</c:v>
                </c:pt>
                <c:pt idx="125">
                  <c:v>6.94444444444553E-5</c:v>
                </c:pt>
                <c:pt idx="126">
                  <c:v>3.472222222222765E-5</c:v>
                </c:pt>
                <c:pt idx="127">
                  <c:v>1.1574074074038876E-5</c:v>
                </c:pt>
                <c:pt idx="128">
                  <c:v>3.472222222222765E-5</c:v>
                </c:pt>
                <c:pt idx="129">
                  <c:v>2.3148148148161019E-5</c:v>
                </c:pt>
                <c:pt idx="130">
                  <c:v>1.1574074074066631E-5</c:v>
                </c:pt>
                <c:pt idx="131">
                  <c:v>1.1574074074066631E-5</c:v>
                </c:pt>
                <c:pt idx="132">
                  <c:v>4.6296296296322037E-5</c:v>
                </c:pt>
                <c:pt idx="133">
                  <c:v>4.6296296296294281E-5</c:v>
                </c:pt>
                <c:pt idx="134">
                  <c:v>0</c:v>
                </c:pt>
                <c:pt idx="135">
                  <c:v>3.472222222222765E-5</c:v>
                </c:pt>
                <c:pt idx="136">
                  <c:v>3.4722222222199894E-5</c:v>
                </c:pt>
                <c:pt idx="137">
                  <c:v>0</c:v>
                </c:pt>
                <c:pt idx="138">
                  <c:v>6.94444444444553E-5</c:v>
                </c:pt>
                <c:pt idx="139">
                  <c:v>5.7870370370360913E-5</c:v>
                </c:pt>
                <c:pt idx="140">
                  <c:v>1.1574074074094387E-5</c:v>
                </c:pt>
                <c:pt idx="141">
                  <c:v>1.1574074074066631E-5</c:v>
                </c:pt>
                <c:pt idx="142">
                  <c:v>1.1574074074066631E-5</c:v>
                </c:pt>
                <c:pt idx="143">
                  <c:v>8.1018518518494176E-5</c:v>
                </c:pt>
                <c:pt idx="144">
                  <c:v>2.3148148148161019E-5</c:v>
                </c:pt>
                <c:pt idx="145">
                  <c:v>1.1574074074066631E-5</c:v>
                </c:pt>
                <c:pt idx="146">
                  <c:v>5.7870370370388668E-5</c:v>
                </c:pt>
                <c:pt idx="147">
                  <c:v>2.3148148148161019E-5</c:v>
                </c:pt>
                <c:pt idx="148">
                  <c:v>1.1574074074066631E-5</c:v>
                </c:pt>
                <c:pt idx="149">
                  <c:v>3.472222222222765E-5</c:v>
                </c:pt>
                <c:pt idx="150">
                  <c:v>4.6296296296294281E-5</c:v>
                </c:pt>
                <c:pt idx="151">
                  <c:v>2.3148148148161019E-5</c:v>
                </c:pt>
                <c:pt idx="152">
                  <c:v>5.7870370370333157E-5</c:v>
                </c:pt>
                <c:pt idx="153">
                  <c:v>1.1574074074094387E-5</c:v>
                </c:pt>
                <c:pt idx="154">
                  <c:v>4.6296296296294281E-5</c:v>
                </c:pt>
                <c:pt idx="155">
                  <c:v>3.472222222222765E-5</c:v>
                </c:pt>
                <c:pt idx="156">
                  <c:v>3.472222222222765E-5</c:v>
                </c:pt>
                <c:pt idx="157">
                  <c:v>3.472222222222765E-5</c:v>
                </c:pt>
                <c:pt idx="158">
                  <c:v>2.3148148148105507E-5</c:v>
                </c:pt>
                <c:pt idx="159">
                  <c:v>5.7870370370388668E-5</c:v>
                </c:pt>
                <c:pt idx="160">
                  <c:v>0</c:v>
                </c:pt>
                <c:pt idx="161">
                  <c:v>6.94444444444553E-5</c:v>
                </c:pt>
                <c:pt idx="162">
                  <c:v>4.6296296296294281E-5</c:v>
                </c:pt>
                <c:pt idx="163">
                  <c:v>4.6296296296322037E-5</c:v>
                </c:pt>
                <c:pt idx="164">
                  <c:v>1.1574074074038876E-5</c:v>
                </c:pt>
                <c:pt idx="165">
                  <c:v>0</c:v>
                </c:pt>
                <c:pt idx="166">
                  <c:v>2.3148148148133263E-5</c:v>
                </c:pt>
                <c:pt idx="167">
                  <c:v>3.472222222222765E-5</c:v>
                </c:pt>
                <c:pt idx="168">
                  <c:v>3.472222222222765E-5</c:v>
                </c:pt>
                <c:pt idx="169">
                  <c:v>1.1574074074094387E-5</c:v>
                </c:pt>
                <c:pt idx="170">
                  <c:v>3.472222222222765E-5</c:v>
                </c:pt>
                <c:pt idx="171">
                  <c:v>5.7870370370333157E-5</c:v>
                </c:pt>
                <c:pt idx="172">
                  <c:v>4.6296296296294281E-5</c:v>
                </c:pt>
                <c:pt idx="173">
                  <c:v>8.1018518518549687E-5</c:v>
                </c:pt>
                <c:pt idx="174">
                  <c:v>8.1018518518521931E-5</c:v>
                </c:pt>
                <c:pt idx="175">
                  <c:v>1.1574074074066631E-5</c:v>
                </c:pt>
                <c:pt idx="176">
                  <c:v>2.3148148148133263E-5</c:v>
                </c:pt>
                <c:pt idx="177">
                  <c:v>1.1574074074094387E-5</c:v>
                </c:pt>
                <c:pt idx="178">
                  <c:v>9.2592592592588563E-5</c:v>
                </c:pt>
                <c:pt idx="179">
                  <c:v>3.472222222222765E-5</c:v>
                </c:pt>
                <c:pt idx="180">
                  <c:v>2.3148148148133263E-5</c:v>
                </c:pt>
                <c:pt idx="181">
                  <c:v>2.3148148148161019E-5</c:v>
                </c:pt>
                <c:pt idx="182">
                  <c:v>9.2592592592560807E-5</c:v>
                </c:pt>
                <c:pt idx="183">
                  <c:v>3.472222222222765E-5</c:v>
                </c:pt>
                <c:pt idx="184">
                  <c:v>2.3148148148161019E-5</c:v>
                </c:pt>
                <c:pt idx="185">
                  <c:v>4.6296296296294281E-5</c:v>
                </c:pt>
                <c:pt idx="186">
                  <c:v>3.472222222222765E-5</c:v>
                </c:pt>
                <c:pt idx="187">
                  <c:v>4.6296296296322037E-5</c:v>
                </c:pt>
                <c:pt idx="188">
                  <c:v>1.1574074074066631E-5</c:v>
                </c:pt>
                <c:pt idx="189">
                  <c:v>4.6296296296266526E-5</c:v>
                </c:pt>
                <c:pt idx="190">
                  <c:v>4.6296296296294281E-5</c:v>
                </c:pt>
                <c:pt idx="191">
                  <c:v>3.472222222222765E-5</c:v>
                </c:pt>
                <c:pt idx="192">
                  <c:v>6.94444444444553E-5</c:v>
                </c:pt>
                <c:pt idx="193">
                  <c:v>3.4722222222199894E-5</c:v>
                </c:pt>
                <c:pt idx="194">
                  <c:v>1.1574074074122143E-5</c:v>
                </c:pt>
                <c:pt idx="195">
                  <c:v>3.4722222222172139E-5</c:v>
                </c:pt>
                <c:pt idx="196">
                  <c:v>6.94444444444553E-5</c:v>
                </c:pt>
                <c:pt idx="197">
                  <c:v>3.472222222222765E-5</c:v>
                </c:pt>
                <c:pt idx="198">
                  <c:v>4.6296296296322037E-5</c:v>
                </c:pt>
                <c:pt idx="199">
                  <c:v>3.472222222222765E-5</c:v>
                </c:pt>
                <c:pt idx="200">
                  <c:v>1.1574074074072183E-4</c:v>
                </c:pt>
                <c:pt idx="201">
                  <c:v>9.2592592592588563E-5</c:v>
                </c:pt>
                <c:pt idx="202">
                  <c:v>1.3888888888888284E-4</c:v>
                </c:pt>
                <c:pt idx="203">
                  <c:v>5.7870370370388668E-5</c:v>
                </c:pt>
                <c:pt idx="204">
                  <c:v>6.9444444444399789E-5</c:v>
                </c:pt>
                <c:pt idx="205">
                  <c:v>4.6296296296322037E-5</c:v>
                </c:pt>
                <c:pt idx="206">
                  <c:v>2.5462962962963243E-4</c:v>
                </c:pt>
                <c:pt idx="207">
                  <c:v>9.2592592592588563E-5</c:v>
                </c:pt>
                <c:pt idx="208">
                  <c:v>9.2592592592588563E-5</c:v>
                </c:pt>
                <c:pt idx="209">
                  <c:v>5.7870370370360913E-5</c:v>
                </c:pt>
                <c:pt idx="210">
                  <c:v>1.5046296296300499E-4</c:v>
                </c:pt>
                <c:pt idx="211">
                  <c:v>9.2592592592560807E-5</c:v>
                </c:pt>
                <c:pt idx="212">
                  <c:v>1.0416666666668295E-4</c:v>
                </c:pt>
                <c:pt idx="213">
                  <c:v>1.0416666666665519E-4</c:v>
                </c:pt>
                <c:pt idx="214">
                  <c:v>1.5046296296297723E-4</c:v>
                </c:pt>
                <c:pt idx="215">
                  <c:v>5.7870370370388668E-5</c:v>
                </c:pt>
                <c:pt idx="216">
                  <c:v>4.6296296296266526E-5</c:v>
                </c:pt>
                <c:pt idx="217">
                  <c:v>2.3148148148133263E-5</c:v>
                </c:pt>
                <c:pt idx="218">
                  <c:v>2.3148148148161019E-5</c:v>
                </c:pt>
                <c:pt idx="219">
                  <c:v>1.1574074074066631E-5</c:v>
                </c:pt>
                <c:pt idx="220">
                  <c:v>5.7870370370388668E-5</c:v>
                </c:pt>
                <c:pt idx="221">
                  <c:v>6.9444444444427544E-5</c:v>
                </c:pt>
                <c:pt idx="222">
                  <c:v>1.9675925925927151E-4</c:v>
                </c:pt>
                <c:pt idx="223">
                  <c:v>8.1018518518494176E-5</c:v>
                </c:pt>
                <c:pt idx="224">
                  <c:v>9.2592592592616318E-5</c:v>
                </c:pt>
                <c:pt idx="225">
                  <c:v>2.0833333333333814E-4</c:v>
                </c:pt>
                <c:pt idx="226">
                  <c:v>2.3148148148133263E-5</c:v>
                </c:pt>
                <c:pt idx="227">
                  <c:v>2.4305555555556579E-4</c:v>
                </c:pt>
                <c:pt idx="228">
                  <c:v>1.3888888888888284E-4</c:v>
                </c:pt>
                <c:pt idx="229">
                  <c:v>1.6203703703704386E-4</c:v>
                </c:pt>
                <c:pt idx="230">
                  <c:v>2.3148148148133263E-5</c:v>
                </c:pt>
                <c:pt idx="231">
                  <c:v>1.1574074074074958E-4</c:v>
                </c:pt>
                <c:pt idx="232">
                  <c:v>4.6296296296294281E-5</c:v>
                </c:pt>
                <c:pt idx="233">
                  <c:v>2.0833333333333814E-4</c:v>
                </c:pt>
                <c:pt idx="234">
                  <c:v>6.94444444444553E-5</c:v>
                </c:pt>
                <c:pt idx="235">
                  <c:v>2.3148148148161019E-5</c:v>
                </c:pt>
                <c:pt idx="236">
                  <c:v>1.6203703703701611E-4</c:v>
                </c:pt>
                <c:pt idx="237">
                  <c:v>1.9675925925924376E-4</c:v>
                </c:pt>
                <c:pt idx="238">
                  <c:v>1.5046296296294948E-4</c:v>
                </c:pt>
                <c:pt idx="239">
                  <c:v>4.6296296296322037E-5</c:v>
                </c:pt>
                <c:pt idx="240">
                  <c:v>9.2592592592588563E-5</c:v>
                </c:pt>
                <c:pt idx="241">
                  <c:v>6.94444444444553E-5</c:v>
                </c:pt>
                <c:pt idx="242">
                  <c:v>1.1574074074072183E-4</c:v>
                </c:pt>
                <c:pt idx="243">
                  <c:v>3.3564814814818211E-4</c:v>
                </c:pt>
                <c:pt idx="244">
                  <c:v>3.472222222222765E-5</c:v>
                </c:pt>
                <c:pt idx="245">
                  <c:v>1.2731481481478846E-4</c:v>
                </c:pt>
                <c:pt idx="246">
                  <c:v>6.94444444444553E-5</c:v>
                </c:pt>
                <c:pt idx="247">
                  <c:v>8.1018518518494176E-5</c:v>
                </c:pt>
                <c:pt idx="248">
                  <c:v>1.0416666666668295E-4</c:v>
                </c:pt>
                <c:pt idx="249">
                  <c:v>5.7870370370388668E-5</c:v>
                </c:pt>
                <c:pt idx="250">
                  <c:v>4.6296296296294281E-5</c:v>
                </c:pt>
                <c:pt idx="251">
                  <c:v>2.3148148148161019E-5</c:v>
                </c:pt>
                <c:pt idx="252">
                  <c:v>3.4722222222172139E-5</c:v>
                </c:pt>
                <c:pt idx="253">
                  <c:v>5.7870370370388668E-5</c:v>
                </c:pt>
                <c:pt idx="254">
                  <c:v>2.0833333333333814E-4</c:v>
                </c:pt>
                <c:pt idx="255">
                  <c:v>5.7870370370360913E-5</c:v>
                </c:pt>
                <c:pt idx="256">
                  <c:v>3.472222222222765E-5</c:v>
                </c:pt>
                <c:pt idx="257">
                  <c:v>2.4305555555556579E-4</c:v>
                </c:pt>
                <c:pt idx="258">
                  <c:v>1.1574074074072183E-4</c:v>
                </c:pt>
                <c:pt idx="259">
                  <c:v>3.472222222222765E-5</c:v>
                </c:pt>
                <c:pt idx="260">
                  <c:v>8.1018518518521931E-5</c:v>
                </c:pt>
                <c:pt idx="261">
                  <c:v>6.9444444444427544E-5</c:v>
                </c:pt>
                <c:pt idx="262">
                  <c:v>1.2731481481484397E-4</c:v>
                </c:pt>
                <c:pt idx="263">
                  <c:v>1.2731481481478846E-4</c:v>
                </c:pt>
                <c:pt idx="264">
                  <c:v>9.2592592592616318E-5</c:v>
                </c:pt>
                <c:pt idx="265">
                  <c:v>9.2592592592560807E-5</c:v>
                </c:pt>
                <c:pt idx="266">
                  <c:v>1.0416666666668295E-4</c:v>
                </c:pt>
                <c:pt idx="267">
                  <c:v>6.94444444444553E-5</c:v>
                </c:pt>
                <c:pt idx="268">
                  <c:v>1.6203703703704386E-4</c:v>
                </c:pt>
                <c:pt idx="269">
                  <c:v>5.7870370370360913E-5</c:v>
                </c:pt>
                <c:pt idx="270">
                  <c:v>1.7361111111108274E-4</c:v>
                </c:pt>
                <c:pt idx="271">
                  <c:v>3.472222222222765E-5</c:v>
                </c:pt>
                <c:pt idx="272">
                  <c:v>1.388888888889106E-4</c:v>
                </c:pt>
                <c:pt idx="273">
                  <c:v>3.0092592592589895E-4</c:v>
                </c:pt>
                <c:pt idx="274">
                  <c:v>3.3564814814818211E-4</c:v>
                </c:pt>
                <c:pt idx="275">
                  <c:v>2.3148148148133263E-5</c:v>
                </c:pt>
                <c:pt idx="276">
                  <c:v>1.6203703703704386E-4</c:v>
                </c:pt>
                <c:pt idx="277">
                  <c:v>8.1018518518549687E-5</c:v>
                </c:pt>
                <c:pt idx="278">
                  <c:v>2.7777777777771018E-4</c:v>
                </c:pt>
                <c:pt idx="279">
                  <c:v>8.1018518518549687E-5</c:v>
                </c:pt>
                <c:pt idx="280">
                  <c:v>2.3148148148133263E-5</c:v>
                </c:pt>
                <c:pt idx="281">
                  <c:v>1.388888888889106E-4</c:v>
                </c:pt>
                <c:pt idx="282">
                  <c:v>1.388888888889106E-4</c:v>
                </c:pt>
                <c:pt idx="283">
                  <c:v>8.1018518518494176E-5</c:v>
                </c:pt>
                <c:pt idx="284">
                  <c:v>8.1018518518494176E-5</c:v>
                </c:pt>
                <c:pt idx="285">
                  <c:v>2.1990740740740478E-4</c:v>
                </c:pt>
                <c:pt idx="286">
                  <c:v>2.8935185185186008E-4</c:v>
                </c:pt>
                <c:pt idx="287">
                  <c:v>2.083333333333659E-4</c:v>
                </c:pt>
                <c:pt idx="288">
                  <c:v>2.3148148148133263E-5</c:v>
                </c:pt>
                <c:pt idx="289">
                  <c:v>6.94444444444553E-5</c:v>
                </c:pt>
                <c:pt idx="290">
                  <c:v>6.9444444444399789E-5</c:v>
                </c:pt>
                <c:pt idx="291">
                  <c:v>2.3148148148188774E-5</c:v>
                </c:pt>
                <c:pt idx="292">
                  <c:v>1.1574074074038876E-5</c:v>
                </c:pt>
                <c:pt idx="293">
                  <c:v>1.2731481481487172E-4</c:v>
                </c:pt>
                <c:pt idx="294">
                  <c:v>1.1574074074072183E-4</c:v>
                </c:pt>
                <c:pt idx="295">
                  <c:v>1.8518518518517713E-4</c:v>
                </c:pt>
                <c:pt idx="296">
                  <c:v>3.472222222222765E-5</c:v>
                </c:pt>
                <c:pt idx="297">
                  <c:v>3.472222222222765E-5</c:v>
                </c:pt>
                <c:pt idx="298">
                  <c:v>1.7361111111108274E-4</c:v>
                </c:pt>
                <c:pt idx="299">
                  <c:v>1.7361111111113825E-4</c:v>
                </c:pt>
                <c:pt idx="300">
                  <c:v>3.2407407407403221E-4</c:v>
                </c:pt>
                <c:pt idx="301">
                  <c:v>5.2083333333335924E-4</c:v>
                </c:pt>
                <c:pt idx="302">
                  <c:v>3.4722222222222099E-4</c:v>
                </c:pt>
                <c:pt idx="303">
                  <c:v>4.8611111111113159E-4</c:v>
                </c:pt>
                <c:pt idx="304">
                  <c:v>4.5138888888890394E-4</c:v>
                </c:pt>
                <c:pt idx="305">
                  <c:v>5.2083333333330373E-4</c:v>
                </c:pt>
                <c:pt idx="306">
                  <c:v>1.2731481481481621E-4</c:v>
                </c:pt>
                <c:pt idx="307">
                  <c:v>4.050925925925819E-4</c:v>
                </c:pt>
                <c:pt idx="308">
                  <c:v>8.1018518518549687E-5</c:v>
                </c:pt>
                <c:pt idx="309">
                  <c:v>8.1018518518494176E-5</c:v>
                </c:pt>
                <c:pt idx="310">
                  <c:v>3.4722222222222099E-4</c:v>
                </c:pt>
                <c:pt idx="311">
                  <c:v>6.4814814814811994E-4</c:v>
                </c:pt>
                <c:pt idx="312">
                  <c:v>1.388888888889106E-4</c:v>
                </c:pt>
                <c:pt idx="313">
                  <c:v>2.777777777778212E-4</c:v>
                </c:pt>
                <c:pt idx="314">
                  <c:v>2.7777777777771018E-4</c:v>
                </c:pt>
                <c:pt idx="315">
                  <c:v>3.472222222222765E-4</c:v>
                </c:pt>
                <c:pt idx="316">
                  <c:v>1.0416666666668295E-4</c:v>
                </c:pt>
                <c:pt idx="317">
                  <c:v>3.0092592592589895E-4</c:v>
                </c:pt>
                <c:pt idx="318">
                  <c:v>1.2731481481481621E-4</c:v>
                </c:pt>
                <c:pt idx="319">
                  <c:v>1.9675925925927151E-4</c:v>
                </c:pt>
                <c:pt idx="320">
                  <c:v>2.662037037036713E-4</c:v>
                </c:pt>
                <c:pt idx="321">
                  <c:v>1.388888888889106E-4</c:v>
                </c:pt>
                <c:pt idx="322">
                  <c:v>1.96759259259216E-4</c:v>
                </c:pt>
                <c:pt idx="323">
                  <c:v>3.2407407407408773E-4</c:v>
                </c:pt>
                <c:pt idx="324">
                  <c:v>1.7361111111113825E-4</c:v>
                </c:pt>
                <c:pt idx="325">
                  <c:v>2.3148148148144365E-4</c:v>
                </c:pt>
                <c:pt idx="326">
                  <c:v>3.0092592592595446E-4</c:v>
                </c:pt>
                <c:pt idx="327">
                  <c:v>2.5462962962963243E-4</c:v>
                </c:pt>
                <c:pt idx="328">
                  <c:v>1.0416666666668295E-4</c:v>
                </c:pt>
                <c:pt idx="329">
                  <c:v>1.6203703703704386E-4</c:v>
                </c:pt>
                <c:pt idx="330">
                  <c:v>3.8194444444439313E-4</c:v>
                </c:pt>
                <c:pt idx="331">
                  <c:v>2.1990740740740478E-4</c:v>
                </c:pt>
                <c:pt idx="332">
                  <c:v>8.1018518518549687E-5</c:v>
                </c:pt>
                <c:pt idx="333">
                  <c:v>2.3148148148149916E-4</c:v>
                </c:pt>
                <c:pt idx="334">
                  <c:v>4.5138888888884843E-4</c:v>
                </c:pt>
                <c:pt idx="335">
                  <c:v>1.6203703703704386E-4</c:v>
                </c:pt>
                <c:pt idx="336">
                  <c:v>1.6203703703704386E-4</c:v>
                </c:pt>
                <c:pt idx="337">
                  <c:v>2.4305555555559355E-4</c:v>
                </c:pt>
                <c:pt idx="338">
                  <c:v>1.1574074074072183E-4</c:v>
                </c:pt>
                <c:pt idx="339">
                  <c:v>3.5879629629631538E-4</c:v>
                </c:pt>
                <c:pt idx="340">
                  <c:v>3.1249999999993783E-4</c:v>
                </c:pt>
                <c:pt idx="341">
                  <c:v>2.083333333333659E-4</c:v>
                </c:pt>
                <c:pt idx="342">
                  <c:v>1.1574074074072183E-4</c:v>
                </c:pt>
                <c:pt idx="343">
                  <c:v>1.8518518518517713E-4</c:v>
                </c:pt>
                <c:pt idx="344">
                  <c:v>1.1574074074077734E-4</c:v>
                </c:pt>
                <c:pt idx="345">
                  <c:v>2.4305555555553804E-4</c:v>
                </c:pt>
                <c:pt idx="346">
                  <c:v>3.2407407407408773E-4</c:v>
                </c:pt>
                <c:pt idx="347">
                  <c:v>1.7361111111113825E-4</c:v>
                </c:pt>
                <c:pt idx="348">
                  <c:v>1.7361111111108274E-4</c:v>
                </c:pt>
                <c:pt idx="349">
                  <c:v>2.8935185185186008E-4</c:v>
                </c:pt>
                <c:pt idx="350">
                  <c:v>8.1018518518494176E-5</c:v>
                </c:pt>
                <c:pt idx="351">
                  <c:v>8.1018518518549687E-5</c:v>
                </c:pt>
                <c:pt idx="352">
                  <c:v>2.0833333333331039E-4</c:v>
                </c:pt>
                <c:pt idx="353">
                  <c:v>1.7361111111108274E-4</c:v>
                </c:pt>
                <c:pt idx="354">
                  <c:v>1.5046296296300499E-4</c:v>
                </c:pt>
                <c:pt idx="355">
                  <c:v>3.7037037037035425E-4</c:v>
                </c:pt>
                <c:pt idx="356">
                  <c:v>3.472222222222765E-5</c:v>
                </c:pt>
                <c:pt idx="357">
                  <c:v>2.4305555555553804E-4</c:v>
                </c:pt>
                <c:pt idx="358">
                  <c:v>5.7870370370416424E-5</c:v>
                </c:pt>
                <c:pt idx="359">
                  <c:v>1.96759259259216E-4</c:v>
                </c:pt>
                <c:pt idx="360">
                  <c:v>5.2083333333335924E-4</c:v>
                </c:pt>
                <c:pt idx="361">
                  <c:v>2.4305555555553804E-4</c:v>
                </c:pt>
                <c:pt idx="362">
                  <c:v>2.4305555555559355E-4</c:v>
                </c:pt>
                <c:pt idx="363">
                  <c:v>1.273148148147607E-4</c:v>
                </c:pt>
                <c:pt idx="364">
                  <c:v>3.8194444444444864E-4</c:v>
                </c:pt>
                <c:pt idx="365">
                  <c:v>1.6203703703704386E-4</c:v>
                </c:pt>
                <c:pt idx="366">
                  <c:v>0</c:v>
                </c:pt>
                <c:pt idx="367">
                  <c:v>2.1990740740740478E-4</c:v>
                </c:pt>
                <c:pt idx="368">
                  <c:v>1.0416666666668295E-4</c:v>
                </c:pt>
                <c:pt idx="369">
                  <c:v>4.6296296296266526E-5</c:v>
                </c:pt>
                <c:pt idx="370">
                  <c:v>5.7870370370416424E-5</c:v>
                </c:pt>
                <c:pt idx="371">
                  <c:v>9.2592592592588563E-5</c:v>
                </c:pt>
                <c:pt idx="372">
                  <c:v>1.7361111111108274E-4</c:v>
                </c:pt>
                <c:pt idx="373">
                  <c:v>2.1990740740740478E-4</c:v>
                </c:pt>
                <c:pt idx="374">
                  <c:v>2.777777777778212E-4</c:v>
                </c:pt>
                <c:pt idx="375">
                  <c:v>3.7037037037035425E-4</c:v>
                </c:pt>
                <c:pt idx="376">
                  <c:v>4.3981481481480955E-4</c:v>
                </c:pt>
                <c:pt idx="377">
                  <c:v>2.083333333333659E-4</c:v>
                </c:pt>
                <c:pt idx="378">
                  <c:v>3.9351851851848751E-4</c:v>
                </c:pt>
                <c:pt idx="379">
                  <c:v>2.7777777777776569E-4</c:v>
                </c:pt>
                <c:pt idx="380">
                  <c:v>1.0416666666668295E-4</c:v>
                </c:pt>
                <c:pt idx="381">
                  <c:v>3.356481481481266E-4</c:v>
                </c:pt>
                <c:pt idx="382">
                  <c:v>8.1018518518549687E-5</c:v>
                </c:pt>
                <c:pt idx="383">
                  <c:v>4.6296296296294281E-4</c:v>
                </c:pt>
                <c:pt idx="384">
                  <c:v>1.1574074074038876E-5</c:v>
                </c:pt>
                <c:pt idx="385">
                  <c:v>9.2592592592644074E-5</c:v>
                </c:pt>
                <c:pt idx="386">
                  <c:v>3.8194444444444864E-4</c:v>
                </c:pt>
                <c:pt idx="387">
                  <c:v>1.2731481481481621E-4</c:v>
                </c:pt>
                <c:pt idx="388">
                  <c:v>8.1018518518494176E-5</c:v>
                </c:pt>
                <c:pt idx="389">
                  <c:v>2.662037037036713E-4</c:v>
                </c:pt>
                <c:pt idx="390">
                  <c:v>1.7361111111113825E-4</c:v>
                </c:pt>
                <c:pt idx="391">
                  <c:v>2.3148148148149916E-4</c:v>
                </c:pt>
                <c:pt idx="392">
                  <c:v>1.3888888888885509E-4</c:v>
                </c:pt>
                <c:pt idx="393">
                  <c:v>5.7870370370416424E-5</c:v>
                </c:pt>
                <c:pt idx="394">
                  <c:v>4.2824074074071516E-4</c:v>
                </c:pt>
                <c:pt idx="395">
                  <c:v>1.2731481481481621E-4</c:v>
                </c:pt>
                <c:pt idx="396">
                  <c:v>1.0416666666668295E-4</c:v>
                </c:pt>
                <c:pt idx="397">
                  <c:v>3.7037037037035425E-4</c:v>
                </c:pt>
                <c:pt idx="398">
                  <c:v>3.0092592592589895E-4</c:v>
                </c:pt>
                <c:pt idx="399">
                  <c:v>5.7870370370372015E-4</c:v>
                </c:pt>
                <c:pt idx="400">
                  <c:v>1.9675925925927151E-4</c:v>
                </c:pt>
                <c:pt idx="401">
                  <c:v>5.9027777777781454E-4</c:v>
                </c:pt>
                <c:pt idx="402">
                  <c:v>4.050925925925819E-4</c:v>
                </c:pt>
                <c:pt idx="403">
                  <c:v>6.2499999999998668E-4</c:v>
                </c:pt>
                <c:pt idx="404">
                  <c:v>4.8611111111107608E-4</c:v>
                </c:pt>
                <c:pt idx="405">
                  <c:v>4.8611111111113159E-4</c:v>
                </c:pt>
                <c:pt idx="406">
                  <c:v>1.388888888889106E-4</c:v>
                </c:pt>
                <c:pt idx="407">
                  <c:v>4.8611111111107608E-4</c:v>
                </c:pt>
                <c:pt idx="408">
                  <c:v>4.745370370370372E-4</c:v>
                </c:pt>
                <c:pt idx="409">
                  <c:v>3.5879629629631538E-4</c:v>
                </c:pt>
                <c:pt idx="410">
                  <c:v>7.5231481481480289E-4</c:v>
                </c:pt>
                <c:pt idx="411">
                  <c:v>4.2824074074077068E-4</c:v>
                </c:pt>
                <c:pt idx="412">
                  <c:v>3.8194444444439313E-4</c:v>
                </c:pt>
                <c:pt idx="413">
                  <c:v>3.0092592592595446E-4</c:v>
                </c:pt>
                <c:pt idx="414">
                  <c:v>6.2499999999998668E-4</c:v>
                </c:pt>
                <c:pt idx="415">
                  <c:v>2.4305555555553804E-4</c:v>
                </c:pt>
                <c:pt idx="416">
                  <c:v>2.5462962962963243E-4</c:v>
                </c:pt>
                <c:pt idx="417">
                  <c:v>8.3333333333335258E-4</c:v>
                </c:pt>
                <c:pt idx="418">
                  <c:v>3.0092592592589895E-4</c:v>
                </c:pt>
                <c:pt idx="419">
                  <c:v>3.7037037037040976E-4</c:v>
                </c:pt>
                <c:pt idx="420">
                  <c:v>6.8287037037034759E-4</c:v>
                </c:pt>
                <c:pt idx="421">
                  <c:v>2.3148148148149916E-4</c:v>
                </c:pt>
                <c:pt idx="422">
                  <c:v>3.5879629629631538E-4</c:v>
                </c:pt>
                <c:pt idx="423">
                  <c:v>5.9027777777775903E-4</c:v>
                </c:pt>
                <c:pt idx="424">
                  <c:v>6.3657407407408106E-4</c:v>
                </c:pt>
                <c:pt idx="425">
                  <c:v>1.0532407407407574E-3</c:v>
                </c:pt>
                <c:pt idx="426">
                  <c:v>3.5879629629625986E-4</c:v>
                </c:pt>
                <c:pt idx="427">
                  <c:v>9.6064814814816879E-4</c:v>
                </c:pt>
                <c:pt idx="428">
                  <c:v>2.8935185185186008E-4</c:v>
                </c:pt>
                <c:pt idx="429">
                  <c:v>9.490740740740744E-4</c:v>
                </c:pt>
                <c:pt idx="430">
                  <c:v>9.2592592592588563E-5</c:v>
                </c:pt>
                <c:pt idx="431">
                  <c:v>5.0925925925926485E-4</c:v>
                </c:pt>
                <c:pt idx="432">
                  <c:v>7.1759259259257524E-4</c:v>
                </c:pt>
                <c:pt idx="433">
                  <c:v>3.1249999999999334E-4</c:v>
                </c:pt>
                <c:pt idx="434">
                  <c:v>1.0416666666668295E-4</c:v>
                </c:pt>
                <c:pt idx="435">
                  <c:v>6.4814814814811994E-4</c:v>
                </c:pt>
                <c:pt idx="436">
                  <c:v>1.8518518518517713E-4</c:v>
                </c:pt>
                <c:pt idx="437">
                  <c:v>1.2731481481487172E-4</c:v>
                </c:pt>
                <c:pt idx="438">
                  <c:v>1.0532407407407018E-3</c:v>
                </c:pt>
                <c:pt idx="439">
                  <c:v>8.5648148148148584E-4</c:v>
                </c:pt>
                <c:pt idx="440">
                  <c:v>1.388888888889106E-4</c:v>
                </c:pt>
                <c:pt idx="441">
                  <c:v>3.0092592592589895E-4</c:v>
                </c:pt>
                <c:pt idx="442">
                  <c:v>6.0185185185185341E-4</c:v>
                </c:pt>
                <c:pt idx="443">
                  <c:v>5.7870370370360913E-5</c:v>
                </c:pt>
                <c:pt idx="444">
                  <c:v>2.777777777778212E-4</c:v>
                </c:pt>
                <c:pt idx="445">
                  <c:v>4.2824074074071516E-4</c:v>
                </c:pt>
                <c:pt idx="446">
                  <c:v>5.3240740740739811E-4</c:v>
                </c:pt>
                <c:pt idx="447">
                  <c:v>1.8518518518517713E-4</c:v>
                </c:pt>
                <c:pt idx="448">
                  <c:v>1.7361111111113825E-4</c:v>
                </c:pt>
                <c:pt idx="449">
                  <c:v>7.1759259259257524E-4</c:v>
                </c:pt>
                <c:pt idx="450">
                  <c:v>4.3981481481480955E-4</c:v>
                </c:pt>
                <c:pt idx="451">
                  <c:v>9.2592592592588563E-5</c:v>
                </c:pt>
                <c:pt idx="452">
                  <c:v>8.5648148148148584E-4</c:v>
                </c:pt>
                <c:pt idx="453">
                  <c:v>3.4722222222222099E-4</c:v>
                </c:pt>
                <c:pt idx="454">
                  <c:v>2.3148148148149916E-4</c:v>
                </c:pt>
                <c:pt idx="455">
                  <c:v>2.7777777777776569E-4</c:v>
                </c:pt>
                <c:pt idx="456">
                  <c:v>1.9675925925927151E-4</c:v>
                </c:pt>
                <c:pt idx="457">
                  <c:v>2.1990740740740478E-4</c:v>
                </c:pt>
                <c:pt idx="458">
                  <c:v>6.7129629629630871E-4</c:v>
                </c:pt>
                <c:pt idx="459">
                  <c:v>5.2083333333330373E-4</c:v>
                </c:pt>
                <c:pt idx="460">
                  <c:v>3.8194444444444864E-4</c:v>
                </c:pt>
                <c:pt idx="461">
                  <c:v>4.745370370370372E-4</c:v>
                </c:pt>
                <c:pt idx="462">
                  <c:v>8.1018518518549687E-5</c:v>
                </c:pt>
                <c:pt idx="463">
                  <c:v>2.3148148148144365E-4</c:v>
                </c:pt>
                <c:pt idx="464">
                  <c:v>3.3564814814818211E-4</c:v>
                </c:pt>
                <c:pt idx="465">
                  <c:v>1.0416666666662744E-4</c:v>
                </c:pt>
                <c:pt idx="466">
                  <c:v>5.7870370370372015E-4</c:v>
                </c:pt>
                <c:pt idx="467">
                  <c:v>6.3657407407408106E-4</c:v>
                </c:pt>
                <c:pt idx="468">
                  <c:v>4.9768518518517046E-4</c:v>
                </c:pt>
                <c:pt idx="469">
                  <c:v>1.388888888889106E-4</c:v>
                </c:pt>
                <c:pt idx="470">
                  <c:v>7.9861111111112493E-4</c:v>
                </c:pt>
                <c:pt idx="471">
                  <c:v>1.1574074074072183E-4</c:v>
                </c:pt>
                <c:pt idx="472">
                  <c:v>2.7777777777776569E-4</c:v>
                </c:pt>
                <c:pt idx="473">
                  <c:v>1.8518518518517713E-4</c:v>
                </c:pt>
                <c:pt idx="474">
                  <c:v>7.5231481481480289E-4</c:v>
                </c:pt>
                <c:pt idx="475">
                  <c:v>1.7361111111113825E-4</c:v>
                </c:pt>
                <c:pt idx="476">
                  <c:v>4.745370370370372E-4</c:v>
                </c:pt>
                <c:pt idx="477">
                  <c:v>3.4722222222222099E-4</c:v>
                </c:pt>
                <c:pt idx="478">
                  <c:v>3.8194444444444864E-4</c:v>
                </c:pt>
                <c:pt idx="479">
                  <c:v>5.0925925925926485E-4</c:v>
                </c:pt>
                <c:pt idx="480">
                  <c:v>3.8194444444444864E-4</c:v>
                </c:pt>
                <c:pt idx="481">
                  <c:v>3.1249999999999334E-4</c:v>
                </c:pt>
                <c:pt idx="482">
                  <c:v>2.4305555555553804E-4</c:v>
                </c:pt>
                <c:pt idx="483">
                  <c:v>3.4722222222222099E-4</c:v>
                </c:pt>
                <c:pt idx="484">
                  <c:v>6.828703703704031E-4</c:v>
                </c:pt>
                <c:pt idx="485">
                  <c:v>4.8611111111107608E-4</c:v>
                </c:pt>
                <c:pt idx="486">
                  <c:v>2.5462962962963243E-4</c:v>
                </c:pt>
                <c:pt idx="487">
                  <c:v>2.3148148148149916E-4</c:v>
                </c:pt>
                <c:pt idx="488">
                  <c:v>2.6620370370372681E-4</c:v>
                </c:pt>
                <c:pt idx="489">
                  <c:v>4.3981481481480955E-4</c:v>
                </c:pt>
                <c:pt idx="490">
                  <c:v>4.9768518518517046E-4</c:v>
                </c:pt>
                <c:pt idx="491">
                  <c:v>4.9768518518517046E-4</c:v>
                </c:pt>
                <c:pt idx="492">
                  <c:v>4.050925925925819E-4</c:v>
                </c:pt>
                <c:pt idx="493">
                  <c:v>1.0416666666668295E-4</c:v>
                </c:pt>
                <c:pt idx="494">
                  <c:v>3.2407407407408773E-4</c:v>
                </c:pt>
                <c:pt idx="495">
                  <c:v>1.0416666666668295E-4</c:v>
                </c:pt>
                <c:pt idx="496">
                  <c:v>2.5462962962963243E-4</c:v>
                </c:pt>
                <c:pt idx="497">
                  <c:v>7.5231481481474738E-4</c:v>
                </c:pt>
                <c:pt idx="498">
                  <c:v>1.5162037037037557E-3</c:v>
                </c:pt>
                <c:pt idx="499">
                  <c:v>6.134259259259478E-4</c:v>
                </c:pt>
                <c:pt idx="500">
                  <c:v>8.796296296296191E-4</c:v>
                </c:pt>
                <c:pt idx="501">
                  <c:v>6.94444444444553E-5</c:v>
                </c:pt>
                <c:pt idx="502">
                  <c:v>1.0300925925925686E-3</c:v>
                </c:pt>
                <c:pt idx="503">
                  <c:v>3.356481481481266E-4</c:v>
                </c:pt>
                <c:pt idx="504">
                  <c:v>6.2499999999998668E-4</c:v>
                </c:pt>
                <c:pt idx="505">
                  <c:v>5.2083333333335924E-4</c:v>
                </c:pt>
                <c:pt idx="506">
                  <c:v>7.5231481481480289E-4</c:v>
                </c:pt>
                <c:pt idx="507">
                  <c:v>1.5162037037037002E-3</c:v>
                </c:pt>
                <c:pt idx="508">
                  <c:v>3.9351851851854303E-4</c:v>
                </c:pt>
                <c:pt idx="509">
                  <c:v>8.5648148148148584E-4</c:v>
                </c:pt>
                <c:pt idx="510">
                  <c:v>4.1666666666662078E-4</c:v>
                </c:pt>
                <c:pt idx="511">
                  <c:v>3.2407407407408773E-4</c:v>
                </c:pt>
                <c:pt idx="512">
                  <c:v>7.6388888888889728E-4</c:v>
                </c:pt>
                <c:pt idx="513">
                  <c:v>1.1111111111111183E-3</c:v>
                </c:pt>
                <c:pt idx="514">
                  <c:v>1.6666666666666496E-3</c:v>
                </c:pt>
                <c:pt idx="515">
                  <c:v>1.7361111111113825E-4</c:v>
                </c:pt>
                <c:pt idx="516">
                  <c:v>2.3148148148144365E-4</c:v>
                </c:pt>
                <c:pt idx="517">
                  <c:v>1.7361111111113825E-4</c:v>
                </c:pt>
                <c:pt idx="518">
                  <c:v>7.7546296296293615E-4</c:v>
                </c:pt>
                <c:pt idx="519">
                  <c:v>2.083333333333659E-4</c:v>
                </c:pt>
                <c:pt idx="520">
                  <c:v>1.4930555555555669E-3</c:v>
                </c:pt>
                <c:pt idx="521">
                  <c:v>8.796296296296191E-4</c:v>
                </c:pt>
                <c:pt idx="522">
                  <c:v>5.9027777777775903E-4</c:v>
                </c:pt>
                <c:pt idx="523">
                  <c:v>2.1990740740740478E-4</c:v>
                </c:pt>
                <c:pt idx="524">
                  <c:v>1.1226851851852127E-3</c:v>
                </c:pt>
                <c:pt idx="525">
                  <c:v>1.0532407407407574E-3</c:v>
                </c:pt>
                <c:pt idx="526">
                  <c:v>3.5879629629631538E-4</c:v>
                </c:pt>
                <c:pt idx="527">
                  <c:v>3.8194444444439313E-4</c:v>
                </c:pt>
                <c:pt idx="528">
                  <c:v>5.0925925925926485E-4</c:v>
                </c:pt>
                <c:pt idx="529">
                  <c:v>4.2824074074077068E-4</c:v>
                </c:pt>
                <c:pt idx="530">
                  <c:v>6.712962962962532E-4</c:v>
                </c:pt>
                <c:pt idx="531">
                  <c:v>1.8865740740741099E-3</c:v>
                </c:pt>
                <c:pt idx="532">
                  <c:v>1.1226851851851571E-3</c:v>
                </c:pt>
                <c:pt idx="533">
                  <c:v>8.2175925925925819E-4</c:v>
                </c:pt>
                <c:pt idx="534">
                  <c:v>5.7870370370372015E-4</c:v>
                </c:pt>
                <c:pt idx="535">
                  <c:v>4.050925925925819E-4</c:v>
                </c:pt>
                <c:pt idx="536">
                  <c:v>2.8935185185186008E-4</c:v>
                </c:pt>
                <c:pt idx="537">
                  <c:v>1.6898148148148384E-3</c:v>
                </c:pt>
                <c:pt idx="538">
                  <c:v>8.796296296296191E-4</c:v>
                </c:pt>
                <c:pt idx="539">
                  <c:v>8.101851851851638E-4</c:v>
                </c:pt>
                <c:pt idx="540">
                  <c:v>1.8865740740740544E-3</c:v>
                </c:pt>
                <c:pt idx="541">
                  <c:v>1.1921296296296124E-3</c:v>
                </c:pt>
                <c:pt idx="542">
                  <c:v>6.5972222222226984E-4</c:v>
                </c:pt>
                <c:pt idx="543">
                  <c:v>1.2152777777778012E-3</c:v>
                </c:pt>
                <c:pt idx="544">
                  <c:v>7.9861111111106942E-4</c:v>
                </c:pt>
                <c:pt idx="545">
                  <c:v>7.1759259259263075E-4</c:v>
                </c:pt>
                <c:pt idx="546">
                  <c:v>7.8703703703697503E-4</c:v>
                </c:pt>
                <c:pt idx="547">
                  <c:v>1.5740740740741166E-3</c:v>
                </c:pt>
                <c:pt idx="548">
                  <c:v>1.4004629629629228E-3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E-4B0E-970D-30EE7ADA0F10}"/>
            </c:ext>
          </c:extLst>
        </c:ser>
        <c:ser>
          <c:idx val="1"/>
          <c:order val="1"/>
          <c:tx>
            <c:v>목표시간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Sheet1!$D$3:$D$551</c:f>
              <c:numCache>
                <c:formatCode>h:mm:ss;@</c:formatCode>
                <c:ptCount val="549"/>
                <c:pt idx="0">
                  <c:v>1.3888888888888889E-3</c:v>
                </c:pt>
                <c:pt idx="1">
                  <c:v>1.3888888888888889E-3</c:v>
                </c:pt>
                <c:pt idx="2">
                  <c:v>1.3888888888888889E-3</c:v>
                </c:pt>
                <c:pt idx="3">
                  <c:v>1.3888888888888889E-3</c:v>
                </c:pt>
                <c:pt idx="4">
                  <c:v>1.3888888888888889E-3</c:v>
                </c:pt>
                <c:pt idx="5">
                  <c:v>1.3888888888888889E-3</c:v>
                </c:pt>
                <c:pt idx="6">
                  <c:v>1.3888888888888889E-3</c:v>
                </c:pt>
                <c:pt idx="7">
                  <c:v>1.3888888888888889E-3</c:v>
                </c:pt>
                <c:pt idx="8">
                  <c:v>1.3888888888888889E-3</c:v>
                </c:pt>
                <c:pt idx="9">
                  <c:v>1.3888888888888889E-3</c:v>
                </c:pt>
                <c:pt idx="10">
                  <c:v>1.3888888888888889E-3</c:v>
                </c:pt>
                <c:pt idx="11">
                  <c:v>1.3888888888888889E-3</c:v>
                </c:pt>
                <c:pt idx="12">
                  <c:v>1.3888888888888889E-3</c:v>
                </c:pt>
                <c:pt idx="13">
                  <c:v>1.3888888888888889E-3</c:v>
                </c:pt>
                <c:pt idx="14">
                  <c:v>1.3888888888888889E-3</c:v>
                </c:pt>
                <c:pt idx="15">
                  <c:v>1.3888888888888889E-3</c:v>
                </c:pt>
                <c:pt idx="16">
                  <c:v>1.3888888888888889E-3</c:v>
                </c:pt>
                <c:pt idx="17">
                  <c:v>1.3888888888888889E-3</c:v>
                </c:pt>
                <c:pt idx="18">
                  <c:v>1.3888888888888889E-3</c:v>
                </c:pt>
                <c:pt idx="19">
                  <c:v>1.3888888888888889E-3</c:v>
                </c:pt>
                <c:pt idx="20">
                  <c:v>1.3888888888888889E-3</c:v>
                </c:pt>
                <c:pt idx="21">
                  <c:v>1.3888888888888889E-3</c:v>
                </c:pt>
                <c:pt idx="22">
                  <c:v>1.3888888888888889E-3</c:v>
                </c:pt>
                <c:pt idx="23">
                  <c:v>1.3888888888888889E-3</c:v>
                </c:pt>
                <c:pt idx="24">
                  <c:v>1.3888888888888889E-3</c:v>
                </c:pt>
                <c:pt idx="25">
                  <c:v>1.3888888888888889E-3</c:v>
                </c:pt>
                <c:pt idx="26">
                  <c:v>1.3888888888888889E-3</c:v>
                </c:pt>
                <c:pt idx="27">
                  <c:v>1.3888888888888889E-3</c:v>
                </c:pt>
                <c:pt idx="28">
                  <c:v>1.3888888888888889E-3</c:v>
                </c:pt>
                <c:pt idx="29">
                  <c:v>1.3888888888888889E-3</c:v>
                </c:pt>
                <c:pt idx="30">
                  <c:v>1.3888888888888889E-3</c:v>
                </c:pt>
                <c:pt idx="31">
                  <c:v>1.3888888888888889E-3</c:v>
                </c:pt>
                <c:pt idx="32">
                  <c:v>1.3888888888888889E-3</c:v>
                </c:pt>
                <c:pt idx="33">
                  <c:v>1.3888888888888889E-3</c:v>
                </c:pt>
                <c:pt idx="34">
                  <c:v>1.3888888888888889E-3</c:v>
                </c:pt>
                <c:pt idx="35">
                  <c:v>1.3888888888888889E-3</c:v>
                </c:pt>
                <c:pt idx="36">
                  <c:v>1.3888888888888889E-3</c:v>
                </c:pt>
                <c:pt idx="37">
                  <c:v>1.3888888888888889E-3</c:v>
                </c:pt>
                <c:pt idx="38">
                  <c:v>1.3888888888888889E-3</c:v>
                </c:pt>
                <c:pt idx="39">
                  <c:v>1.3888888888888889E-3</c:v>
                </c:pt>
                <c:pt idx="40">
                  <c:v>1.3888888888888889E-3</c:v>
                </c:pt>
                <c:pt idx="41">
                  <c:v>1.3888888888888889E-3</c:v>
                </c:pt>
                <c:pt idx="42">
                  <c:v>1.3888888888888889E-3</c:v>
                </c:pt>
                <c:pt idx="43">
                  <c:v>1.3888888888888889E-3</c:v>
                </c:pt>
                <c:pt idx="44">
                  <c:v>1.3888888888888889E-3</c:v>
                </c:pt>
                <c:pt idx="45">
                  <c:v>1.3888888888888889E-3</c:v>
                </c:pt>
                <c:pt idx="46">
                  <c:v>1.3888888888888889E-3</c:v>
                </c:pt>
                <c:pt idx="47">
                  <c:v>1.3888888888888889E-3</c:v>
                </c:pt>
                <c:pt idx="48">
                  <c:v>1.3888888888888889E-3</c:v>
                </c:pt>
                <c:pt idx="49">
                  <c:v>1.3888888888888889E-3</c:v>
                </c:pt>
                <c:pt idx="50">
                  <c:v>1.3888888888888889E-3</c:v>
                </c:pt>
                <c:pt idx="51">
                  <c:v>1.3888888888888889E-3</c:v>
                </c:pt>
                <c:pt idx="52">
                  <c:v>1.3888888888888889E-3</c:v>
                </c:pt>
                <c:pt idx="53">
                  <c:v>1.3888888888888889E-3</c:v>
                </c:pt>
                <c:pt idx="54">
                  <c:v>1.3888888888888889E-3</c:v>
                </c:pt>
                <c:pt idx="55">
                  <c:v>1.3888888888888889E-3</c:v>
                </c:pt>
                <c:pt idx="56">
                  <c:v>1.3888888888888889E-3</c:v>
                </c:pt>
                <c:pt idx="57">
                  <c:v>1.3888888888888889E-3</c:v>
                </c:pt>
                <c:pt idx="58">
                  <c:v>1.3888888888888889E-3</c:v>
                </c:pt>
                <c:pt idx="59">
                  <c:v>1.3888888888888889E-3</c:v>
                </c:pt>
                <c:pt idx="60">
                  <c:v>1.3888888888888889E-3</c:v>
                </c:pt>
                <c:pt idx="61">
                  <c:v>1.3888888888888889E-3</c:v>
                </c:pt>
                <c:pt idx="62">
                  <c:v>1.3888888888888889E-3</c:v>
                </c:pt>
                <c:pt idx="63">
                  <c:v>1.3888888888888889E-3</c:v>
                </c:pt>
                <c:pt idx="64">
                  <c:v>1.3888888888888889E-3</c:v>
                </c:pt>
                <c:pt idx="65">
                  <c:v>1.3888888888888889E-3</c:v>
                </c:pt>
                <c:pt idx="66">
                  <c:v>1.3888888888888889E-3</c:v>
                </c:pt>
                <c:pt idx="67">
                  <c:v>1.3888888888888889E-3</c:v>
                </c:pt>
                <c:pt idx="68">
                  <c:v>1.3888888888888889E-3</c:v>
                </c:pt>
                <c:pt idx="69">
                  <c:v>1.3888888888888889E-3</c:v>
                </c:pt>
                <c:pt idx="70">
                  <c:v>1.3888888888888889E-3</c:v>
                </c:pt>
                <c:pt idx="71">
                  <c:v>1.3888888888888889E-3</c:v>
                </c:pt>
                <c:pt idx="72">
                  <c:v>1.3888888888888889E-3</c:v>
                </c:pt>
                <c:pt idx="73">
                  <c:v>1.3888888888888889E-3</c:v>
                </c:pt>
                <c:pt idx="74">
                  <c:v>1.3888888888888889E-3</c:v>
                </c:pt>
                <c:pt idx="75">
                  <c:v>1.3888888888888889E-3</c:v>
                </c:pt>
                <c:pt idx="76">
                  <c:v>1.3888888888888889E-3</c:v>
                </c:pt>
                <c:pt idx="77">
                  <c:v>1.3888888888888889E-3</c:v>
                </c:pt>
                <c:pt idx="78">
                  <c:v>1.3888888888888889E-3</c:v>
                </c:pt>
                <c:pt idx="79">
                  <c:v>1.3888888888888889E-3</c:v>
                </c:pt>
                <c:pt idx="80">
                  <c:v>1.3888888888888889E-3</c:v>
                </c:pt>
                <c:pt idx="81">
                  <c:v>1.3888888888888889E-3</c:v>
                </c:pt>
                <c:pt idx="82">
                  <c:v>1.3888888888888889E-3</c:v>
                </c:pt>
                <c:pt idx="83">
                  <c:v>1.3888888888888889E-3</c:v>
                </c:pt>
                <c:pt idx="84">
                  <c:v>1.3888888888888889E-3</c:v>
                </c:pt>
                <c:pt idx="85">
                  <c:v>1.3888888888888889E-3</c:v>
                </c:pt>
                <c:pt idx="86">
                  <c:v>1.3888888888888889E-3</c:v>
                </c:pt>
                <c:pt idx="87">
                  <c:v>1.3888888888888889E-3</c:v>
                </c:pt>
                <c:pt idx="88">
                  <c:v>1.3888888888888889E-3</c:v>
                </c:pt>
                <c:pt idx="89">
                  <c:v>1.3888888888888889E-3</c:v>
                </c:pt>
                <c:pt idx="90">
                  <c:v>1.3888888888888889E-3</c:v>
                </c:pt>
                <c:pt idx="91">
                  <c:v>1.3888888888888889E-3</c:v>
                </c:pt>
                <c:pt idx="92">
                  <c:v>1.3888888888888889E-3</c:v>
                </c:pt>
                <c:pt idx="93">
                  <c:v>1.3888888888888889E-3</c:v>
                </c:pt>
                <c:pt idx="94">
                  <c:v>1.3888888888888889E-3</c:v>
                </c:pt>
                <c:pt idx="95">
                  <c:v>1.3888888888888889E-3</c:v>
                </c:pt>
                <c:pt idx="96">
                  <c:v>1.3888888888888889E-3</c:v>
                </c:pt>
                <c:pt idx="97">
                  <c:v>1.3888888888888889E-3</c:v>
                </c:pt>
                <c:pt idx="98">
                  <c:v>1.3888888888888889E-3</c:v>
                </c:pt>
                <c:pt idx="99">
                  <c:v>1.3888888888888889E-3</c:v>
                </c:pt>
                <c:pt idx="100">
                  <c:v>1.3888888888888889E-3</c:v>
                </c:pt>
                <c:pt idx="101">
                  <c:v>1.3888888888888889E-3</c:v>
                </c:pt>
                <c:pt idx="102">
                  <c:v>1.3888888888888889E-3</c:v>
                </c:pt>
                <c:pt idx="103">
                  <c:v>1.3888888888888889E-3</c:v>
                </c:pt>
                <c:pt idx="104">
                  <c:v>1.3888888888888889E-3</c:v>
                </c:pt>
                <c:pt idx="105">
                  <c:v>1.3888888888888889E-3</c:v>
                </c:pt>
                <c:pt idx="106">
                  <c:v>1.3888888888888889E-3</c:v>
                </c:pt>
                <c:pt idx="107">
                  <c:v>1.3888888888888889E-3</c:v>
                </c:pt>
                <c:pt idx="108">
                  <c:v>1.3888888888888889E-3</c:v>
                </c:pt>
                <c:pt idx="109">
                  <c:v>1.3888888888888889E-3</c:v>
                </c:pt>
                <c:pt idx="110">
                  <c:v>1.3888888888888889E-3</c:v>
                </c:pt>
                <c:pt idx="111">
                  <c:v>1.3888888888888889E-3</c:v>
                </c:pt>
                <c:pt idx="112">
                  <c:v>1.3888888888888889E-3</c:v>
                </c:pt>
                <c:pt idx="113">
                  <c:v>1.3888888888888889E-3</c:v>
                </c:pt>
                <c:pt idx="114">
                  <c:v>1.3888888888888889E-3</c:v>
                </c:pt>
                <c:pt idx="115">
                  <c:v>1.3888888888888889E-3</c:v>
                </c:pt>
                <c:pt idx="116">
                  <c:v>1.3888888888888889E-3</c:v>
                </c:pt>
                <c:pt idx="117">
                  <c:v>1.3888888888888889E-3</c:v>
                </c:pt>
                <c:pt idx="118">
                  <c:v>1.3888888888888889E-3</c:v>
                </c:pt>
                <c:pt idx="119">
                  <c:v>1.3888888888888889E-3</c:v>
                </c:pt>
                <c:pt idx="120">
                  <c:v>1.3888888888888889E-3</c:v>
                </c:pt>
                <c:pt idx="121">
                  <c:v>1.3888888888888889E-3</c:v>
                </c:pt>
                <c:pt idx="122">
                  <c:v>1.3888888888888889E-3</c:v>
                </c:pt>
                <c:pt idx="123">
                  <c:v>1.3888888888888889E-3</c:v>
                </c:pt>
                <c:pt idx="124">
                  <c:v>1.3888888888888889E-3</c:v>
                </c:pt>
                <c:pt idx="125">
                  <c:v>1.3888888888888889E-3</c:v>
                </c:pt>
                <c:pt idx="126">
                  <c:v>1.3888888888888889E-3</c:v>
                </c:pt>
                <c:pt idx="127">
                  <c:v>1.3888888888888889E-3</c:v>
                </c:pt>
                <c:pt idx="128">
                  <c:v>1.3888888888888889E-3</c:v>
                </c:pt>
                <c:pt idx="129">
                  <c:v>1.3888888888888889E-3</c:v>
                </c:pt>
                <c:pt idx="130">
                  <c:v>1.3888888888888889E-3</c:v>
                </c:pt>
                <c:pt idx="131">
                  <c:v>1.3888888888888889E-3</c:v>
                </c:pt>
                <c:pt idx="132">
                  <c:v>1.3888888888888889E-3</c:v>
                </c:pt>
                <c:pt idx="133">
                  <c:v>1.3888888888888889E-3</c:v>
                </c:pt>
                <c:pt idx="134">
                  <c:v>1.3888888888888889E-3</c:v>
                </c:pt>
                <c:pt idx="135">
                  <c:v>1.3888888888888889E-3</c:v>
                </c:pt>
                <c:pt idx="136">
                  <c:v>1.3888888888888889E-3</c:v>
                </c:pt>
                <c:pt idx="137">
                  <c:v>1.3888888888888889E-3</c:v>
                </c:pt>
                <c:pt idx="138">
                  <c:v>1.3888888888888889E-3</c:v>
                </c:pt>
                <c:pt idx="139">
                  <c:v>1.3888888888888889E-3</c:v>
                </c:pt>
                <c:pt idx="140">
                  <c:v>1.3888888888888889E-3</c:v>
                </c:pt>
                <c:pt idx="141">
                  <c:v>1.3888888888888889E-3</c:v>
                </c:pt>
                <c:pt idx="142">
                  <c:v>1.3888888888888889E-3</c:v>
                </c:pt>
                <c:pt idx="143">
                  <c:v>1.3888888888888889E-3</c:v>
                </c:pt>
                <c:pt idx="144">
                  <c:v>1.3888888888888889E-3</c:v>
                </c:pt>
                <c:pt idx="145">
                  <c:v>1.3888888888888889E-3</c:v>
                </c:pt>
                <c:pt idx="146">
                  <c:v>1.3888888888888889E-3</c:v>
                </c:pt>
                <c:pt idx="147">
                  <c:v>1.3888888888888889E-3</c:v>
                </c:pt>
                <c:pt idx="148">
                  <c:v>1.3888888888888889E-3</c:v>
                </c:pt>
                <c:pt idx="149">
                  <c:v>1.3888888888888889E-3</c:v>
                </c:pt>
                <c:pt idx="150">
                  <c:v>1.3888888888888889E-3</c:v>
                </c:pt>
                <c:pt idx="151">
                  <c:v>1.3888888888888889E-3</c:v>
                </c:pt>
                <c:pt idx="152">
                  <c:v>1.3888888888888889E-3</c:v>
                </c:pt>
                <c:pt idx="153">
                  <c:v>1.3888888888888889E-3</c:v>
                </c:pt>
                <c:pt idx="154">
                  <c:v>1.3888888888888889E-3</c:v>
                </c:pt>
                <c:pt idx="155">
                  <c:v>1.3888888888888889E-3</c:v>
                </c:pt>
                <c:pt idx="156">
                  <c:v>1.3888888888888889E-3</c:v>
                </c:pt>
                <c:pt idx="157">
                  <c:v>1.3888888888888889E-3</c:v>
                </c:pt>
                <c:pt idx="158">
                  <c:v>1.3888888888888889E-3</c:v>
                </c:pt>
                <c:pt idx="159">
                  <c:v>1.3888888888888889E-3</c:v>
                </c:pt>
                <c:pt idx="160">
                  <c:v>1.3888888888888889E-3</c:v>
                </c:pt>
                <c:pt idx="161">
                  <c:v>1.3888888888888889E-3</c:v>
                </c:pt>
                <c:pt idx="162">
                  <c:v>1.3888888888888889E-3</c:v>
                </c:pt>
                <c:pt idx="163">
                  <c:v>1.3888888888888889E-3</c:v>
                </c:pt>
                <c:pt idx="164">
                  <c:v>1.3888888888888889E-3</c:v>
                </c:pt>
                <c:pt idx="165">
                  <c:v>1.3888888888888889E-3</c:v>
                </c:pt>
                <c:pt idx="166">
                  <c:v>1.3888888888888889E-3</c:v>
                </c:pt>
                <c:pt idx="167">
                  <c:v>1.3888888888888889E-3</c:v>
                </c:pt>
                <c:pt idx="168">
                  <c:v>1.3888888888888889E-3</c:v>
                </c:pt>
                <c:pt idx="169">
                  <c:v>1.3888888888888889E-3</c:v>
                </c:pt>
                <c:pt idx="170">
                  <c:v>1.3888888888888889E-3</c:v>
                </c:pt>
                <c:pt idx="171">
                  <c:v>1.3888888888888889E-3</c:v>
                </c:pt>
                <c:pt idx="172">
                  <c:v>1.3888888888888889E-3</c:v>
                </c:pt>
                <c:pt idx="173">
                  <c:v>1.3888888888888889E-3</c:v>
                </c:pt>
                <c:pt idx="174">
                  <c:v>1.3888888888888889E-3</c:v>
                </c:pt>
                <c:pt idx="175">
                  <c:v>1.3888888888888889E-3</c:v>
                </c:pt>
                <c:pt idx="176">
                  <c:v>1.3888888888888889E-3</c:v>
                </c:pt>
                <c:pt idx="177">
                  <c:v>1.3888888888888889E-3</c:v>
                </c:pt>
                <c:pt idx="178">
                  <c:v>1.3888888888888889E-3</c:v>
                </c:pt>
                <c:pt idx="179">
                  <c:v>1.3888888888888889E-3</c:v>
                </c:pt>
                <c:pt idx="180">
                  <c:v>1.3888888888888889E-3</c:v>
                </c:pt>
                <c:pt idx="181">
                  <c:v>1.3888888888888889E-3</c:v>
                </c:pt>
                <c:pt idx="182">
                  <c:v>1.3888888888888889E-3</c:v>
                </c:pt>
                <c:pt idx="183">
                  <c:v>1.3888888888888889E-3</c:v>
                </c:pt>
                <c:pt idx="184">
                  <c:v>1.3888888888888889E-3</c:v>
                </c:pt>
                <c:pt idx="185">
                  <c:v>1.3888888888888889E-3</c:v>
                </c:pt>
                <c:pt idx="186">
                  <c:v>1.3888888888888889E-3</c:v>
                </c:pt>
                <c:pt idx="187">
                  <c:v>1.3888888888888889E-3</c:v>
                </c:pt>
                <c:pt idx="188">
                  <c:v>1.3888888888888889E-3</c:v>
                </c:pt>
                <c:pt idx="189">
                  <c:v>1.3888888888888889E-3</c:v>
                </c:pt>
                <c:pt idx="190">
                  <c:v>1.3888888888888889E-3</c:v>
                </c:pt>
                <c:pt idx="191">
                  <c:v>1.3888888888888889E-3</c:v>
                </c:pt>
                <c:pt idx="192">
                  <c:v>1.3888888888888889E-3</c:v>
                </c:pt>
                <c:pt idx="193">
                  <c:v>1.3888888888888889E-3</c:v>
                </c:pt>
                <c:pt idx="194">
                  <c:v>1.3888888888888889E-3</c:v>
                </c:pt>
                <c:pt idx="195">
                  <c:v>1.3888888888888889E-3</c:v>
                </c:pt>
                <c:pt idx="196">
                  <c:v>1.3888888888888889E-3</c:v>
                </c:pt>
                <c:pt idx="197">
                  <c:v>1.3888888888888889E-3</c:v>
                </c:pt>
                <c:pt idx="198">
                  <c:v>1.3888888888888889E-3</c:v>
                </c:pt>
                <c:pt idx="199">
                  <c:v>1.3888888888888889E-3</c:v>
                </c:pt>
                <c:pt idx="200">
                  <c:v>1.3888888888888889E-3</c:v>
                </c:pt>
                <c:pt idx="201">
                  <c:v>1.3888888888888889E-3</c:v>
                </c:pt>
                <c:pt idx="202">
                  <c:v>1.3888888888888889E-3</c:v>
                </c:pt>
                <c:pt idx="203">
                  <c:v>1.3888888888888889E-3</c:v>
                </c:pt>
                <c:pt idx="204">
                  <c:v>1.3888888888888889E-3</c:v>
                </c:pt>
                <c:pt idx="205">
                  <c:v>1.3888888888888889E-3</c:v>
                </c:pt>
                <c:pt idx="206">
                  <c:v>1.3888888888888889E-3</c:v>
                </c:pt>
                <c:pt idx="207">
                  <c:v>1.3888888888888889E-3</c:v>
                </c:pt>
                <c:pt idx="208">
                  <c:v>1.3888888888888889E-3</c:v>
                </c:pt>
                <c:pt idx="209">
                  <c:v>1.3888888888888889E-3</c:v>
                </c:pt>
                <c:pt idx="210">
                  <c:v>1.3888888888888889E-3</c:v>
                </c:pt>
                <c:pt idx="211">
                  <c:v>1.3888888888888889E-3</c:v>
                </c:pt>
                <c:pt idx="212">
                  <c:v>1.3888888888888889E-3</c:v>
                </c:pt>
                <c:pt idx="213">
                  <c:v>1.3888888888888889E-3</c:v>
                </c:pt>
                <c:pt idx="214">
                  <c:v>1.3888888888888889E-3</c:v>
                </c:pt>
                <c:pt idx="215">
                  <c:v>1.3888888888888889E-3</c:v>
                </c:pt>
                <c:pt idx="216">
                  <c:v>1.3888888888888889E-3</c:v>
                </c:pt>
                <c:pt idx="217">
                  <c:v>1.3888888888888889E-3</c:v>
                </c:pt>
                <c:pt idx="218">
                  <c:v>1.3888888888888889E-3</c:v>
                </c:pt>
                <c:pt idx="219">
                  <c:v>1.3888888888888889E-3</c:v>
                </c:pt>
                <c:pt idx="220">
                  <c:v>1.3888888888888889E-3</c:v>
                </c:pt>
                <c:pt idx="221">
                  <c:v>1.3888888888888889E-3</c:v>
                </c:pt>
                <c:pt idx="222">
                  <c:v>1.3888888888888889E-3</c:v>
                </c:pt>
                <c:pt idx="223">
                  <c:v>1.3888888888888889E-3</c:v>
                </c:pt>
                <c:pt idx="224">
                  <c:v>1.3888888888888889E-3</c:v>
                </c:pt>
                <c:pt idx="225">
                  <c:v>1.3888888888888889E-3</c:v>
                </c:pt>
                <c:pt idx="226">
                  <c:v>1.3888888888888889E-3</c:v>
                </c:pt>
                <c:pt idx="227">
                  <c:v>1.3888888888888889E-3</c:v>
                </c:pt>
                <c:pt idx="228">
                  <c:v>1.3888888888888889E-3</c:v>
                </c:pt>
                <c:pt idx="229">
                  <c:v>1.3888888888888889E-3</c:v>
                </c:pt>
                <c:pt idx="230">
                  <c:v>1.3888888888888889E-3</c:v>
                </c:pt>
                <c:pt idx="231">
                  <c:v>1.3888888888888889E-3</c:v>
                </c:pt>
                <c:pt idx="232">
                  <c:v>1.3888888888888889E-3</c:v>
                </c:pt>
                <c:pt idx="233">
                  <c:v>1.3888888888888889E-3</c:v>
                </c:pt>
                <c:pt idx="234">
                  <c:v>1.3888888888888889E-3</c:v>
                </c:pt>
                <c:pt idx="235">
                  <c:v>1.3888888888888889E-3</c:v>
                </c:pt>
                <c:pt idx="236">
                  <c:v>1.3888888888888889E-3</c:v>
                </c:pt>
                <c:pt idx="237">
                  <c:v>1.3888888888888889E-3</c:v>
                </c:pt>
                <c:pt idx="238">
                  <c:v>1.3888888888888889E-3</c:v>
                </c:pt>
                <c:pt idx="239">
                  <c:v>1.3888888888888889E-3</c:v>
                </c:pt>
                <c:pt idx="240">
                  <c:v>1.3888888888888889E-3</c:v>
                </c:pt>
                <c:pt idx="241">
                  <c:v>1.3888888888888889E-3</c:v>
                </c:pt>
                <c:pt idx="242">
                  <c:v>1.3888888888888889E-3</c:v>
                </c:pt>
                <c:pt idx="243">
                  <c:v>1.3888888888888889E-3</c:v>
                </c:pt>
                <c:pt idx="244">
                  <c:v>1.3888888888888889E-3</c:v>
                </c:pt>
                <c:pt idx="245">
                  <c:v>1.3888888888888889E-3</c:v>
                </c:pt>
                <c:pt idx="246">
                  <c:v>1.3888888888888889E-3</c:v>
                </c:pt>
                <c:pt idx="247">
                  <c:v>1.3888888888888889E-3</c:v>
                </c:pt>
                <c:pt idx="248">
                  <c:v>1.3888888888888889E-3</c:v>
                </c:pt>
                <c:pt idx="249">
                  <c:v>1.3888888888888889E-3</c:v>
                </c:pt>
                <c:pt idx="250">
                  <c:v>1.3888888888888889E-3</c:v>
                </c:pt>
                <c:pt idx="251">
                  <c:v>1.3888888888888889E-3</c:v>
                </c:pt>
                <c:pt idx="252">
                  <c:v>1.3888888888888889E-3</c:v>
                </c:pt>
                <c:pt idx="253">
                  <c:v>1.3888888888888889E-3</c:v>
                </c:pt>
                <c:pt idx="254">
                  <c:v>1.3888888888888889E-3</c:v>
                </c:pt>
                <c:pt idx="255">
                  <c:v>1.3888888888888889E-3</c:v>
                </c:pt>
                <c:pt idx="256">
                  <c:v>1.3888888888888889E-3</c:v>
                </c:pt>
                <c:pt idx="257">
                  <c:v>1.3888888888888889E-3</c:v>
                </c:pt>
                <c:pt idx="258">
                  <c:v>1.3888888888888889E-3</c:v>
                </c:pt>
                <c:pt idx="259">
                  <c:v>1.3888888888888889E-3</c:v>
                </c:pt>
                <c:pt idx="260">
                  <c:v>1.3888888888888889E-3</c:v>
                </c:pt>
                <c:pt idx="261">
                  <c:v>1.3888888888888889E-3</c:v>
                </c:pt>
                <c:pt idx="262">
                  <c:v>1.3888888888888889E-3</c:v>
                </c:pt>
                <c:pt idx="263">
                  <c:v>1.3888888888888889E-3</c:v>
                </c:pt>
                <c:pt idx="264">
                  <c:v>1.3888888888888889E-3</c:v>
                </c:pt>
                <c:pt idx="265">
                  <c:v>1.3888888888888889E-3</c:v>
                </c:pt>
                <c:pt idx="266">
                  <c:v>1.3888888888888889E-3</c:v>
                </c:pt>
                <c:pt idx="267">
                  <c:v>1.3888888888888889E-3</c:v>
                </c:pt>
                <c:pt idx="268">
                  <c:v>1.3888888888888889E-3</c:v>
                </c:pt>
                <c:pt idx="269">
                  <c:v>1.3888888888888889E-3</c:v>
                </c:pt>
                <c:pt idx="270">
                  <c:v>1.3888888888888889E-3</c:v>
                </c:pt>
                <c:pt idx="271">
                  <c:v>1.3888888888888889E-3</c:v>
                </c:pt>
                <c:pt idx="272">
                  <c:v>1.3888888888888889E-3</c:v>
                </c:pt>
                <c:pt idx="273">
                  <c:v>1.3888888888888889E-3</c:v>
                </c:pt>
                <c:pt idx="274">
                  <c:v>1.3888888888888889E-3</c:v>
                </c:pt>
                <c:pt idx="275">
                  <c:v>1.3888888888888889E-3</c:v>
                </c:pt>
                <c:pt idx="276">
                  <c:v>1.3888888888888889E-3</c:v>
                </c:pt>
                <c:pt idx="277">
                  <c:v>1.3888888888888889E-3</c:v>
                </c:pt>
                <c:pt idx="278">
                  <c:v>1.3888888888888889E-3</c:v>
                </c:pt>
                <c:pt idx="279">
                  <c:v>1.3888888888888889E-3</c:v>
                </c:pt>
                <c:pt idx="280">
                  <c:v>1.3888888888888889E-3</c:v>
                </c:pt>
                <c:pt idx="281">
                  <c:v>1.3888888888888889E-3</c:v>
                </c:pt>
                <c:pt idx="282">
                  <c:v>1.3888888888888889E-3</c:v>
                </c:pt>
                <c:pt idx="283">
                  <c:v>1.3888888888888889E-3</c:v>
                </c:pt>
                <c:pt idx="284">
                  <c:v>1.3888888888888889E-3</c:v>
                </c:pt>
                <c:pt idx="285">
                  <c:v>1.3888888888888889E-3</c:v>
                </c:pt>
                <c:pt idx="286">
                  <c:v>1.3888888888888889E-3</c:v>
                </c:pt>
                <c:pt idx="287">
                  <c:v>1.3888888888888889E-3</c:v>
                </c:pt>
                <c:pt idx="288">
                  <c:v>1.3888888888888889E-3</c:v>
                </c:pt>
                <c:pt idx="289">
                  <c:v>1.3888888888888889E-3</c:v>
                </c:pt>
                <c:pt idx="290">
                  <c:v>1.3888888888888889E-3</c:v>
                </c:pt>
                <c:pt idx="291">
                  <c:v>1.3888888888888889E-3</c:v>
                </c:pt>
                <c:pt idx="292">
                  <c:v>1.3888888888888889E-3</c:v>
                </c:pt>
                <c:pt idx="293">
                  <c:v>1.3888888888888889E-3</c:v>
                </c:pt>
                <c:pt idx="294">
                  <c:v>1.3888888888888889E-3</c:v>
                </c:pt>
                <c:pt idx="295">
                  <c:v>1.3888888888888889E-3</c:v>
                </c:pt>
                <c:pt idx="296">
                  <c:v>1.3888888888888889E-3</c:v>
                </c:pt>
                <c:pt idx="297">
                  <c:v>1.3888888888888889E-3</c:v>
                </c:pt>
                <c:pt idx="298">
                  <c:v>1.3888888888888889E-3</c:v>
                </c:pt>
                <c:pt idx="299">
                  <c:v>1.3888888888888889E-3</c:v>
                </c:pt>
                <c:pt idx="300">
                  <c:v>1.3888888888888889E-3</c:v>
                </c:pt>
                <c:pt idx="301">
                  <c:v>1.3888888888888889E-3</c:v>
                </c:pt>
                <c:pt idx="302">
                  <c:v>1.3888888888888889E-3</c:v>
                </c:pt>
                <c:pt idx="303">
                  <c:v>1.3888888888888889E-3</c:v>
                </c:pt>
                <c:pt idx="304">
                  <c:v>1.3888888888888889E-3</c:v>
                </c:pt>
                <c:pt idx="305">
                  <c:v>1.3888888888888889E-3</c:v>
                </c:pt>
                <c:pt idx="306">
                  <c:v>1.3888888888888889E-3</c:v>
                </c:pt>
                <c:pt idx="307">
                  <c:v>1.3888888888888889E-3</c:v>
                </c:pt>
                <c:pt idx="308">
                  <c:v>1.3888888888888889E-3</c:v>
                </c:pt>
                <c:pt idx="309">
                  <c:v>1.3888888888888889E-3</c:v>
                </c:pt>
                <c:pt idx="310">
                  <c:v>1.3888888888888889E-3</c:v>
                </c:pt>
                <c:pt idx="311">
                  <c:v>1.3888888888888889E-3</c:v>
                </c:pt>
                <c:pt idx="312">
                  <c:v>1.3888888888888889E-3</c:v>
                </c:pt>
                <c:pt idx="313">
                  <c:v>1.3888888888888889E-3</c:v>
                </c:pt>
                <c:pt idx="314">
                  <c:v>1.3888888888888889E-3</c:v>
                </c:pt>
                <c:pt idx="315">
                  <c:v>1.3888888888888889E-3</c:v>
                </c:pt>
                <c:pt idx="316">
                  <c:v>1.3888888888888889E-3</c:v>
                </c:pt>
                <c:pt idx="317">
                  <c:v>1.3888888888888889E-3</c:v>
                </c:pt>
                <c:pt idx="318">
                  <c:v>1.3888888888888889E-3</c:v>
                </c:pt>
                <c:pt idx="319">
                  <c:v>1.3888888888888889E-3</c:v>
                </c:pt>
                <c:pt idx="320">
                  <c:v>1.3888888888888889E-3</c:v>
                </c:pt>
                <c:pt idx="321">
                  <c:v>1.3888888888888889E-3</c:v>
                </c:pt>
                <c:pt idx="322">
                  <c:v>1.3888888888888889E-3</c:v>
                </c:pt>
                <c:pt idx="323">
                  <c:v>1.3888888888888889E-3</c:v>
                </c:pt>
                <c:pt idx="324">
                  <c:v>1.3888888888888889E-3</c:v>
                </c:pt>
                <c:pt idx="325">
                  <c:v>1.3888888888888889E-3</c:v>
                </c:pt>
                <c:pt idx="326">
                  <c:v>1.3888888888888889E-3</c:v>
                </c:pt>
                <c:pt idx="327">
                  <c:v>1.3888888888888889E-3</c:v>
                </c:pt>
                <c:pt idx="328">
                  <c:v>1.3888888888888889E-3</c:v>
                </c:pt>
                <c:pt idx="329">
                  <c:v>1.3888888888888889E-3</c:v>
                </c:pt>
                <c:pt idx="330">
                  <c:v>1.3888888888888889E-3</c:v>
                </c:pt>
                <c:pt idx="331">
                  <c:v>1.3888888888888889E-3</c:v>
                </c:pt>
                <c:pt idx="332">
                  <c:v>1.3888888888888889E-3</c:v>
                </c:pt>
                <c:pt idx="333">
                  <c:v>1.3888888888888889E-3</c:v>
                </c:pt>
                <c:pt idx="334">
                  <c:v>1.3888888888888889E-3</c:v>
                </c:pt>
                <c:pt idx="335">
                  <c:v>1.3888888888888889E-3</c:v>
                </c:pt>
                <c:pt idx="336">
                  <c:v>1.3888888888888889E-3</c:v>
                </c:pt>
                <c:pt idx="337">
                  <c:v>1.3888888888888889E-3</c:v>
                </c:pt>
                <c:pt idx="338">
                  <c:v>1.3888888888888889E-3</c:v>
                </c:pt>
                <c:pt idx="339">
                  <c:v>1.3888888888888889E-3</c:v>
                </c:pt>
                <c:pt idx="340">
                  <c:v>1.3888888888888889E-3</c:v>
                </c:pt>
                <c:pt idx="341">
                  <c:v>1.3888888888888889E-3</c:v>
                </c:pt>
                <c:pt idx="342">
                  <c:v>1.3888888888888889E-3</c:v>
                </c:pt>
                <c:pt idx="343">
                  <c:v>1.3888888888888889E-3</c:v>
                </c:pt>
                <c:pt idx="344">
                  <c:v>1.3888888888888889E-3</c:v>
                </c:pt>
                <c:pt idx="345">
                  <c:v>1.3888888888888889E-3</c:v>
                </c:pt>
                <c:pt idx="346">
                  <c:v>1.3888888888888889E-3</c:v>
                </c:pt>
                <c:pt idx="347">
                  <c:v>1.3888888888888889E-3</c:v>
                </c:pt>
                <c:pt idx="348">
                  <c:v>1.3888888888888889E-3</c:v>
                </c:pt>
                <c:pt idx="349">
                  <c:v>1.3888888888888889E-3</c:v>
                </c:pt>
                <c:pt idx="350">
                  <c:v>1.3888888888888889E-3</c:v>
                </c:pt>
                <c:pt idx="351">
                  <c:v>1.3888888888888889E-3</c:v>
                </c:pt>
                <c:pt idx="352">
                  <c:v>1.3888888888888889E-3</c:v>
                </c:pt>
                <c:pt idx="353">
                  <c:v>1.3888888888888889E-3</c:v>
                </c:pt>
                <c:pt idx="354">
                  <c:v>1.3888888888888889E-3</c:v>
                </c:pt>
                <c:pt idx="355">
                  <c:v>1.3888888888888889E-3</c:v>
                </c:pt>
                <c:pt idx="356">
                  <c:v>1.3888888888888889E-3</c:v>
                </c:pt>
                <c:pt idx="357">
                  <c:v>1.3888888888888889E-3</c:v>
                </c:pt>
                <c:pt idx="358">
                  <c:v>1.3888888888888889E-3</c:v>
                </c:pt>
                <c:pt idx="359">
                  <c:v>1.3888888888888889E-3</c:v>
                </c:pt>
                <c:pt idx="360">
                  <c:v>1.3888888888888889E-3</c:v>
                </c:pt>
                <c:pt idx="361">
                  <c:v>1.3888888888888889E-3</c:v>
                </c:pt>
                <c:pt idx="362">
                  <c:v>1.3888888888888889E-3</c:v>
                </c:pt>
                <c:pt idx="363">
                  <c:v>1.3888888888888889E-3</c:v>
                </c:pt>
                <c:pt idx="364">
                  <c:v>1.3888888888888889E-3</c:v>
                </c:pt>
                <c:pt idx="365">
                  <c:v>1.3888888888888889E-3</c:v>
                </c:pt>
                <c:pt idx="366">
                  <c:v>1.3888888888888889E-3</c:v>
                </c:pt>
                <c:pt idx="367">
                  <c:v>1.3888888888888889E-3</c:v>
                </c:pt>
                <c:pt idx="368">
                  <c:v>1.3888888888888889E-3</c:v>
                </c:pt>
                <c:pt idx="369">
                  <c:v>1.3888888888888889E-3</c:v>
                </c:pt>
                <c:pt idx="370">
                  <c:v>1.3888888888888889E-3</c:v>
                </c:pt>
                <c:pt idx="371">
                  <c:v>1.3888888888888889E-3</c:v>
                </c:pt>
                <c:pt idx="372">
                  <c:v>1.3888888888888889E-3</c:v>
                </c:pt>
                <c:pt idx="373">
                  <c:v>1.3888888888888889E-3</c:v>
                </c:pt>
                <c:pt idx="374">
                  <c:v>1.3888888888888889E-3</c:v>
                </c:pt>
                <c:pt idx="375">
                  <c:v>1.3888888888888889E-3</c:v>
                </c:pt>
                <c:pt idx="376">
                  <c:v>1.3888888888888889E-3</c:v>
                </c:pt>
                <c:pt idx="377">
                  <c:v>1.3888888888888889E-3</c:v>
                </c:pt>
                <c:pt idx="378">
                  <c:v>1.3888888888888889E-3</c:v>
                </c:pt>
                <c:pt idx="379">
                  <c:v>1.3888888888888889E-3</c:v>
                </c:pt>
                <c:pt idx="380">
                  <c:v>1.3888888888888889E-3</c:v>
                </c:pt>
                <c:pt idx="381">
                  <c:v>1.3888888888888889E-3</c:v>
                </c:pt>
                <c:pt idx="382">
                  <c:v>1.3888888888888889E-3</c:v>
                </c:pt>
                <c:pt idx="383">
                  <c:v>1.3888888888888889E-3</c:v>
                </c:pt>
                <c:pt idx="384">
                  <c:v>1.3888888888888889E-3</c:v>
                </c:pt>
                <c:pt idx="385">
                  <c:v>1.3888888888888889E-3</c:v>
                </c:pt>
                <c:pt idx="386">
                  <c:v>1.3888888888888889E-3</c:v>
                </c:pt>
                <c:pt idx="387">
                  <c:v>1.3888888888888889E-3</c:v>
                </c:pt>
                <c:pt idx="388">
                  <c:v>1.3888888888888889E-3</c:v>
                </c:pt>
                <c:pt idx="389">
                  <c:v>1.3888888888888889E-3</c:v>
                </c:pt>
                <c:pt idx="390">
                  <c:v>1.3888888888888889E-3</c:v>
                </c:pt>
                <c:pt idx="391">
                  <c:v>1.3888888888888889E-3</c:v>
                </c:pt>
                <c:pt idx="392">
                  <c:v>1.3888888888888889E-3</c:v>
                </c:pt>
                <c:pt idx="393">
                  <c:v>1.3888888888888889E-3</c:v>
                </c:pt>
                <c:pt idx="394">
                  <c:v>1.3888888888888889E-3</c:v>
                </c:pt>
                <c:pt idx="395">
                  <c:v>1.3888888888888889E-3</c:v>
                </c:pt>
                <c:pt idx="396">
                  <c:v>1.3888888888888889E-3</c:v>
                </c:pt>
                <c:pt idx="397">
                  <c:v>1.3888888888888889E-3</c:v>
                </c:pt>
                <c:pt idx="398">
                  <c:v>1.3888888888888889E-3</c:v>
                </c:pt>
                <c:pt idx="399">
                  <c:v>1.3888888888888889E-3</c:v>
                </c:pt>
                <c:pt idx="400">
                  <c:v>1.3888888888888889E-3</c:v>
                </c:pt>
                <c:pt idx="401">
                  <c:v>1.3888888888888889E-3</c:v>
                </c:pt>
                <c:pt idx="402">
                  <c:v>1.3888888888888889E-3</c:v>
                </c:pt>
                <c:pt idx="403">
                  <c:v>1.3888888888888889E-3</c:v>
                </c:pt>
                <c:pt idx="404">
                  <c:v>1.3888888888888889E-3</c:v>
                </c:pt>
                <c:pt idx="405">
                  <c:v>1.3888888888888889E-3</c:v>
                </c:pt>
                <c:pt idx="406">
                  <c:v>1.3888888888888889E-3</c:v>
                </c:pt>
                <c:pt idx="407">
                  <c:v>1.3888888888888889E-3</c:v>
                </c:pt>
                <c:pt idx="408">
                  <c:v>1.3888888888888889E-3</c:v>
                </c:pt>
                <c:pt idx="409">
                  <c:v>1.3888888888888889E-3</c:v>
                </c:pt>
                <c:pt idx="410">
                  <c:v>1.3888888888888889E-3</c:v>
                </c:pt>
                <c:pt idx="411">
                  <c:v>1.3888888888888889E-3</c:v>
                </c:pt>
                <c:pt idx="412">
                  <c:v>1.3888888888888889E-3</c:v>
                </c:pt>
                <c:pt idx="413">
                  <c:v>1.3888888888888889E-3</c:v>
                </c:pt>
                <c:pt idx="414">
                  <c:v>1.3888888888888889E-3</c:v>
                </c:pt>
                <c:pt idx="415">
                  <c:v>1.3888888888888889E-3</c:v>
                </c:pt>
                <c:pt idx="416">
                  <c:v>1.3888888888888889E-3</c:v>
                </c:pt>
                <c:pt idx="417">
                  <c:v>1.3888888888888889E-3</c:v>
                </c:pt>
                <c:pt idx="418">
                  <c:v>1.3888888888888889E-3</c:v>
                </c:pt>
                <c:pt idx="419">
                  <c:v>1.3888888888888889E-3</c:v>
                </c:pt>
                <c:pt idx="420">
                  <c:v>1.3888888888888889E-3</c:v>
                </c:pt>
                <c:pt idx="421">
                  <c:v>1.3888888888888889E-3</c:v>
                </c:pt>
                <c:pt idx="422">
                  <c:v>1.3888888888888889E-3</c:v>
                </c:pt>
                <c:pt idx="423">
                  <c:v>1.3888888888888889E-3</c:v>
                </c:pt>
                <c:pt idx="424">
                  <c:v>1.3888888888888889E-3</c:v>
                </c:pt>
                <c:pt idx="425">
                  <c:v>1.3888888888888889E-3</c:v>
                </c:pt>
                <c:pt idx="426">
                  <c:v>1.3888888888888889E-3</c:v>
                </c:pt>
                <c:pt idx="427">
                  <c:v>1.3888888888888889E-3</c:v>
                </c:pt>
                <c:pt idx="428">
                  <c:v>1.3888888888888889E-3</c:v>
                </c:pt>
                <c:pt idx="429">
                  <c:v>1.3888888888888889E-3</c:v>
                </c:pt>
                <c:pt idx="430">
                  <c:v>1.3888888888888889E-3</c:v>
                </c:pt>
                <c:pt idx="431">
                  <c:v>1.3888888888888889E-3</c:v>
                </c:pt>
                <c:pt idx="432">
                  <c:v>1.3888888888888889E-3</c:v>
                </c:pt>
                <c:pt idx="433">
                  <c:v>1.3888888888888889E-3</c:v>
                </c:pt>
                <c:pt idx="434">
                  <c:v>1.3888888888888889E-3</c:v>
                </c:pt>
                <c:pt idx="435">
                  <c:v>1.3888888888888889E-3</c:v>
                </c:pt>
                <c:pt idx="436">
                  <c:v>1.3888888888888889E-3</c:v>
                </c:pt>
                <c:pt idx="437">
                  <c:v>1.3888888888888889E-3</c:v>
                </c:pt>
                <c:pt idx="438">
                  <c:v>1.3888888888888889E-3</c:v>
                </c:pt>
                <c:pt idx="439">
                  <c:v>1.3888888888888889E-3</c:v>
                </c:pt>
                <c:pt idx="440">
                  <c:v>1.3888888888888889E-3</c:v>
                </c:pt>
                <c:pt idx="441">
                  <c:v>1.3888888888888889E-3</c:v>
                </c:pt>
                <c:pt idx="442">
                  <c:v>1.3888888888888889E-3</c:v>
                </c:pt>
                <c:pt idx="443">
                  <c:v>1.3888888888888889E-3</c:v>
                </c:pt>
                <c:pt idx="444">
                  <c:v>1.3888888888888889E-3</c:v>
                </c:pt>
                <c:pt idx="445">
                  <c:v>1.3888888888888889E-3</c:v>
                </c:pt>
                <c:pt idx="446">
                  <c:v>1.3888888888888889E-3</c:v>
                </c:pt>
                <c:pt idx="447">
                  <c:v>1.3888888888888889E-3</c:v>
                </c:pt>
                <c:pt idx="448">
                  <c:v>1.3888888888888889E-3</c:v>
                </c:pt>
                <c:pt idx="449">
                  <c:v>1.3888888888888889E-3</c:v>
                </c:pt>
                <c:pt idx="450">
                  <c:v>1.3888888888888889E-3</c:v>
                </c:pt>
                <c:pt idx="451">
                  <c:v>1.3888888888888889E-3</c:v>
                </c:pt>
                <c:pt idx="452">
                  <c:v>1.3888888888888889E-3</c:v>
                </c:pt>
                <c:pt idx="453">
                  <c:v>1.3888888888888889E-3</c:v>
                </c:pt>
                <c:pt idx="454">
                  <c:v>1.3888888888888889E-3</c:v>
                </c:pt>
                <c:pt idx="455">
                  <c:v>1.3888888888888889E-3</c:v>
                </c:pt>
                <c:pt idx="456">
                  <c:v>1.3888888888888889E-3</c:v>
                </c:pt>
                <c:pt idx="457">
                  <c:v>1.3888888888888889E-3</c:v>
                </c:pt>
                <c:pt idx="458">
                  <c:v>1.3888888888888889E-3</c:v>
                </c:pt>
                <c:pt idx="459">
                  <c:v>1.3888888888888889E-3</c:v>
                </c:pt>
                <c:pt idx="460">
                  <c:v>1.3888888888888889E-3</c:v>
                </c:pt>
                <c:pt idx="461">
                  <c:v>1.3888888888888889E-3</c:v>
                </c:pt>
                <c:pt idx="462">
                  <c:v>1.3888888888888889E-3</c:v>
                </c:pt>
                <c:pt idx="463">
                  <c:v>1.3888888888888889E-3</c:v>
                </c:pt>
                <c:pt idx="464">
                  <c:v>1.3888888888888889E-3</c:v>
                </c:pt>
                <c:pt idx="465">
                  <c:v>1.3888888888888889E-3</c:v>
                </c:pt>
                <c:pt idx="466">
                  <c:v>1.3888888888888889E-3</c:v>
                </c:pt>
                <c:pt idx="467">
                  <c:v>1.3888888888888889E-3</c:v>
                </c:pt>
                <c:pt idx="468">
                  <c:v>1.3888888888888889E-3</c:v>
                </c:pt>
                <c:pt idx="469">
                  <c:v>1.3888888888888889E-3</c:v>
                </c:pt>
                <c:pt idx="470">
                  <c:v>1.3888888888888889E-3</c:v>
                </c:pt>
                <c:pt idx="471">
                  <c:v>1.3888888888888889E-3</c:v>
                </c:pt>
                <c:pt idx="472">
                  <c:v>1.3888888888888889E-3</c:v>
                </c:pt>
                <c:pt idx="473">
                  <c:v>1.3888888888888889E-3</c:v>
                </c:pt>
                <c:pt idx="474">
                  <c:v>1.3888888888888889E-3</c:v>
                </c:pt>
                <c:pt idx="475">
                  <c:v>1.3888888888888889E-3</c:v>
                </c:pt>
                <c:pt idx="476">
                  <c:v>1.3888888888888889E-3</c:v>
                </c:pt>
                <c:pt idx="477">
                  <c:v>1.3888888888888889E-3</c:v>
                </c:pt>
                <c:pt idx="478">
                  <c:v>1.3888888888888889E-3</c:v>
                </c:pt>
                <c:pt idx="479">
                  <c:v>1.3888888888888889E-3</c:v>
                </c:pt>
                <c:pt idx="480">
                  <c:v>1.3888888888888889E-3</c:v>
                </c:pt>
                <c:pt idx="481">
                  <c:v>1.3888888888888889E-3</c:v>
                </c:pt>
                <c:pt idx="482">
                  <c:v>1.3888888888888889E-3</c:v>
                </c:pt>
                <c:pt idx="483">
                  <c:v>1.3888888888888889E-3</c:v>
                </c:pt>
                <c:pt idx="484">
                  <c:v>1.3888888888888889E-3</c:v>
                </c:pt>
                <c:pt idx="485">
                  <c:v>1.3888888888888889E-3</c:v>
                </c:pt>
                <c:pt idx="486">
                  <c:v>1.3888888888888889E-3</c:v>
                </c:pt>
                <c:pt idx="487">
                  <c:v>1.3888888888888889E-3</c:v>
                </c:pt>
                <c:pt idx="488">
                  <c:v>1.3888888888888889E-3</c:v>
                </c:pt>
                <c:pt idx="489">
                  <c:v>1.3888888888888889E-3</c:v>
                </c:pt>
                <c:pt idx="490">
                  <c:v>1.3888888888888889E-3</c:v>
                </c:pt>
                <c:pt idx="491">
                  <c:v>1.3888888888888889E-3</c:v>
                </c:pt>
                <c:pt idx="492">
                  <c:v>1.3888888888888889E-3</c:v>
                </c:pt>
                <c:pt idx="493">
                  <c:v>1.3888888888888889E-3</c:v>
                </c:pt>
                <c:pt idx="494">
                  <c:v>1.3888888888888889E-3</c:v>
                </c:pt>
                <c:pt idx="495">
                  <c:v>1.3888888888888889E-3</c:v>
                </c:pt>
                <c:pt idx="496">
                  <c:v>1.3888888888888889E-3</c:v>
                </c:pt>
                <c:pt idx="497">
                  <c:v>1.3888888888888889E-3</c:v>
                </c:pt>
                <c:pt idx="498">
                  <c:v>1.3888888888888889E-3</c:v>
                </c:pt>
                <c:pt idx="499">
                  <c:v>1.3888888888888889E-3</c:v>
                </c:pt>
                <c:pt idx="500">
                  <c:v>1.3888888888888889E-3</c:v>
                </c:pt>
                <c:pt idx="501">
                  <c:v>1.3888888888888889E-3</c:v>
                </c:pt>
                <c:pt idx="502">
                  <c:v>1.3888888888888889E-3</c:v>
                </c:pt>
                <c:pt idx="503">
                  <c:v>1.3888888888888889E-3</c:v>
                </c:pt>
                <c:pt idx="504">
                  <c:v>1.3888888888888889E-3</c:v>
                </c:pt>
                <c:pt idx="505">
                  <c:v>1.3888888888888889E-3</c:v>
                </c:pt>
                <c:pt idx="506">
                  <c:v>1.3888888888888889E-3</c:v>
                </c:pt>
                <c:pt idx="507">
                  <c:v>1.3888888888888889E-3</c:v>
                </c:pt>
                <c:pt idx="508">
                  <c:v>1.3888888888888889E-3</c:v>
                </c:pt>
                <c:pt idx="509">
                  <c:v>1.3888888888888889E-3</c:v>
                </c:pt>
                <c:pt idx="510">
                  <c:v>1.3888888888888889E-3</c:v>
                </c:pt>
                <c:pt idx="511">
                  <c:v>1.3888888888888889E-3</c:v>
                </c:pt>
                <c:pt idx="512">
                  <c:v>1.3888888888888889E-3</c:v>
                </c:pt>
                <c:pt idx="513">
                  <c:v>1.3888888888888889E-3</c:v>
                </c:pt>
                <c:pt idx="514">
                  <c:v>1.3888888888888889E-3</c:v>
                </c:pt>
                <c:pt idx="515">
                  <c:v>1.3888888888888889E-3</c:v>
                </c:pt>
                <c:pt idx="516">
                  <c:v>1.3888888888888889E-3</c:v>
                </c:pt>
                <c:pt idx="517">
                  <c:v>1.3888888888888889E-3</c:v>
                </c:pt>
                <c:pt idx="518">
                  <c:v>1.3888888888888889E-3</c:v>
                </c:pt>
                <c:pt idx="519">
                  <c:v>1.3888888888888889E-3</c:v>
                </c:pt>
                <c:pt idx="520">
                  <c:v>1.3888888888888889E-3</c:v>
                </c:pt>
                <c:pt idx="521">
                  <c:v>1.3888888888888889E-3</c:v>
                </c:pt>
                <c:pt idx="522">
                  <c:v>1.3888888888888889E-3</c:v>
                </c:pt>
                <c:pt idx="523">
                  <c:v>1.3888888888888889E-3</c:v>
                </c:pt>
                <c:pt idx="524">
                  <c:v>1.3888888888888889E-3</c:v>
                </c:pt>
                <c:pt idx="525">
                  <c:v>1.3888888888888889E-3</c:v>
                </c:pt>
                <c:pt idx="526">
                  <c:v>1.3888888888888889E-3</c:v>
                </c:pt>
                <c:pt idx="527">
                  <c:v>1.3888888888888889E-3</c:v>
                </c:pt>
                <c:pt idx="528">
                  <c:v>1.3888888888888889E-3</c:v>
                </c:pt>
                <c:pt idx="529">
                  <c:v>1.3888888888888889E-3</c:v>
                </c:pt>
                <c:pt idx="530">
                  <c:v>1.3888888888888889E-3</c:v>
                </c:pt>
                <c:pt idx="531">
                  <c:v>1.3888888888888889E-3</c:v>
                </c:pt>
                <c:pt idx="532">
                  <c:v>1.3888888888888889E-3</c:v>
                </c:pt>
                <c:pt idx="533">
                  <c:v>1.3888888888888889E-3</c:v>
                </c:pt>
                <c:pt idx="534">
                  <c:v>1.3888888888888889E-3</c:v>
                </c:pt>
                <c:pt idx="535">
                  <c:v>1.3888888888888889E-3</c:v>
                </c:pt>
                <c:pt idx="536">
                  <c:v>1.3888888888888889E-3</c:v>
                </c:pt>
                <c:pt idx="537">
                  <c:v>1.3888888888888889E-3</c:v>
                </c:pt>
                <c:pt idx="538">
                  <c:v>1.3888888888888889E-3</c:v>
                </c:pt>
                <c:pt idx="539">
                  <c:v>1.3888888888888889E-3</c:v>
                </c:pt>
                <c:pt idx="540">
                  <c:v>1.3888888888888889E-3</c:v>
                </c:pt>
                <c:pt idx="541">
                  <c:v>1.3888888888888889E-3</c:v>
                </c:pt>
                <c:pt idx="542">
                  <c:v>1.3888888888888889E-3</c:v>
                </c:pt>
                <c:pt idx="543">
                  <c:v>1.3888888888888889E-3</c:v>
                </c:pt>
                <c:pt idx="544">
                  <c:v>1.3888888888888889E-3</c:v>
                </c:pt>
                <c:pt idx="545">
                  <c:v>1.3888888888888889E-3</c:v>
                </c:pt>
                <c:pt idx="546">
                  <c:v>1.3888888888888889E-3</c:v>
                </c:pt>
                <c:pt idx="547">
                  <c:v>1.3888888888888889E-3</c:v>
                </c:pt>
                <c:pt idx="548">
                  <c:v>1.3888888888888889E-3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8E-4B0E-970D-30EE7ADA0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7982464"/>
        <c:axId val="244978048"/>
      </c:lineChart>
      <c:catAx>
        <c:axId val="21798246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vert="horz"/>
          <a:lstStyle/>
          <a:p>
            <a:pPr>
              <a:defRPr>
                <a:latin typeface="+mj-lt"/>
              </a:defRPr>
            </a:pPr>
            <a:endParaRPr lang="ko-KR"/>
          </a:p>
        </c:txPr>
        <c:crossAx val="244978048"/>
        <c:crosses val="autoZero"/>
        <c:auto val="1"/>
        <c:lblAlgn val="ctr"/>
        <c:lblOffset val="100"/>
        <c:noMultiLvlLbl val="0"/>
      </c:catAx>
      <c:valAx>
        <c:axId val="244978048"/>
        <c:scaling>
          <c:orientation val="minMax"/>
        </c:scaling>
        <c:delete val="0"/>
        <c:axPos val="l"/>
        <c:numFmt formatCode="h:mm:ss;@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>
                <a:latin typeface="+mj-lt"/>
              </a:defRPr>
            </a:pPr>
            <a:endParaRPr lang="ko-KR"/>
          </a:p>
        </c:txPr>
        <c:crossAx val="217982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3539521401055961"/>
          <c:y val="0"/>
          <c:w val="0.16337332138355282"/>
          <c:h val="9.7560149931137999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1000">
              <a:latin typeface="+mj-lt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휴먼명조" panose="02010504000101010101" pitchFamily="2" charset="-127"/>
          <a:ea typeface="휴먼명조" panose="02010504000101010101" pitchFamily="2" charset="-127"/>
        </a:defRPr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10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072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_Chapter Title+Tit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B7C160-80C8-488C-B721-AF3732F21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325" y="576979"/>
            <a:ext cx="11520000" cy="424732"/>
          </a:xfrm>
          <a:prstGeom prst="rect">
            <a:avLst/>
          </a:prstGeom>
        </p:spPr>
        <p:txBody>
          <a:bodyPr lIns="0"/>
          <a:lstStyle>
            <a:lvl1pPr>
              <a:defRPr sz="2400"/>
            </a:lvl1pPr>
          </a:lstStyle>
          <a:p>
            <a:r>
              <a:rPr lang="fr-FR" altLang="ko-KR" dirty="0"/>
              <a:t>TITLE OF THE SLIDE</a:t>
            </a:r>
            <a:endParaRPr lang="ko-KR" alt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B55AB52-5C67-45FB-A0A6-CB9E94F49C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074" y="235068"/>
            <a:ext cx="11520000" cy="313932"/>
          </a:xfrm>
          <a:prstGeom prst="rect">
            <a:avLst/>
          </a:prstGeom>
        </p:spPr>
        <p:txBody>
          <a:bodyPr vert="horz" wrap="square" lIns="0" tIns="45720" rIns="72000" bIns="45720" rtlCol="0" anchor="b">
            <a:spAutoFit/>
          </a:bodyPr>
          <a:lstStyle>
            <a:lvl1pPr marL="0" indent="0">
              <a:buNone/>
              <a:defRPr lang="en-GB" sz="1600" cap="none" spc="0" baseline="0" dirty="0">
                <a:solidFill>
                  <a:srgbClr val="B3B3B3"/>
                </a:solidFill>
                <a:ea typeface="+mj-ea"/>
                <a:cs typeface="+mj-cs"/>
              </a:defRPr>
            </a:lvl1pPr>
          </a:lstStyle>
          <a:p>
            <a:pPr marL="85725" lvl="0" indent="-85725">
              <a:lnSpc>
                <a:spcPct val="90000"/>
              </a:lnSpc>
              <a:spcBef>
                <a:spcPct val="0"/>
              </a:spcBef>
            </a:pPr>
            <a:r>
              <a:rPr lang="en-GB" altLang="ko-KR" dirty="0"/>
              <a:t>TITLE OF THE CHAPTER</a:t>
            </a:r>
            <a:endParaRPr lang="en-GB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CB60960-0C04-41FB-9399-1DE160C9FE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325" y="1151154"/>
            <a:ext cx="11520000" cy="569387"/>
          </a:xfrm>
          <a:prstGeom prst="rect">
            <a:avLst/>
          </a:prstGeom>
        </p:spPr>
        <p:txBody>
          <a:bodyPr lIns="0" rIns="0">
            <a:spAutoFit/>
          </a:bodyPr>
          <a:lstStyle>
            <a:lvl1pPr marL="228600" indent="-228600" fontAlgn="base" latinLnBrk="0">
              <a:lnSpc>
                <a:spcPct val="100000"/>
              </a:lnSpc>
              <a:spcBef>
                <a:spcPts val="600"/>
              </a:spcBef>
              <a:buSzPct val="90000"/>
              <a:buFont typeface="맑은 고딕" panose="020B0503020000020004" pitchFamily="50" charset="-127"/>
              <a:buChar char="■"/>
              <a:defRPr sz="1300"/>
            </a:lvl1pPr>
            <a:lvl2pPr marL="452438" indent="-187325" fontAlgn="base" latinLnBrk="0">
              <a:lnSpc>
                <a:spcPct val="100000"/>
              </a:lnSpc>
              <a:spcBef>
                <a:spcPts val="600"/>
              </a:spcBef>
              <a:buSzPct val="90000"/>
              <a:buFont typeface="맑은 고딕" panose="020B0503020000020004" pitchFamily="50" charset="-127"/>
              <a:buChar char="-"/>
              <a:defRPr sz="1300"/>
            </a:lvl2pPr>
            <a:lvl3pPr marL="1143000" indent="-228600">
              <a:buSzPct val="90000"/>
              <a:buFont typeface="맑은 고딕" panose="020B0503020000020004" pitchFamily="50" charset="-127"/>
              <a:buChar char="■"/>
              <a:defRPr sz="1300"/>
            </a:lvl3pPr>
            <a:lvl4pPr marL="1600200" indent="-228600">
              <a:buSzPct val="90000"/>
              <a:buFont typeface="맑은 고딕" panose="020B0503020000020004" pitchFamily="50" charset="-127"/>
              <a:buChar char="■"/>
              <a:defRPr sz="1300"/>
            </a:lvl4pPr>
            <a:lvl5pPr marL="2057400" indent="-228600">
              <a:buSzPct val="90000"/>
              <a:buFont typeface="맑은 고딕" panose="020B0503020000020004" pitchFamily="50" charset="-127"/>
              <a:buChar char="■"/>
              <a:defRPr sz="13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pic>
        <p:nvPicPr>
          <p:cNvPr id="32" name="Picture 2" descr="gist logo에 대한 이미지 검색결과">
            <a:extLst>
              <a:ext uri="{FF2B5EF4-FFF2-40B4-BE49-F238E27FC236}">
                <a16:creationId xmlns:a16="http://schemas.microsoft.com/office/drawing/2014/main" id="{86EA83FD-19F5-4942-B4F7-D9195202FB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520" y="6378095"/>
            <a:ext cx="1275262" cy="252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B51FC85-76E3-41E7-B06B-A12B76BC3B0F}"/>
              </a:ext>
            </a:extLst>
          </p:cNvPr>
          <p:cNvSpPr/>
          <p:nvPr userDrawn="1"/>
        </p:nvSpPr>
        <p:spPr>
          <a:xfrm>
            <a:off x="547368" y="6316512"/>
            <a:ext cx="867545" cy="246221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l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Ⓒ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2019 GIST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3" name="Espace réservé du numéro de diapositive 5">
            <a:extLst>
              <a:ext uri="{FF2B5EF4-FFF2-40B4-BE49-F238E27FC236}">
                <a16:creationId xmlns:a16="http://schemas.microsoft.com/office/drawing/2014/main" id="{85EEC06E-816C-4440-9468-1EE4D2790588}"/>
              </a:ext>
            </a:extLst>
          </p:cNvPr>
          <p:cNvSpPr txBox="1">
            <a:spLocks/>
          </p:cNvSpPr>
          <p:nvPr userDrawn="1"/>
        </p:nvSpPr>
        <p:spPr>
          <a:xfrm>
            <a:off x="335363" y="6325843"/>
            <a:ext cx="360037" cy="21600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900" b="1" kern="1200">
                <a:solidFill>
                  <a:schemeClr val="bg2">
                    <a:lumMod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D61AABEC-672F-4B68-B914-690DA978312C}" type="slidenum">
              <a:rPr lang="en-GB" sz="1000" b="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r>
              <a:rPr lang="en-GB" sz="1000" b="0" dirty="0">
                <a:solidFill>
                  <a:schemeClr val="bg1">
                    <a:lumMod val="50000"/>
                  </a:schemeClr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3925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FBAE40"/>
          </p15:clr>
        </p15:guide>
        <p15:guide id="4" pos="211">
          <p15:clr>
            <a:srgbClr val="FBAE40"/>
          </p15:clr>
        </p15:guide>
        <p15:guide id="5" pos="746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60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.bin"/><Relationship Id="rId18" Type="http://schemas.openxmlformats.org/officeDocument/2006/relationships/oleObject" Target="../embeddings/oleObject11.bin"/><Relationship Id="rId26" Type="http://schemas.openxmlformats.org/officeDocument/2006/relationships/oleObject" Target="../embeddings/oleObject17.bin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3.bin"/><Relationship Id="rId34" Type="http://schemas.openxmlformats.org/officeDocument/2006/relationships/image" Target="../media/image18.wmf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1.wmf"/><Relationship Id="rId17" Type="http://schemas.openxmlformats.org/officeDocument/2006/relationships/image" Target="../media/image13.wmf"/><Relationship Id="rId25" Type="http://schemas.openxmlformats.org/officeDocument/2006/relationships/oleObject" Target="../embeddings/oleObject16.bin"/><Relationship Id="rId3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.bin"/><Relationship Id="rId20" Type="http://schemas.openxmlformats.org/officeDocument/2006/relationships/oleObject" Target="../embeddings/oleObject12.bin"/><Relationship Id="rId29" Type="http://schemas.openxmlformats.org/officeDocument/2006/relationships/oleObject" Target="../embeddings/oleObject20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7.bin"/><Relationship Id="rId24" Type="http://schemas.openxmlformats.org/officeDocument/2006/relationships/oleObject" Target="../embeddings/oleObject15.bin"/><Relationship Id="rId32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9.bin"/><Relationship Id="rId23" Type="http://schemas.openxmlformats.org/officeDocument/2006/relationships/image" Target="../media/image15.wmf"/><Relationship Id="rId28" Type="http://schemas.openxmlformats.org/officeDocument/2006/relationships/oleObject" Target="../embeddings/oleObject19.bin"/><Relationship Id="rId10" Type="http://schemas.openxmlformats.org/officeDocument/2006/relationships/image" Target="../media/image10.wmf"/><Relationship Id="rId19" Type="http://schemas.openxmlformats.org/officeDocument/2006/relationships/image" Target="../media/image14.wmf"/><Relationship Id="rId31" Type="http://schemas.openxmlformats.org/officeDocument/2006/relationships/oleObject" Target="../embeddings/oleObject21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2.wmf"/><Relationship Id="rId22" Type="http://schemas.openxmlformats.org/officeDocument/2006/relationships/oleObject" Target="../embeddings/oleObject14.bin"/><Relationship Id="rId27" Type="http://schemas.openxmlformats.org/officeDocument/2006/relationships/oleObject" Target="../embeddings/oleObject18.bin"/><Relationship Id="rId30" Type="http://schemas.openxmlformats.org/officeDocument/2006/relationships/image" Target="../media/image16.wmf"/><Relationship Id="rId8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1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5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5.164.244.139/blocks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aabx3/BTCeccBGT3" TargetMode="External"/><Relationship Id="rId2" Type="http://schemas.openxmlformats.org/officeDocument/2006/relationships/hyperlink" Target="https://github.com/paaabx3/BTCBGT3-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15.164.244.139/blocks" TargetMode="External"/><Relationship Id="rId4" Type="http://schemas.openxmlformats.org/officeDocument/2006/relationships/hyperlink" Target="http://13.125.223.181/blocks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st logo에 대한 이미지 검색결과">
            <a:extLst>
              <a:ext uri="{FF2B5EF4-FFF2-40B4-BE49-F238E27FC236}">
                <a16:creationId xmlns:a16="http://schemas.microsoft.com/office/drawing/2014/main" id="{DFD8CE7C-ACC7-4EFC-A65B-9DA56A4D5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24" y="673028"/>
            <a:ext cx="1746976" cy="34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73812F-39D8-45DB-9B24-9A75EE0CFAB5}"/>
              </a:ext>
            </a:extLst>
          </p:cNvPr>
          <p:cNvSpPr txBox="1"/>
          <p:nvPr/>
        </p:nvSpPr>
        <p:spPr>
          <a:xfrm>
            <a:off x="351773" y="5447347"/>
            <a:ext cx="53276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0"/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블록체인 인터넷 경제연구센터 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 </a:t>
            </a:r>
            <a:r>
              <a:rPr lang="ko-KR" altLang="en-US" sz="16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센서지능화센터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fontAlgn="base" latinLnBrk="0"/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발표자 </a:t>
            </a:r>
            <a:r>
              <a:rPr lang="en-US" altLang="ko-KR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16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이흥노</a:t>
            </a:r>
            <a:r>
              <a:rPr lang="ko-KR" altLang="en-US" sz="16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교수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3397EF-BDBA-4D0F-B575-D094F5DC8C78}"/>
              </a:ext>
            </a:extLst>
          </p:cNvPr>
          <p:cNvSpPr txBox="1"/>
          <p:nvPr/>
        </p:nvSpPr>
        <p:spPr>
          <a:xfrm>
            <a:off x="278733" y="2694204"/>
            <a:ext cx="82855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3200" b="1" dirty="0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암호</a:t>
            </a:r>
            <a:r>
              <a:rPr lang="en-US" altLang="ko-KR" sz="3200" b="1" dirty="0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-</a:t>
            </a:r>
            <a:r>
              <a:rPr lang="ko-KR" altLang="en-US" sz="3200" b="1" dirty="0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부호 </a:t>
            </a:r>
            <a:r>
              <a:rPr lang="ko-KR" altLang="en-US" sz="3200" b="1" dirty="0" err="1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작업증명</a:t>
            </a:r>
            <a:r>
              <a:rPr lang="en-US" altLang="ko-KR" sz="3200" b="1" dirty="0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</a:t>
            </a:r>
            <a:r>
              <a:rPr lang="en-US" altLang="ko-KR" sz="3200" b="1" dirty="0" err="1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PoW</a:t>
            </a:r>
            <a:r>
              <a:rPr lang="en-US" altLang="ko-KR" sz="3200" b="1" dirty="0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</a:t>
            </a:r>
          </a:p>
          <a:p>
            <a:pPr fontAlgn="base"/>
            <a:r>
              <a:rPr lang="ko-KR" altLang="en-US" sz="3200" b="1" dirty="0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비트코인</a:t>
            </a:r>
            <a:r>
              <a:rPr lang="en-US" altLang="ko-KR" sz="3200" b="1" dirty="0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/</a:t>
            </a:r>
            <a:r>
              <a:rPr lang="ko-KR" altLang="en-US" sz="3200" b="1" dirty="0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이더리움 </a:t>
            </a:r>
            <a:r>
              <a:rPr lang="ko-KR" altLang="en-US" sz="3200" b="1" dirty="0" err="1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하드포크</a:t>
            </a:r>
            <a:r>
              <a:rPr lang="ko-KR" altLang="en-US" sz="3200" b="1" dirty="0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3200" b="1" dirty="0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1.0 </a:t>
            </a:r>
            <a:r>
              <a:rPr lang="ko-KR" altLang="en-US" sz="3200" b="1" dirty="0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개발</a:t>
            </a:r>
            <a:r>
              <a:rPr lang="en-US" altLang="ko-KR" sz="3200" b="1" dirty="0" smtClean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/</a:t>
            </a:r>
            <a:endParaRPr lang="en-US" altLang="ko-KR" sz="3200" b="1" dirty="0">
              <a:solidFill>
                <a:srgbClr val="0255B8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AAD93A7-8F08-4861-8F59-0784038FA1F8}"/>
              </a:ext>
            </a:extLst>
          </p:cNvPr>
          <p:cNvSpPr/>
          <p:nvPr/>
        </p:nvSpPr>
        <p:spPr>
          <a:xfrm>
            <a:off x="0" y="0"/>
            <a:ext cx="12191999" cy="183600"/>
          </a:xfrm>
          <a:prstGeom prst="rect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C720DF-ED41-4C86-8B94-7A2DA976848D}"/>
              </a:ext>
            </a:extLst>
          </p:cNvPr>
          <p:cNvSpPr/>
          <p:nvPr/>
        </p:nvSpPr>
        <p:spPr>
          <a:xfrm>
            <a:off x="0" y="6675120"/>
            <a:ext cx="12191999" cy="182880"/>
          </a:xfrm>
          <a:prstGeom prst="rect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B25DED2-12D0-44CC-91AA-D950813FCDF9}"/>
              </a:ext>
            </a:extLst>
          </p:cNvPr>
          <p:cNvGrpSpPr/>
          <p:nvPr/>
        </p:nvGrpSpPr>
        <p:grpSpPr>
          <a:xfrm>
            <a:off x="8738152" y="568961"/>
            <a:ext cx="3453847" cy="5791199"/>
            <a:chOff x="8738152" y="568961"/>
            <a:chExt cx="3453847" cy="579119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88F3BEA-D9A0-4AFC-AC2B-5B379FF130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20192" b="8602"/>
            <a:stretch/>
          </p:blipFill>
          <p:spPr>
            <a:xfrm flipH="1">
              <a:off x="8738152" y="2372303"/>
              <a:ext cx="3453847" cy="3987857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5BE04671-5842-4EDF-B58D-2D4863A61B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0192" b="8602"/>
            <a:stretch/>
          </p:blipFill>
          <p:spPr>
            <a:xfrm flipH="1">
              <a:off x="10449700" y="568961"/>
              <a:ext cx="1742298" cy="20116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36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31F1F6-D8F5-43E8-870F-8280764FA76C}"/>
              </a:ext>
            </a:extLst>
          </p:cNvPr>
          <p:cNvSpPr/>
          <p:nvPr/>
        </p:nvSpPr>
        <p:spPr>
          <a:xfrm>
            <a:off x="2288539" y="1227298"/>
            <a:ext cx="7420004" cy="2625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sz="17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lang="ko-KR" altLang="en-US" sz="17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기술개발의 필요성	</a:t>
            </a: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sz="17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2. </a:t>
            </a:r>
            <a:r>
              <a:rPr lang="ko-KR" altLang="en-US" sz="1700" dirty="0" err="1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성과내역</a:t>
            </a:r>
            <a:endParaRPr lang="en-US" altLang="ko-KR" sz="17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sz="17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3.</a:t>
            </a:r>
            <a:r>
              <a:rPr lang="ko-KR" altLang="en-US" sz="17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기술개발 내용 </a:t>
            </a:r>
            <a:endParaRPr lang="en-US" altLang="ko-KR" sz="17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</a:t>
            </a:r>
            <a:r>
              <a:rPr lang="en-US" altLang="ko-KR" sz="17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3.1</a:t>
            </a:r>
            <a:r>
              <a:rPr lang="ko-KR" altLang="en-US" sz="17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7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ECCPoW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버전 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1.0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개발</a:t>
            </a:r>
            <a:endParaRPr lang="en-US" altLang="ko-KR" sz="17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</a:t>
            </a:r>
            <a:r>
              <a:rPr lang="en-US" altLang="ko-KR" sz="17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3.2</a:t>
            </a:r>
            <a:r>
              <a:rPr lang="ko-KR" altLang="en-US" sz="17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7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ECCPoW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개발 및 기존 암호화폐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7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비트코인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시스템에 적용</a:t>
            </a:r>
            <a:endParaRPr lang="en-US" altLang="ko-KR" sz="17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</a:t>
            </a:r>
            <a:r>
              <a:rPr lang="en-US" altLang="ko-KR" sz="17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3.3</a:t>
            </a:r>
            <a:r>
              <a:rPr lang="ko-KR" altLang="en-US" sz="17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7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ECCPoW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개발 및 기존 암호화폐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7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이더리움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시스템에 적용</a:t>
            </a:r>
            <a:endParaRPr lang="en-US" altLang="ko-KR" sz="17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defTabSz="263525" fontAlgn="base">
              <a:lnSpc>
                <a:spcPct val="110000"/>
              </a:lnSpc>
              <a:spcBef>
                <a:spcPts val="300"/>
              </a:spcBef>
            </a:pP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	</a:t>
            </a:r>
            <a:r>
              <a:rPr lang="en-US" altLang="ko-KR" sz="17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3.4</a:t>
            </a:r>
            <a:r>
              <a:rPr lang="ko-KR" altLang="en-US" sz="17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BTCECC/ETHECC </a:t>
            </a:r>
            <a:r>
              <a:rPr lang="ko-KR" altLang="en-US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평가 결과</a:t>
            </a:r>
            <a: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/>
            </a:r>
            <a:br>
              <a:rPr lang="en-US" altLang="ko-KR" sz="17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700" dirty="0" smtClean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4</a:t>
            </a:r>
            <a:r>
              <a:rPr lang="en-US" altLang="ko-KR" sz="17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 </a:t>
            </a:r>
            <a:r>
              <a:rPr lang="ko-KR" altLang="en-US" sz="17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기술개발 결과의 활용 방안 및 기대효과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5D214-E01C-45B4-BB8D-DBAE91B620B9}"/>
              </a:ext>
            </a:extLst>
          </p:cNvPr>
          <p:cNvSpPr txBox="1"/>
          <p:nvPr/>
        </p:nvSpPr>
        <p:spPr>
          <a:xfrm>
            <a:off x="375920" y="1209044"/>
            <a:ext cx="147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ko-KR" altLang="en-US" sz="3600" b="1" dirty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목 차</a:t>
            </a:r>
            <a:endParaRPr lang="ko-KR" altLang="en-US" sz="3600" b="1" dirty="0">
              <a:solidFill>
                <a:schemeClr val="bg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F540093-6ED9-43DF-85FB-F26BAF39BDD1}"/>
              </a:ext>
            </a:extLst>
          </p:cNvPr>
          <p:cNvGrpSpPr/>
          <p:nvPr/>
        </p:nvGrpSpPr>
        <p:grpSpPr>
          <a:xfrm>
            <a:off x="8738152" y="568961"/>
            <a:ext cx="3453847" cy="5791199"/>
            <a:chOff x="8738152" y="568961"/>
            <a:chExt cx="3453847" cy="579119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A7F50E7-BCC3-4C5E-8C48-AD6A5EACB8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20192" b="8602"/>
            <a:stretch/>
          </p:blipFill>
          <p:spPr>
            <a:xfrm flipH="1">
              <a:off x="8738152" y="2372303"/>
              <a:ext cx="3453847" cy="3987857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57535FE-4100-4F1C-9B5B-250A7DFEC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0192" b="8602"/>
            <a:stretch/>
          </p:blipFill>
          <p:spPr>
            <a:xfrm flipH="1">
              <a:off x="10449700" y="568961"/>
              <a:ext cx="1742298" cy="2011680"/>
            </a:xfrm>
            <a:prstGeom prst="rect">
              <a:avLst/>
            </a:prstGeom>
          </p:spPr>
        </p:pic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7FFB47-9621-4A14-B511-030D6ABA6AA5}"/>
              </a:ext>
            </a:extLst>
          </p:cNvPr>
          <p:cNvSpPr/>
          <p:nvPr/>
        </p:nvSpPr>
        <p:spPr>
          <a:xfrm>
            <a:off x="0" y="0"/>
            <a:ext cx="12191999" cy="183600"/>
          </a:xfrm>
          <a:prstGeom prst="rect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68F0AF-43CC-456E-AA3D-61B5EC3B1D7E}"/>
              </a:ext>
            </a:extLst>
          </p:cNvPr>
          <p:cNvSpPr/>
          <p:nvPr/>
        </p:nvSpPr>
        <p:spPr>
          <a:xfrm>
            <a:off x="0" y="6675120"/>
            <a:ext cx="12191999" cy="182880"/>
          </a:xfrm>
          <a:prstGeom prst="rect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4F595C63-6AA2-49A2-A5C9-5C091ACFEFA9}"/>
              </a:ext>
            </a:extLst>
          </p:cNvPr>
          <p:cNvSpPr/>
          <p:nvPr/>
        </p:nvSpPr>
        <p:spPr>
          <a:xfrm>
            <a:off x="2062480" y="1320800"/>
            <a:ext cx="0" cy="4236720"/>
          </a:xfrm>
          <a:custGeom>
            <a:avLst/>
            <a:gdLst>
              <a:gd name="connsiteX0" fmla="*/ 0 w 0"/>
              <a:gd name="connsiteY0" fmla="*/ 0 h 4236720"/>
              <a:gd name="connsiteX1" fmla="*/ 0 w 0"/>
              <a:gd name="connsiteY1" fmla="*/ 4236720 h 423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236720">
                <a:moveTo>
                  <a:pt x="0" y="0"/>
                </a:moveTo>
                <a:lnTo>
                  <a:pt x="0" y="4236720"/>
                </a:lnTo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99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25E5B-300F-49FB-9231-D39764DAB0F0}"/>
              </a:ext>
            </a:extLst>
          </p:cNvPr>
          <p:cNvSpPr txBox="1"/>
          <p:nvPr/>
        </p:nvSpPr>
        <p:spPr>
          <a:xfrm>
            <a:off x="487679" y="2392680"/>
            <a:ext cx="4494223" cy="5539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fontAlgn="base"/>
            <a:r>
              <a:rPr lang="ko-KR" altLang="en-US" sz="3600" b="1" dirty="0" smtClean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실용화연구개발 개요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3591D-560F-436F-B4B3-784597D85279}"/>
              </a:ext>
            </a:extLst>
          </p:cNvPr>
          <p:cNvSpPr txBox="1"/>
          <p:nvPr/>
        </p:nvSpPr>
        <p:spPr>
          <a:xfrm>
            <a:off x="487680" y="624840"/>
            <a:ext cx="3322320" cy="17697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0" b="1" i="0" u="none" strike="noStrike" kern="1200" cap="none" spc="-30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rPr>
              <a:t>01</a:t>
            </a:r>
            <a:endParaRPr kumimoji="0" lang="ko-KR" altLang="en-US" sz="11500" b="1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75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771379"/>
            <a:ext cx="11520000" cy="424732"/>
          </a:xfrm>
        </p:spPr>
        <p:txBody>
          <a:bodyPr/>
          <a:lstStyle/>
          <a:p>
            <a:r>
              <a:rPr lang="ko-KR" altLang="en-US" dirty="0" smtClean="0"/>
              <a:t>암호</a:t>
            </a:r>
            <a:r>
              <a:rPr lang="en-US" altLang="ko-KR" dirty="0" smtClean="0"/>
              <a:t>-</a:t>
            </a:r>
            <a:r>
              <a:rPr lang="ko-KR" altLang="en-US" dirty="0" smtClean="0"/>
              <a:t>부호 </a:t>
            </a:r>
            <a:r>
              <a:rPr lang="ko-KR" altLang="en-US" dirty="0" err="1" smtClean="0"/>
              <a:t>작업증명</a:t>
            </a:r>
            <a:r>
              <a:rPr lang="en-US" altLang="ko-KR" dirty="0"/>
              <a:t> </a:t>
            </a:r>
            <a:r>
              <a:rPr lang="en-US" altLang="ko-KR" dirty="0" smtClean="0"/>
              <a:t>(POW) </a:t>
            </a:r>
            <a:r>
              <a:rPr lang="ko-KR" altLang="en-US" dirty="0" smtClean="0"/>
              <a:t>비트코인</a:t>
            </a:r>
            <a:r>
              <a:rPr lang="en-US" altLang="ko-KR" dirty="0" smtClean="0"/>
              <a:t>/</a:t>
            </a:r>
            <a:r>
              <a:rPr lang="ko-KR" altLang="en-US" dirty="0" smtClean="0"/>
              <a:t>이더리움 </a:t>
            </a:r>
            <a:r>
              <a:rPr lang="ko-KR" altLang="en-US" dirty="0" err="1" smtClean="0"/>
              <a:t>하드포크</a:t>
            </a:r>
            <a:r>
              <a:rPr lang="ko-KR" altLang="en-US" dirty="0" smtClean="0"/>
              <a:t> </a:t>
            </a:r>
            <a:r>
              <a:rPr lang="en-US" altLang="ko-KR" dirty="0" smtClean="0"/>
              <a:t>1.0 </a:t>
            </a:r>
            <a:r>
              <a:rPr lang="ko-KR" altLang="en-US" dirty="0" smtClean="0"/>
              <a:t>개발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실용화연구개발 개요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AA996D-2B8F-4783-BA2E-AA411FAE4B44}"/>
              </a:ext>
            </a:extLst>
          </p:cNvPr>
          <p:cNvSpPr/>
          <p:nvPr/>
        </p:nvSpPr>
        <p:spPr>
          <a:xfrm>
            <a:off x="253903" y="1445067"/>
            <a:ext cx="24208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ts val="300"/>
              </a:spcBef>
              <a:defRPr/>
            </a:pPr>
            <a:r>
              <a:rPr lang="ko-KR" altLang="en-US" sz="2800" b="1" dirty="0" smtClean="0">
                <a:solidFill>
                  <a:srgbClr val="0255B8"/>
                </a:solidFill>
              </a:rPr>
              <a:t>연구개발 목표</a:t>
            </a:r>
            <a:endParaRPr lang="ko-KR" altLang="en-US" sz="2800" b="1" dirty="0">
              <a:solidFill>
                <a:srgbClr val="0255B8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780CB0-F156-4A6B-A8BA-9F7DA225E04E}"/>
              </a:ext>
            </a:extLst>
          </p:cNvPr>
          <p:cNvSpPr/>
          <p:nvPr/>
        </p:nvSpPr>
        <p:spPr>
          <a:xfrm>
            <a:off x="609600" y="2032500"/>
            <a:ext cx="11247438" cy="73000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468000" anchor="ctr" anchorCtr="0">
            <a:noAutofit/>
          </a:bodyPr>
          <a:lstStyle/>
          <a:p>
            <a:pPr lvl="0" fontAlgn="base"/>
            <a:r>
              <a:rPr lang="ko-KR" altLang="en-US" sz="1600" dirty="0"/>
              <a:t>블록체인 성능 및 신뢰성을 향상시키기 위하여 트랜잭션 종류와 목적에 따라 최적 합의 알고리즘 문제 해결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933F02-7E6C-48C4-BBCA-94D2B6A28723}"/>
              </a:ext>
            </a:extLst>
          </p:cNvPr>
          <p:cNvSpPr/>
          <p:nvPr/>
        </p:nvSpPr>
        <p:spPr>
          <a:xfrm>
            <a:off x="322220" y="2131892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01</a:t>
            </a:r>
            <a:endParaRPr lang="ko-KR" altLang="en-US" sz="28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FB9D2B-C7F1-4804-B968-DD7653B0D33D}"/>
              </a:ext>
            </a:extLst>
          </p:cNvPr>
          <p:cNvSpPr/>
          <p:nvPr/>
        </p:nvSpPr>
        <p:spPr>
          <a:xfrm>
            <a:off x="609600" y="2912066"/>
            <a:ext cx="11247438" cy="73000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468000" anchor="ctr" anchorCtr="0">
            <a:noAutofit/>
          </a:bodyPr>
          <a:lstStyle/>
          <a:p>
            <a:pPr lvl="0" fontAlgn="base"/>
            <a:r>
              <a:rPr lang="ko-KR" altLang="en-US" sz="1600" dirty="0"/>
              <a:t>거래처리 속도</a:t>
            </a:r>
            <a:r>
              <a:rPr lang="en-US" altLang="ko-KR" sz="1600" dirty="0"/>
              <a:t>, </a:t>
            </a:r>
            <a:r>
              <a:rPr lang="ko-KR" altLang="en-US" sz="1600" dirty="0"/>
              <a:t>확장성</a:t>
            </a:r>
            <a:r>
              <a:rPr lang="en-US" altLang="ko-KR" sz="1600" dirty="0"/>
              <a:t>, </a:t>
            </a:r>
            <a:r>
              <a:rPr lang="ko-KR" altLang="en-US" sz="1600" dirty="0"/>
              <a:t>보안 등 현 블록체인의 </a:t>
            </a:r>
            <a:r>
              <a:rPr lang="ko-KR" altLang="en-US" sz="1600" dirty="0" err="1"/>
              <a:t>트릴레마</a:t>
            </a:r>
            <a:r>
              <a:rPr lang="ko-KR" altLang="en-US" sz="1600" dirty="0"/>
              <a:t> 문제를 해결하고 분산 신뢰 인프라 서비스</a:t>
            </a:r>
            <a:r>
              <a:rPr lang="en-US" altLang="ko-KR" sz="1600" dirty="0"/>
              <a:t/>
            </a:r>
            <a:br>
              <a:rPr lang="en-US" altLang="ko-KR" sz="1600" dirty="0"/>
            </a:br>
            <a:r>
              <a:rPr lang="ko-KR" altLang="en-US" sz="1600" dirty="0"/>
              <a:t>제공에 필요한 트랜잭션에 따른 합의 알고리즘 필요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3512C16-B679-4E11-AEAD-B9149C3E3780}"/>
              </a:ext>
            </a:extLst>
          </p:cNvPr>
          <p:cNvSpPr/>
          <p:nvPr/>
        </p:nvSpPr>
        <p:spPr>
          <a:xfrm>
            <a:off x="322220" y="3011458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02</a:t>
            </a:r>
            <a:endParaRPr lang="ko-KR" altLang="en-US" sz="28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089B46B-1598-401A-851D-BF4ABCECE316}"/>
              </a:ext>
            </a:extLst>
          </p:cNvPr>
          <p:cNvSpPr/>
          <p:nvPr/>
        </p:nvSpPr>
        <p:spPr>
          <a:xfrm>
            <a:off x="609600" y="3791632"/>
            <a:ext cx="11247438" cy="730000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468000" anchor="ctr" anchorCtr="0">
            <a:noAutofit/>
          </a:bodyPr>
          <a:lstStyle/>
          <a:p>
            <a:pPr fontAlgn="base"/>
            <a:r>
              <a:rPr lang="ko-KR" altLang="en-US" sz="1600" dirty="0"/>
              <a:t>개발한 블록체인 시스템을 기존 </a:t>
            </a:r>
            <a:r>
              <a:rPr lang="ko-KR" altLang="en-US" sz="1600" dirty="0" err="1"/>
              <a:t>암호화폐</a:t>
            </a:r>
            <a:r>
              <a:rPr lang="en-US" altLang="ko-KR" sz="1600" dirty="0"/>
              <a:t>(</a:t>
            </a:r>
            <a:r>
              <a:rPr lang="ko-KR" altLang="en-US" sz="1600" dirty="0"/>
              <a:t>비트코인</a:t>
            </a:r>
            <a:r>
              <a:rPr lang="en-US" altLang="ko-KR" sz="1600" dirty="0"/>
              <a:t>/</a:t>
            </a:r>
            <a:r>
              <a:rPr lang="ko-KR" altLang="en-US" sz="1600" dirty="0"/>
              <a:t>이더리움</a:t>
            </a:r>
            <a:r>
              <a:rPr lang="en-US" altLang="ko-KR" sz="1600" dirty="0"/>
              <a:t>)</a:t>
            </a:r>
            <a:r>
              <a:rPr lang="ko-KR" altLang="en-US" sz="1600" dirty="0"/>
              <a:t>에 적용 및 확산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A8B0128-76F1-40E5-92EA-48A394A33BCA}"/>
              </a:ext>
            </a:extLst>
          </p:cNvPr>
          <p:cNvSpPr/>
          <p:nvPr/>
        </p:nvSpPr>
        <p:spPr>
          <a:xfrm>
            <a:off x="322220" y="3891024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 smtClean="0"/>
              <a:t>03</a:t>
            </a:r>
            <a:endParaRPr lang="ko-KR" altLang="en-US" sz="28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A6E199E-5364-4DC3-8784-23B8E5DF88FF}"/>
              </a:ext>
            </a:extLst>
          </p:cNvPr>
          <p:cNvGrpSpPr/>
          <p:nvPr/>
        </p:nvGrpSpPr>
        <p:grpSpPr>
          <a:xfrm>
            <a:off x="322220" y="4671198"/>
            <a:ext cx="11534818" cy="730000"/>
            <a:chOff x="322220" y="5503812"/>
            <a:chExt cx="11534818" cy="7300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93FDAC8-5545-4370-B66B-6BCA55425BE2}"/>
                </a:ext>
              </a:extLst>
            </p:cNvPr>
            <p:cNvSpPr/>
            <p:nvPr/>
          </p:nvSpPr>
          <p:spPr>
            <a:xfrm>
              <a:off x="609600" y="5503812"/>
              <a:ext cx="11247438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/>
                <a:t>개발한 기술을 기업에 기술이전 혹은 </a:t>
              </a:r>
              <a:r>
                <a:rPr lang="ko-KR" altLang="en-US" sz="1600" dirty="0" err="1"/>
                <a:t>연구소기업</a:t>
              </a:r>
              <a:r>
                <a:rPr lang="ko-KR" altLang="en-US" sz="1600" dirty="0"/>
                <a:t> 설립 목표</a:t>
              </a: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62F43C0-72CB-448B-96A9-3BD5C6B2A948}"/>
                </a:ext>
              </a:extLst>
            </p:cNvPr>
            <p:cNvSpPr/>
            <p:nvPr/>
          </p:nvSpPr>
          <p:spPr>
            <a:xfrm>
              <a:off x="322220" y="5603204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 smtClean="0"/>
                <a:t>04</a:t>
              </a:r>
              <a:endParaRPr lang="ko-KR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9644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분산성과 보안성 문제 해결의 중요성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실용화연구개발 개요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340413"/>
            <a:ext cx="11520000" cy="13592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ts val="600"/>
              </a:spcBef>
            </a:pP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분산성을 제고하여 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Satoshi Nakamoto</a:t>
            </a: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가 의도 한 바와 같이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/>
            </a:r>
            <a:b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</a:b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one-</a:t>
            </a:r>
            <a:r>
              <a:rPr lang="en-US" altLang="ko-KR" sz="1600" b="1" kern="0" spc="-50" dirty="0" err="1">
                <a:solidFill>
                  <a:srgbClr val="0255B8"/>
                </a:solidFill>
                <a:latin typeface="+mj-lt"/>
              </a:rPr>
              <a:t>cpu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-one-vote</a:t>
            </a: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에 접근 가능하도록 하는 새로운 작업증명 방식의 개발이 필요함</a:t>
            </a:r>
          </a:p>
          <a:p>
            <a:pPr lvl="0" fontAlgn="base">
              <a:spcBef>
                <a:spcPts val="600"/>
              </a:spcBef>
            </a:pP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ASIC/FPGA</a:t>
            </a: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개발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, </a:t>
            </a: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그리고 채굴 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Pool </a:t>
            </a: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형성의 억제가 가능하면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, </a:t>
            </a: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규모의 경제의 효율을 떨어뜨릴 수 있고</a:t>
            </a:r>
            <a: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  <a:t>,</a:t>
            </a:r>
            <a:br>
              <a:rPr lang="en-US" altLang="ko-KR" sz="1600" b="1" kern="0" spc="-50" dirty="0">
                <a:solidFill>
                  <a:srgbClr val="0255B8"/>
                </a:solidFill>
                <a:latin typeface="+mj-lt"/>
              </a:rPr>
            </a:br>
            <a:r>
              <a:rPr lang="ko-KR" altLang="en-US" sz="1600" b="1" kern="0" spc="-50" dirty="0">
                <a:solidFill>
                  <a:srgbClr val="0255B8"/>
                </a:solidFill>
                <a:latin typeface="+mj-lt"/>
              </a:rPr>
              <a:t>절대 다수의 소규모 채굴 노드의 참여 동기를 부여함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268413"/>
            <a:ext cx="11520000" cy="72000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  <a:latin typeface="+mj-lt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2292F1-3BF4-4F8C-B471-D3C5B43E2AEE}"/>
              </a:ext>
            </a:extLst>
          </p:cNvPr>
          <p:cNvSpPr/>
          <p:nvPr/>
        </p:nvSpPr>
        <p:spPr>
          <a:xfrm>
            <a:off x="253903" y="3104995"/>
            <a:ext cx="60274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ts val="300"/>
              </a:spcBef>
              <a:defRPr/>
            </a:pPr>
            <a:r>
              <a:rPr lang="ko-KR" altLang="en-US" sz="2800" b="1" dirty="0">
                <a:solidFill>
                  <a:srgbClr val="0255B8"/>
                </a:solidFill>
              </a:rPr>
              <a:t>작업증명</a:t>
            </a:r>
            <a:r>
              <a:rPr lang="en-US" altLang="ko-KR" sz="2800" b="1" dirty="0">
                <a:solidFill>
                  <a:srgbClr val="0255B8"/>
                </a:solidFill>
              </a:rPr>
              <a:t>(Proof-of-Work, </a:t>
            </a:r>
            <a:r>
              <a:rPr lang="en-US" altLang="ko-KR" sz="2800" b="1" dirty="0" err="1">
                <a:solidFill>
                  <a:srgbClr val="0255B8"/>
                </a:solidFill>
              </a:rPr>
              <a:t>PoW</a:t>
            </a:r>
            <a:r>
              <a:rPr lang="en-US" altLang="ko-KR" sz="2800" b="1" dirty="0">
                <a:solidFill>
                  <a:srgbClr val="0255B8"/>
                </a:solidFill>
              </a:rPr>
              <a:t>)</a:t>
            </a:r>
            <a:r>
              <a:rPr lang="ko-KR" altLang="en-US" sz="2800" b="1" dirty="0">
                <a:solidFill>
                  <a:srgbClr val="0255B8"/>
                </a:solidFill>
              </a:rPr>
              <a:t>의 효과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CECFCF7-AF45-4C60-A751-80A4A0D4E857}"/>
              </a:ext>
            </a:extLst>
          </p:cNvPr>
          <p:cNvGrpSpPr/>
          <p:nvPr/>
        </p:nvGrpSpPr>
        <p:grpSpPr>
          <a:xfrm>
            <a:off x="322220" y="3741204"/>
            <a:ext cx="11534818" cy="730000"/>
            <a:chOff x="322220" y="3692428"/>
            <a:chExt cx="11534818" cy="730000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D3EAB8A-36F8-4F53-AA1A-7B9908601ECF}"/>
                </a:ext>
              </a:extLst>
            </p:cNvPr>
            <p:cNvSpPr/>
            <p:nvPr/>
          </p:nvSpPr>
          <p:spPr>
            <a:xfrm>
              <a:off x="609600" y="3692428"/>
              <a:ext cx="11247438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dirty="0"/>
                <a:t>보안성이 검증된 합의 알고리즘은 작업증명</a:t>
              </a:r>
              <a:r>
                <a:rPr lang="en-US" altLang="ko-KR" sz="1600" dirty="0"/>
                <a:t>(Proof-of-Work, </a:t>
              </a:r>
              <a:r>
                <a:rPr lang="en-US" altLang="ko-KR" sz="1600" err="1"/>
                <a:t>PoW</a:t>
              </a:r>
              <a:r>
                <a:rPr lang="en-US" altLang="ko-KR" sz="1600"/>
                <a:t>)</a:t>
              </a:r>
              <a:endParaRPr lang="ko-KR" altLang="en-US" sz="1600" dirty="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7F2F01E7-7A12-4348-9FDF-618F22864983}"/>
                </a:ext>
              </a:extLst>
            </p:cNvPr>
            <p:cNvSpPr/>
            <p:nvPr/>
          </p:nvSpPr>
          <p:spPr>
            <a:xfrm>
              <a:off x="322220" y="3791820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01</a:t>
              </a:r>
              <a:endParaRPr lang="ko-KR" altLang="en-US" sz="2800" dirty="0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805C669C-AB62-4B82-96B4-38E435BD8E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348"/>
          <a:stretch/>
        </p:blipFill>
        <p:spPr>
          <a:xfrm>
            <a:off x="10448461" y="1551784"/>
            <a:ext cx="1351653" cy="1147873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AAB1B95-F5C5-4473-BECB-4C773B6716B5}"/>
              </a:ext>
            </a:extLst>
          </p:cNvPr>
          <p:cNvGrpSpPr/>
          <p:nvPr/>
        </p:nvGrpSpPr>
        <p:grpSpPr>
          <a:xfrm>
            <a:off x="322220" y="4624246"/>
            <a:ext cx="11534818" cy="730000"/>
            <a:chOff x="322220" y="4624246"/>
            <a:chExt cx="11534818" cy="730000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4EA44CD-3457-4667-9A64-0A821A31D68C}"/>
                </a:ext>
              </a:extLst>
            </p:cNvPr>
            <p:cNvSpPr/>
            <p:nvPr/>
          </p:nvSpPr>
          <p:spPr>
            <a:xfrm>
              <a:off x="609600" y="4624246"/>
              <a:ext cx="11247438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dirty="0"/>
                <a:t>가장 규모가 큰 블록체인인 </a:t>
              </a:r>
              <a:r>
                <a:rPr lang="ko-KR" altLang="en-US" sz="1600" dirty="0" err="1"/>
                <a:t>비트코인과</a:t>
              </a:r>
              <a:r>
                <a:rPr lang="ko-KR" altLang="en-US" sz="1600" dirty="0"/>
                <a:t> </a:t>
              </a:r>
              <a:r>
                <a:rPr lang="ko-KR" altLang="en-US" sz="1600" dirty="0" err="1"/>
                <a:t>이더리움이</a:t>
              </a:r>
              <a:r>
                <a:rPr lang="ko-KR" altLang="en-US" sz="1600" dirty="0"/>
                <a:t> </a:t>
              </a:r>
              <a:r>
                <a:rPr lang="en-US" altLang="ko-KR" sz="1600" dirty="0" err="1"/>
                <a:t>PoW</a:t>
              </a:r>
              <a:r>
                <a:rPr lang="ko-KR" altLang="en-US" sz="1600"/>
                <a:t>를 사용</a:t>
              </a:r>
              <a:endParaRPr lang="en-US" altLang="ko-KR" sz="1600" dirty="0"/>
            </a:p>
            <a:p>
              <a:pPr lvl="0" fontAlgn="base"/>
              <a:r>
                <a:rPr lang="ko-KR" altLang="en-US" sz="1600" dirty="0"/>
                <a:t>지난 수년간 보안 관련 사고 사례가 보고된 적이 없음 </a:t>
              </a: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0CBD9A3-B7CC-4A15-8FA4-7C3C93BE78AA}"/>
                </a:ext>
              </a:extLst>
            </p:cNvPr>
            <p:cNvSpPr/>
            <p:nvPr/>
          </p:nvSpPr>
          <p:spPr>
            <a:xfrm>
              <a:off x="322220" y="4723638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02</a:t>
              </a:r>
              <a:endParaRPr lang="ko-KR" altLang="en-US" sz="2800" dirty="0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61EB7B9-1B21-456D-BF61-5FE64098527B}"/>
              </a:ext>
            </a:extLst>
          </p:cNvPr>
          <p:cNvGrpSpPr/>
          <p:nvPr/>
        </p:nvGrpSpPr>
        <p:grpSpPr>
          <a:xfrm>
            <a:off x="322220" y="5503812"/>
            <a:ext cx="11534818" cy="730000"/>
            <a:chOff x="322220" y="5503812"/>
            <a:chExt cx="11534818" cy="730000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1E686BB-8A16-453D-991E-9229B4BC2FA4}"/>
                </a:ext>
              </a:extLst>
            </p:cNvPr>
            <p:cNvSpPr/>
            <p:nvPr/>
          </p:nvSpPr>
          <p:spPr>
            <a:xfrm>
              <a:off x="609600" y="5503812"/>
              <a:ext cx="11247438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en-US" altLang="ko-KR" sz="1600" dirty="0" err="1"/>
                <a:t>PoW</a:t>
              </a:r>
              <a:r>
                <a:rPr lang="ko-KR" altLang="en-US" sz="1600" dirty="0"/>
                <a:t>는 </a:t>
              </a:r>
              <a:r>
                <a:rPr lang="ko-KR" altLang="en-US" sz="1600" dirty="0" err="1"/>
                <a:t>시빌</a:t>
              </a:r>
              <a:r>
                <a:rPr lang="ko-KR" altLang="en-US" sz="1600" dirty="0"/>
                <a:t> 공격</a:t>
              </a:r>
              <a:r>
                <a:rPr lang="en-US" altLang="ko-KR" sz="1600" dirty="0"/>
                <a:t>(Sybil Attack)</a:t>
              </a:r>
              <a:r>
                <a:rPr lang="ko-KR" altLang="en-US" sz="1600" dirty="0"/>
                <a:t>과 이중 지불 공격</a:t>
              </a:r>
              <a:r>
                <a:rPr lang="en-US" altLang="ko-KR" sz="1600" dirty="0"/>
                <a:t>(Double-Spending Attack)</a:t>
              </a:r>
              <a:r>
                <a:rPr lang="ko-KR" altLang="en-US" sz="1600" dirty="0"/>
                <a:t>등에 매우 강인하여 화폐 및 </a:t>
              </a:r>
              <a:r>
                <a:rPr lang="ko-KR" altLang="en-US" sz="1600"/>
                <a:t>금융응용에 적합</a:t>
              </a:r>
              <a:endParaRPr lang="ko-KR" altLang="en-US" sz="1600" dirty="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757773D-B502-43FE-97FC-FBD6784652B9}"/>
                </a:ext>
              </a:extLst>
            </p:cNvPr>
            <p:cNvSpPr/>
            <p:nvPr/>
          </p:nvSpPr>
          <p:spPr>
            <a:xfrm>
              <a:off x="322220" y="5603204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03</a:t>
              </a:r>
              <a:endParaRPr lang="ko-KR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63224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분산성과 보안성 문제 해결의 중요성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실용화연구개발 개요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B16D47-FA40-4E65-A471-10C87D623323}"/>
              </a:ext>
            </a:extLst>
          </p:cNvPr>
          <p:cNvSpPr/>
          <p:nvPr/>
        </p:nvSpPr>
        <p:spPr>
          <a:xfrm>
            <a:off x="253903" y="1206528"/>
            <a:ext cx="67456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ts val="300"/>
              </a:spcBef>
              <a:defRPr/>
            </a:pPr>
            <a:r>
              <a:rPr lang="ko-KR" altLang="en-US" sz="2800" b="1" dirty="0">
                <a:solidFill>
                  <a:srgbClr val="0255B8"/>
                </a:solidFill>
              </a:rPr>
              <a:t>작업증명</a:t>
            </a:r>
            <a:r>
              <a:rPr lang="en-US" altLang="ko-KR" sz="2800" b="1" dirty="0">
                <a:solidFill>
                  <a:srgbClr val="0255B8"/>
                </a:solidFill>
              </a:rPr>
              <a:t>(Proof-of-Work, </a:t>
            </a:r>
            <a:r>
              <a:rPr lang="en-US" altLang="ko-KR" sz="2800" b="1" dirty="0" err="1">
                <a:solidFill>
                  <a:srgbClr val="0255B8"/>
                </a:solidFill>
              </a:rPr>
              <a:t>PoW</a:t>
            </a:r>
            <a:r>
              <a:rPr lang="en-US" altLang="ko-KR" sz="2800" b="1" dirty="0">
                <a:solidFill>
                  <a:srgbClr val="0255B8"/>
                </a:solidFill>
              </a:rPr>
              <a:t>)</a:t>
            </a:r>
            <a:r>
              <a:rPr lang="ko-KR" altLang="en-US" sz="2800" b="1" dirty="0">
                <a:solidFill>
                  <a:srgbClr val="0255B8"/>
                </a:solidFill>
              </a:rPr>
              <a:t>의 해결과제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BE490C3-89E5-4923-B6FF-1964771A37F1}"/>
              </a:ext>
            </a:extLst>
          </p:cNvPr>
          <p:cNvGrpSpPr/>
          <p:nvPr/>
        </p:nvGrpSpPr>
        <p:grpSpPr>
          <a:xfrm>
            <a:off x="322220" y="1793960"/>
            <a:ext cx="5608316" cy="4443327"/>
            <a:chOff x="322220" y="1793960"/>
            <a:chExt cx="5608316" cy="4443327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6700534-CBA7-4A6D-8C0C-09D5FB764A51}"/>
                </a:ext>
              </a:extLst>
            </p:cNvPr>
            <p:cNvGrpSpPr/>
            <p:nvPr/>
          </p:nvGrpSpPr>
          <p:grpSpPr>
            <a:xfrm>
              <a:off x="609599" y="1793960"/>
              <a:ext cx="5320937" cy="4443327"/>
              <a:chOff x="609598" y="1793961"/>
              <a:chExt cx="10960422" cy="3368698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AD3EAB8A-36F8-4F53-AA1A-7B9908601ECF}"/>
                  </a:ext>
                </a:extLst>
              </p:cNvPr>
              <p:cNvSpPr/>
              <p:nvPr/>
            </p:nvSpPr>
            <p:spPr>
              <a:xfrm>
                <a:off x="609598" y="3553093"/>
                <a:ext cx="10960422" cy="730000"/>
              </a:xfrm>
              <a:prstGeom prst="rect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lvl="0" fontAlgn="base"/>
                <a:r>
                  <a:rPr lang="en-US" altLang="ko-KR" sz="1600" dirty="0"/>
                  <a:t>ASIC</a:t>
                </a:r>
                <a:r>
                  <a:rPr lang="ko-KR" altLang="en-US" sz="1600" dirty="0"/>
                  <a:t>을 다수 보유한 전문 채굴업체와 그렇지 않은</a:t>
                </a:r>
                <a:r>
                  <a:rPr lang="en-US" altLang="ko-KR" sz="1600" dirty="0"/>
                  <a:t/>
                </a:r>
                <a:br>
                  <a:rPr lang="en-US" altLang="ko-KR" sz="1600" dirty="0"/>
                </a:br>
                <a:r>
                  <a:rPr lang="ko-KR" altLang="en-US" sz="1600" dirty="0"/>
                  <a:t>소규모 채굴 노드 간의 해시 파워 격차가 </a:t>
                </a:r>
                <a:r>
                  <a:rPr lang="ko-KR" altLang="en-US" sz="1600"/>
                  <a:t>크게 발생</a:t>
                </a:r>
                <a:endParaRPr lang="ko-KR" altLang="en-US" sz="1600" dirty="0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A4EA44CD-3457-4667-9A64-0A821A31D68C}"/>
                  </a:ext>
                </a:extLst>
              </p:cNvPr>
              <p:cNvSpPr/>
              <p:nvPr/>
            </p:nvSpPr>
            <p:spPr>
              <a:xfrm>
                <a:off x="609598" y="4432659"/>
                <a:ext cx="10960422" cy="73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fontAlgn="base"/>
                <a:r>
                  <a:rPr lang="ko-KR" altLang="en-US" sz="1600" b="1" dirty="0">
                    <a:solidFill>
                      <a:srgbClr val="0255B8"/>
                    </a:solidFill>
                  </a:rPr>
                  <a:t>규모의 경제 효과에 의한 </a:t>
                </a:r>
                <a:r>
                  <a:rPr lang="ko-KR" altLang="en-US" sz="1600" b="1" dirty="0" err="1">
                    <a:solidFill>
                      <a:srgbClr val="0255B8"/>
                    </a:solidFill>
                  </a:rPr>
                  <a:t>분산성</a:t>
                </a:r>
                <a:r>
                  <a:rPr lang="ko-KR" altLang="en-US" sz="1600" b="1" dirty="0">
                    <a:solidFill>
                      <a:srgbClr val="0255B8"/>
                    </a:solidFill>
                  </a:rPr>
                  <a:t> 훼손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9D537BCF-D5CF-4C0C-81EF-61376F397BA6}"/>
                  </a:ext>
                </a:extLst>
              </p:cNvPr>
              <p:cNvSpPr/>
              <p:nvPr/>
            </p:nvSpPr>
            <p:spPr>
              <a:xfrm>
                <a:off x="609598" y="1793961"/>
                <a:ext cx="10960422" cy="73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lvl="0" fontAlgn="base"/>
                <a:r>
                  <a:rPr lang="en-US" altLang="ko-KR" sz="1600" b="1" dirty="0">
                    <a:solidFill>
                      <a:srgbClr val="0255B8"/>
                    </a:solidFill>
                  </a:rPr>
                  <a:t>ASIC (Application Specific integrated Circuit)</a:t>
                </a:r>
                <a:r>
                  <a:rPr lang="ko-KR" altLang="en-US" sz="1600" b="1" dirty="0">
                    <a:solidFill>
                      <a:srgbClr val="0255B8"/>
                    </a:solidFill>
                  </a:rPr>
                  <a:t>의</a:t>
                </a:r>
                <a:r>
                  <a:rPr lang="en-US" altLang="ko-KR" sz="1600" b="1" dirty="0">
                    <a:solidFill>
                      <a:srgbClr val="0255B8"/>
                    </a:solidFill>
                  </a:rPr>
                  <a:t/>
                </a:r>
                <a:br>
                  <a:rPr lang="en-US" altLang="ko-KR" sz="1600" b="1" dirty="0">
                    <a:solidFill>
                      <a:srgbClr val="0255B8"/>
                    </a:solidFill>
                  </a:rPr>
                </a:br>
                <a:r>
                  <a:rPr lang="ko-KR" altLang="en-US" sz="1600" b="1" dirty="0">
                    <a:solidFill>
                      <a:srgbClr val="0255B8"/>
                    </a:solidFill>
                  </a:rPr>
                  <a:t>등장으로 인한 </a:t>
                </a:r>
                <a:r>
                  <a:rPr lang="ko-KR" altLang="en-US" sz="1600" b="1" dirty="0" err="1">
                    <a:solidFill>
                      <a:srgbClr val="0255B8"/>
                    </a:solidFill>
                  </a:rPr>
                  <a:t>분산성</a:t>
                </a:r>
                <a:r>
                  <a:rPr lang="ko-KR" altLang="en-US" sz="1600" b="1" dirty="0">
                    <a:solidFill>
                      <a:srgbClr val="0255B8"/>
                    </a:solidFill>
                  </a:rPr>
                  <a:t> 훼손</a:t>
                </a: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C21D131F-CCD7-4EAF-8D01-48AFF8ADB600}"/>
                  </a:ext>
                </a:extLst>
              </p:cNvPr>
              <p:cNvSpPr/>
              <p:nvPr/>
            </p:nvSpPr>
            <p:spPr>
              <a:xfrm>
                <a:off x="609598" y="2673527"/>
                <a:ext cx="10960422" cy="730000"/>
              </a:xfrm>
              <a:prstGeom prst="rect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lvl="0" fontAlgn="base"/>
                <a:r>
                  <a:rPr lang="en-US" altLang="ko-KR" sz="1600" dirty="0"/>
                  <a:t>ASIC</a:t>
                </a:r>
                <a:r>
                  <a:rPr lang="ko-KR" altLang="en-US" sz="1600" dirty="0"/>
                  <a:t>장비와 </a:t>
                </a:r>
                <a:r>
                  <a:rPr lang="en-US" altLang="ko-KR" sz="1600" dirty="0"/>
                  <a:t>CPU </a:t>
                </a:r>
                <a:r>
                  <a:rPr lang="ko-KR" altLang="en-US" sz="1600" dirty="0"/>
                  <a:t>혹은 </a:t>
                </a:r>
                <a:r>
                  <a:rPr lang="en-US" altLang="ko-KR" sz="1600" dirty="0"/>
                  <a:t>GPU</a:t>
                </a:r>
                <a:r>
                  <a:rPr lang="ko-KR" altLang="en-US" sz="1600" dirty="0"/>
                  <a:t>와의 연산속도는 수십만 배 </a:t>
                </a:r>
                <a:r>
                  <a:rPr lang="ko-KR" altLang="en-US" sz="1600"/>
                  <a:t>수준으로 차이 발생</a:t>
                </a:r>
                <a:endParaRPr lang="ko-KR" altLang="en-US" sz="1600" dirty="0"/>
              </a:p>
            </p:txBody>
          </p:sp>
        </p:grp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7F2F01E7-7A12-4348-9FDF-618F22864983}"/>
                </a:ext>
              </a:extLst>
            </p:cNvPr>
            <p:cNvSpPr/>
            <p:nvPr/>
          </p:nvSpPr>
          <p:spPr>
            <a:xfrm>
              <a:off x="322220" y="4330089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03</a:t>
              </a:r>
              <a:endParaRPr lang="ko-KR" altLang="en-US" sz="2800" dirty="0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E0CBD9A3-B7CC-4A15-8FA4-7C3C93BE78AA}"/>
                </a:ext>
              </a:extLst>
            </p:cNvPr>
            <p:cNvSpPr/>
            <p:nvPr/>
          </p:nvSpPr>
          <p:spPr>
            <a:xfrm>
              <a:off x="322220" y="5490241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04</a:t>
              </a:r>
              <a:endParaRPr lang="ko-KR" altLang="en-US" sz="2800" dirty="0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F59EE772-BA46-481B-AA8B-1AC2A0624C08}"/>
                </a:ext>
              </a:extLst>
            </p:cNvPr>
            <p:cNvSpPr/>
            <p:nvPr/>
          </p:nvSpPr>
          <p:spPr>
            <a:xfrm>
              <a:off x="322220" y="2009787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01</a:t>
              </a:r>
              <a:endParaRPr lang="ko-KR" altLang="en-US" sz="2800" dirty="0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02A23B67-918E-4A1B-B1A1-0E666D903534}"/>
                </a:ext>
              </a:extLst>
            </p:cNvPr>
            <p:cNvSpPr/>
            <p:nvPr/>
          </p:nvSpPr>
          <p:spPr>
            <a:xfrm>
              <a:off x="322220" y="3169938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02</a:t>
              </a:r>
              <a:endParaRPr lang="ko-KR" altLang="en-US" sz="2800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DF231F4C-CB4E-4AC4-A57B-31491EA543BB}"/>
              </a:ext>
            </a:extLst>
          </p:cNvPr>
          <p:cNvGrpSpPr/>
          <p:nvPr/>
        </p:nvGrpSpPr>
        <p:grpSpPr>
          <a:xfrm>
            <a:off x="6252759" y="1793960"/>
            <a:ext cx="5608316" cy="3283176"/>
            <a:chOff x="322220" y="1793960"/>
            <a:chExt cx="5608316" cy="3283176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6CD5101A-D3BA-407E-A72C-4292A59F11C6}"/>
                </a:ext>
              </a:extLst>
            </p:cNvPr>
            <p:cNvGrpSpPr/>
            <p:nvPr/>
          </p:nvGrpSpPr>
          <p:grpSpPr>
            <a:xfrm>
              <a:off x="609599" y="1793960"/>
              <a:ext cx="5320937" cy="3283176"/>
              <a:chOff x="609598" y="1793961"/>
              <a:chExt cx="10960422" cy="2489132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D0D46C78-B91F-46F6-9800-DEFF46C5DB9E}"/>
                  </a:ext>
                </a:extLst>
              </p:cNvPr>
              <p:cNvSpPr/>
              <p:nvPr/>
            </p:nvSpPr>
            <p:spPr>
              <a:xfrm>
                <a:off x="609598" y="3553093"/>
                <a:ext cx="10960422" cy="73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fontAlgn="base"/>
                <a:r>
                  <a:rPr lang="ko-KR" altLang="en-US" sz="1600" b="1" dirty="0" err="1">
                    <a:solidFill>
                      <a:srgbClr val="0255B8"/>
                    </a:solidFill>
                  </a:rPr>
                  <a:t>분산성</a:t>
                </a:r>
                <a:r>
                  <a:rPr lang="ko-KR" altLang="en-US" sz="1600" b="1" dirty="0">
                    <a:solidFill>
                      <a:srgbClr val="0255B8"/>
                    </a:solidFill>
                  </a:rPr>
                  <a:t> 약화는 보안성 약화를 유발함</a:t>
                </a: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4B9CD3E8-5B22-4E46-BE05-81985162DE4F}"/>
                  </a:ext>
                </a:extLst>
              </p:cNvPr>
              <p:cNvSpPr/>
              <p:nvPr/>
            </p:nvSpPr>
            <p:spPr>
              <a:xfrm>
                <a:off x="609598" y="1793961"/>
                <a:ext cx="10960422" cy="730000"/>
              </a:xfrm>
              <a:prstGeom prst="rect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lvl="0" fontAlgn="base"/>
                <a:r>
                  <a:rPr lang="ko-KR" altLang="en-US" sz="1600" dirty="0"/>
                  <a:t>자금력이 풍부한 </a:t>
                </a:r>
                <a:r>
                  <a:rPr lang="en-US" altLang="ko-KR" sz="1600" dirty="0"/>
                  <a:t>ASIC</a:t>
                </a:r>
                <a:r>
                  <a:rPr lang="ko-KR" altLang="en-US" sz="1600" dirty="0"/>
                  <a:t>장비 투자자들은 소규모 채굴자보다 압도적인 이익을 얻음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기대수익 초선형 양상</a:t>
                </a:r>
                <a:r>
                  <a:rPr lang="en-US" altLang="ko-KR" sz="1600" dirty="0"/>
                  <a:t>)</a:t>
                </a:r>
                <a:endParaRPr lang="ko-KR" altLang="en-US" sz="1600" dirty="0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92EB2407-2005-4969-BDC6-7EEF8C2E87CA}"/>
                  </a:ext>
                </a:extLst>
              </p:cNvPr>
              <p:cNvSpPr/>
              <p:nvPr/>
            </p:nvSpPr>
            <p:spPr>
              <a:xfrm>
                <a:off x="609598" y="2673527"/>
                <a:ext cx="10960422" cy="730000"/>
              </a:xfrm>
              <a:prstGeom prst="rect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lIns="468000" anchor="ctr" anchorCtr="0">
                <a:noAutofit/>
              </a:bodyPr>
              <a:lstStyle/>
              <a:p>
                <a:pPr lvl="0" fontAlgn="base"/>
                <a:r>
                  <a:rPr lang="ko-KR" altLang="en-US" sz="1600" dirty="0"/>
                  <a:t>반면 투자 여력이 크지 않은 절대다수의 소규모</a:t>
                </a:r>
                <a:r>
                  <a:rPr lang="en-US" altLang="ko-KR" sz="1600" dirty="0"/>
                  <a:t/>
                </a:r>
                <a:br>
                  <a:rPr lang="en-US" altLang="ko-KR" sz="1600" dirty="0"/>
                </a:br>
                <a:r>
                  <a:rPr lang="ko-KR" altLang="en-US" sz="1600" dirty="0"/>
                  <a:t>채굴자들은 참여 동기를 상실함</a:t>
                </a:r>
              </a:p>
            </p:txBody>
          </p:sp>
        </p:grp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01A57492-11E0-4FB8-B858-AE691CBBC054}"/>
                </a:ext>
              </a:extLst>
            </p:cNvPr>
            <p:cNvSpPr/>
            <p:nvPr/>
          </p:nvSpPr>
          <p:spPr>
            <a:xfrm>
              <a:off x="322220" y="4330089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07</a:t>
              </a:r>
              <a:endParaRPr lang="ko-KR" altLang="en-US" sz="2800" dirty="0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98D226BA-D475-423B-B2F9-F2B96D82DDEA}"/>
                </a:ext>
              </a:extLst>
            </p:cNvPr>
            <p:cNvSpPr/>
            <p:nvPr/>
          </p:nvSpPr>
          <p:spPr>
            <a:xfrm>
              <a:off x="322220" y="2009787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05</a:t>
              </a:r>
              <a:endParaRPr lang="ko-KR" altLang="en-US" sz="2800" dirty="0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8D6A34E6-4C6C-43C8-A94E-0E61F4832BC0}"/>
                </a:ext>
              </a:extLst>
            </p:cNvPr>
            <p:cNvSpPr/>
            <p:nvPr/>
          </p:nvSpPr>
          <p:spPr>
            <a:xfrm>
              <a:off x="322220" y="3169938"/>
              <a:ext cx="531220" cy="531218"/>
            </a:xfrm>
            <a:prstGeom prst="ellipse">
              <a:avLst/>
            </a:prstGeom>
            <a:solidFill>
              <a:srgbClr val="0255B8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800" dirty="0"/>
                <a:t>06</a:t>
              </a:r>
              <a:endParaRPr lang="ko-KR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3957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16FF3D-3751-4B52-8E54-8778E40A91F7}"/>
              </a:ext>
            </a:extLst>
          </p:cNvPr>
          <p:cNvGrpSpPr/>
          <p:nvPr/>
        </p:nvGrpSpPr>
        <p:grpSpPr>
          <a:xfrm>
            <a:off x="609599" y="2342601"/>
            <a:ext cx="5320937" cy="3894688"/>
            <a:chOff x="609598" y="1793961"/>
            <a:chExt cx="10960422" cy="3368698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7D31645-11F0-4F03-8853-72FB4791213F}"/>
                </a:ext>
              </a:extLst>
            </p:cNvPr>
            <p:cNvSpPr/>
            <p:nvPr/>
          </p:nvSpPr>
          <p:spPr>
            <a:xfrm>
              <a:off x="609598" y="3553093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dirty="0"/>
                <a:t>그러나 선별된 소수의 노드가 블록 생성권한을 갖기 때문에 분산성과 보안성이 훼손될 수 있음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24B18C6-0B07-4A8F-9435-27783F9CF48C}"/>
                </a:ext>
              </a:extLst>
            </p:cNvPr>
            <p:cNvSpPr/>
            <p:nvPr/>
          </p:nvSpPr>
          <p:spPr>
            <a:xfrm>
              <a:off x="609598" y="4432659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/>
                <a:t>합의 알고리즘을 분류하면 크게 세 가지로</a:t>
              </a:r>
              <a:endParaRPr lang="en-US" altLang="ko-KR" sz="1600" dirty="0"/>
            </a:p>
            <a:p>
              <a:pPr fontAlgn="base"/>
              <a:r>
                <a:rPr lang="ko-KR" altLang="en-US" sz="1600" dirty="0"/>
                <a:t>나눌 수 있음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9A97D5B-60D8-41DB-8E13-21FA0C8D5C17}"/>
                </a:ext>
              </a:extLst>
            </p:cNvPr>
            <p:cNvSpPr/>
            <p:nvPr/>
          </p:nvSpPr>
          <p:spPr>
            <a:xfrm>
              <a:off x="609598" y="1793961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en-US" altLang="ko-KR" sz="1600" dirty="0"/>
                <a:t>Proof-of-Stake, Proof-of-Activity, Proof-of-Publication, </a:t>
              </a:r>
              <a:r>
                <a:rPr lang="en-US" altLang="ko-KR" sz="1600"/>
                <a:t>Delegated PoS</a:t>
              </a:r>
              <a:r>
                <a:rPr lang="en-US" altLang="ko-KR" sz="1600" dirty="0"/>
                <a:t>, BFT, PBFT </a:t>
              </a:r>
              <a:r>
                <a:rPr lang="ko-KR" altLang="en-US" sz="1600" dirty="0"/>
                <a:t>등 다양한 합의알고리즘들이 제안됨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7C9D191-D19D-4990-9C3B-062302695F97}"/>
                </a:ext>
              </a:extLst>
            </p:cNvPr>
            <p:cNvSpPr/>
            <p:nvPr/>
          </p:nvSpPr>
          <p:spPr>
            <a:xfrm>
              <a:off x="609598" y="2673527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dirty="0"/>
                <a:t>이런 합의알고리즘들의 공통된 특징은 블록생성 및</a:t>
              </a:r>
              <a:endParaRPr lang="en-US" altLang="ko-KR" sz="1600" dirty="0"/>
            </a:p>
            <a:p>
              <a:pPr lvl="0" fontAlgn="base"/>
              <a:r>
                <a:rPr lang="ko-KR" altLang="en-US" sz="1600" dirty="0"/>
                <a:t>검증에 관여하는 노드의 숫자를 제한하고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필요한</a:t>
              </a:r>
              <a:endParaRPr lang="en-US" altLang="ko-KR" sz="1600" dirty="0"/>
            </a:p>
            <a:p>
              <a:pPr lvl="0" fontAlgn="base"/>
              <a:r>
                <a:rPr lang="ko-KR" altLang="en-US" sz="1600" dirty="0"/>
                <a:t>절차를 간소화해 </a:t>
              </a:r>
              <a:r>
                <a:rPr lang="en-US" altLang="ko-KR" sz="1600" dirty="0"/>
                <a:t>TPS</a:t>
              </a:r>
              <a:r>
                <a:rPr lang="ko-KR" altLang="en-US" sz="1600" dirty="0"/>
                <a:t>를 상향함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A97FE62-9A38-46CD-861D-4DE36A42A005}"/>
              </a:ext>
            </a:extLst>
          </p:cNvPr>
          <p:cNvGrpSpPr/>
          <p:nvPr/>
        </p:nvGrpSpPr>
        <p:grpSpPr>
          <a:xfrm>
            <a:off x="6540138" y="2342601"/>
            <a:ext cx="5320937" cy="2877786"/>
            <a:chOff x="609598" y="1793961"/>
            <a:chExt cx="10960422" cy="2489132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CED70CF-4A79-4939-A6E2-B323D56A5103}"/>
                </a:ext>
              </a:extLst>
            </p:cNvPr>
            <p:cNvSpPr/>
            <p:nvPr/>
          </p:nvSpPr>
          <p:spPr>
            <a:xfrm>
              <a:off x="609598" y="3553093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/>
                <a:t>블록생성과 블록검증 단계를 분리해서 시작하지만</a:t>
              </a:r>
              <a:r>
                <a:rPr lang="en-US" altLang="ko-KR" sz="1600" dirty="0"/>
                <a:t>,</a:t>
              </a:r>
            </a:p>
            <a:p>
              <a:pPr fontAlgn="base"/>
              <a:r>
                <a:rPr lang="ko-KR" altLang="en-US" sz="1600" dirty="0"/>
                <a:t>결과적으로 통합하는 모델</a:t>
              </a:r>
              <a:r>
                <a:rPr lang="en-US" altLang="ko-KR" sz="1600" dirty="0"/>
                <a:t>(</a:t>
              </a:r>
              <a:r>
                <a:rPr lang="ko-KR" altLang="en-US" sz="1600" dirty="0" err="1"/>
                <a:t>이더리움</a:t>
              </a:r>
              <a:r>
                <a:rPr lang="en-US" altLang="ko-KR" sz="1600" dirty="0"/>
                <a:t>2.0 </a:t>
              </a:r>
              <a:r>
                <a:rPr lang="en-US" altLang="ko-KR" sz="1600" dirty="0" err="1"/>
                <a:t>PoS</a:t>
              </a:r>
              <a:r>
                <a:rPr lang="en-US" altLang="ko-KR" sz="1600" dirty="0"/>
                <a:t>)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99DD23A-88EE-4FD4-9951-A49F675D3BF0}"/>
                </a:ext>
              </a:extLst>
            </p:cNvPr>
            <p:cNvSpPr/>
            <p:nvPr/>
          </p:nvSpPr>
          <p:spPr>
            <a:xfrm>
              <a:off x="609598" y="1793961"/>
              <a:ext cx="10960422" cy="73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b="1" dirty="0">
                  <a:solidFill>
                    <a:srgbClr val="0255B8"/>
                  </a:solidFill>
                </a:rPr>
                <a:t>블록생성과 검증 단계가 통합된 모델</a:t>
              </a:r>
              <a:endParaRPr lang="en-US" altLang="ko-KR" sz="1600" b="1" dirty="0">
                <a:solidFill>
                  <a:srgbClr val="0255B8"/>
                </a:solidFill>
              </a:endParaRPr>
            </a:p>
            <a:p>
              <a:pPr fontAlgn="base"/>
              <a:r>
                <a:rPr lang="en-US" altLang="ko-KR" sz="1600" b="1" dirty="0">
                  <a:solidFill>
                    <a:srgbClr val="0255B8"/>
                  </a:solidFill>
                </a:rPr>
                <a:t>(</a:t>
              </a:r>
              <a:r>
                <a:rPr lang="ko-KR" altLang="en-US" sz="1600" b="1" dirty="0" err="1">
                  <a:solidFill>
                    <a:srgbClr val="0255B8"/>
                  </a:solidFill>
                </a:rPr>
                <a:t>비트코인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 </a:t>
              </a:r>
              <a:r>
                <a:rPr lang="en-US" altLang="ko-KR" sz="1600" b="1" dirty="0" err="1">
                  <a:solidFill>
                    <a:srgbClr val="0255B8"/>
                  </a:solidFill>
                </a:rPr>
                <a:t>PoW</a:t>
              </a:r>
              <a:r>
                <a:rPr lang="en-US" altLang="ko-KR" sz="1600" b="1" dirty="0">
                  <a:solidFill>
                    <a:srgbClr val="0255B8"/>
                  </a:solidFill>
                </a:rPr>
                <a:t> 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모델</a:t>
              </a:r>
              <a:r>
                <a:rPr lang="en-US" altLang="ko-KR" sz="1600" b="1" dirty="0">
                  <a:solidFill>
                    <a:srgbClr val="0255B8"/>
                  </a:solidFill>
                </a:rPr>
                <a:t>) 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AC6530B-FDBB-4488-8208-9B9CA3280044}"/>
                </a:ext>
              </a:extLst>
            </p:cNvPr>
            <p:cNvSpPr/>
            <p:nvPr/>
          </p:nvSpPr>
          <p:spPr>
            <a:xfrm>
              <a:off x="609598" y="2673527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/>
                <a:t>블록생성과 블록검증 단계가 분리된 모델</a:t>
              </a:r>
              <a:r>
                <a:rPr lang="en-US" altLang="ko-KR" sz="1600"/>
                <a:t>(</a:t>
              </a:r>
              <a:r>
                <a:rPr lang="ko-KR" altLang="en-US" sz="1600"/>
                <a:t>하이퍼레저</a:t>
              </a:r>
              <a:r>
                <a:rPr lang="en-US" altLang="ko-KR" sz="1600"/>
                <a:t>,</a:t>
              </a:r>
              <a:r>
                <a:rPr lang="ko-KR" altLang="en-US" sz="1600"/>
                <a:t> </a:t>
              </a:r>
              <a:r>
                <a:rPr lang="en-US" altLang="ko-KR" sz="1600"/>
                <a:t>PoA </a:t>
              </a:r>
              <a:r>
                <a:rPr lang="ko-KR" altLang="en-US" sz="1600"/>
                <a:t>모델</a:t>
              </a:r>
              <a:r>
                <a:rPr lang="en-US" altLang="ko-KR" sz="1600"/>
                <a:t>, DPoS </a:t>
              </a:r>
              <a:r>
                <a:rPr lang="ko-KR" altLang="en-US" sz="1600"/>
                <a:t>모델</a:t>
              </a:r>
              <a:r>
                <a:rPr lang="en-US" altLang="ko-KR" sz="1600"/>
                <a:t>)</a:t>
              </a:r>
              <a:endParaRPr lang="en-US" altLang="ko-KR" sz="1600" dirty="0"/>
            </a:p>
          </p:txBody>
        </p:sp>
      </p:grp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작업증명 이외의 다른 합의알고리즘 사용 가능성은</a:t>
            </a:r>
            <a:r>
              <a:rPr lang="en-US" altLang="ko-KR" dirty="0"/>
              <a:t>?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실용화연구개발 개요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340414"/>
            <a:ext cx="11520000" cy="677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</a:pPr>
            <a:r>
              <a:rPr lang="ko-KR" altLang="en-US" sz="2000" b="1" kern="0" spc="-50" dirty="0" err="1">
                <a:solidFill>
                  <a:srgbClr val="0255B8"/>
                </a:solidFill>
                <a:latin typeface="+mj-lt"/>
              </a:rPr>
              <a:t>분산성</a:t>
            </a:r>
            <a:r>
              <a:rPr lang="en-US" altLang="ko-KR" sz="2000" b="1" kern="0" spc="-50" dirty="0">
                <a:solidFill>
                  <a:srgbClr val="0255B8"/>
                </a:solidFill>
                <a:latin typeface="+mj-lt"/>
              </a:rPr>
              <a:t>/</a:t>
            </a:r>
            <a:r>
              <a:rPr lang="ko-KR" altLang="en-US" sz="2000" b="1" kern="0" spc="-50" dirty="0">
                <a:solidFill>
                  <a:srgbClr val="0255B8"/>
                </a:solidFill>
                <a:latin typeface="+mj-lt"/>
              </a:rPr>
              <a:t>보안성</a:t>
            </a:r>
            <a:r>
              <a:rPr lang="en-US" altLang="ko-KR" sz="2000" b="1" kern="0" spc="-50" dirty="0">
                <a:solidFill>
                  <a:srgbClr val="0255B8"/>
                </a:solidFill>
                <a:latin typeface="+mj-lt"/>
              </a:rPr>
              <a:t>/</a:t>
            </a:r>
            <a:r>
              <a:rPr lang="ko-KR" altLang="en-US" sz="2000" b="1" kern="0" spc="-50" dirty="0">
                <a:solidFill>
                  <a:srgbClr val="0255B8"/>
                </a:solidFill>
                <a:latin typeface="+mj-lt"/>
              </a:rPr>
              <a:t>확장성 </a:t>
            </a:r>
            <a:r>
              <a:rPr lang="en-US" altLang="ko-KR" sz="2000" b="1" kern="0" spc="-50" dirty="0">
                <a:solidFill>
                  <a:srgbClr val="0255B8"/>
                </a:solidFill>
                <a:latin typeface="+mj-lt"/>
              </a:rPr>
              <a:t>3</a:t>
            </a:r>
            <a:r>
              <a:rPr lang="ko-KR" altLang="en-US" sz="2000" b="1" kern="0" spc="-50" dirty="0">
                <a:solidFill>
                  <a:srgbClr val="0255B8"/>
                </a:solidFill>
                <a:latin typeface="+mj-lt"/>
              </a:rPr>
              <a:t>요소를 모두 충족하는 합의알고리즘은 없음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268413"/>
            <a:ext cx="11520000" cy="72000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5C669C-AB62-4B82-96B4-38E435BD8E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348"/>
          <a:stretch/>
        </p:blipFill>
        <p:spPr>
          <a:xfrm>
            <a:off x="11069637" y="1429864"/>
            <a:ext cx="726123" cy="616650"/>
          </a:xfrm>
          <a:prstGeom prst="rect">
            <a:avLst/>
          </a:prstGeom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ECDB9377-86B5-4EEA-832E-3CCAC806E979}"/>
              </a:ext>
            </a:extLst>
          </p:cNvPr>
          <p:cNvSpPr/>
          <p:nvPr/>
        </p:nvSpPr>
        <p:spPr>
          <a:xfrm>
            <a:off x="322220" y="4537388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03</a:t>
            </a:r>
            <a:endParaRPr lang="ko-KR" altLang="en-US" sz="280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A5E9F83-AE25-4026-AFF8-7BE523CC75CB}"/>
              </a:ext>
            </a:extLst>
          </p:cNvPr>
          <p:cNvSpPr/>
          <p:nvPr/>
        </p:nvSpPr>
        <p:spPr>
          <a:xfrm>
            <a:off x="322220" y="5558009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04</a:t>
            </a:r>
            <a:endParaRPr lang="ko-KR" altLang="en-US" sz="280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C7BA7B4-38E0-43AA-9D95-30EF2EDE542D}"/>
              </a:ext>
            </a:extLst>
          </p:cNvPr>
          <p:cNvSpPr/>
          <p:nvPr/>
        </p:nvSpPr>
        <p:spPr>
          <a:xfrm>
            <a:off x="322220" y="2496144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01</a:t>
            </a:r>
            <a:endParaRPr lang="ko-KR" altLang="en-US" sz="280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C76D54E-44D1-4AFB-9A73-9C1DEA3B1C08}"/>
              </a:ext>
            </a:extLst>
          </p:cNvPr>
          <p:cNvSpPr/>
          <p:nvPr/>
        </p:nvSpPr>
        <p:spPr>
          <a:xfrm>
            <a:off x="322220" y="3516766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02</a:t>
            </a:r>
            <a:endParaRPr lang="ko-KR" altLang="en-US" sz="280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6DE2C70-702F-4338-987A-1D6AC96FDD36}"/>
              </a:ext>
            </a:extLst>
          </p:cNvPr>
          <p:cNvSpPr/>
          <p:nvPr/>
        </p:nvSpPr>
        <p:spPr>
          <a:xfrm>
            <a:off x="6252759" y="4537388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07</a:t>
            </a:r>
            <a:endParaRPr lang="ko-KR" altLang="en-US" sz="280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243BE8F0-FAA9-45D2-90BE-97740B60B6F2}"/>
              </a:ext>
            </a:extLst>
          </p:cNvPr>
          <p:cNvSpPr/>
          <p:nvPr/>
        </p:nvSpPr>
        <p:spPr>
          <a:xfrm>
            <a:off x="6252759" y="2496144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05</a:t>
            </a:r>
            <a:endParaRPr lang="ko-KR" altLang="en-US" sz="280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72F7136-96E5-4218-A418-927E48EC1028}"/>
              </a:ext>
            </a:extLst>
          </p:cNvPr>
          <p:cNvSpPr/>
          <p:nvPr/>
        </p:nvSpPr>
        <p:spPr>
          <a:xfrm>
            <a:off x="6252759" y="3516766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06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5345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16FF3D-3751-4B52-8E54-8778E40A91F7}"/>
              </a:ext>
            </a:extLst>
          </p:cNvPr>
          <p:cNvGrpSpPr/>
          <p:nvPr/>
        </p:nvGrpSpPr>
        <p:grpSpPr>
          <a:xfrm>
            <a:off x="609599" y="2342601"/>
            <a:ext cx="5320937" cy="3894688"/>
            <a:chOff x="609598" y="1793961"/>
            <a:chExt cx="10960422" cy="3368698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C7D31645-11F0-4F03-8853-72FB4791213F}"/>
                </a:ext>
              </a:extLst>
            </p:cNvPr>
            <p:cNvSpPr/>
            <p:nvPr/>
          </p:nvSpPr>
          <p:spPr>
            <a:xfrm>
              <a:off x="609598" y="3553093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en-US" altLang="ko-KR" sz="1600" dirty="0"/>
                <a:t>Longest chain wins </a:t>
              </a:r>
              <a:r>
                <a:rPr lang="ko-KR" altLang="en-US" sz="1600" dirty="0"/>
                <a:t>룰과 같은 간단한 정책으로 위의</a:t>
              </a:r>
              <a:endParaRPr lang="en-US" altLang="ko-KR" sz="1600" dirty="0"/>
            </a:p>
            <a:p>
              <a:pPr lvl="0" fontAlgn="base"/>
              <a:r>
                <a:rPr lang="ko-KR" altLang="en-US" sz="1600" dirty="0"/>
                <a:t>문제를 모두 해결함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24B18C6-0B07-4A8F-9435-27783F9CF48C}"/>
                </a:ext>
              </a:extLst>
            </p:cNvPr>
            <p:cNvSpPr/>
            <p:nvPr/>
          </p:nvSpPr>
          <p:spPr>
            <a:xfrm>
              <a:off x="609598" y="4432659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/>
                <a:t>나아가 전세계에 분포된 모든 노드에 ‘</a:t>
              </a:r>
              <a:r>
                <a:rPr lang="ko-KR" altLang="en-US" sz="1600" dirty="0" err="1"/>
                <a:t>일관성’있는</a:t>
              </a:r>
              <a:endParaRPr lang="en-US" altLang="ko-KR" sz="1600" dirty="0"/>
            </a:p>
            <a:p>
              <a:pPr fontAlgn="base"/>
              <a:r>
                <a:rPr lang="ko-KR" altLang="en-US" sz="1600" dirty="0"/>
                <a:t>상태 갱신을 보장함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9A97D5B-60D8-41DB-8E13-21FA0C8D5C17}"/>
                </a:ext>
              </a:extLst>
            </p:cNvPr>
            <p:cNvSpPr/>
            <p:nvPr/>
          </p:nvSpPr>
          <p:spPr>
            <a:xfrm>
              <a:off x="609598" y="1793961"/>
              <a:ext cx="10960422" cy="73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b="1" dirty="0">
                  <a:solidFill>
                    <a:srgbClr val="0255B8"/>
                  </a:solidFill>
                </a:rPr>
                <a:t>블록생성과 검증 단계가 </a:t>
              </a:r>
              <a:r>
                <a:rPr lang="ko-KR" altLang="en-US" sz="1600" b="1">
                  <a:solidFill>
                    <a:srgbClr val="0255B8"/>
                  </a:solidFill>
                </a:rPr>
                <a:t>통합된 </a:t>
              </a:r>
              <a:r>
                <a:rPr lang="en-US" altLang="ko-KR" sz="1600" b="1" dirty="0" err="1">
                  <a:solidFill>
                    <a:srgbClr val="0255B8"/>
                  </a:solidFill>
                </a:rPr>
                <a:t>PoW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의 이점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7C9D191-D19D-4990-9C3B-062302695F97}"/>
                </a:ext>
              </a:extLst>
            </p:cNvPr>
            <p:cNvSpPr/>
            <p:nvPr/>
          </p:nvSpPr>
          <p:spPr>
            <a:xfrm>
              <a:off x="609598" y="2673527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dirty="0"/>
                <a:t>참여한 모든 노드는 블록전파 과정에서 비잔티움 장애</a:t>
              </a:r>
              <a:r>
                <a:rPr lang="en-US" altLang="ko-KR" sz="1600" dirty="0"/>
                <a:t>, Sybil </a:t>
              </a:r>
              <a:r>
                <a:rPr lang="ko-KR" altLang="en-US" sz="1600" dirty="0"/>
                <a:t>공격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이중지불 문제 등에 노출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A97FE62-9A38-46CD-861D-4DE36A42A005}"/>
              </a:ext>
            </a:extLst>
          </p:cNvPr>
          <p:cNvGrpSpPr/>
          <p:nvPr/>
        </p:nvGrpSpPr>
        <p:grpSpPr>
          <a:xfrm>
            <a:off x="6540138" y="2342601"/>
            <a:ext cx="5320937" cy="2877786"/>
            <a:chOff x="609598" y="1793961"/>
            <a:chExt cx="10960422" cy="2489132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CED70CF-4A79-4939-A6E2-B323D56A5103}"/>
                </a:ext>
              </a:extLst>
            </p:cNvPr>
            <p:cNvSpPr/>
            <p:nvPr/>
          </p:nvSpPr>
          <p:spPr>
            <a:xfrm>
              <a:off x="609598" y="3553093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/>
                <a:t>분산성을 기반으로 네트워크 지연</a:t>
              </a:r>
              <a:r>
                <a:rPr lang="en-US" altLang="ko-KR" sz="1600" dirty="0"/>
                <a:t>, DDoS</a:t>
              </a:r>
              <a:r>
                <a:rPr lang="ko-KR" altLang="en-US" sz="1600" dirty="0"/>
                <a:t>공격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단일</a:t>
              </a:r>
              <a:endParaRPr lang="en-US" altLang="ko-KR" sz="1600" dirty="0"/>
            </a:p>
            <a:p>
              <a:pPr fontAlgn="base"/>
              <a:r>
                <a:rPr lang="ko-KR" altLang="en-US" sz="1600" dirty="0"/>
                <a:t>취약점 장애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비잔티움 문제에 강인하게 대처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99DD23A-88EE-4FD4-9951-A49F675D3BF0}"/>
                </a:ext>
              </a:extLst>
            </p:cNvPr>
            <p:cNvSpPr/>
            <p:nvPr/>
          </p:nvSpPr>
          <p:spPr>
            <a:xfrm>
              <a:off x="609598" y="1793961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fontAlgn="base"/>
              <a:r>
                <a:rPr lang="ko-KR" altLang="en-US" sz="1600" dirty="0"/>
                <a:t>즉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매 블록 생성과 검증을 새로운 상태에서 다시</a:t>
              </a:r>
              <a:endParaRPr lang="en-US" altLang="ko-KR" sz="1600" dirty="0"/>
            </a:p>
            <a:p>
              <a:pPr fontAlgn="base"/>
              <a:r>
                <a:rPr lang="ko-KR" altLang="en-US" sz="1600" dirty="0"/>
                <a:t>시작할 수 있는 글로벌 참조 값도 제공함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AC6530B-FDBB-4488-8208-9B9CA3280044}"/>
                </a:ext>
              </a:extLst>
            </p:cNvPr>
            <p:cNvSpPr/>
            <p:nvPr/>
          </p:nvSpPr>
          <p:spPr>
            <a:xfrm>
              <a:off x="609598" y="2673527"/>
              <a:ext cx="10960422" cy="730000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txBody>
            <a:bodyPr wrap="square" lIns="468000" anchor="ctr" anchorCtr="0">
              <a:noAutofit/>
            </a:bodyPr>
            <a:lstStyle/>
            <a:p>
              <a:pPr lvl="0" fontAlgn="base"/>
              <a:r>
                <a:rPr lang="ko-KR" altLang="en-US" sz="1600" smtClean="0"/>
                <a:t>인센티브 </a:t>
              </a:r>
              <a:r>
                <a:rPr lang="ko-KR" altLang="en-US" sz="1600" dirty="0"/>
                <a:t>메커니즘과 결합하여 지속적이고 자발적</a:t>
              </a:r>
              <a:endParaRPr lang="en-US" altLang="ko-KR" sz="1600" dirty="0"/>
            </a:p>
            <a:p>
              <a:pPr lvl="0" fontAlgn="base"/>
              <a:r>
                <a:rPr lang="ko-KR" altLang="en-US" sz="1600" smtClean="0"/>
                <a:t>참여를 </a:t>
              </a:r>
              <a:r>
                <a:rPr lang="ko-KR" altLang="en-US" sz="1600" dirty="0"/>
                <a:t>이끌어 냄</a:t>
              </a:r>
            </a:p>
          </p:txBody>
        </p:sp>
      </p:grp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작업증명 이외의 다른 합의알고리즘 사용 가능성은</a:t>
            </a:r>
            <a:r>
              <a:rPr lang="en-US" altLang="ko-KR" dirty="0"/>
              <a:t>?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실용화연구개발 개요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70D3A6-2D13-4F22-9C06-C56F2B48E196}"/>
              </a:ext>
            </a:extLst>
          </p:cNvPr>
          <p:cNvSpPr/>
          <p:nvPr/>
        </p:nvSpPr>
        <p:spPr>
          <a:xfrm>
            <a:off x="336000" y="1340414"/>
            <a:ext cx="11520000" cy="677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ts val="300"/>
              </a:spcBef>
            </a:pPr>
            <a:r>
              <a:rPr lang="ko-KR" altLang="en-US" sz="2000" b="1" kern="0" spc="-50" dirty="0">
                <a:solidFill>
                  <a:srgbClr val="0255B8"/>
                </a:solidFill>
                <a:latin typeface="+mj-lt"/>
              </a:rPr>
              <a:t>작업증명에는 블록생성과 블록검증이 통합된 모델이 주는 장점이 있음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3D36E5-5476-4409-B7F7-5ECC3840BD36}"/>
              </a:ext>
            </a:extLst>
          </p:cNvPr>
          <p:cNvSpPr/>
          <p:nvPr/>
        </p:nvSpPr>
        <p:spPr>
          <a:xfrm>
            <a:off x="336000" y="1268413"/>
            <a:ext cx="11520000" cy="72000"/>
          </a:xfrm>
          <a:prstGeom prst="rect">
            <a:avLst/>
          </a:prstGeom>
          <a:solidFill>
            <a:srgbClr val="0255B8"/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fontAlgn="base">
              <a:spcBef>
                <a:spcPts val="600"/>
              </a:spcBef>
            </a:pPr>
            <a:endParaRPr lang="ko-KR" altLang="en-US" b="1" kern="0" dirty="0">
              <a:solidFill>
                <a:srgbClr val="0255B8"/>
              </a:solidFill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5C669C-AB62-4B82-96B4-38E435BD8E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348"/>
          <a:stretch/>
        </p:blipFill>
        <p:spPr>
          <a:xfrm>
            <a:off x="11069637" y="1429864"/>
            <a:ext cx="726123" cy="616650"/>
          </a:xfrm>
          <a:prstGeom prst="rect">
            <a:avLst/>
          </a:prstGeom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ECDB9377-86B5-4EEA-832E-3CCAC806E979}"/>
              </a:ext>
            </a:extLst>
          </p:cNvPr>
          <p:cNvSpPr/>
          <p:nvPr/>
        </p:nvSpPr>
        <p:spPr>
          <a:xfrm>
            <a:off x="322220" y="4537388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03</a:t>
            </a:r>
            <a:endParaRPr lang="ko-KR" altLang="en-US" sz="280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A5E9F83-AE25-4026-AFF8-7BE523CC75CB}"/>
              </a:ext>
            </a:extLst>
          </p:cNvPr>
          <p:cNvSpPr/>
          <p:nvPr/>
        </p:nvSpPr>
        <p:spPr>
          <a:xfrm>
            <a:off x="322220" y="5558009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04</a:t>
            </a:r>
            <a:endParaRPr lang="ko-KR" altLang="en-US" sz="280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C7BA7B4-38E0-43AA-9D95-30EF2EDE542D}"/>
              </a:ext>
            </a:extLst>
          </p:cNvPr>
          <p:cNvSpPr/>
          <p:nvPr/>
        </p:nvSpPr>
        <p:spPr>
          <a:xfrm>
            <a:off x="322220" y="2496144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01</a:t>
            </a:r>
            <a:endParaRPr lang="ko-KR" altLang="en-US" sz="280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C76D54E-44D1-4AFB-9A73-9C1DEA3B1C08}"/>
              </a:ext>
            </a:extLst>
          </p:cNvPr>
          <p:cNvSpPr/>
          <p:nvPr/>
        </p:nvSpPr>
        <p:spPr>
          <a:xfrm>
            <a:off x="322220" y="3516766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02</a:t>
            </a:r>
            <a:endParaRPr lang="ko-KR" altLang="en-US" sz="280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6DE2C70-702F-4338-987A-1D6AC96FDD36}"/>
              </a:ext>
            </a:extLst>
          </p:cNvPr>
          <p:cNvSpPr/>
          <p:nvPr/>
        </p:nvSpPr>
        <p:spPr>
          <a:xfrm>
            <a:off x="6252759" y="4537388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07</a:t>
            </a:r>
            <a:endParaRPr lang="ko-KR" altLang="en-US" sz="280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243BE8F0-FAA9-45D2-90BE-97740B60B6F2}"/>
              </a:ext>
            </a:extLst>
          </p:cNvPr>
          <p:cNvSpPr/>
          <p:nvPr/>
        </p:nvSpPr>
        <p:spPr>
          <a:xfrm>
            <a:off x="6252759" y="2496144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05</a:t>
            </a:r>
            <a:endParaRPr lang="ko-KR" altLang="en-US" sz="280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72F7136-96E5-4218-A418-927E48EC1028}"/>
              </a:ext>
            </a:extLst>
          </p:cNvPr>
          <p:cNvSpPr/>
          <p:nvPr/>
        </p:nvSpPr>
        <p:spPr>
          <a:xfrm>
            <a:off x="6252759" y="3516766"/>
            <a:ext cx="531220" cy="531218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800" dirty="0"/>
              <a:t>06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2572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535D30D-CA98-48F1-BF5D-632403CA6BE3}"/>
              </a:ext>
            </a:extLst>
          </p:cNvPr>
          <p:cNvSpPr/>
          <p:nvPr/>
        </p:nvSpPr>
        <p:spPr>
          <a:xfrm>
            <a:off x="333299" y="2734491"/>
            <a:ext cx="5427003" cy="350327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7A2C2A2-3DBB-4DEE-BBE4-629348518AF3}"/>
              </a:ext>
            </a:extLst>
          </p:cNvPr>
          <p:cNvSpPr/>
          <p:nvPr/>
        </p:nvSpPr>
        <p:spPr>
          <a:xfrm>
            <a:off x="6437321" y="2734491"/>
            <a:ext cx="5427003" cy="350327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 err="1"/>
              <a:t>PoW</a:t>
            </a:r>
            <a:r>
              <a:rPr lang="en-US" altLang="ko-KR" dirty="0"/>
              <a:t> </a:t>
            </a:r>
            <a:r>
              <a:rPr lang="ko-KR" altLang="en-US" dirty="0"/>
              <a:t>문제점을 해결</a:t>
            </a:r>
            <a:r>
              <a:rPr lang="en-US" altLang="ko-KR" dirty="0"/>
              <a:t>, </a:t>
            </a:r>
            <a:r>
              <a:rPr lang="ko-KR" altLang="en-US" dirty="0"/>
              <a:t>제안기술의 도전성</a:t>
            </a:r>
            <a:r>
              <a:rPr lang="en-US" altLang="ko-KR" dirty="0"/>
              <a:t>, </a:t>
            </a:r>
            <a:r>
              <a:rPr lang="ko-KR" altLang="en-US" dirty="0" err="1"/>
              <a:t>혁신성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기술개발의 필요성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E7DB5D6-1EDF-461E-B42C-51876C31078F}"/>
              </a:ext>
            </a:extLst>
          </p:cNvPr>
          <p:cNvSpPr/>
          <p:nvPr/>
        </p:nvSpPr>
        <p:spPr>
          <a:xfrm>
            <a:off x="869015" y="1259149"/>
            <a:ext cx="10995309" cy="3693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180000" tIns="0" rIns="0" bIns="0" anchor="ctr" anchorCtr="0">
            <a:noAutofit/>
          </a:bodyPr>
          <a:lstStyle/>
          <a:p>
            <a:pPr lvl="0">
              <a:defRPr/>
            </a:pPr>
            <a:r>
              <a:rPr lang="en-US" altLang="ko-KR" sz="1600" b="1" dirty="0" err="1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PoW</a:t>
            </a:r>
            <a:r>
              <a:rPr lang="en-US" altLang="ko-KR" sz="16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재 중앙화</a:t>
            </a:r>
            <a:r>
              <a:rPr lang="en-US" altLang="ko-KR" sz="16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, </a:t>
            </a:r>
            <a:r>
              <a:rPr lang="ko-KR" altLang="en-US" sz="16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전력소비 문제를 해결하는 새로운 작업증명 기술 개발 필요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FE7589C-4A3D-44A3-B2DB-502180C6B93F}"/>
              </a:ext>
            </a:extLst>
          </p:cNvPr>
          <p:cNvSpPr/>
          <p:nvPr/>
        </p:nvSpPr>
        <p:spPr>
          <a:xfrm>
            <a:off x="318156" y="1129150"/>
            <a:ext cx="629360" cy="629360"/>
          </a:xfrm>
          <a:prstGeom prst="ellipse">
            <a:avLst/>
          </a:prstGeom>
          <a:solidFill>
            <a:srgbClr val="0255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FA7444-1973-44B3-81D8-51E1CA0E75F8}"/>
              </a:ext>
            </a:extLst>
          </p:cNvPr>
          <p:cNvSpPr/>
          <p:nvPr/>
        </p:nvSpPr>
        <p:spPr>
          <a:xfrm>
            <a:off x="992776" y="1707944"/>
            <a:ext cx="10864261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/>
              <a:t>ASIC </a:t>
            </a:r>
            <a:r>
              <a:rPr lang="ko-KR" altLang="en-US" sz="1400" dirty="0"/>
              <a:t>채굴기의 출현</a:t>
            </a:r>
            <a:r>
              <a:rPr lang="en-US" altLang="ko-KR" sz="1400" dirty="0"/>
              <a:t>, </a:t>
            </a:r>
            <a:r>
              <a:rPr lang="ko-KR" altLang="en-US" sz="1400" dirty="0"/>
              <a:t>소수의 채굴 점유</a:t>
            </a:r>
            <a:r>
              <a:rPr lang="en-US" altLang="ko-KR" sz="1400" dirty="0"/>
              <a:t>, </a:t>
            </a:r>
            <a:r>
              <a:rPr lang="ko-KR" altLang="en-US" sz="1400" dirty="0"/>
              <a:t>재 중앙화 문제 발생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/>
              <a:t>소수 채굴업자 블록체인 보상 독점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/>
              <a:t>채굴업자 담합</a:t>
            </a:r>
            <a:r>
              <a:rPr lang="en-US" altLang="ko-KR" sz="1400" dirty="0"/>
              <a:t>, </a:t>
            </a:r>
            <a:r>
              <a:rPr lang="ko-KR" altLang="en-US" sz="1400" dirty="0"/>
              <a:t>블록 </a:t>
            </a:r>
            <a:r>
              <a:rPr lang="ko-KR" altLang="en-US" sz="1400" dirty="0" err="1"/>
              <a:t>위〮변조</a:t>
            </a:r>
            <a:r>
              <a:rPr lang="ko-KR" altLang="en-US" sz="1400" dirty="0"/>
              <a:t> 위험 대두</a:t>
            </a:r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3E1579A7-E5C0-4C2B-86D9-EBCD83201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549" y="2853523"/>
            <a:ext cx="3945666" cy="2758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B2B2AA16-63F5-4FAE-9A59-20C423651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4000484"/>
              </p:ext>
            </p:extLst>
          </p:nvPr>
        </p:nvGraphicFramePr>
        <p:xfrm>
          <a:off x="7616227" y="2820048"/>
          <a:ext cx="3069190" cy="2926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47" name="그룹 46">
            <a:extLst>
              <a:ext uri="{FF2B5EF4-FFF2-40B4-BE49-F238E27FC236}">
                <a16:creationId xmlns:a16="http://schemas.microsoft.com/office/drawing/2014/main" id="{61891C17-D34E-4908-B88B-06235B66DC77}"/>
              </a:ext>
            </a:extLst>
          </p:cNvPr>
          <p:cNvGrpSpPr/>
          <p:nvPr/>
        </p:nvGrpSpPr>
        <p:grpSpPr>
          <a:xfrm>
            <a:off x="5995803" y="4459379"/>
            <a:ext cx="246114" cy="405063"/>
            <a:chOff x="3219970" y="2049848"/>
            <a:chExt cx="819826" cy="1646582"/>
          </a:xfrm>
        </p:grpSpPr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C245A8CC-DB68-4241-B4D3-37732BAE8693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55585D0B-61B3-4B95-A2DB-C4CCD3F0E902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0255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D5E998-FFFB-44B0-8F0C-122458776EDB}"/>
              </a:ext>
            </a:extLst>
          </p:cNvPr>
          <p:cNvSpPr/>
          <p:nvPr/>
        </p:nvSpPr>
        <p:spPr>
          <a:xfrm>
            <a:off x="1636212" y="5822642"/>
            <a:ext cx="27863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kumimoji="1" lang="ko-KR" altLang="en-US" sz="1600" b="1" dirty="0">
                <a:solidFill>
                  <a:prstClr val="black"/>
                </a:solidFill>
                <a:ea typeface="맑은 고딕" panose="020B0503020000020004" pitchFamily="50" charset="-127"/>
              </a:rPr>
              <a:t>중앙화 된 블록체인 네트워크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172723F-850A-46B3-B980-54A40AC79148}"/>
              </a:ext>
            </a:extLst>
          </p:cNvPr>
          <p:cNvSpPr/>
          <p:nvPr/>
        </p:nvSpPr>
        <p:spPr>
          <a:xfrm>
            <a:off x="7631816" y="5822642"/>
            <a:ext cx="30380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kumimoji="1" lang="ko-KR" altLang="en-US" sz="1600" b="1" dirty="0">
                <a:solidFill>
                  <a:srgbClr val="0255B8"/>
                </a:solidFill>
                <a:ea typeface="맑은 고딕" panose="020B0503020000020004" pitchFamily="50" charset="-127"/>
              </a:rPr>
              <a:t>탈 중앙화 된 블록체인 네트워크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B5AAB2A-9E8D-4CB3-86B8-6284BEF4D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86" y="1229568"/>
            <a:ext cx="432383" cy="43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8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4C4CE0AF-CCFE-4D95-8AFA-A3C502D64CBA}"/>
              </a:ext>
            </a:extLst>
          </p:cNvPr>
          <p:cNvSpPr/>
          <p:nvPr/>
        </p:nvSpPr>
        <p:spPr>
          <a:xfrm>
            <a:off x="334963" y="2062062"/>
            <a:ext cx="11522075" cy="21188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lt1"/>
              </a:solidFill>
            </a:endParaRP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 smtClean="0"/>
              <a:t>문제 </a:t>
            </a:r>
            <a:r>
              <a:rPr lang="ko-KR" altLang="en-US" dirty="0"/>
              <a:t>해결 전략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기술개발의 필요성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6DDF96-BD28-4AFD-8779-FAA39BBBB0DB}"/>
              </a:ext>
            </a:extLst>
          </p:cNvPr>
          <p:cNvSpPr/>
          <p:nvPr/>
        </p:nvSpPr>
        <p:spPr>
          <a:xfrm>
            <a:off x="505098" y="2244942"/>
            <a:ext cx="1175951" cy="537420"/>
          </a:xfrm>
          <a:prstGeom prst="rect">
            <a:avLst/>
          </a:prstGeom>
          <a:solidFill>
            <a:srgbClr val="0255B8"/>
          </a:solidFill>
          <a:ln w="6350">
            <a:solidFill>
              <a:srgbClr val="0255B8"/>
            </a:solidFill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defRPr/>
            </a:pPr>
            <a:r>
              <a:rPr kumimoji="1" lang="en-US" altLang="ko-KR" sz="1600" b="1">
                <a:solidFill>
                  <a:schemeClr val="bg1"/>
                </a:solidFill>
                <a:ea typeface="맑은 고딕" panose="020B0503020000020004" pitchFamily="50" charset="-127"/>
              </a:rPr>
              <a:t>1</a:t>
            </a:r>
            <a:r>
              <a:rPr kumimoji="1" lang="ko-KR" altLang="en-US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49A804-2AD8-4FF6-9604-9417AB4CE616}"/>
              </a:ext>
            </a:extLst>
          </p:cNvPr>
          <p:cNvSpPr/>
          <p:nvPr/>
        </p:nvSpPr>
        <p:spPr>
          <a:xfrm>
            <a:off x="505098" y="2885692"/>
            <a:ext cx="1175951" cy="537420"/>
          </a:xfrm>
          <a:prstGeom prst="rect">
            <a:avLst/>
          </a:prstGeom>
          <a:solidFill>
            <a:srgbClr val="0255B8"/>
          </a:solidFill>
          <a:ln w="6350">
            <a:solidFill>
              <a:srgbClr val="0255B8"/>
            </a:solidFill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defRPr/>
            </a:pPr>
            <a:r>
              <a:rPr kumimoji="1" lang="en-US" altLang="ko-KR" sz="1600" b="1" dirty="0" smtClean="0">
                <a:solidFill>
                  <a:schemeClr val="bg1"/>
                </a:solidFill>
                <a:ea typeface="맑은 고딕" panose="020B0503020000020004" pitchFamily="50" charset="-127"/>
              </a:rPr>
              <a:t>2</a:t>
            </a:r>
            <a:r>
              <a:rPr kumimoji="1" lang="ko-KR" altLang="en-US" sz="1600" b="1" dirty="0" smtClean="0">
                <a:solidFill>
                  <a:schemeClr val="bg1"/>
                </a:solidFill>
                <a:ea typeface="맑은 고딕" panose="020B0503020000020004" pitchFamily="50" charset="-127"/>
              </a:rPr>
              <a:t>단계</a:t>
            </a:r>
            <a:endParaRPr kumimoji="1" lang="ko-KR" altLang="en-US" sz="1600" b="1" dirty="0">
              <a:solidFill>
                <a:schemeClr val="bg1"/>
              </a:solidFill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E818DD-0471-47C7-A8F7-4C8025C01211}"/>
              </a:ext>
            </a:extLst>
          </p:cNvPr>
          <p:cNvSpPr/>
          <p:nvPr/>
        </p:nvSpPr>
        <p:spPr>
          <a:xfrm>
            <a:off x="505098" y="3526443"/>
            <a:ext cx="1175951" cy="537420"/>
          </a:xfrm>
          <a:prstGeom prst="rect">
            <a:avLst/>
          </a:prstGeom>
          <a:solidFill>
            <a:srgbClr val="0255B8"/>
          </a:solidFill>
          <a:ln w="6350">
            <a:solidFill>
              <a:srgbClr val="0255B8"/>
            </a:solidFill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defRPr/>
            </a:pPr>
            <a:r>
              <a:rPr kumimoji="1" lang="en-US" altLang="ko-KR" sz="1600" b="1" dirty="0" smtClean="0">
                <a:solidFill>
                  <a:schemeClr val="bg1"/>
                </a:solidFill>
                <a:ea typeface="맑은 고딕" panose="020B0503020000020004" pitchFamily="50" charset="-127"/>
              </a:rPr>
              <a:t>3</a:t>
            </a:r>
            <a:r>
              <a:rPr kumimoji="1" lang="ko-KR" altLang="en-US" sz="1600" b="1" dirty="0" smtClean="0">
                <a:solidFill>
                  <a:schemeClr val="bg1"/>
                </a:solidFill>
                <a:ea typeface="맑은 고딕" panose="020B0503020000020004" pitchFamily="50" charset="-127"/>
              </a:rPr>
              <a:t>단계</a:t>
            </a:r>
            <a:endParaRPr kumimoji="1" lang="ko-KR" altLang="en-US" sz="1600" b="1" dirty="0">
              <a:solidFill>
                <a:schemeClr val="bg1"/>
              </a:solidFill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0F82D2-41D5-4773-8F3A-08AEA77AAA50}"/>
              </a:ext>
            </a:extLst>
          </p:cNvPr>
          <p:cNvSpPr/>
          <p:nvPr/>
        </p:nvSpPr>
        <p:spPr>
          <a:xfrm>
            <a:off x="1928494" y="2344375"/>
            <a:ext cx="52164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ASIC </a:t>
            </a:r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채굴에 저항성이 있는 </a:t>
            </a:r>
            <a:r>
              <a:rPr lang="en-US" altLang="ko-KR" sz="1600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ECCPoW</a:t>
            </a:r>
            <a:r>
              <a:rPr lang="ko-KR" altLang="en-US" sz="1600" kern="0">
                <a:solidFill>
                  <a:schemeClr val="tx1">
                    <a:lumMod val="95000"/>
                    <a:lumOff val="5000"/>
                  </a:schemeClr>
                </a:solidFill>
              </a:rPr>
              <a:t>를 개발 </a:t>
            </a:r>
            <a:r>
              <a:rPr lang="en-US" altLang="ko-KR" sz="1600" b="1" kern="0" dirty="0">
                <a:solidFill>
                  <a:srgbClr val="0255B8"/>
                </a:solidFill>
              </a:rPr>
              <a:t>(</a:t>
            </a:r>
            <a:r>
              <a:rPr lang="ko-KR" altLang="en-US" sz="1600" b="1" kern="0" dirty="0" err="1">
                <a:solidFill>
                  <a:srgbClr val="0255B8"/>
                </a:solidFill>
              </a:rPr>
              <a:t>분산성</a:t>
            </a:r>
            <a:r>
              <a:rPr lang="ko-KR" altLang="en-US" sz="1600" b="1" kern="0" dirty="0">
                <a:solidFill>
                  <a:srgbClr val="0255B8"/>
                </a:solidFill>
              </a:rPr>
              <a:t> 향상</a:t>
            </a:r>
            <a:r>
              <a:rPr lang="en-US" altLang="ko-KR" sz="1600" b="1" kern="0" dirty="0">
                <a:solidFill>
                  <a:srgbClr val="0255B8"/>
                </a:solidFill>
              </a:rPr>
              <a:t>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E81517-127F-43BC-ACF4-DAD853BEFB44}"/>
              </a:ext>
            </a:extLst>
          </p:cNvPr>
          <p:cNvSpPr/>
          <p:nvPr/>
        </p:nvSpPr>
        <p:spPr>
          <a:xfrm>
            <a:off x="1928494" y="2981988"/>
            <a:ext cx="48269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600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비트코인과</a:t>
            </a:r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600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이더리움에</a:t>
            </a:r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600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ECCPoW</a:t>
            </a:r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를 탑재 </a:t>
            </a:r>
            <a:r>
              <a:rPr lang="ko-KR" altLang="en-US" sz="1600" kern="0">
                <a:solidFill>
                  <a:schemeClr val="tx1">
                    <a:lumMod val="95000"/>
                    <a:lumOff val="5000"/>
                  </a:schemeClr>
                </a:solidFill>
              </a:rPr>
              <a:t>및 하드포크</a:t>
            </a:r>
            <a:endParaRPr lang="ko-KR" altLang="en-US" sz="1600" kern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0AD548F-5E82-4E06-A654-7C1ED5BE16C8}"/>
              </a:ext>
            </a:extLst>
          </p:cNvPr>
          <p:cNvSpPr/>
          <p:nvPr/>
        </p:nvSpPr>
        <p:spPr>
          <a:xfrm>
            <a:off x="1928494" y="3625878"/>
            <a:ext cx="87607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16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이중 지불 공격 등 블록체인에서 문제가 되는 공격들에 대한 방지 </a:t>
            </a:r>
            <a:r>
              <a:rPr lang="ko-KR" altLang="en-US" sz="1600" kern="0">
                <a:solidFill>
                  <a:schemeClr val="tx1">
                    <a:lumMod val="95000"/>
                    <a:lumOff val="5000"/>
                  </a:schemeClr>
                </a:solidFill>
              </a:rPr>
              <a:t>알고리즘을 개발</a:t>
            </a:r>
            <a:r>
              <a:rPr lang="ko-KR" altLang="en-US" sz="1600" kern="0">
                <a:solidFill>
                  <a:srgbClr val="0255B8"/>
                </a:solidFill>
              </a:rPr>
              <a:t> </a:t>
            </a:r>
            <a:r>
              <a:rPr lang="en-US" altLang="ko-KR" sz="1600" b="1" kern="0" dirty="0">
                <a:solidFill>
                  <a:srgbClr val="0255B8"/>
                </a:solidFill>
              </a:rPr>
              <a:t>(</a:t>
            </a:r>
            <a:r>
              <a:rPr lang="ko-KR" altLang="en-US" sz="1600" b="1" kern="0" dirty="0">
                <a:solidFill>
                  <a:srgbClr val="0255B8"/>
                </a:solidFill>
              </a:rPr>
              <a:t>보안성 향상</a:t>
            </a:r>
            <a:r>
              <a:rPr lang="en-US" altLang="ko-KR" sz="1600" b="1" kern="0" dirty="0">
                <a:solidFill>
                  <a:srgbClr val="0255B8"/>
                </a:solidFill>
              </a:rPr>
              <a:t>) 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6E3BEBF-784E-4C25-968D-AD6784E104F9}"/>
              </a:ext>
            </a:extLst>
          </p:cNvPr>
          <p:cNvSpPr/>
          <p:nvPr/>
        </p:nvSpPr>
        <p:spPr>
          <a:xfrm>
            <a:off x="343074" y="4605182"/>
            <a:ext cx="11520000" cy="710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오류 정정 부호 </a:t>
            </a:r>
            <a:r>
              <a:rPr lang="en-US" altLang="ko-KR" dirty="0"/>
              <a:t>(Error Correction Codes)</a:t>
            </a:r>
            <a:r>
              <a:rPr lang="ko-KR" altLang="en-US" dirty="0"/>
              <a:t>를 활용한 새로운 </a:t>
            </a:r>
            <a:r>
              <a:rPr lang="en-US" altLang="ko-KR" dirty="0"/>
              <a:t>Anti-ASIC </a:t>
            </a:r>
            <a:r>
              <a:rPr lang="en-US" altLang="ko-KR" dirty="0" err="1"/>
              <a:t>PoW</a:t>
            </a:r>
            <a:r>
              <a:rPr lang="en-US" altLang="ko-KR" dirty="0"/>
              <a:t> </a:t>
            </a:r>
            <a:r>
              <a:rPr lang="ko-KR" altLang="en-US" dirty="0"/>
              <a:t>알고리즘인 </a:t>
            </a:r>
            <a:r>
              <a:rPr lang="en-US" altLang="ko-KR" dirty="0" err="1"/>
              <a:t>ECCPoW</a:t>
            </a:r>
            <a:r>
              <a:rPr lang="ko-KR" altLang="en-US" dirty="0"/>
              <a:t>를 개발하고자 함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 err="1" smtClean="0"/>
              <a:t>비트코인과</a:t>
            </a:r>
            <a:r>
              <a:rPr lang="ko-KR" altLang="en-US" dirty="0" smtClean="0"/>
              <a:t> </a:t>
            </a:r>
            <a:r>
              <a:rPr lang="ko-KR" altLang="en-US" dirty="0" err="1"/>
              <a:t>이더리움에</a:t>
            </a:r>
            <a:r>
              <a:rPr lang="ko-KR" altLang="en-US" dirty="0"/>
              <a:t> </a:t>
            </a:r>
            <a:r>
              <a:rPr lang="en-US" altLang="ko-KR" dirty="0" err="1"/>
              <a:t>ECCPoW</a:t>
            </a:r>
            <a:r>
              <a:rPr lang="ko-KR" altLang="en-US" dirty="0"/>
              <a:t>를 탑재하여 </a:t>
            </a:r>
            <a:r>
              <a:rPr lang="ko-KR" altLang="en-US" dirty="0" err="1" smtClean="0"/>
              <a:t>하드포크</a:t>
            </a:r>
            <a:r>
              <a:rPr lang="ko-KR" altLang="en-US" dirty="0" smtClean="0"/>
              <a:t> 한 </a:t>
            </a:r>
            <a:r>
              <a:rPr lang="ko-KR" altLang="en-US" dirty="0"/>
              <a:t>새로운 </a:t>
            </a:r>
            <a:r>
              <a:rPr lang="ko-KR" altLang="en-US" dirty="0" smtClean="0"/>
              <a:t>블록체인 </a:t>
            </a:r>
            <a:r>
              <a:rPr lang="en-US" altLang="ko-KR" dirty="0" err="1"/>
              <a:t>DeSecure</a:t>
            </a:r>
            <a:r>
              <a:rPr lang="en-US" altLang="ko-KR" dirty="0"/>
              <a:t> </a:t>
            </a:r>
            <a:r>
              <a:rPr lang="ko-KR" altLang="en-US" dirty="0" smtClean="0"/>
              <a:t>개발</a:t>
            </a:r>
            <a:endParaRPr lang="ko-KR" altLang="en-US" dirty="0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B18D8C9-1BDE-4D00-9F7C-93141F9ADB65}"/>
              </a:ext>
            </a:extLst>
          </p:cNvPr>
          <p:cNvSpPr/>
          <p:nvPr/>
        </p:nvSpPr>
        <p:spPr>
          <a:xfrm>
            <a:off x="1898469" y="2834027"/>
            <a:ext cx="9805851" cy="0"/>
          </a:xfrm>
          <a:custGeom>
            <a:avLst/>
            <a:gdLst>
              <a:gd name="connsiteX0" fmla="*/ 0 w 9805851"/>
              <a:gd name="connsiteY0" fmla="*/ 0 h 0"/>
              <a:gd name="connsiteX1" fmla="*/ 9805851 w 980585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05851">
                <a:moveTo>
                  <a:pt x="0" y="0"/>
                </a:moveTo>
                <a:lnTo>
                  <a:pt x="9805851" y="0"/>
                </a:lnTo>
              </a:path>
            </a:pathLst>
          </a:custGeom>
          <a:noFill/>
          <a:ln w="6350">
            <a:solidFill>
              <a:srgbClr val="0255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8BB4DE38-10F1-46FA-BE86-AFB202C76D81}"/>
              </a:ext>
            </a:extLst>
          </p:cNvPr>
          <p:cNvSpPr/>
          <p:nvPr/>
        </p:nvSpPr>
        <p:spPr>
          <a:xfrm>
            <a:off x="1898469" y="3474778"/>
            <a:ext cx="9805851" cy="0"/>
          </a:xfrm>
          <a:custGeom>
            <a:avLst/>
            <a:gdLst>
              <a:gd name="connsiteX0" fmla="*/ 0 w 9805851"/>
              <a:gd name="connsiteY0" fmla="*/ 0 h 0"/>
              <a:gd name="connsiteX1" fmla="*/ 9805851 w 980585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05851">
                <a:moveTo>
                  <a:pt x="0" y="0"/>
                </a:moveTo>
                <a:lnTo>
                  <a:pt x="9805851" y="0"/>
                </a:lnTo>
              </a:path>
            </a:pathLst>
          </a:custGeom>
          <a:noFill/>
          <a:ln w="6350">
            <a:solidFill>
              <a:srgbClr val="0255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5A9E49D9-BAD2-45B4-9F90-18E42A03100D}"/>
              </a:ext>
            </a:extLst>
          </p:cNvPr>
          <p:cNvSpPr/>
          <p:nvPr/>
        </p:nvSpPr>
        <p:spPr>
          <a:xfrm>
            <a:off x="1898469" y="4115529"/>
            <a:ext cx="9805851" cy="0"/>
          </a:xfrm>
          <a:custGeom>
            <a:avLst/>
            <a:gdLst>
              <a:gd name="connsiteX0" fmla="*/ 0 w 9805851"/>
              <a:gd name="connsiteY0" fmla="*/ 0 h 0"/>
              <a:gd name="connsiteX1" fmla="*/ 9805851 w 980585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05851">
                <a:moveTo>
                  <a:pt x="0" y="0"/>
                </a:moveTo>
                <a:lnTo>
                  <a:pt x="9805851" y="0"/>
                </a:lnTo>
              </a:path>
            </a:pathLst>
          </a:custGeom>
          <a:noFill/>
          <a:ln w="6350">
            <a:solidFill>
              <a:srgbClr val="0255B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82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E359154-7040-4235-A7F7-EB383D178BB4}"/>
              </a:ext>
            </a:extLst>
          </p:cNvPr>
          <p:cNvSpPr/>
          <p:nvPr/>
        </p:nvSpPr>
        <p:spPr>
          <a:xfrm>
            <a:off x="200297" y="4145280"/>
            <a:ext cx="11791406" cy="1611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하드포크의 의미는 합의엔진 교체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기술개발필요성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70D8B6-131A-4C3D-BD62-4452B19688A8}"/>
              </a:ext>
            </a:extLst>
          </p:cNvPr>
          <p:cNvSpPr/>
          <p:nvPr/>
        </p:nvSpPr>
        <p:spPr>
          <a:xfrm>
            <a:off x="336000" y="1271315"/>
            <a:ext cx="11521038" cy="72000"/>
          </a:xfrm>
          <a:prstGeom prst="rect">
            <a:avLst/>
          </a:prstGeom>
          <a:solidFill>
            <a:srgbClr val="4343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288000" rIns="360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ts val="600"/>
              </a:spcBef>
            </a:pPr>
            <a:r>
              <a:rPr lang="ko-KR" altLang="en-US" b="1" kern="0" dirty="0">
                <a:solidFill>
                  <a:srgbClr val="434348"/>
                </a:solidFill>
                <a:latin typeface="+mj-lt"/>
              </a:rPr>
              <a:t>블록체인 프로그램 코어 </a:t>
            </a:r>
            <a:r>
              <a:rPr lang="en-US" altLang="ko-KR" b="1" kern="0" dirty="0">
                <a:solidFill>
                  <a:srgbClr val="434348"/>
                </a:solidFill>
                <a:latin typeface="+mj-lt"/>
              </a:rPr>
              <a:t>(</a:t>
            </a:r>
            <a:r>
              <a:rPr lang="ko-KR" altLang="en-US" b="1" kern="0" dirty="0">
                <a:solidFill>
                  <a:srgbClr val="434348"/>
                </a:solidFill>
                <a:latin typeface="+mj-lt"/>
              </a:rPr>
              <a:t>블록체인 구성 요소 </a:t>
            </a:r>
            <a:r>
              <a:rPr lang="en-US" altLang="ko-KR" b="1" kern="0" dirty="0">
                <a:solidFill>
                  <a:srgbClr val="434348"/>
                </a:solidFill>
                <a:latin typeface="+mj-lt"/>
              </a:rPr>
              <a:t>3</a:t>
            </a:r>
            <a:r>
              <a:rPr lang="ko-KR" altLang="en-US" b="1" kern="0" dirty="0">
                <a:solidFill>
                  <a:srgbClr val="434348"/>
                </a:solidFill>
                <a:latin typeface="+mj-lt"/>
              </a:rPr>
              <a:t>가지</a:t>
            </a:r>
            <a:r>
              <a:rPr lang="en-US" altLang="ko-KR" b="1" kern="0" dirty="0">
                <a:solidFill>
                  <a:srgbClr val="434348"/>
                </a:solidFill>
                <a:latin typeface="+mj-lt"/>
              </a:rPr>
              <a:t>)</a:t>
            </a:r>
            <a:endParaRPr lang="ko-KR" altLang="en-US" b="1" kern="0" dirty="0">
              <a:solidFill>
                <a:srgbClr val="434348"/>
              </a:solidFill>
              <a:latin typeface="+mj-lt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37B275-F6FF-4C38-AB8D-C0DB80ABD8CA}"/>
              </a:ext>
            </a:extLst>
          </p:cNvPr>
          <p:cNvSpPr/>
          <p:nvPr/>
        </p:nvSpPr>
        <p:spPr>
          <a:xfrm>
            <a:off x="334963" y="1882074"/>
            <a:ext cx="11522075" cy="300248"/>
          </a:xfrm>
          <a:prstGeom prst="rect">
            <a:avLst/>
          </a:prstGeom>
          <a:solidFill>
            <a:srgbClr val="434348"/>
          </a:solidFill>
          <a:ln w="6350">
            <a:solidFill>
              <a:srgbClr val="7F7F7F"/>
            </a:solidFill>
          </a:ln>
        </p:spPr>
        <p:txBody>
          <a:bodyPr lIns="72000" tIns="0" rIns="0" bIns="0" anchor="ctr" anchorCtr="0">
            <a:noAutofit/>
          </a:bodyPr>
          <a:lstStyle/>
          <a:p>
            <a:pPr lvl="0">
              <a:defRPr/>
            </a:pPr>
            <a:r>
              <a:rPr kumimoji="1" lang="en-US" altLang="ko-KR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1. Web server interface networking of peers </a:t>
            </a:r>
            <a:endParaRPr kumimoji="1" lang="ko-KR" altLang="en-US" sz="1600" b="1" dirty="0">
              <a:solidFill>
                <a:schemeClr val="bg1"/>
              </a:solidFill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03A26C-6B9D-447D-924A-EBC3E3F59301}"/>
              </a:ext>
            </a:extLst>
          </p:cNvPr>
          <p:cNvSpPr/>
          <p:nvPr/>
        </p:nvSpPr>
        <p:spPr>
          <a:xfrm>
            <a:off x="548640" y="2231460"/>
            <a:ext cx="52417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Node registration, get-address, give-address</a:t>
            </a:r>
            <a:endParaRPr lang="ko-KR" altLang="ko-KR" sz="14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Full node or light node</a:t>
            </a:r>
            <a:endParaRPr lang="en-US" altLang="ko-KR" sz="14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Communication among the wallets and the miners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FBA28A-B5CE-4232-9BD8-39750A89A795}"/>
              </a:ext>
            </a:extLst>
          </p:cNvPr>
          <p:cNvSpPr/>
          <p:nvPr/>
        </p:nvSpPr>
        <p:spPr>
          <a:xfrm>
            <a:off x="334963" y="3109982"/>
            <a:ext cx="11522075" cy="300248"/>
          </a:xfrm>
          <a:prstGeom prst="rect">
            <a:avLst/>
          </a:prstGeom>
          <a:solidFill>
            <a:srgbClr val="434348"/>
          </a:solidFill>
          <a:ln w="6350">
            <a:solidFill>
              <a:srgbClr val="7F7F7F"/>
            </a:solidFill>
          </a:ln>
        </p:spPr>
        <p:txBody>
          <a:bodyPr lIns="72000" tIns="0" rIns="0" bIns="0" anchor="ctr" anchorCtr="0">
            <a:noAutofit/>
          </a:bodyPr>
          <a:lstStyle/>
          <a:p>
            <a:pPr lvl="0">
              <a:defRPr/>
            </a:pPr>
            <a:r>
              <a:rPr kumimoji="1" lang="en-US" altLang="ko-KR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2. Wallet for TX generations</a:t>
            </a:r>
            <a:endParaRPr kumimoji="1" lang="ko-KR" altLang="en-US" sz="1600" b="1" dirty="0">
              <a:solidFill>
                <a:schemeClr val="bg1"/>
              </a:solidFill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70ADC2-8D04-4C90-9F0D-35CFA2B4CB65}"/>
              </a:ext>
            </a:extLst>
          </p:cNvPr>
          <p:cNvSpPr/>
          <p:nvPr/>
        </p:nvSpPr>
        <p:spPr>
          <a:xfrm>
            <a:off x="548640" y="3459368"/>
            <a:ext cx="113083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ko-KR" sz="1400" dirty="0"/>
              <a:t>Make private and public keys, address, store UTXOs, make TX, put signature, announce it to the neighbor, check to see if the TX is supported by the blockchain.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39E023-2937-42A6-AE8C-3B516F1C5B36}"/>
              </a:ext>
            </a:extLst>
          </p:cNvPr>
          <p:cNvSpPr/>
          <p:nvPr/>
        </p:nvSpPr>
        <p:spPr>
          <a:xfrm>
            <a:off x="334963" y="4292984"/>
            <a:ext cx="11522075" cy="300248"/>
          </a:xfrm>
          <a:prstGeom prst="rect">
            <a:avLst/>
          </a:prstGeom>
          <a:solidFill>
            <a:srgbClr val="0255B8"/>
          </a:solidFill>
          <a:ln w="6350">
            <a:solidFill>
              <a:srgbClr val="7F7F7F"/>
            </a:solidFill>
          </a:ln>
        </p:spPr>
        <p:txBody>
          <a:bodyPr lIns="72000" tIns="0" rIns="0" bIns="0" anchor="ctr" anchorCtr="0">
            <a:noAutofit/>
          </a:bodyPr>
          <a:lstStyle/>
          <a:p>
            <a:pPr lvl="0">
              <a:defRPr/>
            </a:pPr>
            <a:r>
              <a:rPr kumimoji="1" lang="en-US" altLang="ko-KR" sz="1600" b="1" dirty="0">
                <a:solidFill>
                  <a:schemeClr val="bg1"/>
                </a:solidFill>
                <a:ea typeface="맑은 고딕" panose="020B0503020000020004" pitchFamily="50" charset="-127"/>
              </a:rPr>
              <a:t>3. Consensus Mechanism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33C872-E4A2-4116-9ED3-AA103D0B624D}"/>
              </a:ext>
            </a:extLst>
          </p:cNvPr>
          <p:cNvSpPr/>
          <p:nvPr/>
        </p:nvSpPr>
        <p:spPr>
          <a:xfrm>
            <a:off x="548640" y="4642370"/>
            <a:ext cx="1130839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Data : </a:t>
            </a:r>
            <a:r>
              <a:rPr lang="en-US" altLang="ko-KR" sz="1400" dirty="0"/>
              <a:t>Genesis block + regular blocks, one block every 10 min, block-size 1Mbyte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Protocol : </a:t>
            </a:r>
            <a:r>
              <a:rPr lang="en-US" altLang="ko-KR" sz="1400" dirty="0"/>
              <a:t>consensus, block header, difficulty level adjustment, …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Mining :</a:t>
            </a:r>
            <a:r>
              <a:rPr lang="en-US" altLang="ko-KR" sz="1400" dirty="0"/>
              <a:t> Get the longest chain, </a:t>
            </a:r>
            <a:r>
              <a:rPr lang="en-US" altLang="ko-KR" sz="1400" dirty="0">
                <a:solidFill>
                  <a:srgbClr val="0255B8"/>
                </a:solidFill>
              </a:rPr>
              <a:t>validate</a:t>
            </a:r>
            <a:r>
              <a:rPr lang="en-US" altLang="ko-KR" sz="1400" dirty="0"/>
              <a:t> it and all transactions within it, get transactions from </a:t>
            </a:r>
            <a:r>
              <a:rPr lang="en-US" altLang="ko-KR" sz="1400" dirty="0" err="1"/>
              <a:t>mempool</a:t>
            </a:r>
            <a:r>
              <a:rPr lang="en-US" altLang="ko-KR" sz="1400" dirty="0"/>
              <a:t> and form a block, </a:t>
            </a:r>
            <a:r>
              <a:rPr lang="en-US" altLang="ko-KR" sz="1400" dirty="0">
                <a:solidFill>
                  <a:srgbClr val="0255B8"/>
                </a:solidFill>
              </a:rPr>
              <a:t>run SHA repeatedly until you hit a good hash</a:t>
            </a:r>
            <a:r>
              <a:rPr lang="en-US" altLang="ko-KR" sz="1400" dirty="0"/>
              <a:t>, put the proof into the block header, and attach the proofed block to the longest chain, and make announcement ASAP.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3638118-D227-4A6F-9C0D-98628671FFA1}"/>
              </a:ext>
            </a:extLst>
          </p:cNvPr>
          <p:cNvSpPr/>
          <p:nvPr/>
        </p:nvSpPr>
        <p:spPr>
          <a:xfrm>
            <a:off x="438868" y="5871180"/>
            <a:ext cx="109776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 err="1"/>
              <a:t>비트코인</a:t>
            </a:r>
            <a:r>
              <a:rPr lang="en-US" altLang="ko-KR" dirty="0"/>
              <a:t>/</a:t>
            </a:r>
            <a:r>
              <a:rPr lang="ko-KR" altLang="en-US" dirty="0" err="1"/>
              <a:t>이더리움의</a:t>
            </a:r>
            <a:r>
              <a:rPr lang="ko-KR" altLang="en-US" dirty="0"/>
              <a:t> 작업증명을 </a:t>
            </a:r>
            <a:r>
              <a:rPr lang="en-US" altLang="ko-KR" dirty="0" err="1"/>
              <a:t>ECCPoW</a:t>
            </a:r>
            <a:r>
              <a:rPr lang="ko-KR" altLang="en-US" dirty="0"/>
              <a:t>로 교체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15CBB2-9FED-4ED4-BD9B-485F05B4BC20}"/>
              </a:ext>
            </a:extLst>
          </p:cNvPr>
          <p:cNvSpPr txBox="1"/>
          <p:nvPr/>
        </p:nvSpPr>
        <p:spPr>
          <a:xfrm>
            <a:off x="10756887" y="4052257"/>
            <a:ext cx="1100150" cy="32704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1600" b="1" dirty="0">
                <a:solidFill>
                  <a:srgbClr val="C00000"/>
                </a:solidFill>
              </a:rPr>
              <a:t>합의엔진</a:t>
            </a:r>
          </a:p>
        </p:txBody>
      </p:sp>
    </p:spTree>
    <p:extLst>
      <p:ext uri="{BB962C8B-B14F-4D97-AF65-F5344CB8AC3E}">
        <p14:creationId xmlns:p14="http://schemas.microsoft.com/office/powerpoint/2010/main" val="160411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25E5B-300F-49FB-9231-D39764DAB0F0}"/>
              </a:ext>
            </a:extLst>
          </p:cNvPr>
          <p:cNvSpPr txBox="1"/>
          <p:nvPr/>
        </p:nvSpPr>
        <p:spPr>
          <a:xfrm>
            <a:off x="487680" y="2392680"/>
            <a:ext cx="6470168" cy="5539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fontAlgn="base"/>
            <a:r>
              <a:rPr lang="ko-KR" altLang="en-US" sz="3600" b="1" dirty="0" err="1" smtClean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성과내역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3591D-560F-436F-B4B3-784597D85279}"/>
              </a:ext>
            </a:extLst>
          </p:cNvPr>
          <p:cNvSpPr txBox="1"/>
          <p:nvPr/>
        </p:nvSpPr>
        <p:spPr>
          <a:xfrm>
            <a:off x="487680" y="624840"/>
            <a:ext cx="3322320" cy="17697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0" b="1" i="0" u="none" strike="noStrike" kern="1200" cap="none" spc="-30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rPr>
              <a:t>02</a:t>
            </a:r>
            <a:endParaRPr kumimoji="0" lang="ko-KR" altLang="en-US" sz="11500" b="1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30DBB7-8042-4859-ADD2-C122EC07B093}"/>
              </a:ext>
            </a:extLst>
          </p:cNvPr>
          <p:cNvSpPr/>
          <p:nvPr/>
        </p:nvSpPr>
        <p:spPr>
          <a:xfrm>
            <a:off x="487680" y="6235115"/>
            <a:ext cx="6096000" cy="261610"/>
          </a:xfrm>
          <a:prstGeom prst="rect">
            <a:avLst/>
          </a:prstGeom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확장가능한 탈중앙화 보안성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DeSecure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)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ECCPoW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블록체인</a:t>
            </a:r>
          </a:p>
        </p:txBody>
      </p:sp>
    </p:spTree>
    <p:extLst>
      <p:ext uri="{BB962C8B-B14F-4D97-AF65-F5344CB8AC3E}">
        <p14:creationId xmlns:p14="http://schemas.microsoft.com/office/powerpoint/2010/main" val="335435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연구 개발 성과</a:t>
            </a:r>
            <a:r>
              <a:rPr lang="en-US" altLang="ko-KR" dirty="0"/>
              <a:t> _ </a:t>
            </a:r>
            <a:r>
              <a:rPr lang="ko-KR" altLang="en-US" dirty="0"/>
              <a:t>특허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err="1" smtClean="0"/>
              <a:t>성과내역</a:t>
            </a:r>
            <a:endParaRPr lang="ko-KR" altLang="en-US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81AB9C2E-974A-4D8A-9C83-5064FE5DC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123994"/>
              </p:ext>
            </p:extLst>
          </p:nvPr>
        </p:nvGraphicFramePr>
        <p:xfrm>
          <a:off x="334964" y="2026730"/>
          <a:ext cx="11394294" cy="2123673"/>
        </p:xfrm>
        <a:graphic>
          <a:graphicData uri="http://schemas.openxmlformats.org/drawingml/2006/table">
            <a:tbl>
              <a:tblPr firstRow="1" firstCol="1" bandRow="1"/>
              <a:tblGrid>
                <a:gridCol w="479069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4291367">
                  <a:extLst>
                    <a:ext uri="{9D8B030D-6E8A-4147-A177-3AD203B41FA5}">
                      <a16:colId xmlns:a16="http://schemas.microsoft.com/office/drawing/2014/main" val="313481948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3293162447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4146162452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4214586925"/>
                    </a:ext>
                  </a:extLst>
                </a:gridCol>
                <a:gridCol w="2080433">
                  <a:extLst>
                    <a:ext uri="{9D8B030D-6E8A-4147-A177-3AD203B41FA5}">
                      <a16:colId xmlns:a16="http://schemas.microsoft.com/office/drawing/2014/main" val="1709100997"/>
                    </a:ext>
                  </a:extLst>
                </a:gridCol>
              </a:tblGrid>
              <a:tr h="288153">
                <a:tc rowSpan="2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번호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지식재산권 등 명칭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국명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출원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255689"/>
                  </a:ext>
                </a:extLst>
              </a:tr>
              <a:tr h="2667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출원인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출원일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출원번호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851730"/>
                  </a:ext>
                </a:extLst>
              </a:tr>
              <a:tr h="52181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부호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암호 화폐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시스템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KOR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광주과학기술원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2019-11-12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10-2019-0151246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52181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j-ea"/>
                          <a:ea typeface="+mj-ea"/>
                          <a:cs typeface="+mn-cs"/>
                        </a:rPr>
                        <a:t>2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블록체인의 거래검증시스템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및 </a:t>
                      </a:r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블록체인이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거래검증방법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KOR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광주과학기술원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2019-09-30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10-2019-0120655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720990"/>
                  </a:ext>
                </a:extLst>
              </a:tr>
              <a:tr h="521818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 smtClean="0">
                          <a:solidFill>
                            <a:sysClr val="windowText" lastClr="000000"/>
                          </a:solidFill>
                          <a:latin typeface="+mj-ea"/>
                          <a:ea typeface="+mj-ea"/>
                          <a:cs typeface="+mn-cs"/>
                        </a:rPr>
                        <a:t>3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블록체인의 거래검증시스템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및 </a:t>
                      </a:r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블록체인이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거래검증방법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PCT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광주과학기술원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진행 중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042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44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연구 개발 성과</a:t>
            </a:r>
            <a:r>
              <a:rPr lang="en-US" altLang="ko-KR" dirty="0"/>
              <a:t> _ </a:t>
            </a:r>
            <a:r>
              <a:rPr lang="ko-KR" altLang="en-US" dirty="0"/>
              <a:t>국내 및 국외 논문 게재 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err="1" smtClean="0"/>
              <a:t>성과내역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1D0D35D-B23D-49E0-BB23-A1077D7E4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018456"/>
              </p:ext>
            </p:extLst>
          </p:nvPr>
        </p:nvGraphicFramePr>
        <p:xfrm>
          <a:off x="343074" y="1513459"/>
          <a:ext cx="11528109" cy="4172073"/>
        </p:xfrm>
        <a:graphic>
          <a:graphicData uri="http://schemas.openxmlformats.org/drawingml/2006/table">
            <a:tbl>
              <a:tblPr firstRow="1" firstCol="1" bandRow="1"/>
              <a:tblGrid>
                <a:gridCol w="456934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4021335">
                  <a:extLst>
                    <a:ext uri="{9D8B030D-6E8A-4147-A177-3AD203B41FA5}">
                      <a16:colId xmlns:a16="http://schemas.microsoft.com/office/drawing/2014/main" val="3134819482"/>
                    </a:ext>
                  </a:extLst>
                </a:gridCol>
                <a:gridCol w="2054027">
                  <a:extLst>
                    <a:ext uri="{9D8B030D-6E8A-4147-A177-3AD203B41FA5}">
                      <a16:colId xmlns:a16="http://schemas.microsoft.com/office/drawing/2014/main" val="3293162447"/>
                    </a:ext>
                  </a:extLst>
                </a:gridCol>
                <a:gridCol w="720216">
                  <a:extLst>
                    <a:ext uri="{9D8B030D-6E8A-4147-A177-3AD203B41FA5}">
                      <a16:colId xmlns:a16="http://schemas.microsoft.com/office/drawing/2014/main" val="600659448"/>
                    </a:ext>
                  </a:extLst>
                </a:gridCol>
                <a:gridCol w="1425199">
                  <a:extLst>
                    <a:ext uri="{9D8B030D-6E8A-4147-A177-3AD203B41FA5}">
                      <a16:colId xmlns:a16="http://schemas.microsoft.com/office/drawing/2014/main" val="3325294817"/>
                    </a:ext>
                  </a:extLst>
                </a:gridCol>
                <a:gridCol w="1425199">
                  <a:extLst>
                    <a:ext uri="{9D8B030D-6E8A-4147-A177-3AD203B41FA5}">
                      <a16:colId xmlns:a16="http://schemas.microsoft.com/office/drawing/2014/main" val="4040964989"/>
                    </a:ext>
                  </a:extLst>
                </a:gridCol>
                <a:gridCol w="1425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473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논문명</a:t>
                      </a:r>
                      <a:endParaRPr lang="ko-KR" altLang="en-U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학술지명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국명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발행기관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SCI </a:t>
                      </a:r>
                      <a:r>
                        <a:rPr lang="ko-KR" altLang="en-US" sz="16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여부</a:t>
                      </a:r>
                      <a:endParaRPr lang="en-U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게재일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255689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 Blockchain For The Collision Avoidance And The Recovery of Crashed 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UAVs</a:t>
                      </a:r>
                      <a:endParaRPr lang="en-US" sz="13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대한전자공학회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년도 하계종합학술대회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국내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대한전자공학회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 </a:t>
                      </a:r>
                      <a:r>
                        <a:rPr 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SCI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2019-06-07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 Permissioned ISPs Blockchain For The End to End Quality of Service 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Enhancement</a:t>
                      </a:r>
                      <a:endParaRPr lang="en-US" sz="13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휴먼명조" panose="02010504000101010101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휴먼명조" panose="02010504000101010101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휴먼명조" panose="02010504000101010101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SCI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2019-06-07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720990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Time-Variant Proof-of-work using Error-Correction codes</a:t>
                      </a: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Under revision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626756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Profitable Double-Spending Attacks</a:t>
                      </a: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Under revision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042542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 Blockchain-Based Distributed Patient-Centric Image Management System</a:t>
                      </a: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Under revision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420730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Fine difficulty control for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ECCPoWs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Under revision 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047003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Mydata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blockchain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석사 학위 논문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국내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광주과학기술원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SCI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3089182"/>
                  </a:ext>
                </a:extLst>
              </a:tr>
              <a:tr h="485575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600" b="1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ko-KR" altLang="en-US" sz="16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Understanding Blockchain technology and applications: A review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0" marR="180000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석사 학위 논문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국내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광주과학기술원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SCI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152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43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18일 '블록체인으로 여는 미래사회' 워크숍 개최, &quot;암호화폐 유형별 정책 필요&quot;">
            <a:extLst>
              <a:ext uri="{FF2B5EF4-FFF2-40B4-BE49-F238E27FC236}">
                <a16:creationId xmlns:a16="http://schemas.microsoft.com/office/drawing/2014/main" id="{CFD507E6-90F0-438B-913E-5CAFC72D9A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" r="36641"/>
          <a:stretch/>
        </p:blipFill>
        <p:spPr bwMode="auto">
          <a:xfrm>
            <a:off x="8281851" y="3108852"/>
            <a:ext cx="3575184" cy="2525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FBC998A-DC95-4504-B6AE-B044E7784AD0}"/>
              </a:ext>
            </a:extLst>
          </p:cNvPr>
          <p:cNvSpPr/>
          <p:nvPr/>
        </p:nvSpPr>
        <p:spPr>
          <a:xfrm>
            <a:off x="8281851" y="2336831"/>
            <a:ext cx="3582474" cy="3683821"/>
          </a:xfrm>
          <a:prstGeom prst="rect">
            <a:avLst/>
          </a:prstGeom>
          <a:noFill/>
          <a:ln w="19050"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연구 개발 성과</a:t>
            </a:r>
            <a:r>
              <a:rPr lang="en-US" altLang="ko-KR" dirty="0"/>
              <a:t> _ </a:t>
            </a:r>
            <a:r>
              <a:rPr lang="ko-KR" altLang="en-US" dirty="0"/>
              <a:t>국내 및 국제 학술대회 발표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err="1" smtClean="0"/>
              <a:t>성과내역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1D0D35D-B23D-49E0-BB23-A1077D7E4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352962"/>
              </p:ext>
            </p:extLst>
          </p:nvPr>
        </p:nvGraphicFramePr>
        <p:xfrm>
          <a:off x="334965" y="2336831"/>
          <a:ext cx="7755297" cy="3683821"/>
        </p:xfrm>
        <a:graphic>
          <a:graphicData uri="http://schemas.openxmlformats.org/drawingml/2006/table">
            <a:tbl>
              <a:tblPr firstRow="1" firstCol="1" bandRow="1"/>
              <a:tblGrid>
                <a:gridCol w="456934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3283712">
                  <a:extLst>
                    <a:ext uri="{9D8B030D-6E8A-4147-A177-3AD203B41FA5}">
                      <a16:colId xmlns:a16="http://schemas.microsoft.com/office/drawing/2014/main" val="3134819482"/>
                    </a:ext>
                  </a:extLst>
                </a:gridCol>
                <a:gridCol w="1338217">
                  <a:extLst>
                    <a:ext uri="{9D8B030D-6E8A-4147-A177-3AD203B41FA5}">
                      <a16:colId xmlns:a16="http://schemas.microsoft.com/office/drawing/2014/main" val="3293162447"/>
                    </a:ext>
                  </a:extLst>
                </a:gridCol>
                <a:gridCol w="1338217">
                  <a:extLst>
                    <a:ext uri="{9D8B030D-6E8A-4147-A177-3AD203B41FA5}">
                      <a16:colId xmlns:a16="http://schemas.microsoft.com/office/drawing/2014/main" val="600659448"/>
                    </a:ext>
                  </a:extLst>
                </a:gridCol>
                <a:gridCol w="1338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473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논문명</a:t>
                      </a:r>
                      <a:endParaRPr lang="ko-KR" altLang="en-U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발표자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발표일시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장소</a:t>
                      </a:r>
                    </a:p>
                  </a:txBody>
                  <a:tcPr marL="14945" marR="14945" marT="14945" marB="1494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255689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블록체인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법학회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컨퍼런스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이흥노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2019.10.22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블록체인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법학회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컨퍼런스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이흥노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2019.08.28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720990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대한전자공학회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년도 하계종합학술대회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Yaseen Jabarulla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2019.06.27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제주도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626756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대한전자공학회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년도 하계종합학술대회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Michele Scarlato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2019.06.27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제주도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042542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블록체인으로 여는 미래사회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Workshop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이흥노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2019.06.17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420730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ETHcon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Korea 2019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이흥노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2019.05.27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3564353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ETHcon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Korea 2019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장재혁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2019.05.27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서울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2016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JCCI 2019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이흥노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2019.05.01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강릉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047003"/>
                  </a:ext>
                </a:extLst>
              </a:tr>
              <a:tr h="377372"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한국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ICT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금융학회 세미나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이흥노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2019.04.19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국회 도서관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3089182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70FE71E-D6D6-4CEB-B575-2DA1F40D05F4}"/>
              </a:ext>
            </a:extLst>
          </p:cNvPr>
          <p:cNvSpPr/>
          <p:nvPr/>
        </p:nvSpPr>
        <p:spPr>
          <a:xfrm>
            <a:off x="8516411" y="2169717"/>
            <a:ext cx="3113353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블록체인으로 여는 미래 사회</a:t>
            </a:r>
            <a:endParaRPr lang="en-US" altLang="ko-KR" b="1" dirty="0">
              <a:solidFill>
                <a:srgbClr val="0255B8"/>
              </a:solidFill>
              <a:latin typeface="+mj-lt"/>
            </a:endParaRPr>
          </a:p>
          <a:p>
            <a:pPr algn="ctr">
              <a:defRPr/>
            </a:pP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Workshop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770DD0-B8E9-4404-B27E-66E9F9C1D82C}"/>
              </a:ext>
            </a:extLst>
          </p:cNvPr>
          <p:cNvSpPr/>
          <p:nvPr/>
        </p:nvSpPr>
        <p:spPr>
          <a:xfrm>
            <a:off x="343672" y="1015865"/>
            <a:ext cx="11519402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endParaRPr lang="en-US" altLang="ko-KR" b="1" dirty="0">
              <a:solidFill>
                <a:srgbClr val="0255B8"/>
              </a:solidFill>
              <a:latin typeface="+mj-lt"/>
            </a:endParaRPr>
          </a:p>
          <a:p>
            <a:pPr algn="ctr">
              <a:spcBef>
                <a:spcPts val="300"/>
              </a:spcBef>
              <a:defRPr/>
            </a:pP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8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건의 국내 학술대회 발표</a:t>
            </a:r>
          </a:p>
          <a:p>
            <a:pPr algn="ctr">
              <a:spcBef>
                <a:spcPts val="300"/>
              </a:spcBef>
              <a:defRPr/>
            </a:pP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1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건의 학술 대회 조직</a:t>
            </a:r>
          </a:p>
        </p:txBody>
      </p:sp>
    </p:spTree>
    <p:extLst>
      <p:ext uri="{BB962C8B-B14F-4D97-AF65-F5344CB8AC3E}">
        <p14:creationId xmlns:p14="http://schemas.microsoft.com/office/powerpoint/2010/main" val="333771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연구 개발 성과</a:t>
            </a:r>
            <a:r>
              <a:rPr lang="en-US" altLang="ko-KR" dirty="0"/>
              <a:t> _ </a:t>
            </a:r>
            <a:r>
              <a:rPr lang="ko-KR" altLang="en-US" dirty="0"/>
              <a:t>프로그램 산출물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err="1" smtClean="0"/>
              <a:t>성과내역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77CBAB-5ADB-4D0C-A5FF-A37A55E061F0}"/>
              </a:ext>
            </a:extLst>
          </p:cNvPr>
          <p:cNvSpPr/>
          <p:nvPr/>
        </p:nvSpPr>
        <p:spPr>
          <a:xfrm>
            <a:off x="343672" y="1015865"/>
            <a:ext cx="11519402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endParaRPr lang="en-US" altLang="ko-KR" b="1" dirty="0">
              <a:solidFill>
                <a:srgbClr val="0255B8"/>
              </a:solidFill>
              <a:latin typeface="+mj-lt"/>
            </a:endParaRPr>
          </a:p>
          <a:p>
            <a:pPr algn="ctr">
              <a:spcBef>
                <a:spcPts val="300"/>
              </a:spcBef>
              <a:defRPr/>
            </a:pP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부호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-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암호 작업증명 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(</a:t>
            </a:r>
            <a:r>
              <a:rPr lang="en-US" altLang="ko-KR" b="1" dirty="0" err="1">
                <a:solidFill>
                  <a:srgbClr val="0255B8"/>
                </a:solidFill>
                <a:latin typeface="+mj-lt"/>
              </a:rPr>
              <a:t>ECCPoW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)</a:t>
            </a:r>
          </a:p>
          <a:p>
            <a:pPr algn="ctr">
              <a:spcBef>
                <a:spcPts val="300"/>
              </a:spcBef>
              <a:defRPr/>
            </a:pP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부호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-</a:t>
            </a:r>
            <a:r>
              <a:rPr lang="ko-KR" altLang="en-US" b="1" dirty="0">
                <a:solidFill>
                  <a:srgbClr val="0255B8"/>
                </a:solidFill>
                <a:latin typeface="+mj-lt"/>
              </a:rPr>
              <a:t>암호 작업증명이 탑재된 </a:t>
            </a:r>
            <a:r>
              <a:rPr lang="ko-KR" altLang="en-US" b="1" dirty="0" err="1">
                <a:solidFill>
                  <a:srgbClr val="0255B8"/>
                </a:solidFill>
                <a:latin typeface="+mj-lt"/>
              </a:rPr>
              <a:t>비트코인</a:t>
            </a:r>
            <a:r>
              <a:rPr lang="en-US" altLang="ko-KR" b="1" dirty="0">
                <a:solidFill>
                  <a:srgbClr val="0255B8"/>
                </a:solidFill>
                <a:latin typeface="+mj-lt"/>
              </a:rPr>
              <a:t>/</a:t>
            </a:r>
            <a:r>
              <a:rPr lang="ko-KR" altLang="en-US" b="1" dirty="0" err="1">
                <a:solidFill>
                  <a:srgbClr val="0255B8"/>
                </a:solidFill>
                <a:latin typeface="+mj-lt"/>
              </a:rPr>
              <a:t>이더리움</a:t>
            </a:r>
            <a:endParaRPr lang="ko-KR" altLang="en-US" b="1" dirty="0">
              <a:solidFill>
                <a:srgbClr val="0255B8"/>
              </a:solidFill>
              <a:latin typeface="+mj-lt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46F2C85-5D18-44B1-A322-4E6E9B4D2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804536"/>
              </p:ext>
            </p:extLst>
          </p:nvPr>
        </p:nvGraphicFramePr>
        <p:xfrm>
          <a:off x="334964" y="2551516"/>
          <a:ext cx="11528109" cy="3250314"/>
        </p:xfrm>
        <a:graphic>
          <a:graphicData uri="http://schemas.openxmlformats.org/drawingml/2006/table">
            <a:tbl>
              <a:tblPr firstRow="1" firstCol="1" bandRow="1"/>
              <a:tblGrid>
                <a:gridCol w="2025059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5956663">
                  <a:extLst>
                    <a:ext uri="{9D8B030D-6E8A-4147-A177-3AD203B41FA5}">
                      <a16:colId xmlns:a16="http://schemas.microsoft.com/office/drawing/2014/main" val="3134819482"/>
                    </a:ext>
                  </a:extLst>
                </a:gridCol>
                <a:gridCol w="3546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4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</a:p>
                  </a:txBody>
                  <a:tcPr marL="5159" marR="5159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목적</a:t>
                      </a:r>
                    </a:p>
                  </a:txBody>
                  <a:tcPr marL="5159" marR="5159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Github</a:t>
                      </a: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</a:p>
                  </a:txBody>
                  <a:tcPr marL="5159" marR="5159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25568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8658" marR="18658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암호 퍼즐 생성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디코딩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암호 퍼즐 해결 유무 판단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암호 퍼즐 난이도 조절</a:t>
                      </a:r>
                    </a:p>
                  </a:txBody>
                  <a:tcPr marL="18658" marR="18658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github.com/cryptoecc/bitcoin_ECC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8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최초생성일 </a:t>
                      </a:r>
                      <a:r>
                        <a:rPr lang="en-US" altLang="ko-KR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 2019.5.23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</a:t>
                      </a:r>
                      <a:r>
                        <a:rPr lang="en-US" altLang="ko-KR" sz="1800" kern="120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ommit</a:t>
                      </a:r>
                      <a:r>
                        <a:rPr lang="ko-KR" alt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 66</a:t>
                      </a:r>
                      <a:r>
                        <a:rPr lang="ko-KR" alt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회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endParaRPr lang="en-US" sz="18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658" marR="18658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BTCECC</a:t>
                      </a:r>
                    </a:p>
                  </a:txBody>
                  <a:tcPr marL="18658" marR="18658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가 탑재된 </a:t>
                      </a:r>
                      <a:r>
                        <a:rPr lang="ko-KR" altLang="en-US" sz="18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비트코인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658" marR="18658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5718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ETHECC</a:t>
                      </a:r>
                    </a:p>
                  </a:txBody>
                  <a:tcPr marL="18658" marR="18658" marT="5159" marB="5159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가 탑재된 </a:t>
                      </a:r>
                      <a:r>
                        <a:rPr lang="ko-KR" altLang="en-US" sz="18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이더리움</a:t>
                      </a:r>
                      <a:endParaRPr lang="ko-KR" altLang="en-US" sz="18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658" marR="18658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github.com/cryptoecc/go-ethereum_ECC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최초생성일 </a:t>
                      </a:r>
                      <a:r>
                        <a:rPr lang="en-US" altLang="ko-KR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2019.5.20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US" altLang="ko-KR" sz="18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ommit</a:t>
                      </a:r>
                      <a:r>
                        <a:rPr lang="ko-KR" alt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82</a:t>
                      </a:r>
                      <a:r>
                        <a:rPr lang="ko-KR" alt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658" marR="18658" marT="5159" marB="5159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883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9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25E5B-300F-49FB-9231-D39764DAB0F0}"/>
              </a:ext>
            </a:extLst>
          </p:cNvPr>
          <p:cNvSpPr txBox="1"/>
          <p:nvPr/>
        </p:nvSpPr>
        <p:spPr>
          <a:xfrm>
            <a:off x="487680" y="2392680"/>
            <a:ext cx="5860568" cy="5539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fontAlgn="base"/>
            <a:r>
              <a:rPr lang="ko-KR" altLang="en-US" sz="3600" b="1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기술개발 </a:t>
            </a:r>
            <a:r>
              <a:rPr lang="ko-KR" altLang="en-US" sz="3600" b="1" dirty="0" smtClean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내용</a:t>
            </a:r>
            <a:endParaRPr lang="en-US" altLang="ko-KR" sz="3600" b="1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3591D-560F-436F-B4B3-784597D85279}"/>
              </a:ext>
            </a:extLst>
          </p:cNvPr>
          <p:cNvSpPr txBox="1"/>
          <p:nvPr/>
        </p:nvSpPr>
        <p:spPr>
          <a:xfrm>
            <a:off x="487680" y="624840"/>
            <a:ext cx="3322320" cy="17697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0" b="1" i="0" u="none" strike="noStrike" kern="1200" cap="none" spc="-30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rPr>
              <a:t>03</a:t>
            </a:r>
            <a:endParaRPr kumimoji="0" lang="ko-KR" altLang="en-US" sz="11500" b="1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30DBB7-8042-4859-ADD2-C122EC07B093}"/>
              </a:ext>
            </a:extLst>
          </p:cNvPr>
          <p:cNvSpPr/>
          <p:nvPr/>
        </p:nvSpPr>
        <p:spPr>
          <a:xfrm>
            <a:off x="487680" y="6235115"/>
            <a:ext cx="6096000" cy="261610"/>
          </a:xfrm>
          <a:prstGeom prst="rect">
            <a:avLst/>
          </a:prstGeom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확장가능한 탈중앙화 보안성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DeSecure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)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ECCPoW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블록체인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60936F-4385-4828-9511-2A19A2A3F809}"/>
              </a:ext>
            </a:extLst>
          </p:cNvPr>
          <p:cNvSpPr/>
          <p:nvPr/>
        </p:nvSpPr>
        <p:spPr>
          <a:xfrm>
            <a:off x="447040" y="3049199"/>
            <a:ext cx="6096000" cy="1192634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263525" fontAlgn="base">
              <a:spcBef>
                <a:spcPts val="300"/>
              </a:spcBef>
            </a:pPr>
            <a:r>
              <a:rPr lang="en-US" altLang="ko-KR" sz="1600" dirty="0" smtClean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3.1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ECCPoW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버전 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1.0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개발</a:t>
            </a:r>
            <a:endParaRPr lang="en-US" altLang="ko-KR" sz="1600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defTabSz="263525" fontAlgn="base">
              <a:spcBef>
                <a:spcPts val="300"/>
              </a:spcBef>
            </a:pPr>
            <a:r>
              <a:rPr lang="en-US" altLang="ko-KR" sz="1600" dirty="0" smtClean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3.2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ECCPoW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개발 및 기존 암호화폐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600" dirty="0" err="1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비트코인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시스템에 적용</a:t>
            </a:r>
            <a:endParaRPr lang="en-US" altLang="ko-KR" sz="1600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defTabSz="263525" fontAlgn="base">
              <a:spcBef>
                <a:spcPts val="300"/>
              </a:spcBef>
            </a:pPr>
            <a:r>
              <a:rPr lang="en-US" altLang="ko-KR" sz="1600" dirty="0" smtClean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3.3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ECCPoW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개발 및 기존 암호화폐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600" dirty="0" err="1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이더리움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시스템에 적용</a:t>
            </a:r>
            <a:endParaRPr lang="en-US" altLang="ko-KR" sz="1600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defTabSz="263525" fontAlgn="base">
              <a:spcBef>
                <a:spcPts val="300"/>
              </a:spcBef>
            </a:pPr>
            <a:r>
              <a:rPr lang="en-US" altLang="ko-KR" sz="1600" dirty="0" smtClean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3.4</a:t>
            </a:r>
            <a:r>
              <a:rPr lang="ko-KR" altLang="en-US" sz="1600" dirty="0" smtClean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BTCECC/ETHECC </a:t>
            </a:r>
            <a:r>
              <a:rPr lang="ko-KR" altLang="en-US" sz="1600" dirty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평가 결과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9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당해 </a:t>
            </a:r>
            <a:r>
              <a:rPr lang="en-US" altLang="ko-KR" dirty="0"/>
              <a:t>(</a:t>
            </a:r>
            <a:r>
              <a:rPr lang="ko-KR" altLang="en-US" dirty="0" err="1"/>
              <a:t>연도〮단계</a:t>
            </a:r>
            <a:r>
              <a:rPr lang="en-US" altLang="ko-KR" dirty="0"/>
              <a:t>) </a:t>
            </a:r>
            <a:r>
              <a:rPr lang="ko-KR" altLang="en-US" dirty="0"/>
              <a:t>연구 개발 목표 및 결과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기술개발 </a:t>
            </a:r>
            <a:r>
              <a:rPr lang="ko-KR" altLang="en-US" dirty="0" smtClean="0"/>
              <a:t>내용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77CBAB-5ADB-4D0C-A5FF-A37A55E061F0}"/>
              </a:ext>
            </a:extLst>
          </p:cNvPr>
          <p:cNvSpPr/>
          <p:nvPr/>
        </p:nvSpPr>
        <p:spPr>
          <a:xfrm>
            <a:off x="343672" y="1015865"/>
            <a:ext cx="11519402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endParaRPr lang="en-US" altLang="ko-KR" sz="2000" b="1" dirty="0">
              <a:solidFill>
                <a:srgbClr val="0255B8"/>
              </a:solidFill>
              <a:latin typeface="+mj-lt"/>
            </a:endParaRPr>
          </a:p>
          <a:p>
            <a:pPr algn="ctr">
              <a:spcBef>
                <a:spcPts val="300"/>
              </a:spcBef>
              <a:defRPr/>
            </a:pPr>
            <a:r>
              <a:rPr lang="en-US" altLang="ko-KR" sz="2000" b="1" dirty="0" err="1">
                <a:solidFill>
                  <a:srgbClr val="0255B8"/>
                </a:solidFill>
                <a:latin typeface="+mj-lt"/>
              </a:rPr>
              <a:t>ECCPoW</a:t>
            </a:r>
            <a:r>
              <a:rPr lang="en-US" altLang="ko-KR" sz="2000" b="1" dirty="0">
                <a:solidFill>
                  <a:srgbClr val="0255B8"/>
                </a:solidFill>
                <a:latin typeface="+mj-lt"/>
              </a:rPr>
              <a:t> </a:t>
            </a:r>
            <a:r>
              <a:rPr lang="ko-KR" altLang="en-US" sz="2000" b="1" dirty="0">
                <a:solidFill>
                  <a:srgbClr val="0255B8"/>
                </a:solidFill>
                <a:latin typeface="+mj-lt"/>
              </a:rPr>
              <a:t>코어 버전 </a:t>
            </a:r>
            <a:r>
              <a:rPr lang="en-US" altLang="ko-KR" sz="2000" b="1" dirty="0">
                <a:solidFill>
                  <a:srgbClr val="0255B8"/>
                </a:solidFill>
                <a:latin typeface="+mj-lt"/>
              </a:rPr>
              <a:t>1.0 </a:t>
            </a:r>
            <a:r>
              <a:rPr lang="ko-KR" altLang="en-US" sz="2000" b="1" dirty="0">
                <a:solidFill>
                  <a:srgbClr val="0255B8"/>
                </a:solidFill>
                <a:latin typeface="+mj-lt"/>
              </a:rPr>
              <a:t>연구 및 개발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B8D0C7A-3BF3-469F-894C-CDEC1B4AE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83221"/>
              </p:ext>
            </p:extLst>
          </p:nvPr>
        </p:nvGraphicFramePr>
        <p:xfrm>
          <a:off x="334964" y="2229088"/>
          <a:ext cx="11528109" cy="3696311"/>
        </p:xfrm>
        <a:graphic>
          <a:graphicData uri="http://schemas.openxmlformats.org/drawingml/2006/table">
            <a:tbl>
              <a:tblPr firstRow="1" firstCol="1" bandRow="1"/>
              <a:tblGrid>
                <a:gridCol w="3030079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4249015">
                  <a:extLst>
                    <a:ext uri="{9D8B030D-6E8A-4147-A177-3AD203B41FA5}">
                      <a16:colId xmlns:a16="http://schemas.microsoft.com/office/drawing/2014/main" val="3134819482"/>
                    </a:ext>
                  </a:extLst>
                </a:gridCol>
                <a:gridCol w="4249015">
                  <a:extLst>
                    <a:ext uri="{9D8B030D-6E8A-4147-A177-3AD203B41FA5}">
                      <a16:colId xmlns:a16="http://schemas.microsoft.com/office/drawing/2014/main" val="600659448"/>
                    </a:ext>
                  </a:extLst>
                </a:gridCol>
              </a:tblGrid>
              <a:tr h="28747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세부 연구 목표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연구개발 수행 내용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연구 결과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5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255689"/>
                  </a:ext>
                </a:extLst>
              </a:tr>
              <a:tr h="113501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버전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1.0 </a:t>
                      </a: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개발 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매 블록마다 바뀌는 암호 퍼즐 생성 연구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매 블록마다 바뀌는 암호 퍼즐 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디코더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개발</a:t>
                      </a:r>
                    </a:p>
                  </a:txBody>
                  <a:tcPr marL="180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매 블록마다 바뀌는 암호 퍼즐 생성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디코더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개발 완료 </a:t>
                      </a:r>
                    </a:p>
                  </a:txBody>
                  <a:tcPr marL="180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113501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개발 및 기존의 암호화폐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비트코인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시스템에 적용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 생성 주기 제어 방법 연구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시스템 테스트 및 고도화</a:t>
                      </a:r>
                    </a:p>
                  </a:txBody>
                  <a:tcPr marL="180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 생성 주기 제어 방법 연구 및 </a:t>
                      </a: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구현 완료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시스템 테스트 및 고도화 완료</a:t>
                      </a:r>
                    </a:p>
                  </a:txBody>
                  <a:tcPr marL="180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042792"/>
                  </a:ext>
                </a:extLst>
              </a:tr>
              <a:tr h="113501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개발 및 기존의 암호화폐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1" kern="1200" dirty="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이더리움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시스템에 적용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go-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ethereum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패키지 연구 및 분석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합의 계층 내부구조 변경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공통 계층 최적화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응용 계층 개발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데이터 계층 개발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)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 생성 주기 제어 방법 연구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시스템 테스트 및 고도화</a:t>
                      </a:r>
                    </a:p>
                  </a:txBody>
                  <a:tcPr marL="180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go-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ethereum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에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ECCPoW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탑재 완료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블록 생성 주기 제어 방법 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구현 완료 시스템 테스트 및 고도화 완료</a:t>
                      </a:r>
                    </a:p>
                  </a:txBody>
                  <a:tcPr marL="180000" marR="0" marT="7200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035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5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20D1EB1A-9F4D-4086-9C15-B5AE91D12389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3C15EF-704E-4860-B02B-ABCD56F19BE5}"/>
              </a:ext>
            </a:extLst>
          </p:cNvPr>
          <p:cNvSpPr/>
          <p:nvPr/>
        </p:nvSpPr>
        <p:spPr>
          <a:xfrm>
            <a:off x="438868" y="1457352"/>
            <a:ext cx="11520000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부호</a:t>
            </a:r>
            <a:r>
              <a:rPr lang="en-US" altLang="ko-KR" dirty="0"/>
              <a:t>-</a:t>
            </a:r>
            <a:r>
              <a:rPr lang="ko-KR" altLang="en-US" dirty="0"/>
              <a:t>암호 작업증명 </a:t>
            </a:r>
            <a:r>
              <a:rPr lang="en-US" altLang="ko-KR" dirty="0"/>
              <a:t>(</a:t>
            </a:r>
            <a:r>
              <a:rPr lang="en-US" altLang="ko-KR" dirty="0" err="1"/>
              <a:t>ECCPoW</a:t>
            </a:r>
            <a:r>
              <a:rPr lang="en-US" altLang="ko-KR" dirty="0"/>
              <a:t>)</a:t>
            </a:r>
            <a:r>
              <a:rPr lang="ko-KR" altLang="en-US" dirty="0"/>
              <a:t> 정의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b="1" dirty="0">
                <a:solidFill>
                  <a:srgbClr val="0255B8"/>
                </a:solidFill>
              </a:rPr>
              <a:t>오류</a:t>
            </a:r>
            <a:r>
              <a:rPr lang="en-US" altLang="ko-KR" b="1" dirty="0">
                <a:solidFill>
                  <a:srgbClr val="0255B8"/>
                </a:solidFill>
              </a:rPr>
              <a:t> </a:t>
            </a:r>
            <a:r>
              <a:rPr lang="ko-KR" altLang="en-US" b="1" dirty="0">
                <a:solidFill>
                  <a:srgbClr val="0255B8"/>
                </a:solidFill>
              </a:rPr>
              <a:t>정정 부호와 작업증명을 동시에 사용</a:t>
            </a:r>
            <a:r>
              <a:rPr lang="ko-KR" altLang="en-US" dirty="0"/>
              <a:t>하여 </a:t>
            </a:r>
            <a:r>
              <a:rPr lang="ko-KR" altLang="en-US" dirty="0" err="1"/>
              <a:t>분산성</a:t>
            </a:r>
            <a:r>
              <a:rPr lang="en-US" altLang="ko-KR" dirty="0"/>
              <a:t>/</a:t>
            </a:r>
            <a:r>
              <a:rPr lang="ko-KR" altLang="en-US" dirty="0"/>
              <a:t>보안성을 확보하기 위해 개발된 작업증명 기술임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 err="1"/>
              <a:t>ECCPoW</a:t>
            </a:r>
            <a:r>
              <a:rPr lang="ko-KR" altLang="en-US" dirty="0"/>
              <a:t>은 매 블록마다 변하는 합성 함수를 사용함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>
              <a:spcBef>
                <a:spcPts val="500"/>
              </a:spcBef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/>
              <a:t>(</a:t>
            </a:r>
            <a:r>
              <a:rPr lang="ko-KR" altLang="en-US" b="1" dirty="0" err="1">
                <a:solidFill>
                  <a:srgbClr val="0255B8"/>
                </a:solidFill>
              </a:rPr>
              <a:t>시변성</a:t>
            </a:r>
            <a:r>
              <a:rPr lang="en-US" altLang="ko-KR" dirty="0"/>
              <a:t>) </a:t>
            </a:r>
            <a:r>
              <a:rPr lang="ko-KR" altLang="en-US" dirty="0"/>
              <a:t>패리티 체크 행렬을 매 블록 마다 변경함으로써</a:t>
            </a:r>
            <a:r>
              <a:rPr lang="en-US" altLang="ko-KR" dirty="0"/>
              <a:t>, </a:t>
            </a:r>
            <a:r>
              <a:rPr lang="ko-KR" altLang="en-US" dirty="0"/>
              <a:t>함성 함수를 매 블록 마다 변경 할 수 있음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/>
              <a:t>(</a:t>
            </a:r>
            <a:r>
              <a:rPr lang="ko-KR" altLang="en-US" b="1" dirty="0">
                <a:solidFill>
                  <a:srgbClr val="0255B8"/>
                </a:solidFill>
              </a:rPr>
              <a:t>무한성</a:t>
            </a:r>
            <a:r>
              <a:rPr lang="en-US" altLang="ko-KR" dirty="0"/>
              <a:t>) </a:t>
            </a:r>
            <a:r>
              <a:rPr lang="ko-KR" altLang="en-US" dirty="0"/>
              <a:t>무한히 많은 패리티 체크 행렬을 사용하면</a:t>
            </a:r>
            <a:r>
              <a:rPr lang="en-US" altLang="ko-KR" dirty="0"/>
              <a:t>, </a:t>
            </a:r>
            <a:r>
              <a:rPr lang="ko-KR" altLang="en-US" dirty="0"/>
              <a:t>무한히 많은 합성 함수를 생성 할 수 있음</a:t>
            </a:r>
            <a:r>
              <a:rPr lang="en-US" altLang="ko-KR" dirty="0"/>
              <a:t>.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부호 </a:t>
            </a:r>
            <a:r>
              <a:rPr lang="en-US" altLang="ko-KR" dirty="0"/>
              <a:t>– </a:t>
            </a:r>
            <a:r>
              <a:rPr lang="ko-KR" altLang="en-US" dirty="0"/>
              <a:t>암호 작업증명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3974BC1-1E3C-4569-A55A-3052DD2D3858}"/>
              </a:ext>
            </a:extLst>
          </p:cNvPr>
          <p:cNvGrpSpPr/>
          <p:nvPr/>
        </p:nvGrpSpPr>
        <p:grpSpPr>
          <a:xfrm>
            <a:off x="1976845" y="2750385"/>
            <a:ext cx="8473442" cy="2263314"/>
            <a:chOff x="1804700" y="2608609"/>
            <a:chExt cx="8817731" cy="2355277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201890C-5D31-402B-BE33-70328041F883}"/>
                </a:ext>
              </a:extLst>
            </p:cNvPr>
            <p:cNvSpPr/>
            <p:nvPr/>
          </p:nvSpPr>
          <p:spPr>
            <a:xfrm>
              <a:off x="2666358" y="3526972"/>
              <a:ext cx="6477642" cy="14369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A56943A-FD78-4374-8700-9F89C472F09D}"/>
                </a:ext>
              </a:extLst>
            </p:cNvPr>
            <p:cNvSpPr/>
            <p:nvPr/>
          </p:nvSpPr>
          <p:spPr>
            <a:xfrm>
              <a:off x="6741751" y="3884023"/>
              <a:ext cx="2178595" cy="770864"/>
            </a:xfrm>
            <a:prstGeom prst="rect">
              <a:avLst/>
            </a:prstGeom>
            <a:solidFill>
              <a:srgbClr val="0255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</a:rPr>
                <a:t>오류 정정 부호 </a:t>
              </a:r>
              <a:r>
                <a:rPr lang="ko-KR" altLang="en-US" sz="1400" dirty="0" err="1">
                  <a:solidFill>
                    <a:schemeClr val="bg1"/>
                  </a:solidFill>
                </a:rPr>
                <a:t>디코더</a:t>
              </a:r>
              <a:endParaRPr lang="en-US" altLang="ko-KR" sz="1400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chemeClr val="bg1"/>
                  </a:solidFill>
                </a:rPr>
                <a:t>e.g. LDPC </a:t>
              </a:r>
              <a:r>
                <a:rPr lang="ko-KR" altLang="en-US" sz="1400" dirty="0" err="1">
                  <a:solidFill>
                    <a:schemeClr val="bg1"/>
                  </a:solidFill>
                </a:rPr>
                <a:t>디코더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6B1140E-209C-428D-AE1B-7A5BBA6AF3F2}"/>
                </a:ext>
              </a:extLst>
            </p:cNvPr>
            <p:cNvSpPr/>
            <p:nvPr/>
          </p:nvSpPr>
          <p:spPr>
            <a:xfrm>
              <a:off x="2890014" y="3884023"/>
              <a:ext cx="2178595" cy="770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>
                  <a:solidFill>
                    <a:schemeClr val="bg1"/>
                  </a:solidFill>
                </a:rPr>
                <a:t>해쉬</a:t>
              </a:r>
              <a:r>
                <a:rPr lang="ko-KR" altLang="en-US" sz="1400" dirty="0">
                  <a:solidFill>
                    <a:schemeClr val="bg1"/>
                  </a:solidFill>
                </a:rPr>
                <a:t> 함수</a:t>
              </a:r>
              <a:endParaRPr lang="en-US" altLang="ko-KR" sz="1400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chemeClr val="bg1"/>
                  </a:solidFill>
                </a:rPr>
                <a:t>e.g., SHA256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2C58FE1-9E0B-4DCB-881C-8BEB351992FF}"/>
                </a:ext>
              </a:extLst>
            </p:cNvPr>
            <p:cNvCxnSpPr>
              <a:stCxn id="10" idx="3"/>
              <a:endCxn id="4" idx="1"/>
            </p:cNvCxnSpPr>
            <p:nvPr/>
          </p:nvCxnSpPr>
          <p:spPr>
            <a:xfrm>
              <a:off x="5068609" y="4269455"/>
              <a:ext cx="1673142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2A88CD0-ECD7-44BF-933B-55852EA25310}"/>
                </a:ext>
              </a:extLst>
            </p:cNvPr>
            <p:cNvCxnSpPr/>
            <p:nvPr/>
          </p:nvCxnSpPr>
          <p:spPr>
            <a:xfrm>
              <a:off x="1913558" y="4269455"/>
              <a:ext cx="976456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E4A7403F-B7B7-497C-9A38-5B4A4BA5F8A2}"/>
                </a:ext>
              </a:extLst>
            </p:cNvPr>
            <p:cNvCxnSpPr/>
            <p:nvPr/>
          </p:nvCxnSpPr>
          <p:spPr>
            <a:xfrm>
              <a:off x="8920346" y="4269455"/>
              <a:ext cx="976456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419D569-FF55-44AB-93E7-BC52ED70979A}"/>
                </a:ext>
              </a:extLst>
            </p:cNvPr>
            <p:cNvSpPr/>
            <p:nvPr/>
          </p:nvSpPr>
          <p:spPr>
            <a:xfrm>
              <a:off x="3093568" y="2608609"/>
              <a:ext cx="240963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dirty="0" err="1"/>
                <a:t>논스를</a:t>
              </a:r>
              <a:r>
                <a:rPr lang="ko-KR" altLang="en-US" sz="1400" dirty="0"/>
                <a:t> 제외한 블록 헤더 값</a:t>
              </a:r>
              <a:endParaRPr lang="en-US" altLang="ko-KR" sz="1400" dirty="0"/>
            </a:p>
            <a:p>
              <a:r>
                <a:rPr lang="en-US" altLang="ko-KR" sz="1400" dirty="0"/>
                <a:t>e.g., version, difficulty…</a:t>
              </a:r>
              <a:endParaRPr lang="ko-KR" altLang="en-US" sz="1400" dirty="0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7C078CBE-1A9C-434B-8C83-CDB3B02E21F2}"/>
                </a:ext>
              </a:extLst>
            </p:cNvPr>
            <p:cNvSpPr/>
            <p:nvPr/>
          </p:nvSpPr>
          <p:spPr>
            <a:xfrm>
              <a:off x="3092311" y="2656114"/>
              <a:ext cx="0" cy="1227909"/>
            </a:xfrm>
            <a:custGeom>
              <a:avLst/>
              <a:gdLst>
                <a:gd name="connsiteX0" fmla="*/ 0 w 0"/>
                <a:gd name="connsiteY0" fmla="*/ 1227909 h 1227909"/>
                <a:gd name="connsiteX1" fmla="*/ 0 w 0"/>
                <a:gd name="connsiteY1" fmla="*/ 0 h 122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227909">
                  <a:moveTo>
                    <a:pt x="0" y="122790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A766913-B7C0-4C7A-8BC5-03A9F858BAB7}"/>
                </a:ext>
              </a:extLst>
            </p:cNvPr>
            <p:cNvSpPr/>
            <p:nvPr/>
          </p:nvSpPr>
          <p:spPr>
            <a:xfrm>
              <a:off x="1804700" y="3941021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b="1"/>
                <a:t>논스</a:t>
              </a:r>
              <a:endParaRPr lang="ko-KR" altLang="en-US" sz="1400" b="1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D47D50D-3C3F-463F-AD2D-065AFA463A01}"/>
                </a:ext>
              </a:extLst>
            </p:cNvPr>
            <p:cNvSpPr/>
            <p:nvPr/>
          </p:nvSpPr>
          <p:spPr>
            <a:xfrm>
              <a:off x="5471407" y="4347110"/>
              <a:ext cx="86754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/>
                <a:t>해쉬</a:t>
              </a:r>
              <a:r>
                <a:rPr lang="ko-KR" altLang="en-US" sz="1400" b="1" dirty="0"/>
                <a:t> 값 </a:t>
              </a:r>
              <a:r>
                <a:rPr lang="en-US" altLang="ko-KR" sz="1400" b="1" dirty="0"/>
                <a:t>r</a:t>
              </a:r>
              <a:endParaRPr lang="ko-KR" altLang="en-US" sz="1400" b="1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B40D734-5F42-42BE-BCBA-765E68BDB7DA}"/>
                </a:ext>
              </a:extLst>
            </p:cNvPr>
            <p:cNvSpPr/>
            <p:nvPr/>
          </p:nvSpPr>
          <p:spPr>
            <a:xfrm>
              <a:off x="9164981" y="4347110"/>
              <a:ext cx="145745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/>
                <a:t>디코더</a:t>
              </a:r>
              <a:r>
                <a:rPr lang="ko-KR" altLang="en-US" sz="1400" b="1" dirty="0"/>
                <a:t> 출력 값 </a:t>
              </a:r>
              <a:r>
                <a:rPr lang="en-US" altLang="ko-KR" sz="1400" b="1" dirty="0"/>
                <a:t>c</a:t>
              </a:r>
              <a:endParaRPr lang="ko-KR" altLang="en-US" sz="1400" b="1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BC6E22C-F358-4CAE-BF82-FDC3508E3453}"/>
                </a:ext>
              </a:extLst>
            </p:cNvPr>
            <p:cNvSpPr/>
            <p:nvPr/>
          </p:nvSpPr>
          <p:spPr>
            <a:xfrm>
              <a:off x="6968882" y="2608609"/>
              <a:ext cx="167385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dirty="0"/>
                <a:t>패리티 체크 행렬 </a:t>
              </a:r>
              <a:r>
                <a:rPr lang="en-US" altLang="ko-KR" sz="1400" dirty="0"/>
                <a:t>H</a:t>
              </a:r>
              <a:endParaRPr lang="ko-KR" altLang="en-US" sz="1400" dirty="0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432F061-7164-4768-AC48-ED0618B9CA29}"/>
                </a:ext>
              </a:extLst>
            </p:cNvPr>
            <p:cNvSpPr/>
            <p:nvPr/>
          </p:nvSpPr>
          <p:spPr>
            <a:xfrm>
              <a:off x="6967625" y="2656114"/>
              <a:ext cx="0" cy="1227909"/>
            </a:xfrm>
            <a:custGeom>
              <a:avLst/>
              <a:gdLst>
                <a:gd name="connsiteX0" fmla="*/ 0 w 0"/>
                <a:gd name="connsiteY0" fmla="*/ 1227909 h 1227909"/>
                <a:gd name="connsiteX1" fmla="*/ 0 w 0"/>
                <a:gd name="connsiteY1" fmla="*/ 0 h 1227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227909">
                  <a:moveTo>
                    <a:pt x="0" y="1227909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triangle" w="lg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068A905-8A86-48B3-9133-10FD2BFEACC3}"/>
                </a:ext>
              </a:extLst>
            </p:cNvPr>
            <p:cNvSpPr/>
            <p:nvPr/>
          </p:nvSpPr>
          <p:spPr>
            <a:xfrm>
              <a:off x="5422516" y="3598173"/>
              <a:ext cx="96532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/>
                <a:t>합성 함수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128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부호 </a:t>
            </a:r>
            <a:r>
              <a:rPr lang="en-US" altLang="ko-KR" dirty="0"/>
              <a:t>– </a:t>
            </a:r>
            <a:r>
              <a:rPr lang="ko-KR" altLang="en-US" dirty="0"/>
              <a:t>암호 작업증명</a:t>
            </a:r>
            <a:r>
              <a:rPr lang="en-US" altLang="ko-KR" dirty="0"/>
              <a:t> _ 5</a:t>
            </a:r>
            <a:r>
              <a:rPr lang="ko-KR" altLang="en-US" dirty="0"/>
              <a:t>가지 특성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02FE22CD-B54B-4B38-8B76-B4EBBCD2A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342182"/>
              </p:ext>
            </p:extLst>
          </p:nvPr>
        </p:nvGraphicFramePr>
        <p:xfrm>
          <a:off x="334964" y="1268413"/>
          <a:ext cx="11528109" cy="3242626"/>
        </p:xfrm>
        <a:graphic>
          <a:graphicData uri="http://schemas.openxmlformats.org/drawingml/2006/table">
            <a:tbl>
              <a:tblPr firstRow="1" firstCol="1" bandRow="1"/>
              <a:tblGrid>
                <a:gridCol w="1779968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9748141">
                  <a:extLst>
                    <a:ext uri="{9D8B030D-6E8A-4147-A177-3AD203B41FA5}">
                      <a16:colId xmlns:a16="http://schemas.microsoft.com/office/drawing/2014/main" val="600659448"/>
                    </a:ext>
                  </a:extLst>
                </a:gridCol>
              </a:tblGrid>
              <a:tr h="5691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8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암호 퍼즐은 풀기 어려우나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반대로 검증은 쉬워야 함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5691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8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암호 퍼즐은 외부 공격으로부터 견고한 저항성을 가져야 함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760784"/>
                  </a:ext>
                </a:extLst>
              </a:tr>
              <a:tr h="5691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800" b="1" kern="120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풀린 암호 퍼즐의 정답은 재사용되지 않아야 함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72770"/>
                  </a:ext>
                </a:extLst>
              </a:tr>
              <a:tr h="5691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8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암호 퍼즐의 난이도는 조절 가능해야 함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711799"/>
                  </a:ext>
                </a:extLst>
              </a:tr>
              <a:tr h="96601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요건 </a:t>
                      </a:r>
                      <a:r>
                        <a:rPr lang="en-US" altLang="ko-KR" sz="18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8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1200" dirty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1" kern="1200" dirty="0" err="1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시변성</a:t>
                      </a:r>
                      <a:r>
                        <a:rPr lang="en-US" altLang="ko-KR" sz="1600" b="1" kern="1200" dirty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600" b="1" kern="1200" dirty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무한성</a:t>
                      </a:r>
                      <a:r>
                        <a:rPr lang="en-US" altLang="ko-KR" sz="1600" b="1" kern="1200" dirty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600" b="1" kern="1200" dirty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작업증명에 쓰이는 함수는 매 블록마다 변화하여 바꿀 수 있어야 함</a:t>
                      </a:r>
                      <a:r>
                        <a:rPr lang="en-US" altLang="ko-KR" sz="1600" b="1" kern="1200" dirty="0">
                          <a:solidFill>
                            <a:srgbClr val="0255B8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부연 설명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매 블록마다 패리티 체크 행렬이 변경됨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따라서 </a:t>
                      </a:r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디코더의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입력 값과 출력 값의 관계가 바뀌므로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합성 함수의 입력 값과 출력 값이 관계 또한 바뀜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작업증명에 사용되는 함수의 변경을 의미함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805427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D1E0FD-B5D2-4597-9810-F16440D2D81A}"/>
              </a:ext>
            </a:extLst>
          </p:cNvPr>
          <p:cNvSpPr/>
          <p:nvPr/>
        </p:nvSpPr>
        <p:spPr>
          <a:xfrm>
            <a:off x="343074" y="4818862"/>
            <a:ext cx="11520000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요건 </a:t>
            </a:r>
            <a:r>
              <a:rPr lang="en-US" altLang="ko-KR" dirty="0"/>
              <a:t>1 – 4</a:t>
            </a:r>
            <a:r>
              <a:rPr lang="ko-KR" altLang="en-US" dirty="0"/>
              <a:t>는 작업증명이라면 가져야 할 기본 요건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요건 </a:t>
            </a:r>
            <a:r>
              <a:rPr lang="en-US" altLang="ko-KR" dirty="0"/>
              <a:t>5</a:t>
            </a:r>
            <a:r>
              <a:rPr lang="ko-KR" altLang="en-US" dirty="0"/>
              <a:t>는 고유 특징으로써 시변성과 무한성을 뜻함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패리티 체크 행렬은 “블록 길이”</a:t>
            </a:r>
            <a:r>
              <a:rPr lang="en-US" altLang="ko-KR" dirty="0"/>
              <a:t>, “</a:t>
            </a:r>
            <a:r>
              <a:rPr lang="ko-KR" altLang="en-US" dirty="0"/>
              <a:t>부호 비율” 등을 변경함으로써 서로 다른 행렬들을 무한히 많이 생성 가능함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453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58BC51-AC4F-450A-B51C-76AB6596F31F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매 블록마다 바뀌는 암호 퍼즐 생성 </a:t>
            </a:r>
            <a:r>
              <a:rPr lang="en-US" altLang="ko-KR" dirty="0"/>
              <a:t>(1)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935E5D17-7C7F-4EF3-9020-1EA392396CB2}"/>
              </a:ext>
            </a:extLst>
          </p:cNvPr>
          <p:cNvGrpSpPr/>
          <p:nvPr/>
        </p:nvGrpSpPr>
        <p:grpSpPr>
          <a:xfrm>
            <a:off x="1057260" y="2939263"/>
            <a:ext cx="10058398" cy="2944949"/>
            <a:chOff x="2674850" y="1924594"/>
            <a:chExt cx="7183253" cy="2525486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A78DA76-EC29-434C-AA9F-BAF72F50AE31}"/>
                </a:ext>
              </a:extLst>
            </p:cNvPr>
            <p:cNvSpPr/>
            <p:nvPr/>
          </p:nvSpPr>
          <p:spPr>
            <a:xfrm>
              <a:off x="2674850" y="1924594"/>
              <a:ext cx="1897150" cy="813310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>
                  <a:solidFill>
                    <a:srgbClr val="0255B8"/>
                  </a:solidFill>
                </a:rPr>
                <a:t>블록 헤더</a:t>
              </a:r>
            </a:p>
            <a:p>
              <a:pPr algn="ctr"/>
              <a:r>
                <a:rPr lang="en-US" altLang="ko-KR" sz="1600" dirty="0">
                  <a:solidFill>
                    <a:srgbClr val="0255B8"/>
                  </a:solidFill>
                </a:rPr>
                <a:t>(version, previous hash value, </a:t>
              </a:r>
              <a:r>
                <a:rPr lang="en-US" altLang="ko-KR" sz="1600" dirty="0" err="1">
                  <a:solidFill>
                    <a:srgbClr val="0255B8"/>
                  </a:solidFill>
                </a:rPr>
                <a:t>merkle</a:t>
              </a:r>
              <a:r>
                <a:rPr lang="en-US" altLang="ko-KR" sz="1600" dirty="0">
                  <a:solidFill>
                    <a:srgbClr val="0255B8"/>
                  </a:solidFill>
                </a:rPr>
                <a:t> tree value ...)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03CFEA0-E25D-40F2-A1A9-3E2D713A89F0}"/>
                </a:ext>
              </a:extLst>
            </p:cNvPr>
            <p:cNvSpPr/>
            <p:nvPr/>
          </p:nvSpPr>
          <p:spPr>
            <a:xfrm>
              <a:off x="5535687" y="2987040"/>
              <a:ext cx="2194086" cy="813310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bg1"/>
                  </a:solidFill>
                </a:rPr>
                <a:t>패리티 체크 행렬 생성 부분</a:t>
              </a: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</a:rPr>
                <a:t>입력 </a:t>
              </a:r>
              <a:r>
                <a:rPr lang="en-US" altLang="ko-KR" sz="1600" dirty="0">
                  <a:solidFill>
                    <a:schemeClr val="bg1"/>
                  </a:solidFill>
                </a:rPr>
                <a:t>: </a:t>
              </a:r>
              <a:r>
                <a:rPr lang="ko-KR" altLang="en-US" sz="1600" dirty="0">
                  <a:solidFill>
                    <a:schemeClr val="bg1"/>
                  </a:solidFill>
                </a:rPr>
                <a:t>이전 </a:t>
              </a:r>
              <a:r>
                <a:rPr lang="ko-KR" altLang="en-US" sz="1600" dirty="0" err="1">
                  <a:solidFill>
                    <a:schemeClr val="bg1"/>
                  </a:solidFill>
                </a:rPr>
                <a:t>해쉬</a:t>
              </a:r>
              <a:r>
                <a:rPr lang="ko-KR" altLang="en-US" sz="1600" dirty="0">
                  <a:solidFill>
                    <a:schemeClr val="bg1"/>
                  </a:solidFill>
                </a:rPr>
                <a:t> 값</a:t>
              </a:r>
              <a:r>
                <a:rPr lang="en-US" altLang="ko-KR" sz="1600" dirty="0">
                  <a:solidFill>
                    <a:schemeClr val="bg1"/>
                  </a:solidFill>
                </a:rPr>
                <a:t>, </a:t>
              </a:r>
              <a:r>
                <a:rPr lang="ko-KR" altLang="en-US" sz="1600" dirty="0">
                  <a:solidFill>
                    <a:schemeClr val="bg1"/>
                  </a:solidFill>
                </a:rPr>
                <a:t>난이도</a:t>
              </a:r>
            </a:p>
            <a:p>
              <a:pPr algn="ctr"/>
              <a:r>
                <a:rPr lang="ko-KR" altLang="en-US" sz="1600" dirty="0">
                  <a:solidFill>
                    <a:schemeClr val="bg1"/>
                  </a:solidFill>
                </a:rPr>
                <a:t>출력 </a:t>
              </a:r>
              <a:r>
                <a:rPr lang="en-US" altLang="ko-KR" sz="1600" dirty="0">
                  <a:solidFill>
                    <a:schemeClr val="bg1"/>
                  </a:solidFill>
                </a:rPr>
                <a:t>: </a:t>
              </a:r>
              <a:r>
                <a:rPr lang="ko-KR" altLang="en-US" sz="1600" dirty="0" err="1">
                  <a:solidFill>
                    <a:schemeClr val="bg1"/>
                  </a:solidFill>
                </a:rPr>
                <a:t>패리치</a:t>
              </a:r>
              <a:r>
                <a:rPr lang="ko-KR" altLang="en-US" sz="1600" dirty="0">
                  <a:solidFill>
                    <a:schemeClr val="bg1"/>
                  </a:solidFill>
                </a:rPr>
                <a:t> 체크 행렬 </a:t>
              </a:r>
              <a:r>
                <a:rPr lang="en-US" altLang="ko-KR" sz="1600" dirty="0">
                  <a:solidFill>
                    <a:schemeClr val="bg1"/>
                  </a:solidFill>
                </a:rPr>
                <a:t>H</a:t>
              </a:r>
              <a:endParaRPr lang="en-US" altLang="ko-KR" dirty="0">
                <a:solidFill>
                  <a:schemeClr val="bg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D1A8B28-23E4-4783-9517-CF97EE7B9051}"/>
                </a:ext>
              </a:extLst>
            </p:cNvPr>
            <p:cNvSpPr/>
            <p:nvPr/>
          </p:nvSpPr>
          <p:spPr>
            <a:xfrm>
              <a:off x="8693459" y="2987040"/>
              <a:ext cx="1164644" cy="813310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bg1"/>
                  </a:solidFill>
                </a:rPr>
                <a:t>난이도</a:t>
              </a:r>
              <a:endParaRPr lang="en-US" altLang="ko-KR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sz="1600" b="1" dirty="0">
                  <a:solidFill>
                    <a:schemeClr val="bg1"/>
                  </a:solidFill>
                </a:rPr>
                <a:t>조절 장치</a:t>
              </a:r>
              <a:endParaRPr lang="en-US" altLang="ko-KR" dirty="0">
                <a:solidFill>
                  <a:schemeClr val="bg1"/>
                </a:solidFill>
              </a:endParaRPr>
            </a:p>
          </p:txBody>
        </p:sp>
        <p:cxnSp>
          <p:nvCxnSpPr>
            <p:cNvPr id="4" name="연결선: 꺾임 3">
              <a:extLst>
                <a:ext uri="{FF2B5EF4-FFF2-40B4-BE49-F238E27FC236}">
                  <a16:creationId xmlns:a16="http://schemas.microsoft.com/office/drawing/2014/main" id="{FE5D0B6F-FDAA-459D-8DC6-A8C702A89D00}"/>
                </a:ext>
              </a:extLst>
            </p:cNvPr>
            <p:cNvCxnSpPr>
              <a:cxnSpLocks/>
              <a:stCxn id="46" idx="2"/>
              <a:endCxn id="49" idx="1"/>
            </p:cNvCxnSpPr>
            <p:nvPr/>
          </p:nvCxnSpPr>
          <p:spPr>
            <a:xfrm rot="16200000" flipH="1">
              <a:off x="4251661" y="2109668"/>
              <a:ext cx="655791" cy="1912262"/>
            </a:xfrm>
            <a:prstGeom prst="bentConnector2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6411B497-CF5D-4093-97D7-5BBC68175A2C}"/>
                </a:ext>
              </a:extLst>
            </p:cNvPr>
            <p:cNvCxnSpPr>
              <a:cxnSpLocks/>
              <a:stCxn id="50" idx="1"/>
              <a:endCxn id="49" idx="3"/>
            </p:cNvCxnSpPr>
            <p:nvPr/>
          </p:nvCxnSpPr>
          <p:spPr>
            <a:xfrm flipH="1">
              <a:off x="7729773" y="3393695"/>
              <a:ext cx="963686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연결선: 꺾임 52">
              <a:extLst>
                <a:ext uri="{FF2B5EF4-FFF2-40B4-BE49-F238E27FC236}">
                  <a16:creationId xmlns:a16="http://schemas.microsoft.com/office/drawing/2014/main" id="{A86BF4BC-43BB-410F-A363-B1A9542EB347}"/>
                </a:ext>
              </a:extLst>
            </p:cNvPr>
            <p:cNvCxnSpPr>
              <a:cxnSpLocks/>
              <a:stCxn id="46" idx="3"/>
              <a:endCxn id="50" idx="0"/>
            </p:cNvCxnSpPr>
            <p:nvPr/>
          </p:nvCxnSpPr>
          <p:spPr>
            <a:xfrm>
              <a:off x="4572000" y="2331249"/>
              <a:ext cx="4703781" cy="655791"/>
            </a:xfrm>
            <a:prstGeom prst="bentConnector2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FAAC7F4-2C26-4305-B65C-20E25D90AF9B}"/>
                </a:ext>
              </a:extLst>
            </p:cNvPr>
            <p:cNvSpPr/>
            <p:nvPr/>
          </p:nvSpPr>
          <p:spPr>
            <a:xfrm>
              <a:off x="7269727" y="1954494"/>
              <a:ext cx="2094805" cy="3167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b="1" dirty="0"/>
                <a:t>현재 블록 높이 </a:t>
              </a:r>
              <a:r>
                <a:rPr lang="en-US" altLang="ko-KR" b="1" dirty="0"/>
                <a:t>(Block Height)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8B35063-D71B-4EA7-99D6-73FE0FDFD311}"/>
                </a:ext>
              </a:extLst>
            </p:cNvPr>
            <p:cNvSpPr/>
            <p:nvPr/>
          </p:nvSpPr>
          <p:spPr>
            <a:xfrm>
              <a:off x="3528703" y="3487203"/>
              <a:ext cx="1543492" cy="5542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/>
                <a:t>이전 </a:t>
              </a:r>
              <a:r>
                <a:rPr lang="ko-KR" altLang="en-US" b="1" dirty="0" err="1"/>
                <a:t>해쉬</a:t>
              </a:r>
              <a:r>
                <a:rPr lang="ko-KR" altLang="en-US" b="1" dirty="0"/>
                <a:t> 값 </a:t>
              </a:r>
            </a:p>
            <a:p>
              <a:r>
                <a:rPr lang="en-US" altLang="ko-KR" b="1" dirty="0"/>
                <a:t>(Previous Hash Value)</a:t>
              </a:r>
            </a:p>
          </p:txBody>
        </p:sp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29C1683C-C063-4B8F-B548-610FCCC63DF5}"/>
                </a:ext>
              </a:extLst>
            </p:cNvPr>
            <p:cNvSpPr/>
            <p:nvPr/>
          </p:nvSpPr>
          <p:spPr>
            <a:xfrm>
              <a:off x="6635931" y="3840480"/>
              <a:ext cx="0" cy="609600"/>
            </a:xfrm>
            <a:custGeom>
              <a:avLst/>
              <a:gdLst>
                <a:gd name="connsiteX0" fmla="*/ 0 w 0"/>
                <a:gd name="connsiteY0" fmla="*/ 0 h 609600"/>
                <a:gd name="connsiteX1" fmla="*/ 0 w 0"/>
                <a:gd name="connsiteY1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BBC0F81-A230-42CD-9CC6-254F20136978}"/>
                </a:ext>
              </a:extLst>
            </p:cNvPr>
            <p:cNvSpPr/>
            <p:nvPr/>
          </p:nvSpPr>
          <p:spPr>
            <a:xfrm>
              <a:off x="6935163" y="3931339"/>
              <a:ext cx="1436591" cy="3167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b="1" dirty="0"/>
                <a:t>패리티 체크 행렬 </a:t>
              </a:r>
              <a:r>
                <a:rPr lang="en-US" altLang="ko-KR" b="1" dirty="0"/>
                <a:t>H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4D9033D-EB86-4E51-992B-CE199F2E7062}"/>
                </a:ext>
              </a:extLst>
            </p:cNvPr>
            <p:cNvSpPr/>
            <p:nvPr/>
          </p:nvSpPr>
          <p:spPr>
            <a:xfrm>
              <a:off x="7912307" y="3059777"/>
              <a:ext cx="598616" cy="3167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b="1"/>
                <a:t>난이도</a:t>
              </a:r>
              <a:endParaRPr lang="en-US" altLang="ko-KR" b="1" dirty="0"/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611E2C0-846F-40AD-9730-980A69E7A6E8}"/>
              </a:ext>
            </a:extLst>
          </p:cNvPr>
          <p:cNvSpPr/>
          <p:nvPr/>
        </p:nvSpPr>
        <p:spPr>
          <a:xfrm>
            <a:off x="438868" y="1457352"/>
            <a:ext cx="11520000" cy="710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난이도는 “블록 길이” 및 “부호의 </a:t>
            </a:r>
            <a:r>
              <a:rPr lang="ko-KR" altLang="en-US" dirty="0" err="1"/>
              <a:t>비율”을</a:t>
            </a:r>
            <a:r>
              <a:rPr lang="ko-KR" altLang="en-US" dirty="0"/>
              <a:t> 결정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이전 </a:t>
            </a:r>
            <a:r>
              <a:rPr lang="ko-KR" altLang="en-US" dirty="0" err="1"/>
              <a:t>해쉬</a:t>
            </a:r>
            <a:r>
              <a:rPr lang="ko-KR" altLang="en-US" dirty="0"/>
              <a:t> 값을 이용해 </a:t>
            </a:r>
            <a:r>
              <a:rPr lang="en-US" altLang="ko-KR" dirty="0" err="1"/>
              <a:t>Gallager</a:t>
            </a:r>
            <a:r>
              <a:rPr lang="en-US" altLang="ko-KR" dirty="0"/>
              <a:t> </a:t>
            </a:r>
            <a:r>
              <a:rPr lang="ko-KR" altLang="en-US"/>
              <a:t>생성 방법의 </a:t>
            </a:r>
            <a:r>
              <a:rPr lang="ko-KR" altLang="en-US" dirty="0"/>
              <a:t>순열 순서를 결정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063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B78CDA55-F257-4BCD-A108-9787E4F4A6D3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7B27E86-437D-4F48-8A3D-E66D261F034C}"/>
              </a:ext>
            </a:extLst>
          </p:cNvPr>
          <p:cNvSpPr/>
          <p:nvPr/>
        </p:nvSpPr>
        <p:spPr>
          <a:xfrm>
            <a:off x="438868" y="1457352"/>
            <a:ext cx="115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오류 정정 부호 </a:t>
            </a:r>
            <a:r>
              <a:rPr lang="ko-KR" altLang="en-US" dirty="0" err="1"/>
              <a:t>디코더</a:t>
            </a:r>
            <a:r>
              <a:rPr lang="ko-KR" altLang="en-US" dirty="0"/>
              <a:t> 입력 값 생성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매 블록마다 바뀌는 암호 퍼즐 </a:t>
            </a:r>
            <a:r>
              <a:rPr lang="ko-KR" altLang="en-US" dirty="0" err="1"/>
              <a:t>디코더</a:t>
            </a:r>
            <a:r>
              <a:rPr lang="ko-KR" altLang="en-US" dirty="0"/>
              <a:t> 개발 </a:t>
            </a:r>
            <a:r>
              <a:rPr lang="en-US" altLang="ko-KR" dirty="0"/>
              <a:t>(1)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F5F6A314-E155-4358-AE42-E15D3C742CB3}"/>
              </a:ext>
            </a:extLst>
          </p:cNvPr>
          <p:cNvGrpSpPr/>
          <p:nvPr/>
        </p:nvGrpSpPr>
        <p:grpSpPr>
          <a:xfrm>
            <a:off x="1057260" y="2745213"/>
            <a:ext cx="10085926" cy="2389173"/>
            <a:chOff x="1057260" y="2965147"/>
            <a:chExt cx="10085926" cy="2111082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1496055-DE08-43B0-B86A-F494FA92AFE1}"/>
                </a:ext>
              </a:extLst>
            </p:cNvPr>
            <p:cNvSpPr/>
            <p:nvPr/>
          </p:nvSpPr>
          <p:spPr>
            <a:xfrm>
              <a:off x="1057260" y="4344285"/>
              <a:ext cx="1637498" cy="675693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 err="1">
                  <a:solidFill>
                    <a:srgbClr val="0255B8"/>
                  </a:solidFill>
                </a:rPr>
                <a:t>논스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 </a:t>
              </a:r>
              <a:r>
                <a:rPr lang="ko-KR" altLang="en-US" sz="1600" b="1" dirty="0" err="1">
                  <a:solidFill>
                    <a:srgbClr val="0255B8"/>
                  </a:solidFill>
                </a:rPr>
                <a:t>생성기</a:t>
              </a:r>
              <a:endParaRPr lang="ko-KR" altLang="en-US" sz="1600" b="1" dirty="0">
                <a:solidFill>
                  <a:srgbClr val="0255B8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rgbClr val="0255B8"/>
                  </a:solidFill>
                </a:rPr>
                <a:t>(Nonce Generator)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3C942C1-8EF2-40A1-BEAC-905041D2EED9}"/>
                </a:ext>
              </a:extLst>
            </p:cNvPr>
            <p:cNvSpPr/>
            <p:nvPr/>
          </p:nvSpPr>
          <p:spPr>
            <a:xfrm>
              <a:off x="6808669" y="4344285"/>
              <a:ext cx="2449532" cy="675693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bg1"/>
                  </a:solidFill>
                </a:rPr>
                <a:t>오류 정정 부호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디코더</a:t>
              </a:r>
              <a:endParaRPr lang="en-US" altLang="ko-KR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bg1"/>
                  </a:solidFill>
                </a:rPr>
                <a:t>입력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: H, r / </a:t>
              </a:r>
              <a:r>
                <a:rPr lang="ko-KR" altLang="en-US" sz="1400" b="1" dirty="0">
                  <a:solidFill>
                    <a:schemeClr val="bg1"/>
                  </a:solidFill>
                </a:rPr>
                <a:t>출력 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: c</a:t>
              </a:r>
              <a:endParaRPr lang="en-US" altLang="ko-KR" sz="1600" dirty="0">
                <a:solidFill>
                  <a:schemeClr val="bg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C3AC94E8-C3E0-4000-9683-3F035A74F0A2}"/>
                </a:ext>
              </a:extLst>
            </p:cNvPr>
            <p:cNvSpPr/>
            <p:nvPr/>
          </p:nvSpPr>
          <p:spPr>
            <a:xfrm>
              <a:off x="2839921" y="4737675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600" b="1" dirty="0" err="1"/>
                <a:t>논스</a:t>
              </a:r>
              <a:endParaRPr lang="ko-KR" altLang="en-US" sz="1600" b="1" dirty="0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B0426FBB-CE6D-4CAE-BD3C-85732A6B06F7}"/>
                </a:ext>
              </a:extLst>
            </p:cNvPr>
            <p:cNvSpPr/>
            <p:nvPr/>
          </p:nvSpPr>
          <p:spPr>
            <a:xfrm>
              <a:off x="3574952" y="4344285"/>
              <a:ext cx="1637498" cy="675693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 err="1">
                  <a:solidFill>
                    <a:srgbClr val="0255B8"/>
                  </a:solidFill>
                </a:rPr>
                <a:t>해쉬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 알고리즘</a:t>
              </a:r>
              <a:r>
                <a:rPr lang="en-US" altLang="ko-KR" sz="1600" b="1" dirty="0">
                  <a:solidFill>
                    <a:srgbClr val="0255B8"/>
                  </a:solidFill>
                </a:rPr>
                <a:t>, </a:t>
              </a:r>
            </a:p>
            <a:p>
              <a:pPr algn="ctr"/>
              <a:r>
                <a:rPr lang="en-US" altLang="ko-KR" sz="1600" b="1" dirty="0">
                  <a:solidFill>
                    <a:srgbClr val="0255B8"/>
                  </a:solidFill>
                </a:rPr>
                <a:t>e.g., SHA256</a:t>
              </a: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52D92A5-A659-40CC-978F-00EC012936CB}"/>
                </a:ext>
              </a:extLst>
            </p:cNvPr>
            <p:cNvCxnSpPr>
              <a:stCxn id="43" idx="3"/>
              <a:endCxn id="54" idx="1"/>
            </p:cNvCxnSpPr>
            <p:nvPr/>
          </p:nvCxnSpPr>
          <p:spPr>
            <a:xfrm>
              <a:off x="2694758" y="4682131"/>
              <a:ext cx="880194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62E41A45-7D6E-4249-9CF7-A23D963A9838}"/>
                </a:ext>
              </a:extLst>
            </p:cNvPr>
            <p:cNvCxnSpPr>
              <a:stCxn id="54" idx="3"/>
              <a:endCxn id="44" idx="1"/>
            </p:cNvCxnSpPr>
            <p:nvPr/>
          </p:nvCxnSpPr>
          <p:spPr>
            <a:xfrm>
              <a:off x="5212449" y="4682131"/>
              <a:ext cx="1596219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A869DD9A-5E20-4332-B22E-815F6745B181}"/>
                </a:ext>
              </a:extLst>
            </p:cNvPr>
            <p:cNvCxnSpPr/>
            <p:nvPr/>
          </p:nvCxnSpPr>
          <p:spPr>
            <a:xfrm>
              <a:off x="9263387" y="4682131"/>
              <a:ext cx="1800000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41703C-3D3F-465B-8FB8-62B1E8BA80A3}"/>
                </a:ext>
              </a:extLst>
            </p:cNvPr>
            <p:cNvSpPr/>
            <p:nvPr/>
          </p:nvSpPr>
          <p:spPr>
            <a:xfrm>
              <a:off x="5303656" y="4737675"/>
              <a:ext cx="1423788" cy="2991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1600" b="1" dirty="0" err="1"/>
                <a:t>해쉬</a:t>
              </a:r>
              <a:r>
                <a:rPr lang="ko-KR" altLang="en-US" sz="1600" b="1" dirty="0"/>
                <a:t> 출력 값 </a:t>
              </a:r>
              <a:r>
                <a:rPr lang="en-US" altLang="ko-KR" sz="1600" b="1" dirty="0"/>
                <a:t>r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3E0BD85-5201-4792-A79B-8A8E4DDCF151}"/>
                </a:ext>
              </a:extLst>
            </p:cNvPr>
            <p:cNvSpPr/>
            <p:nvPr/>
          </p:nvSpPr>
          <p:spPr>
            <a:xfrm>
              <a:off x="9443682" y="4737675"/>
              <a:ext cx="169950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600" b="1" dirty="0" err="1"/>
                <a:t>디코더</a:t>
              </a:r>
              <a:r>
                <a:rPr lang="ko-KR" altLang="en-US" sz="1600" b="1" dirty="0"/>
                <a:t> 출력 값 𝐜 ̂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FB9C731F-BC2B-4B44-BFBE-392B4BE187F5}"/>
                </a:ext>
              </a:extLst>
            </p:cNvPr>
            <p:cNvSpPr/>
            <p:nvPr/>
          </p:nvSpPr>
          <p:spPr>
            <a:xfrm>
              <a:off x="7231188" y="2965147"/>
              <a:ext cx="18886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 dirty="0"/>
                <a:t>패리티 체크 행렬 </a:t>
              </a:r>
              <a:r>
                <a:rPr lang="en-US" altLang="ko-KR" sz="1600" dirty="0"/>
                <a:t>H</a:t>
              </a:r>
              <a:endParaRPr lang="ko-KR" altLang="en-US" sz="1600" dirty="0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D585FC54-E9A2-4165-9364-9348E1BAD1F3}"/>
                </a:ext>
              </a:extLst>
            </p:cNvPr>
            <p:cNvSpPr/>
            <p:nvPr/>
          </p:nvSpPr>
          <p:spPr>
            <a:xfrm>
              <a:off x="4110277" y="2965147"/>
              <a:ext cx="2658100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 dirty="0" err="1"/>
                <a:t>논스를</a:t>
              </a:r>
              <a:r>
                <a:rPr lang="ko-KR" altLang="en-US" sz="1600" dirty="0"/>
                <a:t> 제외한 블록 헤더</a:t>
              </a:r>
              <a:endParaRPr lang="en-US" altLang="ko-KR" sz="1600" dirty="0"/>
            </a:p>
            <a:p>
              <a:r>
                <a:rPr lang="en-US" altLang="ko-KR" sz="1600" dirty="0"/>
                <a:t>(version, previous hash value,</a:t>
              </a:r>
            </a:p>
            <a:p>
              <a:r>
                <a:rPr lang="en-US" altLang="ko-KR" sz="1600" dirty="0" err="1"/>
                <a:t>merkle</a:t>
              </a:r>
              <a:r>
                <a:rPr lang="en-US" altLang="ko-KR" sz="1600" dirty="0"/>
                <a:t> tree value ...)</a:t>
              </a:r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2123321D-E631-4B68-AF69-6D021B0213B1}"/>
                </a:ext>
              </a:extLst>
            </p:cNvPr>
            <p:cNvGrpSpPr/>
            <p:nvPr/>
          </p:nvGrpSpPr>
          <p:grpSpPr>
            <a:xfrm>
              <a:off x="4027594" y="3004614"/>
              <a:ext cx="3120911" cy="1339666"/>
              <a:chOff x="3815122" y="1619794"/>
              <a:chExt cx="2795452" cy="1227909"/>
            </a:xfrm>
          </p:grpSpPr>
          <p:sp>
            <p:nvSpPr>
              <p:cNvPr id="65" name="자유형: 도형 64">
                <a:extLst>
                  <a:ext uri="{FF2B5EF4-FFF2-40B4-BE49-F238E27FC236}">
                    <a16:creationId xmlns:a16="http://schemas.microsoft.com/office/drawing/2014/main" id="{2CD3A0C1-4E07-44AB-93D0-A17D218748B8}"/>
                  </a:ext>
                </a:extLst>
              </p:cNvPr>
              <p:cNvSpPr/>
              <p:nvPr/>
            </p:nvSpPr>
            <p:spPr>
              <a:xfrm>
                <a:off x="6610574" y="1619794"/>
                <a:ext cx="0" cy="1227909"/>
              </a:xfrm>
              <a:custGeom>
                <a:avLst/>
                <a:gdLst>
                  <a:gd name="connsiteX0" fmla="*/ 0 w 0"/>
                  <a:gd name="connsiteY0" fmla="*/ 1227909 h 1227909"/>
                  <a:gd name="connsiteX1" fmla="*/ 0 w 0"/>
                  <a:gd name="connsiteY1" fmla="*/ 0 h 1227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1227909">
                    <a:moveTo>
                      <a:pt x="0" y="1227909"/>
                    </a:moveTo>
                    <a:lnTo>
                      <a:pt x="0" y="0"/>
                    </a:lnTo>
                  </a:path>
                </a:pathLst>
              </a:cu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headEnd type="triangle" w="lg" len="lg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4B65F6F9-8570-4472-A665-89379393DBA4}"/>
                  </a:ext>
                </a:extLst>
              </p:cNvPr>
              <p:cNvSpPr/>
              <p:nvPr/>
            </p:nvSpPr>
            <p:spPr>
              <a:xfrm>
                <a:off x="3815122" y="1619794"/>
                <a:ext cx="0" cy="1227909"/>
              </a:xfrm>
              <a:custGeom>
                <a:avLst/>
                <a:gdLst>
                  <a:gd name="connsiteX0" fmla="*/ 0 w 0"/>
                  <a:gd name="connsiteY0" fmla="*/ 1227909 h 1227909"/>
                  <a:gd name="connsiteX1" fmla="*/ 0 w 0"/>
                  <a:gd name="connsiteY1" fmla="*/ 0 h 1227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1227909">
                    <a:moveTo>
                      <a:pt x="0" y="1227909"/>
                    </a:moveTo>
                    <a:lnTo>
                      <a:pt x="0" y="0"/>
                    </a:lnTo>
                  </a:path>
                </a:pathLst>
              </a:custGeom>
              <a:ln w="19050">
                <a:solidFill>
                  <a:schemeClr val="tx1">
                    <a:lumMod val="95000"/>
                    <a:lumOff val="5000"/>
                  </a:schemeClr>
                </a:solidFill>
                <a:headEnd type="triangle" w="lg" len="lg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0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676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DFE9199-C70D-4A28-9369-B3E93B5DFB7C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EEA4D3E-CBA8-40F9-846E-D7E04986DD19}"/>
              </a:ext>
            </a:extLst>
          </p:cNvPr>
          <p:cNvSpPr/>
          <p:nvPr/>
        </p:nvSpPr>
        <p:spPr>
          <a:xfrm>
            <a:off x="438868" y="1457352"/>
            <a:ext cx="115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오류 정정 부호 </a:t>
            </a:r>
            <a:r>
              <a:rPr lang="ko-KR" altLang="en-US" dirty="0" err="1"/>
              <a:t>디코더</a:t>
            </a:r>
            <a:r>
              <a:rPr lang="ko-KR" altLang="en-US" dirty="0"/>
              <a:t> 입력 값 생성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매 블록마다 바뀌는 암호 퍼즐 </a:t>
            </a:r>
            <a:r>
              <a:rPr lang="ko-KR" altLang="en-US" dirty="0" err="1"/>
              <a:t>디코더</a:t>
            </a:r>
            <a:r>
              <a:rPr lang="ko-KR" altLang="en-US" dirty="0"/>
              <a:t> 개발 </a:t>
            </a:r>
            <a:r>
              <a:rPr lang="en-US" altLang="ko-KR" dirty="0"/>
              <a:t>(2)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sp>
        <p:nvSpPr>
          <p:cNvPr id="23" name="모서리가 둥근 직사각형 26">
            <a:extLst>
              <a:ext uri="{FF2B5EF4-FFF2-40B4-BE49-F238E27FC236}">
                <a16:creationId xmlns:a16="http://schemas.microsoft.com/office/drawing/2014/main" id="{D4FE7FCD-F7AB-4410-A98B-A9193A33942B}"/>
              </a:ext>
            </a:extLst>
          </p:cNvPr>
          <p:cNvSpPr/>
          <p:nvPr/>
        </p:nvSpPr>
        <p:spPr>
          <a:xfrm>
            <a:off x="1472766" y="2572788"/>
            <a:ext cx="8002160" cy="160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94C30E-2192-4FBB-BC2F-0CE3F97A5E4D}"/>
              </a:ext>
            </a:extLst>
          </p:cNvPr>
          <p:cNvSpPr txBox="1"/>
          <p:nvPr/>
        </p:nvSpPr>
        <p:spPr>
          <a:xfrm>
            <a:off x="2669311" y="3737972"/>
            <a:ext cx="827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N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개의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변수노드</a:t>
            </a:r>
            <a:endParaRPr kumimoji="0" lang="ko-KR" altLang="en-US" sz="10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539933-4282-413E-9BDC-D9BFE48867C3}"/>
              </a:ext>
            </a:extLst>
          </p:cNvPr>
          <p:cNvSpPr txBox="1"/>
          <p:nvPr/>
        </p:nvSpPr>
        <p:spPr>
          <a:xfrm>
            <a:off x="2669311" y="2804128"/>
            <a:ext cx="870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m</a:t>
            </a:r>
            <a:r>
              <a:rPr kumimoji="0" lang="ko-KR" altLang="en-US" sz="1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개의 체크 </a:t>
            </a:r>
            <a:r>
              <a:rPr kumimoji="0" lang="ko-KR" altLang="en-US" sz="1000" b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노드</a:t>
            </a:r>
            <a:endParaRPr kumimoji="0" lang="ko-KR" altLang="en-US" sz="1000" b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0271ED-A4EC-4189-BECB-609943B172BE}"/>
              </a:ext>
            </a:extLst>
          </p:cNvPr>
          <p:cNvSpPr txBox="1"/>
          <p:nvPr/>
        </p:nvSpPr>
        <p:spPr>
          <a:xfrm>
            <a:off x="2776334" y="2630533"/>
            <a:ext cx="5116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오류 정정 부호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디코더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27" name="개체 26">
            <a:extLst>
              <a:ext uri="{FF2B5EF4-FFF2-40B4-BE49-F238E27FC236}">
                <a16:creationId xmlns:a16="http://schemas.microsoft.com/office/drawing/2014/main" id="{9AEBDD66-379C-4A92-954E-10527E6C48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732364"/>
              </p:ext>
            </p:extLst>
          </p:nvPr>
        </p:nvGraphicFramePr>
        <p:xfrm>
          <a:off x="4953218" y="3847475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4" name="Equation" r:id="rId3" imgW="457200" imgH="215640" progId="Equation.DSMT4">
                  <p:embed/>
                </p:oleObj>
              </mc:Choice>
              <mc:Fallback>
                <p:oleObj name="Equation" r:id="rId3" imgW="457200" imgH="215640" progId="Equation.DSMT4">
                  <p:embed/>
                  <p:pic>
                    <p:nvPicPr>
                      <p:cNvPr id="31" name="개체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218" y="3847475"/>
                        <a:ext cx="272571" cy="12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개체 27">
            <a:extLst>
              <a:ext uri="{FF2B5EF4-FFF2-40B4-BE49-F238E27FC236}">
                <a16:creationId xmlns:a16="http://schemas.microsoft.com/office/drawing/2014/main" id="{78D771F5-14B3-4B68-9995-A99E34ACB8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893946"/>
              </p:ext>
            </p:extLst>
          </p:nvPr>
        </p:nvGraphicFramePr>
        <p:xfrm>
          <a:off x="5458005" y="3847475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5" name="Equation" r:id="rId5" imgW="457200" imgH="215640" progId="Equation.DSMT4">
                  <p:embed/>
                </p:oleObj>
              </mc:Choice>
              <mc:Fallback>
                <p:oleObj name="Equation" r:id="rId5" imgW="457200" imgH="215640" progId="Equation.DSMT4">
                  <p:embed/>
                  <p:pic>
                    <p:nvPicPr>
                      <p:cNvPr id="32" name="개체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8005" y="3847475"/>
                        <a:ext cx="272571" cy="12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개체 28">
            <a:extLst>
              <a:ext uri="{FF2B5EF4-FFF2-40B4-BE49-F238E27FC236}">
                <a16:creationId xmlns:a16="http://schemas.microsoft.com/office/drawing/2014/main" id="{F2075208-7EF9-4F30-8F2B-FA3315DB71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679056"/>
              </p:ext>
            </p:extLst>
          </p:nvPr>
        </p:nvGraphicFramePr>
        <p:xfrm>
          <a:off x="5962792" y="3847475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0" name="Equation" r:id="rId6" imgW="457200" imgH="215640" progId="Equation.DSMT4">
                  <p:embed/>
                </p:oleObj>
              </mc:Choice>
              <mc:Fallback>
                <p:oleObj name="Equation" r:id="rId6" imgW="457200" imgH="215640" progId="Equation.DSMT4">
                  <p:embed/>
                  <p:pic>
                    <p:nvPicPr>
                      <p:cNvPr id="33" name="개체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792" y="3847475"/>
                        <a:ext cx="272571" cy="12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개체 29">
            <a:extLst>
              <a:ext uri="{FF2B5EF4-FFF2-40B4-BE49-F238E27FC236}">
                <a16:creationId xmlns:a16="http://schemas.microsoft.com/office/drawing/2014/main" id="{4B07BBDA-C6EC-4885-B684-DDDB2DEB8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178770"/>
              </p:ext>
            </p:extLst>
          </p:nvPr>
        </p:nvGraphicFramePr>
        <p:xfrm>
          <a:off x="5125017" y="2987129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Equation" r:id="rId7" imgW="457002" imgH="215806" progId="Equation.DSMT4">
                  <p:embed/>
                </p:oleObj>
              </mc:Choice>
              <mc:Fallback>
                <p:oleObj name="Equation" r:id="rId7" imgW="457002" imgH="215806" progId="Equation.DSMT4">
                  <p:embed/>
                  <p:pic>
                    <p:nvPicPr>
                      <p:cNvPr id="34" name="개체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5017" y="2987129"/>
                        <a:ext cx="272571" cy="12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개체 30">
            <a:extLst>
              <a:ext uri="{FF2B5EF4-FFF2-40B4-BE49-F238E27FC236}">
                <a16:creationId xmlns:a16="http://schemas.microsoft.com/office/drawing/2014/main" id="{67AD9077-E28C-41C5-BEE5-9E80D1A457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537697"/>
              </p:ext>
            </p:extLst>
          </p:nvPr>
        </p:nvGraphicFramePr>
        <p:xfrm>
          <a:off x="5605135" y="2987129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8" imgW="457002" imgH="215806" progId="Equation.DSMT4">
                  <p:embed/>
                </p:oleObj>
              </mc:Choice>
              <mc:Fallback>
                <p:oleObj name="Equation" r:id="rId8" imgW="457002" imgH="215806" progId="Equation.DSMT4">
                  <p:embed/>
                  <p:pic>
                    <p:nvPicPr>
                      <p:cNvPr id="35" name="개체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135" y="2987129"/>
                        <a:ext cx="272571" cy="128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7514EB2-B00B-40EF-879F-58660A291367}"/>
              </a:ext>
            </a:extLst>
          </p:cNvPr>
          <p:cNvCxnSpPr/>
          <p:nvPr/>
        </p:nvCxnSpPr>
        <p:spPr>
          <a:xfrm flipV="1">
            <a:off x="3504912" y="3799929"/>
            <a:ext cx="0" cy="50620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DBB8A9E-696D-47BF-8E7C-DCC5E27F7AEF}"/>
              </a:ext>
            </a:extLst>
          </p:cNvPr>
          <p:cNvCxnSpPr/>
          <p:nvPr/>
        </p:nvCxnSpPr>
        <p:spPr>
          <a:xfrm flipV="1">
            <a:off x="4651495" y="3804175"/>
            <a:ext cx="0" cy="50195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CFC75E1-BD90-4AA7-8BCF-39E300169039}"/>
              </a:ext>
            </a:extLst>
          </p:cNvPr>
          <p:cNvCxnSpPr/>
          <p:nvPr/>
        </p:nvCxnSpPr>
        <p:spPr>
          <a:xfrm flipV="1">
            <a:off x="3927698" y="3799929"/>
            <a:ext cx="0" cy="50620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id="{FF03C821-68BB-4D51-B17A-23EC65DB9D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850118"/>
              </p:ext>
            </p:extLst>
          </p:nvPr>
        </p:nvGraphicFramePr>
        <p:xfrm>
          <a:off x="4129478" y="3847475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9" imgW="457200" imgH="215640" progId="Equation.DSMT4">
                  <p:embed/>
                </p:oleObj>
              </mc:Choice>
              <mc:Fallback>
                <p:oleObj name="Equation" r:id="rId9" imgW="457200" imgH="215640" progId="Equation.DSMT4">
                  <p:embed/>
                  <p:pic>
                    <p:nvPicPr>
                      <p:cNvPr id="41" name="개체 4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29478" y="3847475"/>
                        <a:ext cx="272571" cy="128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" name="타원 119">
            <a:extLst>
              <a:ext uri="{FF2B5EF4-FFF2-40B4-BE49-F238E27FC236}">
                <a16:creationId xmlns:a16="http://schemas.microsoft.com/office/drawing/2014/main" id="{B55D799B-18E4-48B4-9872-62F86E2D881F}"/>
              </a:ext>
            </a:extLst>
          </p:cNvPr>
          <p:cNvSpPr/>
          <p:nvPr/>
        </p:nvSpPr>
        <p:spPr>
          <a:xfrm>
            <a:off x="3415244" y="3802984"/>
            <a:ext cx="175395" cy="175395"/>
          </a:xfrm>
          <a:prstGeom prst="ellipse">
            <a:avLst/>
          </a:prstGeom>
          <a:solidFill>
            <a:srgbClr val="0255B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823127F9-26AA-41F9-9DE3-B5C6B6FB6E92}"/>
              </a:ext>
            </a:extLst>
          </p:cNvPr>
          <p:cNvCxnSpPr>
            <a:stCxn id="120" idx="2"/>
          </p:cNvCxnSpPr>
          <p:nvPr/>
        </p:nvCxnSpPr>
        <p:spPr>
          <a:xfrm flipH="1" flipV="1">
            <a:off x="3294862" y="3644150"/>
            <a:ext cx="12038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7A657AEC-5BEC-414D-AAE2-C1E4789325B3}"/>
              </a:ext>
            </a:extLst>
          </p:cNvPr>
          <p:cNvCxnSpPr>
            <a:stCxn id="120" idx="1"/>
          </p:cNvCxnSpPr>
          <p:nvPr/>
        </p:nvCxnSpPr>
        <p:spPr>
          <a:xfrm flipH="1" flipV="1">
            <a:off x="3402341" y="3644151"/>
            <a:ext cx="38589" cy="18451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BF09395-1B25-4220-BECE-BB563834B5CB}"/>
              </a:ext>
            </a:extLst>
          </p:cNvPr>
          <p:cNvCxnSpPr>
            <a:stCxn id="120" idx="6"/>
          </p:cNvCxnSpPr>
          <p:nvPr/>
        </p:nvCxnSpPr>
        <p:spPr>
          <a:xfrm flipV="1">
            <a:off x="3590639" y="3644150"/>
            <a:ext cx="7360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124" name="개체 123">
            <a:extLst>
              <a:ext uri="{FF2B5EF4-FFF2-40B4-BE49-F238E27FC236}">
                <a16:creationId xmlns:a16="http://schemas.microsoft.com/office/drawing/2014/main" id="{3A836B79-0749-4276-A2CB-E06210903A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1716" y="3713874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Equation" r:id="rId11" imgW="304560" imgH="152280" progId="Equation.DSMT4">
                  <p:embed/>
                </p:oleObj>
              </mc:Choice>
              <mc:Fallback>
                <p:oleObj name="Equation" r:id="rId11" imgW="304560" imgH="152280" progId="Equation.DSMT4">
                  <p:embed/>
                  <p:pic>
                    <p:nvPicPr>
                      <p:cNvPr id="47" name="개체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16" y="3713874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타원 114">
            <a:extLst>
              <a:ext uri="{FF2B5EF4-FFF2-40B4-BE49-F238E27FC236}">
                <a16:creationId xmlns:a16="http://schemas.microsoft.com/office/drawing/2014/main" id="{91E0FFD8-B59D-4A28-A39A-C0C0990D1761}"/>
              </a:ext>
            </a:extLst>
          </p:cNvPr>
          <p:cNvSpPr/>
          <p:nvPr/>
        </p:nvSpPr>
        <p:spPr>
          <a:xfrm>
            <a:off x="3844173" y="3802984"/>
            <a:ext cx="175395" cy="175395"/>
          </a:xfrm>
          <a:prstGeom prst="ellipse">
            <a:avLst/>
          </a:prstGeom>
          <a:solidFill>
            <a:srgbClr val="0255B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238FCD88-0EB4-4C38-B177-5884F589423F}"/>
              </a:ext>
            </a:extLst>
          </p:cNvPr>
          <p:cNvCxnSpPr>
            <a:stCxn id="115" idx="2"/>
          </p:cNvCxnSpPr>
          <p:nvPr/>
        </p:nvCxnSpPr>
        <p:spPr>
          <a:xfrm flipH="1" flipV="1">
            <a:off x="3723791" y="3644150"/>
            <a:ext cx="12038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722D9918-57A8-40E0-A304-CA03242D2CC2}"/>
              </a:ext>
            </a:extLst>
          </p:cNvPr>
          <p:cNvCxnSpPr>
            <a:stCxn id="115" idx="1"/>
          </p:cNvCxnSpPr>
          <p:nvPr/>
        </p:nvCxnSpPr>
        <p:spPr>
          <a:xfrm flipH="1" flipV="1">
            <a:off x="3831270" y="3644151"/>
            <a:ext cx="38589" cy="18451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2A67C21E-FB71-4F0A-8C62-3F17F012FD8C}"/>
              </a:ext>
            </a:extLst>
          </p:cNvPr>
          <p:cNvCxnSpPr>
            <a:stCxn id="115" idx="6"/>
          </p:cNvCxnSpPr>
          <p:nvPr/>
        </p:nvCxnSpPr>
        <p:spPr>
          <a:xfrm flipV="1">
            <a:off x="4019568" y="3644150"/>
            <a:ext cx="7360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119" name="개체 118">
            <a:extLst>
              <a:ext uri="{FF2B5EF4-FFF2-40B4-BE49-F238E27FC236}">
                <a16:creationId xmlns:a16="http://schemas.microsoft.com/office/drawing/2014/main" id="{1F0A6ACA-205C-4E7B-A851-816647306D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0645" y="3713874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Equation" r:id="rId13" imgW="304560" imgH="152280" progId="Equation.DSMT4">
                  <p:embed/>
                </p:oleObj>
              </mc:Choice>
              <mc:Fallback>
                <p:oleObj name="Equation" r:id="rId13" imgW="304560" imgH="152280" progId="Equation.DSMT4">
                  <p:embed/>
                  <p:pic>
                    <p:nvPicPr>
                      <p:cNvPr id="61" name="개체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0645" y="3713874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타원 109">
            <a:extLst>
              <a:ext uri="{FF2B5EF4-FFF2-40B4-BE49-F238E27FC236}">
                <a16:creationId xmlns:a16="http://schemas.microsoft.com/office/drawing/2014/main" id="{E0FB0214-B780-49C0-93A8-98C45C63A2EB}"/>
              </a:ext>
            </a:extLst>
          </p:cNvPr>
          <p:cNvSpPr/>
          <p:nvPr/>
        </p:nvSpPr>
        <p:spPr>
          <a:xfrm>
            <a:off x="4556771" y="3802984"/>
            <a:ext cx="175395" cy="175395"/>
          </a:xfrm>
          <a:prstGeom prst="ellipse">
            <a:avLst/>
          </a:prstGeom>
          <a:solidFill>
            <a:srgbClr val="0255B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D4F985F2-3E15-4DDE-8AFF-FA7ED38D1AA9}"/>
              </a:ext>
            </a:extLst>
          </p:cNvPr>
          <p:cNvCxnSpPr>
            <a:stCxn id="110" idx="2"/>
          </p:cNvCxnSpPr>
          <p:nvPr/>
        </p:nvCxnSpPr>
        <p:spPr>
          <a:xfrm flipH="1" flipV="1">
            <a:off x="4436389" y="3644150"/>
            <a:ext cx="12038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14E0F2A9-1808-4E1A-82D8-622768B19E01}"/>
              </a:ext>
            </a:extLst>
          </p:cNvPr>
          <p:cNvCxnSpPr>
            <a:stCxn id="110" idx="1"/>
          </p:cNvCxnSpPr>
          <p:nvPr/>
        </p:nvCxnSpPr>
        <p:spPr>
          <a:xfrm flipH="1" flipV="1">
            <a:off x="4543868" y="3644151"/>
            <a:ext cx="38589" cy="18451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955342CD-452D-403B-848E-17FB4D3E5ED4}"/>
              </a:ext>
            </a:extLst>
          </p:cNvPr>
          <p:cNvCxnSpPr>
            <a:stCxn id="110" idx="6"/>
          </p:cNvCxnSpPr>
          <p:nvPr/>
        </p:nvCxnSpPr>
        <p:spPr>
          <a:xfrm flipV="1">
            <a:off x="4732166" y="3644150"/>
            <a:ext cx="7360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114" name="개체 113">
            <a:extLst>
              <a:ext uri="{FF2B5EF4-FFF2-40B4-BE49-F238E27FC236}">
                <a16:creationId xmlns:a16="http://schemas.microsoft.com/office/drawing/2014/main" id="{250A5791-8C5C-4E42-AE18-B057B5ED95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243" y="3713874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15" imgW="304560" imgH="152280" progId="Equation.DSMT4">
                  <p:embed/>
                </p:oleObj>
              </mc:Choice>
              <mc:Fallback>
                <p:oleObj name="Equation" r:id="rId15" imgW="304560" imgH="152280" progId="Equation.DSMT4">
                  <p:embed/>
                  <p:pic>
                    <p:nvPicPr>
                      <p:cNvPr id="74" name="개체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243" y="3713874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7B0431A-9395-4F7A-B857-FCB10E4DE6C2}"/>
              </a:ext>
            </a:extLst>
          </p:cNvPr>
          <p:cNvCxnSpPr/>
          <p:nvPr/>
        </p:nvCxnSpPr>
        <p:spPr>
          <a:xfrm flipV="1">
            <a:off x="6424444" y="3799929"/>
            <a:ext cx="0" cy="50620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EA2187D0-2ACD-4594-9262-D8264AAE90E6}"/>
              </a:ext>
            </a:extLst>
          </p:cNvPr>
          <p:cNvCxnSpPr/>
          <p:nvPr/>
        </p:nvCxnSpPr>
        <p:spPr>
          <a:xfrm flipV="1">
            <a:off x="7571027" y="3804175"/>
            <a:ext cx="0" cy="501956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9FCEAFB-05AF-4B4B-953B-44FA083A21F0}"/>
              </a:ext>
            </a:extLst>
          </p:cNvPr>
          <p:cNvCxnSpPr/>
          <p:nvPr/>
        </p:nvCxnSpPr>
        <p:spPr>
          <a:xfrm flipV="1">
            <a:off x="6847230" y="3799929"/>
            <a:ext cx="0" cy="50620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graphicFrame>
        <p:nvGraphicFramePr>
          <p:cNvPr id="42" name="개체 41">
            <a:extLst>
              <a:ext uri="{FF2B5EF4-FFF2-40B4-BE49-F238E27FC236}">
                <a16:creationId xmlns:a16="http://schemas.microsoft.com/office/drawing/2014/main" id="{2F7D06BD-32D7-4662-A3E9-FD5243AF1E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131330"/>
              </p:ext>
            </p:extLst>
          </p:nvPr>
        </p:nvGraphicFramePr>
        <p:xfrm>
          <a:off x="7049010" y="3847475"/>
          <a:ext cx="272571" cy="128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16" imgW="457200" imgH="215640" progId="Equation.DSMT4">
                  <p:embed/>
                </p:oleObj>
              </mc:Choice>
              <mc:Fallback>
                <p:oleObj name="Equation" r:id="rId16" imgW="457200" imgH="215640" progId="Equation.DSMT4">
                  <p:embed/>
                  <p:pic>
                    <p:nvPicPr>
                      <p:cNvPr id="78" name="개체 7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049010" y="3847475"/>
                        <a:ext cx="272571" cy="128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타원 104">
            <a:extLst>
              <a:ext uri="{FF2B5EF4-FFF2-40B4-BE49-F238E27FC236}">
                <a16:creationId xmlns:a16="http://schemas.microsoft.com/office/drawing/2014/main" id="{0AD5AF9D-AA95-4065-8302-A21EB9CBD31F}"/>
              </a:ext>
            </a:extLst>
          </p:cNvPr>
          <p:cNvSpPr/>
          <p:nvPr/>
        </p:nvSpPr>
        <p:spPr>
          <a:xfrm>
            <a:off x="6334776" y="3802984"/>
            <a:ext cx="175395" cy="175395"/>
          </a:xfrm>
          <a:prstGeom prst="ellipse">
            <a:avLst/>
          </a:prstGeom>
          <a:solidFill>
            <a:srgbClr val="0255B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F6119B8E-AB49-45BB-940B-9D9BC9812FAA}"/>
              </a:ext>
            </a:extLst>
          </p:cNvPr>
          <p:cNvCxnSpPr>
            <a:stCxn id="105" idx="2"/>
          </p:cNvCxnSpPr>
          <p:nvPr/>
        </p:nvCxnSpPr>
        <p:spPr>
          <a:xfrm flipH="1" flipV="1">
            <a:off x="6214394" y="3644150"/>
            <a:ext cx="12038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28B50EFD-B1F0-48A3-9D54-5512511D8ED1}"/>
              </a:ext>
            </a:extLst>
          </p:cNvPr>
          <p:cNvCxnSpPr>
            <a:stCxn id="105" idx="1"/>
          </p:cNvCxnSpPr>
          <p:nvPr/>
        </p:nvCxnSpPr>
        <p:spPr>
          <a:xfrm flipH="1" flipV="1">
            <a:off x="6321873" y="3644151"/>
            <a:ext cx="38589" cy="18451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66A2D38-9F2E-4206-B688-BDEB84809714}"/>
              </a:ext>
            </a:extLst>
          </p:cNvPr>
          <p:cNvCxnSpPr>
            <a:stCxn id="105" idx="6"/>
          </p:cNvCxnSpPr>
          <p:nvPr/>
        </p:nvCxnSpPr>
        <p:spPr>
          <a:xfrm flipV="1">
            <a:off x="6510171" y="3644150"/>
            <a:ext cx="7360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109" name="개체 108">
            <a:extLst>
              <a:ext uri="{FF2B5EF4-FFF2-40B4-BE49-F238E27FC236}">
                <a16:creationId xmlns:a16="http://schemas.microsoft.com/office/drawing/2014/main" id="{E537F7E1-0ECD-4140-8F58-4827ADB0DA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61248" y="3713874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Equation" r:id="rId18" imgW="304560" imgH="152280" progId="Equation.DSMT4">
                  <p:embed/>
                </p:oleObj>
              </mc:Choice>
              <mc:Fallback>
                <p:oleObj name="Equation" r:id="rId18" imgW="304560" imgH="152280" progId="Equation.DSMT4">
                  <p:embed/>
                  <p:pic>
                    <p:nvPicPr>
                      <p:cNvPr id="84" name="개체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1248" y="3713874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타원 99">
            <a:extLst>
              <a:ext uri="{FF2B5EF4-FFF2-40B4-BE49-F238E27FC236}">
                <a16:creationId xmlns:a16="http://schemas.microsoft.com/office/drawing/2014/main" id="{6EEB7C59-899D-4869-91ED-CB76E35C2761}"/>
              </a:ext>
            </a:extLst>
          </p:cNvPr>
          <p:cNvSpPr/>
          <p:nvPr/>
        </p:nvSpPr>
        <p:spPr>
          <a:xfrm>
            <a:off x="6763705" y="3802984"/>
            <a:ext cx="175395" cy="175395"/>
          </a:xfrm>
          <a:prstGeom prst="ellipse">
            <a:avLst/>
          </a:prstGeom>
          <a:solidFill>
            <a:srgbClr val="0255B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1E73680F-A1B5-4354-892A-626C6EAEC186}"/>
              </a:ext>
            </a:extLst>
          </p:cNvPr>
          <p:cNvCxnSpPr>
            <a:stCxn id="100" idx="2"/>
          </p:cNvCxnSpPr>
          <p:nvPr/>
        </p:nvCxnSpPr>
        <p:spPr>
          <a:xfrm flipH="1" flipV="1">
            <a:off x="6643323" y="3644150"/>
            <a:ext cx="12038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9BAC2DB8-4105-4F6B-806D-10763A960CAD}"/>
              </a:ext>
            </a:extLst>
          </p:cNvPr>
          <p:cNvCxnSpPr>
            <a:stCxn id="100" idx="1"/>
          </p:cNvCxnSpPr>
          <p:nvPr/>
        </p:nvCxnSpPr>
        <p:spPr>
          <a:xfrm flipH="1" flipV="1">
            <a:off x="6750802" y="3644151"/>
            <a:ext cx="38589" cy="18451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6DD4F52D-6E51-48F7-8756-A6AEC18B19E3}"/>
              </a:ext>
            </a:extLst>
          </p:cNvPr>
          <p:cNvCxnSpPr>
            <a:stCxn id="100" idx="6"/>
          </p:cNvCxnSpPr>
          <p:nvPr/>
        </p:nvCxnSpPr>
        <p:spPr>
          <a:xfrm flipV="1">
            <a:off x="6939100" y="3644150"/>
            <a:ext cx="7360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104" name="개체 103">
            <a:extLst>
              <a:ext uri="{FF2B5EF4-FFF2-40B4-BE49-F238E27FC236}">
                <a16:creationId xmlns:a16="http://schemas.microsoft.com/office/drawing/2014/main" id="{207E82F4-22E5-488E-9DF5-944D6A0C0A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0177" y="3713874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Equation" r:id="rId20" imgW="304560" imgH="152280" progId="Equation.DSMT4">
                  <p:embed/>
                </p:oleObj>
              </mc:Choice>
              <mc:Fallback>
                <p:oleObj name="Equation" r:id="rId20" imgW="304560" imgH="152280" progId="Equation.DSMT4">
                  <p:embed/>
                  <p:pic>
                    <p:nvPicPr>
                      <p:cNvPr id="90" name="개체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0177" y="3713874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타원 94">
            <a:extLst>
              <a:ext uri="{FF2B5EF4-FFF2-40B4-BE49-F238E27FC236}">
                <a16:creationId xmlns:a16="http://schemas.microsoft.com/office/drawing/2014/main" id="{BA5E3F97-A210-4F0B-9A87-26DDEBDA54C5}"/>
              </a:ext>
            </a:extLst>
          </p:cNvPr>
          <p:cNvSpPr/>
          <p:nvPr/>
        </p:nvSpPr>
        <p:spPr>
          <a:xfrm>
            <a:off x="7476303" y="3802984"/>
            <a:ext cx="175395" cy="175395"/>
          </a:xfrm>
          <a:prstGeom prst="ellipse">
            <a:avLst/>
          </a:prstGeom>
          <a:solidFill>
            <a:srgbClr val="0255B8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3DDD37AB-A21A-40F7-84C7-EF31D0ADE984}"/>
              </a:ext>
            </a:extLst>
          </p:cNvPr>
          <p:cNvCxnSpPr>
            <a:stCxn id="95" idx="2"/>
          </p:cNvCxnSpPr>
          <p:nvPr/>
        </p:nvCxnSpPr>
        <p:spPr>
          <a:xfrm flipH="1" flipV="1">
            <a:off x="7355921" y="3644150"/>
            <a:ext cx="12038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16C98B87-2E3C-4B3E-92F5-B846A3272AEC}"/>
              </a:ext>
            </a:extLst>
          </p:cNvPr>
          <p:cNvCxnSpPr>
            <a:stCxn id="95" idx="1"/>
          </p:cNvCxnSpPr>
          <p:nvPr/>
        </p:nvCxnSpPr>
        <p:spPr>
          <a:xfrm flipH="1" flipV="1">
            <a:off x="7463400" y="3644151"/>
            <a:ext cx="38589" cy="18451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1CCF716A-752B-4142-A0C5-93A68E66CC80}"/>
              </a:ext>
            </a:extLst>
          </p:cNvPr>
          <p:cNvCxnSpPr>
            <a:stCxn id="95" idx="6"/>
          </p:cNvCxnSpPr>
          <p:nvPr/>
        </p:nvCxnSpPr>
        <p:spPr>
          <a:xfrm flipV="1">
            <a:off x="7651698" y="3644150"/>
            <a:ext cx="73602" cy="246531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99" name="개체 98">
            <a:extLst>
              <a:ext uri="{FF2B5EF4-FFF2-40B4-BE49-F238E27FC236}">
                <a16:creationId xmlns:a16="http://schemas.microsoft.com/office/drawing/2014/main" id="{2F4CDAFC-79CB-413C-AC18-302D70F6D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2775" y="3713874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0" name="Equation" r:id="rId21" imgW="304560" imgH="152280" progId="Equation.DSMT4">
                  <p:embed/>
                </p:oleObj>
              </mc:Choice>
              <mc:Fallback>
                <p:oleObj name="Equation" r:id="rId21" imgW="304560" imgH="152280" progId="Equation.DSMT4">
                  <p:embed/>
                  <p:pic>
                    <p:nvPicPr>
                      <p:cNvPr id="96" name="개체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2775" y="3713874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직사각형 88">
            <a:extLst>
              <a:ext uri="{FF2B5EF4-FFF2-40B4-BE49-F238E27FC236}">
                <a16:creationId xmlns:a16="http://schemas.microsoft.com/office/drawing/2014/main" id="{61FA0FF9-F5FE-4A72-A6A5-563CB7AC5A5C}"/>
              </a:ext>
            </a:extLst>
          </p:cNvPr>
          <p:cNvSpPr/>
          <p:nvPr/>
        </p:nvSpPr>
        <p:spPr>
          <a:xfrm>
            <a:off x="3655187" y="2838576"/>
            <a:ext cx="201121" cy="201121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53839363-2139-4742-BE2C-830F676E0E34}"/>
              </a:ext>
            </a:extLst>
          </p:cNvPr>
          <p:cNvCxnSpPr/>
          <p:nvPr/>
        </p:nvCxnSpPr>
        <p:spPr>
          <a:xfrm flipV="1">
            <a:off x="3593164" y="3039698"/>
            <a:ext cx="62023" cy="2246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3655C80F-52C2-47EE-9D2E-D26CB7D2BAE0}"/>
              </a:ext>
            </a:extLst>
          </p:cNvPr>
          <p:cNvCxnSpPr/>
          <p:nvPr/>
        </p:nvCxnSpPr>
        <p:spPr>
          <a:xfrm flipH="1" flipV="1">
            <a:off x="3856308" y="3040081"/>
            <a:ext cx="55070" cy="2190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21474E3C-B166-4C42-8CA8-D996B55728A4}"/>
              </a:ext>
            </a:extLst>
          </p:cNvPr>
          <p:cNvCxnSpPr/>
          <p:nvPr/>
        </p:nvCxnSpPr>
        <p:spPr>
          <a:xfrm flipV="1">
            <a:off x="3664242" y="3032256"/>
            <a:ext cx="64555" cy="2277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94" name="개체 93">
            <a:extLst>
              <a:ext uri="{FF2B5EF4-FFF2-40B4-BE49-F238E27FC236}">
                <a16:creationId xmlns:a16="http://schemas.microsoft.com/office/drawing/2014/main" id="{35D35DEF-F1D3-446F-BD70-9FC9C9F20C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2171" y="3152036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" name="Equation" r:id="rId22" imgW="304560" imgH="152280" progId="Equation.DSMT4">
                  <p:embed/>
                </p:oleObj>
              </mc:Choice>
              <mc:Fallback>
                <p:oleObj name="Equation" r:id="rId22" imgW="304560" imgH="152280" progId="Equation.DSMT4">
                  <p:embed/>
                  <p:pic>
                    <p:nvPicPr>
                      <p:cNvPr id="102" name="개체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171" y="3152036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직사각형 83">
            <a:extLst>
              <a:ext uri="{FF2B5EF4-FFF2-40B4-BE49-F238E27FC236}">
                <a16:creationId xmlns:a16="http://schemas.microsoft.com/office/drawing/2014/main" id="{1FCA831E-9A8F-46F4-ABAD-2D8FBABEE2DB}"/>
              </a:ext>
            </a:extLst>
          </p:cNvPr>
          <p:cNvSpPr/>
          <p:nvPr/>
        </p:nvSpPr>
        <p:spPr>
          <a:xfrm>
            <a:off x="4180947" y="2838576"/>
            <a:ext cx="201121" cy="201121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D7690F6-1ACC-4334-A30C-3A4F57A3888F}"/>
              </a:ext>
            </a:extLst>
          </p:cNvPr>
          <p:cNvCxnSpPr/>
          <p:nvPr/>
        </p:nvCxnSpPr>
        <p:spPr>
          <a:xfrm flipV="1">
            <a:off x="4118924" y="3039698"/>
            <a:ext cx="62023" cy="2246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366BF151-FA45-46D5-88A8-41CDE215E635}"/>
              </a:ext>
            </a:extLst>
          </p:cNvPr>
          <p:cNvCxnSpPr/>
          <p:nvPr/>
        </p:nvCxnSpPr>
        <p:spPr>
          <a:xfrm flipH="1" flipV="1">
            <a:off x="4382068" y="3040081"/>
            <a:ext cx="55070" cy="2190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5A130EE0-5667-49D1-B4D5-04A741C4B6CC}"/>
              </a:ext>
            </a:extLst>
          </p:cNvPr>
          <p:cNvCxnSpPr/>
          <p:nvPr/>
        </p:nvCxnSpPr>
        <p:spPr>
          <a:xfrm flipV="1">
            <a:off x="4190002" y="3032256"/>
            <a:ext cx="70890" cy="2277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88" name="개체 87">
            <a:extLst>
              <a:ext uri="{FF2B5EF4-FFF2-40B4-BE49-F238E27FC236}">
                <a16:creationId xmlns:a16="http://schemas.microsoft.com/office/drawing/2014/main" id="{7B8C0125-99A4-4366-8EC6-CBE28C516E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7931" y="3152036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" name="Equation" r:id="rId24" imgW="304560" imgH="152280" progId="Equation.DSMT4">
                  <p:embed/>
                </p:oleObj>
              </mc:Choice>
              <mc:Fallback>
                <p:oleObj name="Equation" r:id="rId24" imgW="304560" imgH="152280" progId="Equation.DSMT4">
                  <p:embed/>
                  <p:pic>
                    <p:nvPicPr>
                      <p:cNvPr id="108" name="개체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931" y="3152036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개체 50">
            <a:extLst>
              <a:ext uri="{FF2B5EF4-FFF2-40B4-BE49-F238E27FC236}">
                <a16:creationId xmlns:a16="http://schemas.microsoft.com/office/drawing/2014/main" id="{2F670DD5-514A-4040-B207-85C0500C5D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99294"/>
              </p:ext>
            </p:extLst>
          </p:nvPr>
        </p:nvGraphicFramePr>
        <p:xfrm>
          <a:off x="4644685" y="2987365"/>
          <a:ext cx="272786" cy="128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3" name="Equation" r:id="rId25" imgW="457002" imgH="215806" progId="Equation.DSMT4">
                  <p:embed/>
                </p:oleObj>
              </mc:Choice>
              <mc:Fallback>
                <p:oleObj name="Equation" r:id="rId25" imgW="457002" imgH="215806" progId="Equation.DSMT4">
                  <p:embed/>
                  <p:pic>
                    <p:nvPicPr>
                      <p:cNvPr id="109" name="개체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685" y="2987365"/>
                        <a:ext cx="272786" cy="128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개체 51">
            <a:extLst>
              <a:ext uri="{FF2B5EF4-FFF2-40B4-BE49-F238E27FC236}">
                <a16:creationId xmlns:a16="http://schemas.microsoft.com/office/drawing/2014/main" id="{9AFCF9F9-737F-49C9-9A31-185232F213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278022"/>
              </p:ext>
            </p:extLst>
          </p:nvPr>
        </p:nvGraphicFramePr>
        <p:xfrm>
          <a:off x="6085253" y="2987365"/>
          <a:ext cx="272786" cy="128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4" name="Equation" r:id="rId26" imgW="457002" imgH="215806" progId="Equation.DSMT4">
                  <p:embed/>
                </p:oleObj>
              </mc:Choice>
              <mc:Fallback>
                <p:oleObj name="Equation" r:id="rId26" imgW="457002" imgH="215806" progId="Equation.DSMT4">
                  <p:embed/>
                  <p:pic>
                    <p:nvPicPr>
                      <p:cNvPr id="110" name="개체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5253" y="2987365"/>
                        <a:ext cx="272786" cy="128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직사각형 77">
            <a:extLst>
              <a:ext uri="{FF2B5EF4-FFF2-40B4-BE49-F238E27FC236}">
                <a16:creationId xmlns:a16="http://schemas.microsoft.com/office/drawing/2014/main" id="{FF122EBC-5B80-4415-9F6D-B3F7BBF214C4}"/>
              </a:ext>
            </a:extLst>
          </p:cNvPr>
          <p:cNvSpPr/>
          <p:nvPr/>
        </p:nvSpPr>
        <p:spPr>
          <a:xfrm>
            <a:off x="6627608" y="2838576"/>
            <a:ext cx="201121" cy="201121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DB09C2D0-5BA5-45C4-BF88-2D48A4B0039C}"/>
              </a:ext>
            </a:extLst>
          </p:cNvPr>
          <p:cNvCxnSpPr/>
          <p:nvPr/>
        </p:nvCxnSpPr>
        <p:spPr>
          <a:xfrm flipV="1">
            <a:off x="6565585" y="3039698"/>
            <a:ext cx="62023" cy="2246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FD2FE347-7B7D-4ADD-BE06-6BF981ED2479}"/>
              </a:ext>
            </a:extLst>
          </p:cNvPr>
          <p:cNvCxnSpPr/>
          <p:nvPr/>
        </p:nvCxnSpPr>
        <p:spPr>
          <a:xfrm flipH="1" flipV="1">
            <a:off x="6828729" y="3040081"/>
            <a:ext cx="55070" cy="2190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0F854314-CD76-4518-8B90-740C610B1AF0}"/>
              </a:ext>
            </a:extLst>
          </p:cNvPr>
          <p:cNvCxnSpPr/>
          <p:nvPr/>
        </p:nvCxnSpPr>
        <p:spPr>
          <a:xfrm flipV="1">
            <a:off x="6636663" y="3037473"/>
            <a:ext cx="60392" cy="2224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83" name="개체 82">
            <a:extLst>
              <a:ext uri="{FF2B5EF4-FFF2-40B4-BE49-F238E27FC236}">
                <a16:creationId xmlns:a16="http://schemas.microsoft.com/office/drawing/2014/main" id="{56A5B261-97CC-4ACA-B023-7A7001BEDD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4592" y="3152036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5" name="Equation" r:id="rId27" imgW="304560" imgH="152280" progId="Equation.DSMT4">
                  <p:embed/>
                </p:oleObj>
              </mc:Choice>
              <mc:Fallback>
                <p:oleObj name="Equation" r:id="rId27" imgW="304560" imgH="152280" progId="Equation.DSMT4">
                  <p:embed/>
                  <p:pic>
                    <p:nvPicPr>
                      <p:cNvPr id="116" name="개체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4592" y="3152036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직사각형 72">
            <a:extLst>
              <a:ext uri="{FF2B5EF4-FFF2-40B4-BE49-F238E27FC236}">
                <a16:creationId xmlns:a16="http://schemas.microsoft.com/office/drawing/2014/main" id="{4326C1D6-CCF1-4379-8E90-B435B0EDB4FE}"/>
              </a:ext>
            </a:extLst>
          </p:cNvPr>
          <p:cNvSpPr/>
          <p:nvPr/>
        </p:nvSpPr>
        <p:spPr>
          <a:xfrm>
            <a:off x="7153371" y="2838576"/>
            <a:ext cx="201121" cy="201121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B057A2DE-704B-4590-B981-F7717A685C39}"/>
              </a:ext>
            </a:extLst>
          </p:cNvPr>
          <p:cNvCxnSpPr/>
          <p:nvPr/>
        </p:nvCxnSpPr>
        <p:spPr>
          <a:xfrm flipV="1">
            <a:off x="7091348" y="3039698"/>
            <a:ext cx="62023" cy="2246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CF9DF94-9448-47FA-894C-E5A58D25D0D3}"/>
              </a:ext>
            </a:extLst>
          </p:cNvPr>
          <p:cNvCxnSpPr/>
          <p:nvPr/>
        </p:nvCxnSpPr>
        <p:spPr>
          <a:xfrm flipH="1" flipV="1">
            <a:off x="7355920" y="3037473"/>
            <a:ext cx="53642" cy="221707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DC5159AA-CCE2-4BCD-A956-ADDD28761DB3}"/>
              </a:ext>
            </a:extLst>
          </p:cNvPr>
          <p:cNvCxnSpPr/>
          <p:nvPr/>
        </p:nvCxnSpPr>
        <p:spPr>
          <a:xfrm flipV="1">
            <a:off x="7162426" y="3037473"/>
            <a:ext cx="61509" cy="222484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graphicFrame>
        <p:nvGraphicFramePr>
          <p:cNvPr id="77" name="개체 76">
            <a:extLst>
              <a:ext uri="{FF2B5EF4-FFF2-40B4-BE49-F238E27FC236}">
                <a16:creationId xmlns:a16="http://schemas.microsoft.com/office/drawing/2014/main" id="{132ED1CF-9D7D-4992-A2A8-166EA2D1C3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00355" y="3146131"/>
          <a:ext cx="181495" cy="90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6" name="Equation" r:id="rId28" imgW="304560" imgH="152280" progId="Equation.DSMT4">
                  <p:embed/>
                </p:oleObj>
              </mc:Choice>
              <mc:Fallback>
                <p:oleObj name="Equation" r:id="rId28" imgW="304560" imgH="152280" progId="Equation.DSMT4">
                  <p:embed/>
                  <p:pic>
                    <p:nvPicPr>
                      <p:cNvPr id="122" name="개체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355" y="3146131"/>
                        <a:ext cx="181495" cy="90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모서리가 둥근 직사각형 122">
            <a:extLst>
              <a:ext uri="{FF2B5EF4-FFF2-40B4-BE49-F238E27FC236}">
                <a16:creationId xmlns:a16="http://schemas.microsoft.com/office/drawing/2014/main" id="{84E7DB1E-D5B7-4CD3-A36C-25A73405DE14}"/>
              </a:ext>
            </a:extLst>
          </p:cNvPr>
          <p:cNvSpPr/>
          <p:nvPr/>
        </p:nvSpPr>
        <p:spPr>
          <a:xfrm>
            <a:off x="3195518" y="3235018"/>
            <a:ext cx="4592335" cy="438659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변수</a:t>
            </a:r>
            <a:r>
              <a:rPr kumimoji="0" lang="ko-KR" altLang="en-US" sz="11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ko-KR" altLang="en-US" sz="1100" b="0" i="0" u="none" strike="noStrike" kern="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노드들과</a:t>
            </a:r>
            <a:r>
              <a:rPr kumimoji="0" lang="ko-KR" altLang="en-US" sz="11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 체크 </a:t>
            </a:r>
            <a:r>
              <a:rPr kumimoji="0" lang="ko-KR" altLang="en-US" sz="1100" b="0" i="0" u="none" strike="noStrike" kern="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노드들의</a:t>
            </a:r>
            <a:r>
              <a:rPr kumimoji="0" lang="ko-KR" altLang="en-US" sz="11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 관계는 패리티 체크 행렬에 의해 정의</a:t>
            </a:r>
            <a:endParaRPr kumimoji="0" lang="en-US" altLang="ko-KR" sz="11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0" name="모서리가 둥근 직사각형 123">
            <a:extLst>
              <a:ext uri="{FF2B5EF4-FFF2-40B4-BE49-F238E27FC236}">
                <a16:creationId xmlns:a16="http://schemas.microsoft.com/office/drawing/2014/main" id="{506E7495-82DC-4CFC-A489-03C1A016863A}"/>
              </a:ext>
            </a:extLst>
          </p:cNvPr>
          <p:cNvSpPr/>
          <p:nvPr/>
        </p:nvSpPr>
        <p:spPr>
          <a:xfrm>
            <a:off x="3195518" y="4306131"/>
            <a:ext cx="4592335" cy="309412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오류 정정 부호 </a:t>
            </a:r>
            <a:r>
              <a:rPr kumimoji="0" lang="ko-KR" altLang="en-US" sz="1000" b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디코더의</a:t>
            </a:r>
            <a:r>
              <a:rPr kumimoji="0" lang="ko-KR" altLang="en-US" sz="1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 입력 값은 </a:t>
            </a:r>
            <a:r>
              <a:rPr kumimoji="0" lang="en-US" altLang="ko-KR" sz="1000" b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generate_hv</a:t>
            </a:r>
            <a:r>
              <a:rPr kumimoji="0" lang="en-US" altLang="ko-KR" sz="1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ko-KR" altLang="en-US" sz="1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imes New Roman" panose="02020603050405020304" pitchFamily="18" charset="0"/>
              </a:rPr>
              <a:t>함수에 의해 생성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53FE995-A82A-46B7-8E12-F1A5661E5954}"/>
              </a:ext>
            </a:extLst>
          </p:cNvPr>
          <p:cNvCxnSpPr/>
          <p:nvPr/>
        </p:nvCxnSpPr>
        <p:spPr>
          <a:xfrm flipV="1">
            <a:off x="5397588" y="2015623"/>
            <a:ext cx="1" cy="57600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D7832D5-31BA-45B4-AA65-EFD668CF7B07}"/>
              </a:ext>
            </a:extLst>
          </p:cNvPr>
          <p:cNvSpPr txBox="1"/>
          <p:nvPr/>
        </p:nvSpPr>
        <p:spPr>
          <a:xfrm>
            <a:off x="5517169" y="1966086"/>
            <a:ext cx="3473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/>
              <a:t>오류 정정 부호 </a:t>
            </a:r>
            <a:r>
              <a:rPr lang="ko-KR" altLang="en-US" sz="1600" b="1" dirty="0" err="1"/>
              <a:t>디코더의</a:t>
            </a:r>
            <a:r>
              <a:rPr lang="ko-KR" altLang="en-US" sz="1600" b="1" dirty="0"/>
              <a:t> 출력 값 </a:t>
            </a:r>
            <a:endParaRPr lang="en-US" altLang="ko-KR" sz="1600" b="1" dirty="0"/>
          </a:p>
        </p:txBody>
      </p:sp>
      <p:graphicFrame>
        <p:nvGraphicFramePr>
          <p:cNvPr id="69" name="개체 68">
            <a:extLst>
              <a:ext uri="{FF2B5EF4-FFF2-40B4-BE49-F238E27FC236}">
                <a16:creationId xmlns:a16="http://schemas.microsoft.com/office/drawing/2014/main" id="{60F01655-4768-4844-BD1D-C11C0A0CE7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346728"/>
              </p:ext>
            </p:extLst>
          </p:nvPr>
        </p:nvGraphicFramePr>
        <p:xfrm>
          <a:off x="3507760" y="4003551"/>
          <a:ext cx="217359" cy="17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7" name="Equation" r:id="rId29" imgW="317160" imgH="253800" progId="Equation.DSMT4">
                  <p:embed/>
                </p:oleObj>
              </mc:Choice>
              <mc:Fallback>
                <p:oleObj name="Equation" r:id="rId29" imgW="317160" imgH="253800" progId="Equation.DSMT4">
                  <p:embed/>
                  <p:pic>
                    <p:nvPicPr>
                      <p:cNvPr id="127" name="개체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7760" y="4003551"/>
                        <a:ext cx="217359" cy="17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개체 69">
            <a:extLst>
              <a:ext uri="{FF2B5EF4-FFF2-40B4-BE49-F238E27FC236}">
                <a16:creationId xmlns:a16="http://schemas.microsoft.com/office/drawing/2014/main" id="{18B1ACF4-AE13-4D49-8621-16B76ED335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040442"/>
              </p:ext>
            </p:extLst>
          </p:nvPr>
        </p:nvGraphicFramePr>
        <p:xfrm>
          <a:off x="3922848" y="4003551"/>
          <a:ext cx="234748" cy="17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8" name="Equation" r:id="rId31" imgW="342720" imgH="253800" progId="Equation.DSMT4">
                  <p:embed/>
                </p:oleObj>
              </mc:Choice>
              <mc:Fallback>
                <p:oleObj name="Equation" r:id="rId31" imgW="342720" imgH="253800" progId="Equation.DSMT4">
                  <p:embed/>
                  <p:pic>
                    <p:nvPicPr>
                      <p:cNvPr id="128" name="개체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848" y="4003551"/>
                        <a:ext cx="234748" cy="17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개체 70">
            <a:extLst>
              <a:ext uri="{FF2B5EF4-FFF2-40B4-BE49-F238E27FC236}">
                <a16:creationId xmlns:a16="http://schemas.microsoft.com/office/drawing/2014/main" id="{11E499BB-C821-422E-90DB-63B872B2B2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208437"/>
              </p:ext>
            </p:extLst>
          </p:nvPr>
        </p:nvGraphicFramePr>
        <p:xfrm>
          <a:off x="7689006" y="3956310"/>
          <a:ext cx="243010" cy="172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9" name="Equation" r:id="rId33" imgW="355320" imgH="253800" progId="Equation.DSMT4">
                  <p:embed/>
                </p:oleObj>
              </mc:Choice>
              <mc:Fallback>
                <p:oleObj name="Equation" r:id="rId33" imgW="355320" imgH="253800" progId="Equation.DSMT4">
                  <p:embed/>
                  <p:pic>
                    <p:nvPicPr>
                      <p:cNvPr id="129" name="개체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9006" y="3956310"/>
                        <a:ext cx="243010" cy="172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4667C745-E921-4C9C-8CD1-384244953040}"/>
              </a:ext>
            </a:extLst>
          </p:cNvPr>
          <p:cNvSpPr txBox="1"/>
          <p:nvPr/>
        </p:nvSpPr>
        <p:spPr>
          <a:xfrm>
            <a:off x="9619439" y="3212511"/>
            <a:ext cx="177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1600" b="1" dirty="0"/>
              <a:t>Decoding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part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924AAF17-E5EF-4166-A83B-8E6D4870E88C}"/>
              </a:ext>
            </a:extLst>
          </p:cNvPr>
          <p:cNvSpPr/>
          <p:nvPr/>
        </p:nvSpPr>
        <p:spPr>
          <a:xfrm>
            <a:off x="438868" y="4932072"/>
            <a:ext cx="11520000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패리티 체크 행렬의 변경은 변수</a:t>
            </a:r>
            <a:r>
              <a:rPr lang="en-US" altLang="ko-KR" dirty="0"/>
              <a:t>/</a:t>
            </a:r>
            <a:r>
              <a:rPr lang="ko-KR" altLang="en-US" dirty="0"/>
              <a:t>체크 노드들의 관계의 변경을 야기함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동일한 입력 값을 취득하더라도</a:t>
            </a:r>
            <a:r>
              <a:rPr lang="en-US" altLang="ko-KR" dirty="0"/>
              <a:t>, </a:t>
            </a:r>
            <a:r>
              <a:rPr lang="ko-KR" altLang="en-US" dirty="0"/>
              <a:t>패리티 체크 행렬이 변경되면 상이한 값을 산출함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디코딩은 메시지 전달 알고리즘에 의해 이뤄짐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946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DFE9199-C70D-4A28-9369-B3E93B5DFB7C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EEA4D3E-CBA8-40F9-846E-D7E04986DD19}"/>
              </a:ext>
            </a:extLst>
          </p:cNvPr>
          <p:cNvSpPr/>
          <p:nvPr/>
        </p:nvSpPr>
        <p:spPr>
          <a:xfrm>
            <a:off x="438868" y="1457352"/>
            <a:ext cx="115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/>
              <a:t>2</a:t>
            </a:r>
            <a:r>
              <a:rPr lang="ko-KR" altLang="en-US" dirty="0"/>
              <a:t>가지 서로 다른 암호 퍼즐 해결 유무 판단 기준을 제시함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암호 퍼즐 해결 유무 판단 기준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9EA5B8D8-266C-4FBA-AF9B-1D64F4C1E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387067"/>
              </p:ext>
            </p:extLst>
          </p:nvPr>
        </p:nvGraphicFramePr>
        <p:xfrm>
          <a:off x="789462" y="2060893"/>
          <a:ext cx="10613076" cy="1283198"/>
        </p:xfrm>
        <a:graphic>
          <a:graphicData uri="http://schemas.openxmlformats.org/drawingml/2006/table">
            <a:tbl>
              <a:tblPr firstRow="1" firstCol="1" bandRow="1"/>
              <a:tblGrid>
                <a:gridCol w="1638685">
                  <a:extLst>
                    <a:ext uri="{9D8B030D-6E8A-4147-A177-3AD203B41FA5}">
                      <a16:colId xmlns:a16="http://schemas.microsoft.com/office/drawing/2014/main" val="1449899407"/>
                    </a:ext>
                  </a:extLst>
                </a:gridCol>
                <a:gridCol w="8974391">
                  <a:extLst>
                    <a:ext uri="{9D8B030D-6E8A-4147-A177-3AD203B41FA5}">
                      <a16:colId xmlns:a16="http://schemas.microsoft.com/office/drawing/2014/main" val="600659448"/>
                    </a:ext>
                  </a:extLst>
                </a:gridCol>
              </a:tblGrid>
              <a:tr h="6415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기준 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독자적인 방식 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디코더의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결과 값이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a)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부호이고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b)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특정 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해밍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가중치를 가지면 해결 한 것으로 </a:t>
                      </a: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판단</a:t>
                      </a: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504763"/>
                  </a:ext>
                </a:extLst>
              </a:tr>
              <a:tr h="6415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기준 </a:t>
                      </a:r>
                      <a:r>
                        <a:rPr lang="en-US" altLang="ko-KR" sz="1400" b="1" kern="1200" dirty="0">
                          <a:solidFill>
                            <a:sysClr val="windowText" lastClr="000000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400" b="1" kern="1200" dirty="0">
                        <a:solidFill>
                          <a:sysClr val="windowText" lastClr="00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46598" marR="46598" marT="12883" marB="12883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기존 작업증명 방식 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디코더의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결과 값을 다시 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해싱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하여 나온 값이 특정 값 보다 작으면 해결 한 것으로 판단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805427"/>
                  </a:ext>
                </a:extLst>
              </a:tr>
            </a:tbl>
          </a:graphicData>
        </a:graphic>
      </p:graphicFrame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3CA0489E-AEA2-4A97-B1A1-8F1C7BAA73BC}"/>
              </a:ext>
            </a:extLst>
          </p:cNvPr>
          <p:cNvSpPr/>
          <p:nvPr/>
        </p:nvSpPr>
        <p:spPr>
          <a:xfrm>
            <a:off x="438868" y="3678038"/>
            <a:ext cx="115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  <a:defRPr/>
            </a:pPr>
            <a:r>
              <a:rPr lang="en-US" altLang="ko-KR" b="1" dirty="0">
                <a:latin typeface="+mj-lt"/>
              </a:rPr>
              <a:t>(</a:t>
            </a:r>
            <a:r>
              <a:rPr lang="ko-KR" altLang="en-US" b="1" dirty="0">
                <a:latin typeface="+mj-lt"/>
              </a:rPr>
              <a:t>기준 </a:t>
            </a:r>
            <a:r>
              <a:rPr lang="en-US" altLang="ko-KR" b="1" dirty="0">
                <a:latin typeface="+mj-lt"/>
              </a:rPr>
              <a:t>1) </a:t>
            </a:r>
            <a:r>
              <a:rPr lang="ko-KR" altLang="en-US" dirty="0" err="1">
                <a:latin typeface="+mj-lt"/>
              </a:rPr>
              <a:t>디코더의</a:t>
            </a:r>
            <a:r>
              <a:rPr lang="ko-KR" altLang="en-US" dirty="0">
                <a:latin typeface="+mj-lt"/>
              </a:rPr>
              <a:t> 출력 값 </a:t>
            </a:r>
            <a:r>
              <a:rPr lang="en-US" altLang="ko-KR" dirty="0">
                <a:latin typeface="+mj-lt"/>
              </a:rPr>
              <a:t>c</a:t>
            </a:r>
            <a:r>
              <a:rPr lang="ko-KR" altLang="en-US" dirty="0">
                <a:latin typeface="+mj-lt"/>
              </a:rPr>
              <a:t>가 다음 </a:t>
            </a:r>
            <a:r>
              <a:rPr lang="en-US" altLang="ko-KR" dirty="0">
                <a:latin typeface="+mj-lt"/>
              </a:rPr>
              <a:t>2</a:t>
            </a:r>
            <a:r>
              <a:rPr lang="ko-KR" altLang="en-US" dirty="0">
                <a:latin typeface="+mj-lt"/>
              </a:rPr>
              <a:t>가지 조건들을 만족시키면</a:t>
            </a:r>
            <a:r>
              <a:rPr lang="en-US" altLang="ko-KR" dirty="0">
                <a:latin typeface="+mj-lt"/>
              </a:rPr>
              <a:t>, </a:t>
            </a:r>
            <a:r>
              <a:rPr lang="ko-KR" altLang="en-US" dirty="0">
                <a:latin typeface="+mj-lt"/>
              </a:rPr>
              <a:t>암호 퍼즐을 해결 하는 것으로 판단</a:t>
            </a:r>
            <a:r>
              <a:rPr lang="en-US" altLang="ko-KR" dirty="0">
                <a:latin typeface="+mj-lt"/>
              </a:rPr>
              <a:t/>
            </a:r>
            <a:br>
              <a:rPr lang="en-US" altLang="ko-KR" dirty="0">
                <a:latin typeface="+mj-lt"/>
              </a:rPr>
            </a:br>
            <a:r>
              <a:rPr lang="en-US" altLang="ko-KR" b="1" dirty="0">
                <a:latin typeface="+mj-lt"/>
              </a:rPr>
              <a:t>(</a:t>
            </a:r>
            <a:r>
              <a:rPr lang="ko-KR" altLang="en-US" b="1" dirty="0">
                <a:latin typeface="+mj-lt"/>
              </a:rPr>
              <a:t>조건 </a:t>
            </a:r>
            <a:r>
              <a:rPr lang="en-US" altLang="ko-KR" b="1" dirty="0">
                <a:latin typeface="+mj-lt"/>
              </a:rPr>
              <a:t>1) </a:t>
            </a:r>
            <a:r>
              <a:rPr lang="ko-KR" altLang="en-US" dirty="0">
                <a:latin typeface="+mj-lt"/>
              </a:rPr>
              <a:t>출력 값이 부호일 것</a:t>
            </a:r>
            <a:r>
              <a:rPr lang="en-US" altLang="ko-KR" dirty="0">
                <a:latin typeface="+mj-lt"/>
              </a:rPr>
              <a:t>.</a:t>
            </a:r>
            <a:br>
              <a:rPr lang="en-US" altLang="ko-KR" dirty="0">
                <a:latin typeface="+mj-lt"/>
              </a:rPr>
            </a:br>
            <a:r>
              <a:rPr lang="en-US" altLang="ko-KR" b="1" dirty="0">
                <a:latin typeface="+mj-lt"/>
              </a:rPr>
              <a:t>(</a:t>
            </a:r>
            <a:r>
              <a:rPr lang="ko-KR" altLang="en-US" b="1" dirty="0">
                <a:latin typeface="+mj-lt"/>
              </a:rPr>
              <a:t>조건 </a:t>
            </a:r>
            <a:r>
              <a:rPr lang="en-US" altLang="ko-KR" b="1" dirty="0">
                <a:latin typeface="+mj-lt"/>
              </a:rPr>
              <a:t>2)</a:t>
            </a:r>
            <a:r>
              <a:rPr lang="en-US" altLang="ko-KR" dirty="0">
                <a:latin typeface="+mj-lt"/>
              </a:rPr>
              <a:t> </a:t>
            </a:r>
            <a:r>
              <a:rPr lang="ko-KR" altLang="en-US" dirty="0">
                <a:latin typeface="+mj-lt"/>
              </a:rPr>
              <a:t>출력 값의 </a:t>
            </a:r>
            <a:r>
              <a:rPr lang="ko-KR" altLang="en-US" dirty="0" err="1">
                <a:latin typeface="+mj-lt"/>
              </a:rPr>
              <a:t>해밍</a:t>
            </a:r>
            <a:r>
              <a:rPr lang="ko-KR" altLang="en-US" dirty="0">
                <a:latin typeface="+mj-lt"/>
              </a:rPr>
              <a:t> 가중치가 주어진 집합 </a:t>
            </a:r>
            <a:r>
              <a:rPr lang="en-US" altLang="ko-KR" dirty="0">
                <a:latin typeface="+mj-lt"/>
              </a:rPr>
              <a:t>S</a:t>
            </a:r>
            <a:r>
              <a:rPr lang="ko-KR" altLang="en-US" dirty="0">
                <a:latin typeface="+mj-lt"/>
              </a:rPr>
              <a:t>의 원소 일 것</a:t>
            </a:r>
            <a:r>
              <a:rPr lang="en-US" altLang="ko-KR" dirty="0">
                <a:latin typeface="+mj-lt"/>
              </a:rPr>
              <a:t>. </a:t>
            </a:r>
            <a:endParaRPr lang="ko-KR" altLang="en-US" dirty="0">
              <a:latin typeface="+mj-lt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D150EB4-C144-4C3F-930E-59904DDDDD5C}"/>
              </a:ext>
            </a:extLst>
          </p:cNvPr>
          <p:cNvGrpSpPr/>
          <p:nvPr/>
        </p:nvGrpSpPr>
        <p:grpSpPr>
          <a:xfrm>
            <a:off x="4111398" y="5037319"/>
            <a:ext cx="3969204" cy="800219"/>
            <a:chOff x="2412274" y="5037319"/>
            <a:chExt cx="3969204" cy="800219"/>
          </a:xfrm>
        </p:grpSpPr>
        <p:graphicFrame>
          <p:nvGraphicFramePr>
            <p:cNvPr id="132" name="개체 131">
              <a:extLst>
                <a:ext uri="{FF2B5EF4-FFF2-40B4-BE49-F238E27FC236}">
                  <a16:creationId xmlns:a16="http://schemas.microsoft.com/office/drawing/2014/main" id="{9FC98366-1D7C-48F9-93D1-527067C4B9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0261022"/>
                </p:ext>
              </p:extLst>
            </p:nvPr>
          </p:nvGraphicFramePr>
          <p:xfrm>
            <a:off x="4844778" y="5059825"/>
            <a:ext cx="1536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0" name="Equation" r:id="rId3" imgW="1536480" imgH="330120" progId="Equation.DSMT4">
                    <p:embed/>
                  </p:oleObj>
                </mc:Choice>
                <mc:Fallback>
                  <p:oleObj name="Equation" r:id="rId3" imgW="1536480" imgH="330120" progId="Equation.DSMT4">
                    <p:embed/>
                    <p:pic>
                      <p:nvPicPr>
                        <p:cNvPr id="7" name="개체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4778" y="5059825"/>
                          <a:ext cx="15367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" name="개체 132">
              <a:extLst>
                <a:ext uri="{FF2B5EF4-FFF2-40B4-BE49-F238E27FC236}">
                  <a16:creationId xmlns:a16="http://schemas.microsoft.com/office/drawing/2014/main" id="{DED84557-07CB-4695-8535-72D8B6BB16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8888343"/>
                </p:ext>
              </p:extLst>
            </p:nvPr>
          </p:nvGraphicFramePr>
          <p:xfrm>
            <a:off x="4846367" y="5436960"/>
            <a:ext cx="1473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21" name="Equation" r:id="rId5" imgW="1473120" imgH="355320" progId="Equation.DSMT4">
                    <p:embed/>
                  </p:oleObj>
                </mc:Choice>
                <mc:Fallback>
                  <p:oleObj name="Equation" r:id="rId5" imgW="1473120" imgH="355320" progId="Equation.DSMT4">
                    <p:embed/>
                    <p:pic>
                      <p:nvPicPr>
                        <p:cNvPr id="8" name="개체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6367" y="5436960"/>
                          <a:ext cx="14732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A31E115C-7FD8-4E58-8C5A-97D8B490B710}"/>
                </a:ext>
              </a:extLst>
            </p:cNvPr>
            <p:cNvSpPr/>
            <p:nvPr/>
          </p:nvSpPr>
          <p:spPr>
            <a:xfrm>
              <a:off x="2412274" y="5037319"/>
              <a:ext cx="2316480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1200"/>
                </a:spcBef>
              </a:pPr>
              <a:r>
                <a:rPr lang="ko-KR" altLang="en-US" kern="0" dirty="0">
                  <a:solidFill>
                    <a:srgbClr val="000000"/>
                  </a:solidFill>
                </a:rPr>
                <a:t>조건 </a:t>
              </a:r>
              <a:r>
                <a:rPr lang="en-US" altLang="ko-KR" kern="0" dirty="0">
                  <a:solidFill>
                    <a:srgbClr val="000000"/>
                  </a:solidFill>
                </a:rPr>
                <a:t>1</a:t>
              </a:r>
              <a:r>
                <a:rPr lang="ko-KR" altLang="en-US" kern="0" dirty="0">
                  <a:solidFill>
                    <a:srgbClr val="000000"/>
                  </a:solidFill>
                </a:rPr>
                <a:t>이 만족할 확률</a:t>
              </a:r>
            </a:p>
            <a:p>
              <a:pPr fontAlgn="base" latinLnBrk="0">
                <a:spcBef>
                  <a:spcPts val="1200"/>
                </a:spcBef>
              </a:pPr>
              <a:r>
                <a:rPr lang="ko-KR" altLang="en-US" kern="0" dirty="0">
                  <a:solidFill>
                    <a:srgbClr val="000000"/>
                  </a:solidFill>
                </a:rPr>
                <a:t>조건 </a:t>
              </a:r>
              <a:r>
                <a:rPr lang="en-US" altLang="ko-KR" kern="0" dirty="0">
                  <a:solidFill>
                    <a:srgbClr val="000000"/>
                  </a:solidFill>
                </a:rPr>
                <a:t>2</a:t>
              </a:r>
              <a:r>
                <a:rPr lang="ko-KR" altLang="en-US" kern="0" dirty="0">
                  <a:solidFill>
                    <a:srgbClr val="000000"/>
                  </a:solidFill>
                </a:rPr>
                <a:t>가 만족할 확률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364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DFE9199-C70D-4A28-9369-B3E93B5DFB7C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EEA4D3E-CBA8-40F9-846E-D7E04986DD19}"/>
              </a:ext>
            </a:extLst>
          </p:cNvPr>
          <p:cNvSpPr/>
          <p:nvPr/>
        </p:nvSpPr>
        <p:spPr>
          <a:xfrm>
            <a:off x="438868" y="1457352"/>
            <a:ext cx="115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조건 </a:t>
            </a:r>
            <a:r>
              <a:rPr lang="en-US" altLang="ko-KR" dirty="0"/>
              <a:t>1</a:t>
            </a:r>
            <a:r>
              <a:rPr lang="ko-KR" altLang="en-US" dirty="0"/>
              <a:t>과 조건 </a:t>
            </a:r>
            <a:r>
              <a:rPr lang="en-US" altLang="ko-KR" dirty="0"/>
              <a:t>2</a:t>
            </a:r>
            <a:r>
              <a:rPr lang="ko-KR" altLang="en-US" dirty="0"/>
              <a:t>를 만족시킬 확률을 구하고</a:t>
            </a:r>
            <a:r>
              <a:rPr lang="en-US" altLang="ko-KR" dirty="0"/>
              <a:t>, </a:t>
            </a:r>
            <a:r>
              <a:rPr lang="ko-KR" altLang="en-US" dirty="0"/>
              <a:t>이를 통해 암호 퍼즐의 난이도를 총 </a:t>
            </a:r>
            <a:r>
              <a:rPr lang="en-US" altLang="ko-KR" dirty="0"/>
              <a:t>380</a:t>
            </a:r>
            <a:r>
              <a:rPr lang="ko-KR" altLang="en-US" dirty="0"/>
              <a:t>개로 세분화 함</a:t>
            </a:r>
            <a:r>
              <a:rPr lang="en-US" altLang="ko-KR" dirty="0"/>
              <a:t>.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기준 </a:t>
            </a:r>
            <a:r>
              <a:rPr lang="en-US" altLang="ko-KR" dirty="0"/>
              <a:t>1 _ </a:t>
            </a:r>
            <a:r>
              <a:rPr lang="ko-KR" altLang="en-US" dirty="0"/>
              <a:t>부호의 특징을 이용한 것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BFB32488-8CE9-4725-A39A-386B63AAC4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714059"/>
                  </p:ext>
                </p:extLst>
              </p:nvPr>
            </p:nvGraphicFramePr>
            <p:xfrm>
              <a:off x="789462" y="2060892"/>
              <a:ext cx="9454491" cy="3628706"/>
            </p:xfrm>
            <a:graphic>
              <a:graphicData uri="http://schemas.openxmlformats.org/drawingml/2006/table">
                <a:tbl>
                  <a:tblPr/>
                  <a:tblGrid>
                    <a:gridCol w="10677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667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86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656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106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54499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5437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Level</a:t>
                          </a: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ko-KR" altLang="en-US" sz="1800" b="1" i="1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b="1" i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ko-KR" sz="1800" b="1" i="1" kern="0" spc="0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ko-KR" altLang="en-US" sz="1800" b="1" i="1" kern="0" spc="0" baseline="-250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b="1" i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ko-KR" sz="1800" b="1" i="1" kern="0" spc="0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ko-KR" altLang="en-US" sz="1800" b="1" i="1" kern="0" spc="0" baseline="-250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8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집합 </a:t>
                          </a:r>
                          <a:r>
                            <a:rPr lang="en-US" altLang="ko-KR" sz="18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ko-KR" altLang="en-US" sz="18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800" b="1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3310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{10,12,…,20,22]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80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≈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3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.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07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−</m:t>
                                    </m:r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3310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{10,12,…,14,16}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80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≈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2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.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02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−</m:t>
                                    </m:r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4374">
                    <a:tc gridSpan="6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...</a:t>
                          </a: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2687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379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128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{34,94}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80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≈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5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.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12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−</m:t>
                                    </m:r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23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2687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380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128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{34}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80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≈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2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.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60</m:t>
                                </m:r>
                                <m:r>
                                  <a:rPr lang="en-US" altLang="ko-KR" sz="1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j-ea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−</m:t>
                                    </m:r>
                                    <m:r>
                                      <a:rPr lang="en-US" altLang="ko-KR" sz="1800" b="0" i="1" kern="0" spc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j-ea"/>
                                      </a:rPr>
                                      <m:t>23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BFB32488-8CE9-4725-A39A-386B63AAC4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714059"/>
                  </p:ext>
                </p:extLst>
              </p:nvPr>
            </p:nvGraphicFramePr>
            <p:xfrm>
              <a:off x="789462" y="2060892"/>
              <a:ext cx="9454491" cy="3628706"/>
            </p:xfrm>
            <a:graphic>
              <a:graphicData uri="http://schemas.openxmlformats.org/drawingml/2006/table">
                <a:tbl>
                  <a:tblPr/>
                  <a:tblGrid>
                    <a:gridCol w="10677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667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86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656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106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54499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5437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Level</a:t>
                          </a: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ko-KR" altLang="en-US" sz="1800" b="1" i="1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b="1" i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ko-KR" sz="1800" b="1" i="1" kern="0" spc="0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ko-KR" altLang="en-US" sz="1800" b="1" i="1" kern="0" spc="0" baseline="-250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b="1" i="1" kern="0" spc="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ko-KR" sz="1800" b="1" i="1" kern="0" spc="0" baseline="-25000" dirty="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ko-KR" altLang="en-US" sz="1800" b="1" i="1" kern="0" spc="0" baseline="-250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8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집합 </a:t>
                          </a:r>
                          <a:r>
                            <a:rPr lang="en-US" altLang="ko-KR" sz="18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ko-KR" altLang="en-US" sz="1800" b="1" i="1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800" b="1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CC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3310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{10,12,…,20,22]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667" t="-88462" r="-172" b="-386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3310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{10,12,…,14,16}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667" t="-188462" r="-172" b="-286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4374">
                    <a:tc gridSpan="6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...</a:t>
                          </a: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2687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379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128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{34,94}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667" t="-379612" r="-172" b="-1009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2687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380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128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ko-KR" sz="1800" kern="0" spc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j-ea"/>
                              <a:cs typeface="Times New Roman" panose="02020603050405020304" pitchFamily="18" charset="0"/>
                            </a:rPr>
                            <a:t>{34}</a:t>
                          </a:r>
                          <a:endParaRPr lang="ko-KR" altLang="en-US" sz="1800" kern="0" spc="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j-ea"/>
                            <a:cs typeface="Times New Roman" panose="02020603050405020304" pitchFamily="18" charset="0"/>
                          </a:endParaRPr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4770" marR="64770" marT="17907" marB="17907" anchor="ctr">
                        <a:lnL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159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667" t="-479612" r="-172" b="-9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42AB004D-E0E1-4F43-BCC2-F0082B27CD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281377"/>
              </p:ext>
            </p:extLst>
          </p:nvPr>
        </p:nvGraphicFramePr>
        <p:xfrm>
          <a:off x="7540821" y="2214458"/>
          <a:ext cx="1773606" cy="239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Equation" r:id="rId4" imgW="2628720" imgH="355320" progId="Equation.DSMT4">
                  <p:embed/>
                </p:oleObj>
              </mc:Choice>
              <mc:Fallback>
                <p:oleObj name="Equation" r:id="rId4" imgW="2628720" imgH="355320" progId="Equation.DSMT4">
                  <p:embed/>
                  <p:pic>
                    <p:nvPicPr>
                      <p:cNvPr id="5" name="개체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821" y="2214458"/>
                        <a:ext cx="1773606" cy="239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6AC981A-4583-4407-8862-11D41977C7EB}"/>
              </a:ext>
            </a:extLst>
          </p:cNvPr>
          <p:cNvSpPr txBox="1"/>
          <p:nvPr/>
        </p:nvSpPr>
        <p:spPr>
          <a:xfrm>
            <a:off x="10673178" y="2602911"/>
            <a:ext cx="822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600" b="1" dirty="0"/>
              <a:t>난이도</a:t>
            </a:r>
            <a:endParaRPr lang="en-US" altLang="ko-KR" sz="1600" b="1" dirty="0"/>
          </a:p>
          <a:p>
            <a:pPr>
              <a:defRPr/>
            </a:pPr>
            <a:r>
              <a:rPr lang="ko-KR" altLang="en-US" sz="1600" b="1" dirty="0"/>
              <a:t>하락</a:t>
            </a:r>
            <a:endParaRPr lang="en-US" altLang="ko-KR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AE06A8-6FF5-4CA0-80E5-805F8298B3BD}"/>
              </a:ext>
            </a:extLst>
          </p:cNvPr>
          <p:cNvSpPr txBox="1"/>
          <p:nvPr/>
        </p:nvSpPr>
        <p:spPr>
          <a:xfrm>
            <a:off x="10673178" y="5138556"/>
            <a:ext cx="822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1600" b="1" dirty="0"/>
              <a:t>난이도</a:t>
            </a:r>
            <a:endParaRPr lang="en-US" altLang="ko-KR" sz="1600" b="1" dirty="0"/>
          </a:p>
          <a:p>
            <a:pPr>
              <a:defRPr/>
            </a:pPr>
            <a:r>
              <a:rPr lang="ko-KR" altLang="en-US" sz="1600" b="1" dirty="0"/>
              <a:t>상승</a:t>
            </a:r>
            <a:endParaRPr lang="en-US" altLang="ko-KR" sz="1600" b="1" dirty="0"/>
          </a:p>
        </p:txBody>
      </p:sp>
      <p:sp>
        <p:nvSpPr>
          <p:cNvPr id="4" name="화살표: 위쪽/아래쪽 3">
            <a:extLst>
              <a:ext uri="{FF2B5EF4-FFF2-40B4-BE49-F238E27FC236}">
                <a16:creationId xmlns:a16="http://schemas.microsoft.com/office/drawing/2014/main" id="{FD76742A-74FD-4FB0-9F63-B53D4B6E3121}"/>
              </a:ext>
            </a:extLst>
          </p:cNvPr>
          <p:cNvSpPr/>
          <p:nvPr/>
        </p:nvSpPr>
        <p:spPr>
          <a:xfrm>
            <a:off x="10345783" y="2621280"/>
            <a:ext cx="235131" cy="3068317"/>
          </a:xfrm>
          <a:prstGeom prst="upDownArrow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67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DFE9199-C70D-4A28-9369-B3E93B5DFB7C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EEA4D3E-CBA8-40F9-846E-D7E04986DD19}"/>
              </a:ext>
            </a:extLst>
          </p:cNvPr>
          <p:cNvSpPr/>
          <p:nvPr/>
        </p:nvSpPr>
        <p:spPr>
          <a:xfrm>
            <a:off x="438868" y="1457352"/>
            <a:ext cx="109776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합성 함수의 출력 값을 다시 한번 </a:t>
            </a:r>
            <a:r>
              <a:rPr lang="ko-KR" altLang="en-US" dirty="0" err="1"/>
              <a:t>해싱하여</a:t>
            </a:r>
            <a:r>
              <a:rPr lang="ko-KR" altLang="en-US" dirty="0"/>
              <a:t> 나온 결과 값으로 판단함</a:t>
            </a:r>
            <a:r>
              <a:rPr lang="en-US" altLang="ko-KR" dirty="0"/>
              <a:t>.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기준 </a:t>
            </a:r>
            <a:r>
              <a:rPr lang="en-US" altLang="ko-KR" dirty="0"/>
              <a:t>2 _ </a:t>
            </a:r>
            <a:r>
              <a:rPr lang="ko-KR" altLang="en-US" dirty="0"/>
              <a:t>기존 작업 증명 것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버전</a:t>
            </a:r>
            <a:r>
              <a:rPr lang="en-US" altLang="ko-KR" dirty="0"/>
              <a:t>1.0 </a:t>
            </a:r>
            <a:r>
              <a:rPr lang="ko-KR" altLang="en-US" dirty="0"/>
              <a:t>개발 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370D4696-521C-4E2D-B056-2EA94E81C5FA}"/>
              </a:ext>
            </a:extLst>
          </p:cNvPr>
          <p:cNvGrpSpPr/>
          <p:nvPr/>
        </p:nvGrpSpPr>
        <p:grpSpPr>
          <a:xfrm>
            <a:off x="854060" y="1957263"/>
            <a:ext cx="10562413" cy="3403222"/>
            <a:chOff x="854060" y="1947103"/>
            <a:chExt cx="10562413" cy="3403222"/>
          </a:xfrm>
        </p:grpSpPr>
        <p:sp>
          <p:nvSpPr>
            <p:cNvPr id="75" name="모서리가 둥근 직사각형 26">
              <a:extLst>
                <a:ext uri="{FF2B5EF4-FFF2-40B4-BE49-F238E27FC236}">
                  <a16:creationId xmlns:a16="http://schemas.microsoft.com/office/drawing/2014/main" id="{2466B5B3-93BB-4CAD-A0F0-EE15F73BC901}"/>
                </a:ext>
              </a:extLst>
            </p:cNvPr>
            <p:cNvSpPr/>
            <p:nvPr/>
          </p:nvSpPr>
          <p:spPr>
            <a:xfrm>
              <a:off x="3027246" y="2511827"/>
              <a:ext cx="5852594" cy="15013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lt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6EA5B77-AB98-4F71-B869-E8A1CE605829}"/>
                </a:ext>
              </a:extLst>
            </p:cNvPr>
            <p:cNvSpPr/>
            <p:nvPr/>
          </p:nvSpPr>
          <p:spPr>
            <a:xfrm>
              <a:off x="854060" y="1947103"/>
              <a:ext cx="1637498" cy="764701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 err="1">
                  <a:solidFill>
                    <a:srgbClr val="0255B8"/>
                  </a:solidFill>
                </a:rPr>
                <a:t>논스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 </a:t>
              </a:r>
              <a:r>
                <a:rPr lang="ko-KR" altLang="en-US" sz="1600" b="1" dirty="0" err="1">
                  <a:solidFill>
                    <a:srgbClr val="0255B8"/>
                  </a:solidFill>
                </a:rPr>
                <a:t>생성기</a:t>
              </a:r>
              <a:endParaRPr lang="ko-KR" altLang="en-US" sz="1600" b="1" dirty="0">
                <a:solidFill>
                  <a:srgbClr val="0255B8"/>
                </a:solidFill>
              </a:endParaRPr>
            </a:p>
            <a:p>
              <a:pPr algn="ctr"/>
              <a:r>
                <a:rPr lang="en-US" altLang="ko-KR" sz="1400" dirty="0">
                  <a:solidFill>
                    <a:srgbClr val="0255B8"/>
                  </a:solidFill>
                </a:rPr>
                <a:t>(Nonce Generator)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61C6C97-FF49-490D-B10A-CE3B227CAE15}"/>
                </a:ext>
              </a:extLst>
            </p:cNvPr>
            <p:cNvSpPr/>
            <p:nvPr/>
          </p:nvSpPr>
          <p:spPr>
            <a:xfrm>
              <a:off x="6124749" y="2975064"/>
              <a:ext cx="2449532" cy="764701"/>
            </a:xfrm>
            <a:prstGeom prst="rect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bg1"/>
                  </a:solidFill>
                </a:rPr>
                <a:t>오류 정정 부호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디코더</a:t>
              </a:r>
              <a:endParaRPr lang="ko-KR" altLang="en-US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600" b="1" dirty="0">
                  <a:solidFill>
                    <a:schemeClr val="bg1"/>
                  </a:solidFill>
                </a:rPr>
                <a:t>e.g., LDPC </a:t>
              </a:r>
              <a:r>
                <a:rPr lang="ko-KR" altLang="en-US" sz="1600" b="1" dirty="0" err="1">
                  <a:solidFill>
                    <a:schemeClr val="bg1"/>
                  </a:solidFill>
                </a:rPr>
                <a:t>디코더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3284E0FB-0F48-4381-8174-CB479F62E304}"/>
                </a:ext>
              </a:extLst>
            </p:cNvPr>
            <p:cNvSpPr/>
            <p:nvPr/>
          </p:nvSpPr>
          <p:spPr>
            <a:xfrm>
              <a:off x="3371752" y="2975064"/>
              <a:ext cx="1637498" cy="7647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 err="1">
                  <a:solidFill>
                    <a:srgbClr val="0255B8"/>
                  </a:solidFill>
                </a:rPr>
                <a:t>해쉬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 알고리즘</a:t>
              </a:r>
              <a:r>
                <a:rPr lang="en-US" altLang="ko-KR" sz="1600" b="1" dirty="0">
                  <a:solidFill>
                    <a:srgbClr val="0255B8"/>
                  </a:solidFill>
                </a:rPr>
                <a:t>, </a:t>
              </a:r>
            </a:p>
            <a:p>
              <a:pPr algn="ctr"/>
              <a:r>
                <a:rPr lang="en-US" altLang="ko-KR" sz="1600" b="1" dirty="0">
                  <a:solidFill>
                    <a:srgbClr val="0255B8"/>
                  </a:solidFill>
                </a:rPr>
                <a:t>e.g., SHA256</a:t>
              </a: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A7FFD3E4-D4E2-4A04-9A26-725E09BDDF0E}"/>
                </a:ext>
              </a:extLst>
            </p:cNvPr>
            <p:cNvCxnSpPr/>
            <p:nvPr/>
          </p:nvCxnSpPr>
          <p:spPr>
            <a:xfrm>
              <a:off x="5009250" y="3357415"/>
              <a:ext cx="1115499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9CB8AB7A-0A6C-4B65-BCE0-DCFB970B98F4}"/>
                </a:ext>
              </a:extLst>
            </p:cNvPr>
            <p:cNvSpPr/>
            <p:nvPr/>
          </p:nvSpPr>
          <p:spPr>
            <a:xfrm>
              <a:off x="5143645" y="3420275"/>
              <a:ext cx="846707" cy="3385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600" b="1" dirty="0" err="1"/>
                <a:t>해쉬</a:t>
              </a:r>
              <a:r>
                <a:rPr lang="ko-KR" altLang="en-US" sz="1600" b="1" dirty="0"/>
                <a:t> 값</a:t>
              </a:r>
              <a:endParaRPr lang="en-US" altLang="ko-KR" sz="1600" b="1" dirty="0"/>
            </a:p>
          </p:txBody>
        </p: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B47E44E2-700E-4718-AE38-926A96984833}"/>
                </a:ext>
              </a:extLst>
            </p:cNvPr>
            <p:cNvCxnSpPr/>
            <p:nvPr/>
          </p:nvCxnSpPr>
          <p:spPr>
            <a:xfrm>
              <a:off x="8580949" y="3357415"/>
              <a:ext cx="1115499" cy="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332F008-4267-4EAB-B144-1804FB74E222}"/>
                </a:ext>
              </a:extLst>
            </p:cNvPr>
            <p:cNvSpPr/>
            <p:nvPr/>
          </p:nvSpPr>
          <p:spPr>
            <a:xfrm>
              <a:off x="9703116" y="2975064"/>
              <a:ext cx="1637498" cy="764701"/>
            </a:xfrm>
            <a:prstGeom prst="rect">
              <a:avLst/>
            </a:prstGeom>
            <a:noFill/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 err="1">
                  <a:solidFill>
                    <a:srgbClr val="0255B8"/>
                  </a:solidFill>
                </a:rPr>
                <a:t>해쉬</a:t>
              </a:r>
              <a:r>
                <a:rPr lang="ko-KR" altLang="en-US" sz="1600" b="1" dirty="0">
                  <a:solidFill>
                    <a:srgbClr val="0255B8"/>
                  </a:solidFill>
                </a:rPr>
                <a:t> 알고리즘</a:t>
              </a:r>
              <a:r>
                <a:rPr lang="en-US" altLang="ko-KR" sz="1600" b="1" dirty="0">
                  <a:solidFill>
                    <a:srgbClr val="0255B8"/>
                  </a:solidFill>
                </a:rPr>
                <a:t>, </a:t>
              </a:r>
            </a:p>
            <a:p>
              <a:pPr algn="ctr"/>
              <a:r>
                <a:rPr lang="en-US" altLang="ko-KR" sz="1600" b="1" dirty="0">
                  <a:solidFill>
                    <a:srgbClr val="0255B8"/>
                  </a:solidFill>
                </a:rPr>
                <a:t>e.g., SHA256</a:t>
              </a:r>
            </a:p>
          </p:txBody>
        </p:sp>
        <p:sp>
          <p:nvSpPr>
            <p:cNvPr id="59" name="다이아몬드 58">
              <a:extLst>
                <a:ext uri="{FF2B5EF4-FFF2-40B4-BE49-F238E27FC236}">
                  <a16:creationId xmlns:a16="http://schemas.microsoft.com/office/drawing/2014/main" id="{CCA14131-49C2-498E-B66C-A22D661D32CA}"/>
                </a:ext>
              </a:extLst>
            </p:cNvPr>
            <p:cNvSpPr/>
            <p:nvPr/>
          </p:nvSpPr>
          <p:spPr>
            <a:xfrm>
              <a:off x="9703116" y="4163784"/>
              <a:ext cx="1637498" cy="764701"/>
            </a:xfrm>
            <a:prstGeom prst="diamond">
              <a:avLst/>
            </a:prstGeom>
            <a:solidFill>
              <a:srgbClr val="0255B8"/>
            </a:solidFill>
            <a:ln w="6350">
              <a:solidFill>
                <a:srgbClr val="0255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1600" b="1" err="1">
                  <a:solidFill>
                    <a:schemeClr val="bg1"/>
                  </a:solidFill>
                </a:rPr>
                <a:t>해쉬</a:t>
              </a:r>
              <a:r>
                <a:rPr lang="ko-KR" altLang="en-US" sz="1600" b="1">
                  <a:solidFill>
                    <a:schemeClr val="bg1"/>
                  </a:solidFill>
                </a:rPr>
                <a:t> 값</a:t>
              </a:r>
              <a:endParaRPr lang="en-US" altLang="ko-KR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ko-KR" sz="1600" b="1">
                  <a:solidFill>
                    <a:schemeClr val="bg1"/>
                  </a:solidFill>
                </a:rPr>
                <a:t>&lt; Target</a:t>
              </a:r>
              <a:endParaRPr lang="en-US" altLang="ko-KR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7" name="연결선: 꺾임 6">
              <a:extLst>
                <a:ext uri="{FF2B5EF4-FFF2-40B4-BE49-F238E27FC236}">
                  <a16:creationId xmlns:a16="http://schemas.microsoft.com/office/drawing/2014/main" id="{431E01F9-BEC2-4CF7-B051-3D601F1F2EAF}"/>
                </a:ext>
              </a:extLst>
            </p:cNvPr>
            <p:cNvCxnSpPr>
              <a:stCxn id="59" idx="1"/>
              <a:endCxn id="42" idx="2"/>
            </p:cNvCxnSpPr>
            <p:nvPr/>
          </p:nvCxnSpPr>
          <p:spPr>
            <a:xfrm rot="10800000">
              <a:off x="1672810" y="2711805"/>
              <a:ext cx="8030307" cy="1834331"/>
            </a:xfrm>
            <a:prstGeom prst="bentConnector2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3E2EF1B6-4433-4AC5-9CA9-E458F0A147A0}"/>
                </a:ext>
              </a:extLst>
            </p:cNvPr>
            <p:cNvSpPr/>
            <p:nvPr/>
          </p:nvSpPr>
          <p:spPr>
            <a:xfrm>
              <a:off x="2865120" y="2346959"/>
              <a:ext cx="499964" cy="1007100"/>
            </a:xfrm>
            <a:custGeom>
              <a:avLst/>
              <a:gdLst>
                <a:gd name="connsiteX0" fmla="*/ 0 w 528320"/>
                <a:gd name="connsiteY0" fmla="*/ 0 h 680720"/>
                <a:gd name="connsiteX1" fmla="*/ 0 w 528320"/>
                <a:gd name="connsiteY1" fmla="*/ 680720 h 680720"/>
                <a:gd name="connsiteX2" fmla="*/ 528320 w 528320"/>
                <a:gd name="connsiteY2" fmla="*/ 680720 h 68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8320" h="680720">
                  <a:moveTo>
                    <a:pt x="0" y="0"/>
                  </a:moveTo>
                  <a:lnTo>
                    <a:pt x="0" y="680720"/>
                  </a:lnTo>
                  <a:lnTo>
                    <a:pt x="528320" y="680720"/>
                  </a:lnTo>
                </a:path>
              </a:pathLst>
            </a:cu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F92AA871-9477-4439-8587-65EEE2A47C20}"/>
                </a:ext>
              </a:extLst>
            </p:cNvPr>
            <p:cNvSpPr/>
            <p:nvPr/>
          </p:nvSpPr>
          <p:spPr>
            <a:xfrm>
              <a:off x="5352035" y="4537875"/>
              <a:ext cx="4299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600" b="1" dirty="0"/>
                <a:t>No</a:t>
              </a: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A13A6120-0C33-4C11-A2C2-04B0CA7964A4}"/>
                </a:ext>
              </a:extLst>
            </p:cNvPr>
            <p:cNvSpPr/>
            <p:nvPr/>
          </p:nvSpPr>
          <p:spPr>
            <a:xfrm>
              <a:off x="2500276" y="1955179"/>
              <a:ext cx="72968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600" b="1" dirty="0"/>
                <a:t>Nonce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8FE9E8FE-E540-4CB8-9351-2FE47AAC94C5}"/>
                </a:ext>
              </a:extLst>
            </p:cNvPr>
            <p:cNvSpPr/>
            <p:nvPr/>
          </p:nvSpPr>
          <p:spPr>
            <a:xfrm>
              <a:off x="10569766" y="3844939"/>
              <a:ext cx="84670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1600" b="1" dirty="0" err="1"/>
                <a:t>해쉬</a:t>
              </a:r>
              <a:r>
                <a:rPr lang="ko-KR" altLang="en-US" sz="1600" b="1" dirty="0"/>
                <a:t> 값</a:t>
              </a:r>
              <a:endParaRPr lang="en-US" altLang="ko-KR" sz="1600" b="1" dirty="0"/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4C12564E-6F33-4B02-A3B8-6E4A21F9E678}"/>
                </a:ext>
              </a:extLst>
            </p:cNvPr>
            <p:cNvCxnSpPr>
              <a:stCxn id="58" idx="2"/>
            </p:cNvCxnSpPr>
            <p:nvPr/>
          </p:nvCxnSpPr>
          <p:spPr>
            <a:xfrm>
              <a:off x="10521865" y="3739765"/>
              <a:ext cx="0" cy="43200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5D6663F9-A7C3-4707-89FE-86906ECCF33B}"/>
                </a:ext>
              </a:extLst>
            </p:cNvPr>
            <p:cNvSpPr/>
            <p:nvPr/>
          </p:nvSpPr>
          <p:spPr>
            <a:xfrm>
              <a:off x="5041053" y="2576995"/>
              <a:ext cx="105189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600" b="1" dirty="0"/>
                <a:t>합성 함수</a:t>
              </a:r>
              <a:endParaRPr lang="en-US" altLang="ko-KR" sz="1600" b="1" dirty="0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AB89795F-326D-4C38-991C-7263353F53DC}"/>
                </a:ext>
              </a:extLst>
            </p:cNvPr>
            <p:cNvSpPr/>
            <p:nvPr/>
          </p:nvSpPr>
          <p:spPr>
            <a:xfrm>
              <a:off x="10569766" y="4982859"/>
              <a:ext cx="45999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600" b="1" dirty="0"/>
                <a:t>Yes</a:t>
              </a:r>
            </a:p>
          </p:txBody>
        </p: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1553D8BF-8AD8-4AF4-8EC2-A38D6E3B909A}"/>
                </a:ext>
              </a:extLst>
            </p:cNvPr>
            <p:cNvCxnSpPr/>
            <p:nvPr/>
          </p:nvCxnSpPr>
          <p:spPr>
            <a:xfrm>
              <a:off x="10521865" y="4918325"/>
              <a:ext cx="0" cy="432000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36D85A5-E3CF-4F46-8DB3-C67FA410AC82}"/>
              </a:ext>
            </a:extLst>
          </p:cNvPr>
          <p:cNvSpPr/>
          <p:nvPr/>
        </p:nvSpPr>
        <p:spPr>
          <a:xfrm>
            <a:off x="438868" y="4972712"/>
            <a:ext cx="10977605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암호 퍼즐의 난이도는 </a:t>
            </a:r>
            <a:r>
              <a:rPr lang="en-US" altLang="ko-KR" dirty="0"/>
              <a:t>Target </a:t>
            </a:r>
            <a:r>
              <a:rPr lang="ko-KR" altLang="en-US" dirty="0"/>
              <a:t>값에 의해 결정됨</a:t>
            </a:r>
            <a:r>
              <a:rPr lang="en-US" altLang="ko-KR" dirty="0"/>
              <a:t>.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/>
              <a:t>Target </a:t>
            </a:r>
            <a:r>
              <a:rPr lang="ko-KR" altLang="en-US" dirty="0"/>
              <a:t>값을 증가 시키면 난이도 하락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/>
              <a:t>Target </a:t>
            </a:r>
            <a:r>
              <a:rPr lang="ko-KR" altLang="en-US" dirty="0"/>
              <a:t>값을 감소 시키면 난이도 상승 </a:t>
            </a:r>
          </a:p>
        </p:txBody>
      </p:sp>
      <p:sp>
        <p:nvSpPr>
          <p:cNvPr id="82" name="자유형: 도형 81">
            <a:extLst>
              <a:ext uri="{FF2B5EF4-FFF2-40B4-BE49-F238E27FC236}">
                <a16:creationId xmlns:a16="http://schemas.microsoft.com/office/drawing/2014/main" id="{EFE52F28-E524-4178-AE71-9B0030203D67}"/>
              </a:ext>
            </a:extLst>
          </p:cNvPr>
          <p:cNvSpPr/>
          <p:nvPr/>
        </p:nvSpPr>
        <p:spPr>
          <a:xfrm>
            <a:off x="2489200" y="2346960"/>
            <a:ext cx="6786880" cy="1016000"/>
          </a:xfrm>
          <a:custGeom>
            <a:avLst/>
            <a:gdLst>
              <a:gd name="connsiteX0" fmla="*/ 0 w 6786880"/>
              <a:gd name="connsiteY0" fmla="*/ 0 h 1016000"/>
              <a:gd name="connsiteX1" fmla="*/ 6786880 w 6786880"/>
              <a:gd name="connsiteY1" fmla="*/ 0 h 1016000"/>
              <a:gd name="connsiteX2" fmla="*/ 6786880 w 6786880"/>
              <a:gd name="connsiteY2" fmla="*/ 101600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86880" h="1016000">
                <a:moveTo>
                  <a:pt x="0" y="0"/>
                </a:moveTo>
                <a:lnTo>
                  <a:pt x="6786880" y="0"/>
                </a:lnTo>
                <a:lnTo>
                  <a:pt x="6786880" y="1016000"/>
                </a:lnTo>
              </a:path>
            </a:pathLst>
          </a:custGeom>
          <a:ln w="19050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50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DFE9199-C70D-4A28-9369-B3E93B5DFB7C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9EEA4D3E-CBA8-40F9-846E-D7E04986DD19}"/>
              </a:ext>
            </a:extLst>
          </p:cNvPr>
          <p:cNvSpPr/>
          <p:nvPr/>
        </p:nvSpPr>
        <p:spPr>
          <a:xfrm>
            <a:off x="438868" y="1457352"/>
            <a:ext cx="10977605" cy="710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 err="1">
                <a:latin typeface="+mn-ea"/>
              </a:rPr>
              <a:t>ECCPoW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암호 퍼즐의 난이도를 </a:t>
            </a:r>
            <a:r>
              <a:rPr lang="en-US" altLang="ko-KR" dirty="0">
                <a:latin typeface="+mn-ea"/>
              </a:rPr>
              <a:t>380</a:t>
            </a:r>
            <a:r>
              <a:rPr lang="ko-KR" altLang="en-US">
                <a:latin typeface="+mn-ea"/>
              </a:rPr>
              <a:t>개로 세분화</a:t>
            </a:r>
            <a:endParaRPr lang="en-US" altLang="ko-KR" dirty="0">
              <a:latin typeface="+mn-ea"/>
            </a:endParaRP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 err="1">
                <a:latin typeface="+mn-ea"/>
              </a:rPr>
              <a:t>nBits</a:t>
            </a:r>
            <a:r>
              <a:rPr lang="ko-KR" altLang="en-US" dirty="0">
                <a:latin typeface="+mn-ea"/>
              </a:rPr>
              <a:t>를 이용해 </a:t>
            </a:r>
            <a:r>
              <a:rPr lang="en-US" altLang="ko-KR" dirty="0">
                <a:latin typeface="+mn-ea"/>
              </a:rPr>
              <a:t>difficulty</a:t>
            </a:r>
            <a:r>
              <a:rPr lang="ko-KR" altLang="en-US" dirty="0">
                <a:latin typeface="+mn-ea"/>
              </a:rPr>
              <a:t>를 계산하고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이 </a:t>
            </a:r>
            <a:r>
              <a:rPr lang="en-US" altLang="ko-KR" dirty="0">
                <a:latin typeface="+mn-ea"/>
              </a:rPr>
              <a:t>difficulty </a:t>
            </a:r>
            <a:r>
              <a:rPr lang="ko-KR" altLang="en-US" dirty="0">
                <a:latin typeface="+mn-ea"/>
              </a:rPr>
              <a:t>값을 이용해 기 제작된 난이도 </a:t>
            </a:r>
            <a:r>
              <a:rPr lang="ko-KR" altLang="en-US">
                <a:latin typeface="+mn-ea"/>
              </a:rPr>
              <a:t>테이블로 맵핑</a:t>
            </a:r>
            <a:endParaRPr lang="en-US" altLang="ko-KR" dirty="0">
              <a:latin typeface="+mn-ea"/>
            </a:endParaRP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/>
              <a:t>BTCECC </a:t>
            </a:r>
            <a:r>
              <a:rPr lang="ko-KR" altLang="en-US" dirty="0"/>
              <a:t>난이도 조절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암호화폐</a:t>
            </a:r>
            <a:r>
              <a:rPr lang="en-US" altLang="ko-KR" dirty="0"/>
              <a:t>(</a:t>
            </a:r>
            <a:r>
              <a:rPr lang="ko-KR" altLang="en-US" dirty="0" err="1"/>
              <a:t>비트코인</a:t>
            </a:r>
            <a:r>
              <a:rPr lang="en-US" altLang="ko-KR" dirty="0"/>
              <a:t>) </a:t>
            </a:r>
            <a:r>
              <a:rPr lang="ko-KR" altLang="en-US" dirty="0"/>
              <a:t>시스템에 적용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934E3E-883D-44EC-B3DE-20168881FFD5}"/>
              </a:ext>
            </a:extLst>
          </p:cNvPr>
          <p:cNvSpPr txBox="1"/>
          <p:nvPr/>
        </p:nvSpPr>
        <p:spPr>
          <a:xfrm>
            <a:off x="4216450" y="2862193"/>
            <a:ext cx="3546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휴먼명조" panose="02010504000101010101" pitchFamily="2" charset="-127"/>
                <a:ea typeface="휴먼명조" panose="02010504000101010101" pitchFamily="2" charset="-127"/>
              </a:rPr>
              <a:t>ECCPoW</a:t>
            </a:r>
            <a:r>
              <a:rPr lang="en-US" altLang="ko-KR" sz="1600" dirty="0">
                <a:latin typeface="휴먼명조" panose="02010504000101010101" pitchFamily="2" charset="-127"/>
                <a:ea typeface="휴먼명조" panose="02010504000101010101" pitchFamily="2" charset="-127"/>
              </a:rPr>
              <a:t> </a:t>
            </a:r>
            <a:r>
              <a:rPr lang="ko-KR" altLang="en-US" sz="1600" dirty="0">
                <a:latin typeface="휴먼명조" panose="02010504000101010101" pitchFamily="2" charset="-127"/>
                <a:ea typeface="휴먼명조" panose="02010504000101010101" pitchFamily="2" charset="-127"/>
              </a:rPr>
              <a:t>암호 퍼즐 난이도로 맵핑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3512AE6-5604-499E-83DF-1D0E7E296CE1}"/>
              </a:ext>
            </a:extLst>
          </p:cNvPr>
          <p:cNvGrpSpPr/>
          <p:nvPr/>
        </p:nvGrpSpPr>
        <p:grpSpPr>
          <a:xfrm>
            <a:off x="3487635" y="2873689"/>
            <a:ext cx="191734" cy="315562"/>
            <a:chOff x="3219970" y="2049848"/>
            <a:chExt cx="819826" cy="1646582"/>
          </a:xfrm>
        </p:grpSpPr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3CF03029-B0C4-4E60-8AD8-BD13AA24C618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C166D615-D447-47B4-9E87-E0FE7343DD4A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BC44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9" name="타원 28">
            <a:extLst>
              <a:ext uri="{FF2B5EF4-FFF2-40B4-BE49-F238E27FC236}">
                <a16:creationId xmlns:a16="http://schemas.microsoft.com/office/drawing/2014/main" id="{873C42AC-C8CA-4F3E-9569-C3E251411B92}"/>
              </a:ext>
            </a:extLst>
          </p:cNvPr>
          <p:cNvSpPr/>
          <p:nvPr/>
        </p:nvSpPr>
        <p:spPr>
          <a:xfrm>
            <a:off x="3785359" y="2832788"/>
            <a:ext cx="397364" cy="397364"/>
          </a:xfrm>
          <a:prstGeom prst="ellipse">
            <a:avLst/>
          </a:prstGeom>
          <a:solidFill>
            <a:srgbClr val="BC4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01</a:t>
            </a:r>
            <a:endParaRPr lang="ko-KR" altLang="en-US" b="1" dirty="0"/>
          </a:p>
        </p:txBody>
      </p:sp>
      <p:pic>
        <p:nvPicPr>
          <p:cNvPr id="30" name="_x214996240" descr="EMB000038c40ccc">
            <a:extLst>
              <a:ext uri="{FF2B5EF4-FFF2-40B4-BE49-F238E27FC236}">
                <a16:creationId xmlns:a16="http://schemas.microsoft.com/office/drawing/2014/main" id="{29180342-E092-419C-BD0F-02B0D79FAE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04" b="2477"/>
          <a:stretch/>
        </p:blipFill>
        <p:spPr bwMode="auto">
          <a:xfrm>
            <a:off x="760252" y="2243729"/>
            <a:ext cx="2644797" cy="200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12C4681-2414-48BF-8831-8FE24B992A89}"/>
              </a:ext>
            </a:extLst>
          </p:cNvPr>
          <p:cNvSpPr txBox="1"/>
          <p:nvPr/>
        </p:nvSpPr>
        <p:spPr>
          <a:xfrm>
            <a:off x="4216450" y="3547993"/>
            <a:ext cx="3546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휴먼명조" panose="02010504000101010101" pitchFamily="2" charset="-127"/>
                <a:ea typeface="휴먼명조" panose="02010504000101010101" pitchFamily="2" charset="-127"/>
              </a:rPr>
              <a:t>현재는 </a:t>
            </a:r>
            <a:r>
              <a:rPr lang="en-US" altLang="ko-KR" sz="1600" dirty="0">
                <a:latin typeface="휴먼명조" panose="02010504000101010101" pitchFamily="2" charset="-127"/>
                <a:ea typeface="휴먼명조" panose="02010504000101010101" pitchFamily="2" charset="-127"/>
              </a:rPr>
              <a:t>380</a:t>
            </a:r>
            <a:r>
              <a:rPr lang="ko-KR" altLang="en-US" sz="1600" dirty="0">
                <a:latin typeface="휴먼명조" panose="02010504000101010101" pitchFamily="2" charset="-127"/>
                <a:ea typeface="휴먼명조" panose="02010504000101010101" pitchFamily="2" charset="-127"/>
              </a:rPr>
              <a:t>레벨만 지원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233F1F7-0CF2-4B17-8AC7-034A4480568B}"/>
              </a:ext>
            </a:extLst>
          </p:cNvPr>
          <p:cNvGrpSpPr/>
          <p:nvPr/>
        </p:nvGrpSpPr>
        <p:grpSpPr>
          <a:xfrm>
            <a:off x="3487635" y="3559489"/>
            <a:ext cx="191734" cy="315562"/>
            <a:chOff x="3219970" y="2049848"/>
            <a:chExt cx="819826" cy="1646582"/>
          </a:xfrm>
        </p:grpSpPr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01483DED-4CF3-4BF6-BBED-EDC61A2A66AC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FB72D986-E615-480B-8411-5F5CAD996704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94B7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5" name="타원 34">
            <a:extLst>
              <a:ext uri="{FF2B5EF4-FFF2-40B4-BE49-F238E27FC236}">
                <a16:creationId xmlns:a16="http://schemas.microsoft.com/office/drawing/2014/main" id="{343747CF-A49C-4BF3-BB2A-8A76B040FB0A}"/>
              </a:ext>
            </a:extLst>
          </p:cNvPr>
          <p:cNvSpPr/>
          <p:nvPr/>
        </p:nvSpPr>
        <p:spPr>
          <a:xfrm>
            <a:off x="3785359" y="3518588"/>
            <a:ext cx="397364" cy="397364"/>
          </a:xfrm>
          <a:prstGeom prst="ellipse">
            <a:avLst/>
          </a:prstGeom>
          <a:solidFill>
            <a:srgbClr val="94B7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02</a:t>
            </a:r>
            <a:endParaRPr lang="ko-KR" altLang="en-US" b="1" dirty="0"/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E46D5B01-E370-46F3-9B66-7CFFAD681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032545"/>
              </p:ext>
            </p:extLst>
          </p:nvPr>
        </p:nvGraphicFramePr>
        <p:xfrm>
          <a:off x="8456020" y="3938594"/>
          <a:ext cx="3113547" cy="1694568"/>
        </p:xfrm>
        <a:graphic>
          <a:graphicData uri="http://schemas.openxmlformats.org/drawingml/2006/table">
            <a:tbl>
              <a:tblPr/>
              <a:tblGrid>
                <a:gridCol w="562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88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Level</a:t>
                      </a: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i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endParaRPr lang="ko-KR" altLang="en-US" sz="1400" b="1" i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i="1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ko-KR" sz="1400" b="1" i="1" kern="0" spc="0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1400" b="1" i="1" kern="0" spc="0" baseline="-250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i="1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altLang="ko-KR" sz="1400" b="1" i="1" kern="0" spc="0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r</a:t>
                      </a:r>
                      <a:endParaRPr lang="ko-KR" altLang="en-US" sz="1400" b="1" i="1" kern="0" spc="0" baseline="-2500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집합 </a:t>
                      </a:r>
                      <a:r>
                        <a:rPr lang="en-US" altLang="ko-KR" sz="1400" b="1" i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ko-KR" altLang="en-US" sz="1400" b="1" i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5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32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{10,12,…,20,22]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5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32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{10,12,…,14,16}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887">
                <a:tc grid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...</a:t>
                      </a: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7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379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128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{34,94}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7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380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128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  <a:cs typeface="Times New Roman" panose="02020603050405020304" pitchFamily="18" charset="0"/>
                        </a:rPr>
                        <a:t>{34}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4770" marR="64770" marT="17907" marB="17907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AC1C7AF0-EC8A-4EDF-843E-A9CD96AE075A}"/>
              </a:ext>
            </a:extLst>
          </p:cNvPr>
          <p:cNvSpPr/>
          <p:nvPr/>
        </p:nvSpPr>
        <p:spPr>
          <a:xfrm>
            <a:off x="3150337" y="5870418"/>
            <a:ext cx="1656184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j-lt"/>
                <a:ea typeface="휴먼명조" panose="02010504000101010101" pitchFamily="2" charset="-127"/>
              </a:rPr>
              <a:t>Log2(difficulty)</a:t>
            </a:r>
            <a:r>
              <a:rPr lang="ko-KR" altLang="en-US" sz="1400" dirty="0">
                <a:latin typeface="+mj-lt"/>
                <a:ea typeface="휴먼명조" panose="02010504000101010101" pitchFamily="2" charset="-127"/>
              </a:rPr>
              <a:t>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176E55-2CD6-4312-9A5E-3EBDC2FA3973}"/>
              </a:ext>
            </a:extLst>
          </p:cNvPr>
          <p:cNvSpPr txBox="1"/>
          <p:nvPr/>
        </p:nvSpPr>
        <p:spPr>
          <a:xfrm>
            <a:off x="917842" y="5850673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j-lt"/>
                <a:ea typeface="휴먼명조" panose="02010504000101010101" pitchFamily="2" charset="-127"/>
              </a:rPr>
              <a:t>0</a:t>
            </a:r>
            <a:endParaRPr lang="ko-KR" altLang="en-US" sz="1400" dirty="0">
              <a:latin typeface="+mj-lt"/>
              <a:ea typeface="휴먼명조" panose="02010504000101010101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8B9B3E-EA70-47FB-868C-40A3EBD54A55}"/>
              </a:ext>
            </a:extLst>
          </p:cNvPr>
          <p:cNvSpPr txBox="1"/>
          <p:nvPr/>
        </p:nvSpPr>
        <p:spPr>
          <a:xfrm>
            <a:off x="5884387" y="5850673"/>
            <a:ext cx="2063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+mj-lt"/>
                <a:ea typeface="휴먼명조" panose="02010504000101010101" pitchFamily="2" charset="-127"/>
              </a:rPr>
              <a:t>Log2(</a:t>
            </a:r>
            <a:r>
              <a:rPr lang="en-US" altLang="ko-KR" sz="1400" dirty="0" err="1">
                <a:latin typeface="+mj-lt"/>
                <a:ea typeface="휴먼명조" panose="02010504000101010101" pitchFamily="2" charset="-127"/>
              </a:rPr>
              <a:t>max_target</a:t>
            </a:r>
            <a:r>
              <a:rPr lang="en-US" altLang="ko-KR" sz="1400" dirty="0">
                <a:latin typeface="+mj-lt"/>
                <a:ea typeface="휴먼명조" panose="02010504000101010101" pitchFamily="2" charset="-127"/>
              </a:rPr>
              <a:t>)</a:t>
            </a:r>
            <a:endParaRPr lang="ko-KR" altLang="en-US" sz="1400" dirty="0">
              <a:latin typeface="+mj-lt"/>
              <a:ea typeface="휴먼명조" panose="02010504000101010101" pitchFamily="2" charset="-127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A6B14B92-1B5A-4274-89DD-53EFCB88D68C}"/>
              </a:ext>
            </a:extLst>
          </p:cNvPr>
          <p:cNvSpPr/>
          <p:nvPr/>
        </p:nvSpPr>
        <p:spPr>
          <a:xfrm>
            <a:off x="966649" y="5817326"/>
            <a:ext cx="6810103" cy="0"/>
          </a:xfrm>
          <a:custGeom>
            <a:avLst/>
            <a:gdLst>
              <a:gd name="connsiteX0" fmla="*/ 6540138 w 6540138"/>
              <a:gd name="connsiteY0" fmla="*/ 0 h 0"/>
              <a:gd name="connsiteX1" fmla="*/ 0 w 654013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540138">
                <a:moveTo>
                  <a:pt x="6540138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4343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8141EB1-5A88-4260-8865-BA95B6309776}"/>
              </a:ext>
            </a:extLst>
          </p:cNvPr>
          <p:cNvGrpSpPr/>
          <p:nvPr/>
        </p:nvGrpSpPr>
        <p:grpSpPr>
          <a:xfrm>
            <a:off x="966650" y="5643155"/>
            <a:ext cx="992778" cy="139336"/>
            <a:chOff x="1018904" y="5521234"/>
            <a:chExt cx="992778" cy="139336"/>
          </a:xfrm>
        </p:grpSpPr>
        <p:sp>
          <p:nvSpPr>
            <p:cNvPr id="7" name="오른쪽 대괄호 6">
              <a:extLst>
                <a:ext uri="{FF2B5EF4-FFF2-40B4-BE49-F238E27FC236}">
                  <a16:creationId xmlns:a16="http://schemas.microsoft.com/office/drawing/2014/main" id="{A802CF6A-0357-447A-99C4-2048CA2C06E7}"/>
                </a:ext>
              </a:extLst>
            </p:cNvPr>
            <p:cNvSpPr/>
            <p:nvPr/>
          </p:nvSpPr>
          <p:spPr>
            <a:xfrm rot="16200000">
              <a:off x="1188722" y="5351416"/>
              <a:ext cx="139336" cy="478971"/>
            </a:xfrm>
            <a:prstGeom prst="rightBracket">
              <a:avLst>
                <a:gd name="adj" fmla="val 87879"/>
              </a:avLst>
            </a:prstGeom>
            <a:ln w="12700">
              <a:solidFill>
                <a:srgbClr val="4343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오른쪽 대괄호 42">
              <a:extLst>
                <a:ext uri="{FF2B5EF4-FFF2-40B4-BE49-F238E27FC236}">
                  <a16:creationId xmlns:a16="http://schemas.microsoft.com/office/drawing/2014/main" id="{34BB7514-E28A-417D-B010-9C4626037B40}"/>
                </a:ext>
              </a:extLst>
            </p:cNvPr>
            <p:cNvSpPr/>
            <p:nvPr/>
          </p:nvSpPr>
          <p:spPr>
            <a:xfrm rot="16200000">
              <a:off x="1702529" y="5351416"/>
              <a:ext cx="139336" cy="478971"/>
            </a:xfrm>
            <a:prstGeom prst="rightBracket">
              <a:avLst>
                <a:gd name="adj" fmla="val 87879"/>
              </a:avLst>
            </a:prstGeom>
            <a:ln w="12700">
              <a:solidFill>
                <a:srgbClr val="4343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094B0A8-D90A-4D79-B906-7CE3C5C08759}"/>
              </a:ext>
            </a:extLst>
          </p:cNvPr>
          <p:cNvGrpSpPr/>
          <p:nvPr/>
        </p:nvGrpSpPr>
        <p:grpSpPr>
          <a:xfrm>
            <a:off x="6783974" y="5643155"/>
            <a:ext cx="992778" cy="139336"/>
            <a:chOff x="1018904" y="5521234"/>
            <a:chExt cx="992778" cy="139336"/>
          </a:xfrm>
        </p:grpSpPr>
        <p:sp>
          <p:nvSpPr>
            <p:cNvPr id="46" name="오른쪽 대괄호 45">
              <a:extLst>
                <a:ext uri="{FF2B5EF4-FFF2-40B4-BE49-F238E27FC236}">
                  <a16:creationId xmlns:a16="http://schemas.microsoft.com/office/drawing/2014/main" id="{8F2F2DFF-D206-4089-A5EE-853E6191E93B}"/>
                </a:ext>
              </a:extLst>
            </p:cNvPr>
            <p:cNvSpPr/>
            <p:nvPr/>
          </p:nvSpPr>
          <p:spPr>
            <a:xfrm rot="16200000">
              <a:off x="1188722" y="5351416"/>
              <a:ext cx="139336" cy="478971"/>
            </a:xfrm>
            <a:prstGeom prst="rightBracket">
              <a:avLst>
                <a:gd name="adj" fmla="val 87879"/>
              </a:avLst>
            </a:prstGeom>
            <a:ln w="12700">
              <a:solidFill>
                <a:srgbClr val="4343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오른쪽 대괄호 46">
              <a:extLst>
                <a:ext uri="{FF2B5EF4-FFF2-40B4-BE49-F238E27FC236}">
                  <a16:creationId xmlns:a16="http://schemas.microsoft.com/office/drawing/2014/main" id="{9C140BF5-E6DF-481C-B052-13D1809E6602}"/>
                </a:ext>
              </a:extLst>
            </p:cNvPr>
            <p:cNvSpPr/>
            <p:nvPr/>
          </p:nvSpPr>
          <p:spPr>
            <a:xfrm rot="16200000">
              <a:off x="1702529" y="5351416"/>
              <a:ext cx="139336" cy="478971"/>
            </a:xfrm>
            <a:prstGeom prst="rightBracket">
              <a:avLst>
                <a:gd name="adj" fmla="val 87879"/>
              </a:avLst>
            </a:prstGeom>
            <a:ln w="12700">
              <a:solidFill>
                <a:srgbClr val="4343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BC715428-1830-4F53-A6C3-67B9B2233784}"/>
              </a:ext>
            </a:extLst>
          </p:cNvPr>
          <p:cNvSpPr/>
          <p:nvPr/>
        </p:nvSpPr>
        <p:spPr>
          <a:xfrm>
            <a:off x="7036523" y="5207726"/>
            <a:ext cx="1323703" cy="444137"/>
          </a:xfrm>
          <a:custGeom>
            <a:avLst/>
            <a:gdLst>
              <a:gd name="connsiteX0" fmla="*/ 0 w 1323703"/>
              <a:gd name="connsiteY0" fmla="*/ 444137 h 444137"/>
              <a:gd name="connsiteX1" fmla="*/ 0 w 1323703"/>
              <a:gd name="connsiteY1" fmla="*/ 0 h 444137"/>
              <a:gd name="connsiteX2" fmla="*/ 1323703 w 1323703"/>
              <a:gd name="connsiteY2" fmla="*/ 0 h 44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3703" h="444137">
                <a:moveTo>
                  <a:pt x="0" y="444137"/>
                </a:moveTo>
                <a:lnTo>
                  <a:pt x="0" y="0"/>
                </a:lnTo>
                <a:lnTo>
                  <a:pt x="1323703" y="0"/>
                </a:lnTo>
              </a:path>
            </a:pathLst>
          </a:custGeom>
          <a:noFill/>
          <a:ln w="19050">
            <a:solidFill>
              <a:srgbClr val="434348"/>
            </a:solidFill>
            <a:prstDash val="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10E1EAA2-66A7-44CF-BE12-4B7A46842933}"/>
              </a:ext>
            </a:extLst>
          </p:cNvPr>
          <p:cNvSpPr/>
          <p:nvPr/>
        </p:nvSpPr>
        <p:spPr>
          <a:xfrm>
            <a:off x="7532913" y="5442858"/>
            <a:ext cx="827314" cy="209005"/>
          </a:xfrm>
          <a:custGeom>
            <a:avLst/>
            <a:gdLst>
              <a:gd name="connsiteX0" fmla="*/ 0 w 1323703"/>
              <a:gd name="connsiteY0" fmla="*/ 444137 h 444137"/>
              <a:gd name="connsiteX1" fmla="*/ 0 w 1323703"/>
              <a:gd name="connsiteY1" fmla="*/ 0 h 444137"/>
              <a:gd name="connsiteX2" fmla="*/ 1323703 w 1323703"/>
              <a:gd name="connsiteY2" fmla="*/ 0 h 44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3703" h="444137">
                <a:moveTo>
                  <a:pt x="0" y="444137"/>
                </a:moveTo>
                <a:lnTo>
                  <a:pt x="0" y="0"/>
                </a:lnTo>
                <a:lnTo>
                  <a:pt x="1323703" y="0"/>
                </a:lnTo>
              </a:path>
            </a:pathLst>
          </a:custGeom>
          <a:noFill/>
          <a:ln w="19050">
            <a:solidFill>
              <a:srgbClr val="434348"/>
            </a:solidFill>
            <a:prstDash val="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7CEDC748-B7E8-4F4D-8FC3-E17A749F28D8}"/>
              </a:ext>
            </a:extLst>
          </p:cNvPr>
          <p:cNvSpPr/>
          <p:nvPr/>
        </p:nvSpPr>
        <p:spPr>
          <a:xfrm>
            <a:off x="1219197" y="4328161"/>
            <a:ext cx="7141030" cy="1306285"/>
          </a:xfrm>
          <a:custGeom>
            <a:avLst/>
            <a:gdLst>
              <a:gd name="connsiteX0" fmla="*/ 0 w 1323703"/>
              <a:gd name="connsiteY0" fmla="*/ 444137 h 444137"/>
              <a:gd name="connsiteX1" fmla="*/ 0 w 1323703"/>
              <a:gd name="connsiteY1" fmla="*/ 0 h 444137"/>
              <a:gd name="connsiteX2" fmla="*/ 1323703 w 1323703"/>
              <a:gd name="connsiteY2" fmla="*/ 0 h 44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3703" h="444137">
                <a:moveTo>
                  <a:pt x="0" y="444137"/>
                </a:moveTo>
                <a:lnTo>
                  <a:pt x="0" y="0"/>
                </a:lnTo>
                <a:lnTo>
                  <a:pt x="1323703" y="0"/>
                </a:lnTo>
              </a:path>
            </a:pathLst>
          </a:custGeom>
          <a:noFill/>
          <a:ln w="19050">
            <a:solidFill>
              <a:srgbClr val="434348"/>
            </a:solidFill>
            <a:prstDash val="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1C9C3FD4-8489-4C6C-9FFE-F811E0D701EB}"/>
              </a:ext>
            </a:extLst>
          </p:cNvPr>
          <p:cNvSpPr/>
          <p:nvPr/>
        </p:nvSpPr>
        <p:spPr>
          <a:xfrm>
            <a:off x="1736499" y="4632961"/>
            <a:ext cx="6623728" cy="1000201"/>
          </a:xfrm>
          <a:custGeom>
            <a:avLst/>
            <a:gdLst>
              <a:gd name="connsiteX0" fmla="*/ 0 w 1323703"/>
              <a:gd name="connsiteY0" fmla="*/ 444137 h 444137"/>
              <a:gd name="connsiteX1" fmla="*/ 0 w 1323703"/>
              <a:gd name="connsiteY1" fmla="*/ 0 h 444137"/>
              <a:gd name="connsiteX2" fmla="*/ 1323703 w 1323703"/>
              <a:gd name="connsiteY2" fmla="*/ 0 h 44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3703" h="444137">
                <a:moveTo>
                  <a:pt x="0" y="444137"/>
                </a:moveTo>
                <a:lnTo>
                  <a:pt x="0" y="0"/>
                </a:lnTo>
                <a:lnTo>
                  <a:pt x="1323703" y="0"/>
                </a:lnTo>
              </a:path>
            </a:pathLst>
          </a:custGeom>
          <a:noFill/>
          <a:ln w="19050">
            <a:solidFill>
              <a:srgbClr val="434348"/>
            </a:solidFill>
            <a:prstDash val="dash"/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/>
              <a:t>BTCECC </a:t>
            </a:r>
            <a:r>
              <a:rPr lang="ko-KR" altLang="en-US" dirty="0"/>
              <a:t>블록 탐색기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암호화폐</a:t>
            </a:r>
            <a:r>
              <a:rPr lang="en-US" altLang="ko-KR" dirty="0"/>
              <a:t>(</a:t>
            </a:r>
            <a:r>
              <a:rPr lang="ko-KR" altLang="en-US" dirty="0" err="1"/>
              <a:t>비트코인</a:t>
            </a:r>
            <a:r>
              <a:rPr lang="en-US" altLang="ko-KR" dirty="0"/>
              <a:t>) </a:t>
            </a:r>
            <a:r>
              <a:rPr lang="ko-KR" altLang="en-US" dirty="0"/>
              <a:t>시스템에 적용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C484506-7A4A-4E15-A5AD-3C36E328E6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29575"/>
          <a:stretch/>
        </p:blipFill>
        <p:spPr>
          <a:xfrm>
            <a:off x="1848692" y="1277122"/>
            <a:ext cx="8494616" cy="187724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7EDD72F6-D7EF-4D49-8A42-603E6707A18B}"/>
              </a:ext>
            </a:extLst>
          </p:cNvPr>
          <p:cNvGrpSpPr/>
          <p:nvPr/>
        </p:nvGrpSpPr>
        <p:grpSpPr>
          <a:xfrm>
            <a:off x="1848691" y="3850764"/>
            <a:ext cx="8494615" cy="2287434"/>
            <a:chOff x="1374472" y="3850764"/>
            <a:chExt cx="8363404" cy="2287434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A3E74F0-BBF0-4768-9A2B-69ED7FC3B6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4581" b="70045"/>
            <a:stretch/>
          </p:blipFill>
          <p:spPr>
            <a:xfrm>
              <a:off x="1374472" y="3850764"/>
              <a:ext cx="4104456" cy="228743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16E2E59-A3B4-4F5D-83A0-4023EAB377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0646" r="2922" b="33443"/>
            <a:stretch/>
          </p:blipFill>
          <p:spPr>
            <a:xfrm>
              <a:off x="5633420" y="3850764"/>
              <a:ext cx="4104456" cy="228743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</p:pic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6B6B4C-B337-4268-B124-1AC239D54B2D}"/>
              </a:ext>
            </a:extLst>
          </p:cNvPr>
          <p:cNvSpPr/>
          <p:nvPr/>
        </p:nvSpPr>
        <p:spPr>
          <a:xfrm>
            <a:off x="1848691" y="2081349"/>
            <a:ext cx="476498" cy="37446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6D45F2F-FD75-4D12-A0C8-B5A6315C07AC}"/>
              </a:ext>
            </a:extLst>
          </p:cNvPr>
          <p:cNvSpPr/>
          <p:nvPr/>
        </p:nvSpPr>
        <p:spPr>
          <a:xfrm>
            <a:off x="1848691" y="3840480"/>
            <a:ext cx="607126" cy="1828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867010-88D4-49C3-9635-D4C2BB3E40CA}"/>
              </a:ext>
            </a:extLst>
          </p:cNvPr>
          <p:cNvSpPr/>
          <p:nvPr/>
        </p:nvSpPr>
        <p:spPr>
          <a:xfrm>
            <a:off x="1848690" y="4023360"/>
            <a:ext cx="4168849" cy="1828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987D8F0-BBD3-4819-BCF4-3F5AC5802FF9}"/>
              </a:ext>
            </a:extLst>
          </p:cNvPr>
          <p:cNvSpPr/>
          <p:nvPr/>
        </p:nvSpPr>
        <p:spPr>
          <a:xfrm>
            <a:off x="6176851" y="3840480"/>
            <a:ext cx="607126" cy="1828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B1F1DE-68E1-4FB4-8847-6BD645D5E1D2}"/>
              </a:ext>
            </a:extLst>
          </p:cNvPr>
          <p:cNvSpPr/>
          <p:nvPr/>
        </p:nvSpPr>
        <p:spPr>
          <a:xfrm>
            <a:off x="4630418" y="4231886"/>
            <a:ext cx="148470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100" b="1" dirty="0">
                <a:solidFill>
                  <a:srgbClr val="C00000"/>
                </a:solidFill>
                <a:latin typeface="+mj-lt"/>
                <a:ea typeface="+mj-ea"/>
              </a:rPr>
              <a:t>100</a:t>
            </a:r>
            <a:r>
              <a:rPr lang="ko-KR" altLang="en-US" sz="1100" b="1" dirty="0">
                <a:solidFill>
                  <a:srgbClr val="C00000"/>
                </a:solidFill>
                <a:latin typeface="+mj-lt"/>
                <a:ea typeface="+mj-ea"/>
              </a:rPr>
              <a:t>번째 블록 </a:t>
            </a:r>
            <a:r>
              <a:rPr lang="ko-KR" altLang="en-US" sz="1100" b="1" dirty="0" err="1">
                <a:solidFill>
                  <a:srgbClr val="C00000"/>
                </a:solidFill>
                <a:latin typeface="+mj-lt"/>
                <a:ea typeface="+mj-ea"/>
              </a:rPr>
              <a:t>해쉬</a:t>
            </a:r>
            <a:r>
              <a:rPr lang="ko-KR" altLang="en-US" sz="1100" b="1" dirty="0">
                <a:solidFill>
                  <a:srgbClr val="C00000"/>
                </a:solidFill>
                <a:latin typeface="+mj-lt"/>
                <a:ea typeface="+mj-ea"/>
              </a:rPr>
              <a:t> 값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770F0C4-551E-426F-88AE-83519CA4AC36}"/>
              </a:ext>
            </a:extLst>
          </p:cNvPr>
          <p:cNvSpPr/>
          <p:nvPr/>
        </p:nvSpPr>
        <p:spPr>
          <a:xfrm>
            <a:off x="2061498" y="3335774"/>
            <a:ext cx="11849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b="1" dirty="0">
                <a:solidFill>
                  <a:srgbClr val="C00000"/>
                </a:solidFill>
                <a:latin typeface="휴먼명조" panose="02010504000101010101" pitchFamily="2" charset="-127"/>
                <a:ea typeface="휴먼명조" panose="02010504000101010101" pitchFamily="2" charset="-127"/>
              </a:rPr>
              <a:t>100</a:t>
            </a:r>
            <a:r>
              <a:rPr lang="ko-KR" altLang="en-US" sz="1100" b="1" dirty="0">
                <a:solidFill>
                  <a:srgbClr val="C00000"/>
                </a:solidFill>
                <a:latin typeface="휴먼명조" panose="02010504000101010101" pitchFamily="2" charset="-127"/>
                <a:ea typeface="휴먼명조" panose="02010504000101010101" pitchFamily="2" charset="-127"/>
              </a:rPr>
              <a:t>번째의 블록</a:t>
            </a: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BA5103CF-5AAD-4559-9A6F-D1D4C5EED713}"/>
              </a:ext>
            </a:extLst>
          </p:cNvPr>
          <p:cNvSpPr/>
          <p:nvPr/>
        </p:nvSpPr>
        <p:spPr>
          <a:xfrm>
            <a:off x="2066544" y="2456688"/>
            <a:ext cx="0" cy="1359408"/>
          </a:xfrm>
          <a:custGeom>
            <a:avLst/>
            <a:gdLst>
              <a:gd name="connsiteX0" fmla="*/ 0 w 0"/>
              <a:gd name="connsiteY0" fmla="*/ 0 h 1359408"/>
              <a:gd name="connsiteX1" fmla="*/ 0 w 0"/>
              <a:gd name="connsiteY1" fmla="*/ 1359408 h 1359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359408">
                <a:moveTo>
                  <a:pt x="0" y="0"/>
                </a:moveTo>
                <a:lnTo>
                  <a:pt x="0" y="1359408"/>
                </a:ln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C3EFCBD-9376-4508-A90D-E8D694F4C3FB}"/>
              </a:ext>
            </a:extLst>
          </p:cNvPr>
          <p:cNvSpPr/>
          <p:nvPr/>
        </p:nvSpPr>
        <p:spPr>
          <a:xfrm>
            <a:off x="1848690" y="4760976"/>
            <a:ext cx="4168849" cy="137722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627E701-E15A-4998-BC1F-44288252A52D}"/>
              </a:ext>
            </a:extLst>
          </p:cNvPr>
          <p:cNvSpPr/>
          <p:nvPr/>
        </p:nvSpPr>
        <p:spPr>
          <a:xfrm>
            <a:off x="4984682" y="6158222"/>
            <a:ext cx="113043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100" b="1" dirty="0">
                <a:solidFill>
                  <a:srgbClr val="C00000"/>
                </a:solidFill>
                <a:latin typeface="+mj-lt"/>
                <a:ea typeface="+mj-ea"/>
              </a:rPr>
              <a:t>블록 상세 정보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EA5961A-D0A5-4142-A419-AC01561EB6CB}"/>
              </a:ext>
            </a:extLst>
          </p:cNvPr>
          <p:cNvSpPr/>
          <p:nvPr/>
        </p:nvSpPr>
        <p:spPr>
          <a:xfrm>
            <a:off x="6037940" y="3536942"/>
            <a:ext cx="222208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b="1" dirty="0">
                <a:solidFill>
                  <a:srgbClr val="C00000"/>
                </a:solidFill>
                <a:latin typeface="+mj-lt"/>
                <a:ea typeface="+mj-ea"/>
              </a:rPr>
              <a:t>100</a:t>
            </a:r>
            <a:r>
              <a:rPr lang="ko-KR" altLang="en-US" sz="1100" b="1" dirty="0">
                <a:solidFill>
                  <a:srgbClr val="C00000"/>
                </a:solidFill>
                <a:latin typeface="+mj-lt"/>
                <a:ea typeface="+mj-ea"/>
              </a:rPr>
              <a:t>번째 블록에 담긴 트랜잭션 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E75278-FDC3-40D5-99A8-0390258E05B1}"/>
              </a:ext>
            </a:extLst>
          </p:cNvPr>
          <p:cNvSpPr/>
          <p:nvPr/>
        </p:nvSpPr>
        <p:spPr>
          <a:xfrm>
            <a:off x="1515292" y="6301881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 latinLnBrk="0"/>
            <a:r>
              <a:rPr lang="en-US" altLang="ko-KR" sz="1000" dirty="0"/>
              <a:t>* </a:t>
            </a:r>
            <a:r>
              <a:rPr lang="ko-KR" altLang="en-US" sz="1000" dirty="0"/>
              <a:t>블록체인 탐색기</a:t>
            </a:r>
            <a:r>
              <a:rPr lang="en-US" altLang="ko-KR" sz="1000" dirty="0"/>
              <a:t>(</a:t>
            </a:r>
            <a:r>
              <a:rPr lang="en-US" altLang="ko-KR" sz="1000" dirty="0"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http://15.164.244.139/blocks</a:t>
            </a:r>
            <a:r>
              <a:rPr lang="en-US" altLang="ko-KR" sz="1000" dirty="0"/>
              <a:t>)</a:t>
            </a:r>
            <a:r>
              <a:rPr lang="ko-KR" altLang="en-US" sz="1000" dirty="0"/>
              <a:t>에서 확인 가능</a:t>
            </a:r>
          </a:p>
        </p:txBody>
      </p:sp>
    </p:spTree>
    <p:extLst>
      <p:ext uri="{BB962C8B-B14F-4D97-AF65-F5344CB8AC3E}">
        <p14:creationId xmlns:p14="http://schemas.microsoft.com/office/powerpoint/2010/main" val="277612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모서리가 둥근 직사각형 26">
            <a:extLst>
              <a:ext uri="{FF2B5EF4-FFF2-40B4-BE49-F238E27FC236}">
                <a16:creationId xmlns:a16="http://schemas.microsoft.com/office/drawing/2014/main" id="{6A2F844D-50AA-4DC9-B1EC-57B8DC9369FF}"/>
              </a:ext>
            </a:extLst>
          </p:cNvPr>
          <p:cNvSpPr/>
          <p:nvPr/>
        </p:nvSpPr>
        <p:spPr>
          <a:xfrm>
            <a:off x="10110651" y="2173644"/>
            <a:ext cx="1746385" cy="18410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255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/>
              <a:t>BTCECC </a:t>
            </a:r>
            <a:r>
              <a:rPr lang="ko-KR" altLang="en-US" dirty="0"/>
              <a:t>난이도 조절 기능 검증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암호화폐</a:t>
            </a:r>
            <a:r>
              <a:rPr lang="en-US" altLang="ko-KR" dirty="0"/>
              <a:t>(</a:t>
            </a:r>
            <a:r>
              <a:rPr lang="ko-KR" altLang="en-US" dirty="0" err="1"/>
              <a:t>비트코인</a:t>
            </a:r>
            <a:r>
              <a:rPr lang="en-US" altLang="ko-KR" dirty="0"/>
              <a:t>) </a:t>
            </a:r>
            <a:r>
              <a:rPr lang="ko-KR" altLang="en-US" dirty="0"/>
              <a:t>시스템에 적용</a:t>
            </a:r>
          </a:p>
        </p:txBody>
      </p:sp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C95DD6D2-A25F-4ECA-98F9-BCAB246AE0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8489592"/>
              </p:ext>
            </p:extLst>
          </p:nvPr>
        </p:nvGraphicFramePr>
        <p:xfrm>
          <a:off x="334963" y="1891377"/>
          <a:ext cx="11529361" cy="2983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510AF77A-E72E-4577-AE97-7F0100720B5D}"/>
              </a:ext>
            </a:extLst>
          </p:cNvPr>
          <p:cNvSpPr/>
          <p:nvPr/>
        </p:nvSpPr>
        <p:spPr>
          <a:xfrm>
            <a:off x="203523" y="1593428"/>
            <a:ext cx="13869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400" b="1" i="0" u="none" strike="noStrike" kern="1200" baseline="0">
                <a:solidFill>
                  <a:prstClr val="black"/>
                </a:solidFill>
                <a:latin typeface="휴먼명조" panose="02010504000101010101" pitchFamily="2" charset="-127"/>
                <a:ea typeface="휴먼명조" panose="02010504000101010101" pitchFamily="2" charset="-127"/>
                <a:cs typeface="+mn-cs"/>
              </a:defRPr>
            </a:pPr>
            <a:r>
              <a:rPr lang="ko-KR" altLang="ko-KR" dirty="0">
                <a:latin typeface="+mj-lt"/>
                <a:ea typeface="+mj-ea"/>
              </a:rPr>
              <a:t>블록 생성 시간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3ED9278-6821-4FB0-891C-E3036FB8C050}"/>
              </a:ext>
            </a:extLst>
          </p:cNvPr>
          <p:cNvSpPr/>
          <p:nvPr/>
        </p:nvSpPr>
        <p:spPr>
          <a:xfrm>
            <a:off x="5632881" y="4475965"/>
            <a:ext cx="9428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400" b="1" i="0" u="none" strike="noStrike" kern="1200" baseline="0">
                <a:solidFill>
                  <a:prstClr val="black"/>
                </a:solidFill>
                <a:latin typeface="휴먼명조" panose="02010504000101010101" pitchFamily="2" charset="-127"/>
                <a:ea typeface="휴먼명조" panose="02010504000101010101" pitchFamily="2" charset="-127"/>
                <a:cs typeface="+mn-cs"/>
              </a:defRPr>
            </a:pPr>
            <a:r>
              <a:rPr lang="ko-KR" altLang="en-US" dirty="0">
                <a:latin typeface="+mj-lt"/>
                <a:ea typeface="+mj-ea"/>
              </a:rPr>
              <a:t>블록 높이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0D665B-EE4E-435C-A532-251473033D2F}"/>
              </a:ext>
            </a:extLst>
          </p:cNvPr>
          <p:cNvSpPr/>
          <p:nvPr/>
        </p:nvSpPr>
        <p:spPr>
          <a:xfrm>
            <a:off x="8267674" y="2147053"/>
            <a:ext cx="18405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400" b="1" dirty="0">
                <a:solidFill>
                  <a:prstClr val="black"/>
                </a:solidFill>
                <a:latin typeface="+mj-lt"/>
                <a:ea typeface="+mj-ea"/>
              </a:rPr>
              <a:t>목표시간접근구간 ▶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4FD32D6-3B17-4E1E-95D2-7F909D7EB07F}"/>
              </a:ext>
            </a:extLst>
          </p:cNvPr>
          <p:cNvSpPr/>
          <p:nvPr/>
        </p:nvSpPr>
        <p:spPr>
          <a:xfrm>
            <a:off x="438868" y="4949488"/>
            <a:ext cx="10977605" cy="1328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난이도 변경 높이 이전의 총 블록 생성시간을 계산하여 생성시간이 빠르면 난이도를 증가시키고 낮으면 난이도를 감소시킴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난이도 증감을 통해 목표 시간 접근 구간 확인 가능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위의 그래프는 블록체인 탐색기</a:t>
            </a:r>
            <a:r>
              <a:rPr lang="en-US" altLang="ko-KR" dirty="0"/>
              <a:t>(http://13.209.74.13/blocks)</a:t>
            </a:r>
            <a:r>
              <a:rPr lang="ko-KR" altLang="en-US" dirty="0"/>
              <a:t>를 통해 확인 가능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2F4823-F601-4BCC-B18A-0A0D8285EE08}"/>
              </a:ext>
            </a:extLst>
          </p:cNvPr>
          <p:cNvSpPr/>
          <p:nvPr/>
        </p:nvSpPr>
        <p:spPr>
          <a:xfrm>
            <a:off x="3048000" y="1198658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&lt;</a:t>
            </a:r>
            <a:r>
              <a:rPr lang="ko-KR" altLang="en-US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블록생성시간</a:t>
            </a:r>
            <a:r>
              <a:rPr lang="en-US" altLang="ko-KR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-</a:t>
            </a:r>
            <a:r>
              <a:rPr lang="ko-KR" altLang="en-US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블록높이 그래프</a:t>
            </a:r>
            <a:r>
              <a:rPr lang="en-US" altLang="ko-KR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(</a:t>
            </a:r>
            <a:r>
              <a:rPr lang="ko-KR" altLang="en-US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블록 생성 목표시간 </a:t>
            </a:r>
            <a:r>
              <a:rPr lang="en-US" altLang="ko-KR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2</a:t>
            </a:r>
            <a:r>
              <a:rPr lang="ko-KR" altLang="en-US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분</a:t>
            </a:r>
            <a:r>
              <a:rPr lang="en-US" altLang="ko-KR" sz="1600" b="1" kern="0" dirty="0">
                <a:solidFill>
                  <a:srgbClr val="000000"/>
                </a:solidFill>
                <a:ea typeface="+mj-ea"/>
                <a:cs typeface="Times New Roman" panose="02020603050405020304" pitchFamily="18" charset="0"/>
              </a:rPr>
              <a:t>)&gt;</a:t>
            </a:r>
          </a:p>
        </p:txBody>
      </p:sp>
    </p:spTree>
    <p:extLst>
      <p:ext uri="{BB962C8B-B14F-4D97-AF65-F5344CB8AC3E}">
        <p14:creationId xmlns:p14="http://schemas.microsoft.com/office/powerpoint/2010/main" val="106057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ko-KR" altLang="en-US" dirty="0"/>
              <a:t>가 적용된 </a:t>
            </a:r>
            <a:r>
              <a:rPr lang="ko-KR" altLang="en-US" dirty="0" err="1"/>
              <a:t>이더리움</a:t>
            </a:r>
            <a:r>
              <a:rPr lang="ko-KR" altLang="en-US" dirty="0"/>
              <a:t> 구현체 </a:t>
            </a:r>
            <a:r>
              <a:rPr lang="en-US" altLang="ko-KR" dirty="0"/>
              <a:t>(</a:t>
            </a:r>
            <a:r>
              <a:rPr lang="en-US" altLang="ko-KR" dirty="0" err="1"/>
              <a:t>Py-evm</a:t>
            </a:r>
            <a:r>
              <a:rPr lang="en-US" altLang="ko-KR" dirty="0"/>
              <a:t>)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</a:t>
            </a:r>
            <a:r>
              <a:rPr lang="ko-KR" altLang="en-US"/>
              <a:t>암호화폐</a:t>
            </a:r>
            <a:r>
              <a:rPr lang="en-US" altLang="ko-KR"/>
              <a:t>(</a:t>
            </a:r>
            <a:r>
              <a:rPr lang="ko-KR" altLang="en-US"/>
              <a:t>이더리움</a:t>
            </a:r>
            <a:r>
              <a:rPr lang="en-US" altLang="ko-KR"/>
              <a:t>) </a:t>
            </a:r>
            <a:r>
              <a:rPr lang="ko-KR" altLang="en-US" dirty="0"/>
              <a:t>시스템에 적용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6DEEBA-FF82-48B2-AE39-20F28577A985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6B7433-A32B-4ADA-9A3A-F425CDEB2FB7}"/>
              </a:ext>
            </a:extLst>
          </p:cNvPr>
          <p:cNvSpPr/>
          <p:nvPr/>
        </p:nvSpPr>
        <p:spPr>
          <a:xfrm>
            <a:off x="438868" y="1457352"/>
            <a:ext cx="109776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 err="1"/>
              <a:t>Cpython</a:t>
            </a:r>
            <a:r>
              <a:rPr lang="ko-KR" altLang="en-US" dirty="0"/>
              <a:t>을 이용하여 </a:t>
            </a:r>
            <a:r>
              <a:rPr lang="en-US" altLang="ko-KR" dirty="0" err="1"/>
              <a:t>ECCPoW</a:t>
            </a:r>
            <a:r>
              <a:rPr lang="ko-KR" altLang="en-US" dirty="0"/>
              <a:t>를 호출하는 코드</a:t>
            </a:r>
          </a:p>
        </p:txBody>
      </p:sp>
      <p:grpSp>
        <p:nvGrpSpPr>
          <p:cNvPr id="10" name="Google Shape;1752;g7a6da0afd1_0_0">
            <a:extLst>
              <a:ext uri="{FF2B5EF4-FFF2-40B4-BE49-F238E27FC236}">
                <a16:creationId xmlns:a16="http://schemas.microsoft.com/office/drawing/2014/main" id="{4758A438-FB47-FE42-83A1-D544279AC483}"/>
              </a:ext>
            </a:extLst>
          </p:cNvPr>
          <p:cNvGrpSpPr/>
          <p:nvPr/>
        </p:nvGrpSpPr>
        <p:grpSpPr>
          <a:xfrm>
            <a:off x="1165089" y="1893619"/>
            <a:ext cx="10161640" cy="4267484"/>
            <a:chOff x="2380825" y="636750"/>
            <a:chExt cx="7896073" cy="3433346"/>
          </a:xfrm>
        </p:grpSpPr>
        <p:pic>
          <p:nvPicPr>
            <p:cNvPr id="11" name="Google Shape;1753;g7a6da0afd1_0_0">
              <a:extLst>
                <a:ext uri="{FF2B5EF4-FFF2-40B4-BE49-F238E27FC236}">
                  <a16:creationId xmlns:a16="http://schemas.microsoft.com/office/drawing/2014/main" id="{5590C9FC-7A17-BA4F-9D40-7E0EB11C16B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12380" b="20870"/>
            <a:stretch/>
          </p:blipFill>
          <p:spPr>
            <a:xfrm>
              <a:off x="2380825" y="636750"/>
              <a:ext cx="4382350" cy="34333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754;g7a6da0afd1_0_0">
              <a:extLst>
                <a:ext uri="{FF2B5EF4-FFF2-40B4-BE49-F238E27FC236}">
                  <a16:creationId xmlns:a16="http://schemas.microsoft.com/office/drawing/2014/main" id="{7DD5CFAD-8E7E-8547-9AC0-DAC146C2ADC8}"/>
                </a:ext>
              </a:extLst>
            </p:cNvPr>
            <p:cNvSpPr/>
            <p:nvPr/>
          </p:nvSpPr>
          <p:spPr>
            <a:xfrm>
              <a:off x="2624800" y="686275"/>
              <a:ext cx="3933600" cy="806400"/>
            </a:xfrm>
            <a:prstGeom prst="rect">
              <a:avLst/>
            </a:prstGeom>
            <a:noFill/>
            <a:ln w="9525" cap="flat" cmpd="sng">
              <a:solidFill>
                <a:srgbClr val="BD44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55;g7a6da0afd1_0_0">
              <a:extLst>
                <a:ext uri="{FF2B5EF4-FFF2-40B4-BE49-F238E27FC236}">
                  <a16:creationId xmlns:a16="http://schemas.microsoft.com/office/drawing/2014/main" id="{0413675D-48D6-3B49-8085-5BEE52590119}"/>
                </a:ext>
              </a:extLst>
            </p:cNvPr>
            <p:cNvSpPr/>
            <p:nvPr/>
          </p:nvSpPr>
          <p:spPr>
            <a:xfrm>
              <a:off x="2624800" y="1510325"/>
              <a:ext cx="3933600" cy="449400"/>
            </a:xfrm>
            <a:prstGeom prst="rect">
              <a:avLst/>
            </a:prstGeom>
            <a:noFill/>
            <a:ln w="9525" cap="flat" cmpd="sng">
              <a:solidFill>
                <a:srgbClr val="91B3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56;g7a6da0afd1_0_0">
              <a:extLst>
                <a:ext uri="{FF2B5EF4-FFF2-40B4-BE49-F238E27FC236}">
                  <a16:creationId xmlns:a16="http://schemas.microsoft.com/office/drawing/2014/main" id="{690D6E78-E3A2-1C49-9EC3-6F4A7AEEA6B9}"/>
                </a:ext>
              </a:extLst>
            </p:cNvPr>
            <p:cNvSpPr/>
            <p:nvPr/>
          </p:nvSpPr>
          <p:spPr>
            <a:xfrm>
              <a:off x="2624800" y="1981675"/>
              <a:ext cx="3933600" cy="1994400"/>
            </a:xfrm>
            <a:prstGeom prst="rect">
              <a:avLst/>
            </a:prstGeom>
            <a:noFill/>
            <a:ln w="9525" cap="flat" cmpd="sng">
              <a:solidFill>
                <a:srgbClr val="3627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58;g7a6da0afd1_0_0">
              <a:extLst>
                <a:ext uri="{FF2B5EF4-FFF2-40B4-BE49-F238E27FC236}">
                  <a16:creationId xmlns:a16="http://schemas.microsoft.com/office/drawing/2014/main" id="{E363D891-A0C4-E543-92F7-EC422A53510F}"/>
                </a:ext>
              </a:extLst>
            </p:cNvPr>
            <p:cNvSpPr/>
            <p:nvPr/>
          </p:nvSpPr>
          <p:spPr>
            <a:xfrm>
              <a:off x="6475932" y="1969822"/>
              <a:ext cx="3800966" cy="3396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/>
            </a:p>
          </p:txBody>
        </p:sp>
        <p:sp>
          <p:nvSpPr>
            <p:cNvPr id="19" name="Google Shape;1759;g7a6da0afd1_0_0">
              <a:extLst>
                <a:ext uri="{FF2B5EF4-FFF2-40B4-BE49-F238E27FC236}">
                  <a16:creationId xmlns:a16="http://schemas.microsoft.com/office/drawing/2014/main" id="{B1C135E9-6AC7-3643-A868-2A6D6B29CBF0}"/>
                </a:ext>
              </a:extLst>
            </p:cNvPr>
            <p:cNvSpPr/>
            <p:nvPr/>
          </p:nvSpPr>
          <p:spPr>
            <a:xfrm>
              <a:off x="6475932" y="3236806"/>
              <a:ext cx="2641241" cy="3396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5E6C8B0-128C-1E49-87A6-676809B93E9F}"/>
              </a:ext>
            </a:extLst>
          </p:cNvPr>
          <p:cNvSpPr txBox="1"/>
          <p:nvPr/>
        </p:nvSpPr>
        <p:spPr>
          <a:xfrm>
            <a:off x="7553549" y="2266860"/>
            <a:ext cx="3546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난이도 설정 및 </a:t>
            </a:r>
            <a:r>
              <a:rPr lang="ko-KR" altLang="en-US" dirty="0" err="1"/>
              <a:t>마이닝</a:t>
            </a:r>
            <a:r>
              <a:rPr lang="ko-KR" altLang="en-US" dirty="0"/>
              <a:t> 준비</a:t>
            </a:r>
            <a:endParaRPr lang="ko-KR" altLang="en-US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EBB728-ACD6-EF4A-A428-39914059CCD6}"/>
              </a:ext>
            </a:extLst>
          </p:cNvPr>
          <p:cNvSpPr txBox="1"/>
          <p:nvPr/>
        </p:nvSpPr>
        <p:spPr>
          <a:xfrm>
            <a:off x="7553549" y="3070857"/>
            <a:ext cx="396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시드</a:t>
            </a:r>
            <a:r>
              <a:rPr lang="en-US" altLang="ko-KR"/>
              <a:t>,</a:t>
            </a:r>
            <a:r>
              <a:rPr lang="ko-KR" altLang="en-US"/>
              <a:t> 패리티 체크 행렬 </a:t>
            </a:r>
            <a:r>
              <a:rPr lang="ko-KR" altLang="en-US" dirty="0"/>
              <a:t>생성</a:t>
            </a:r>
            <a:endParaRPr lang="ko-KR" altLang="en-US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8A674E-2C86-274C-84E1-990C6AC93357}"/>
              </a:ext>
            </a:extLst>
          </p:cNvPr>
          <p:cNvSpPr txBox="1"/>
          <p:nvPr/>
        </p:nvSpPr>
        <p:spPr>
          <a:xfrm>
            <a:off x="7553549" y="4587432"/>
            <a:ext cx="430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만족하는 값을 찾을 때 까지 작업 반복</a:t>
            </a:r>
            <a:endParaRPr lang="ko-KR" altLang="en-US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69BC9AE-E103-464F-A44C-109B3FB2373C}"/>
              </a:ext>
            </a:extLst>
          </p:cNvPr>
          <p:cNvGrpSpPr/>
          <p:nvPr/>
        </p:nvGrpSpPr>
        <p:grpSpPr>
          <a:xfrm>
            <a:off x="6824734" y="2278356"/>
            <a:ext cx="191734" cy="315562"/>
            <a:chOff x="3219970" y="2049848"/>
            <a:chExt cx="819826" cy="1646582"/>
          </a:xfrm>
        </p:grpSpPr>
        <p:sp>
          <p:nvSpPr>
            <p:cNvPr id="27" name="자유형: 도형 49">
              <a:extLst>
                <a:ext uri="{FF2B5EF4-FFF2-40B4-BE49-F238E27FC236}">
                  <a16:creationId xmlns:a16="http://schemas.microsoft.com/office/drawing/2014/main" id="{D02AAE6B-144B-FD4D-A92C-660132CB84D3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8" name="자유형: 도형 53">
              <a:extLst>
                <a:ext uri="{FF2B5EF4-FFF2-40B4-BE49-F238E27FC236}">
                  <a16:creationId xmlns:a16="http://schemas.microsoft.com/office/drawing/2014/main" id="{C0EFB50A-4DC3-2D46-A485-71124E51C9A4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BC44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16C9780-B9C9-3449-8704-D3710FDCEE76}"/>
              </a:ext>
            </a:extLst>
          </p:cNvPr>
          <p:cNvGrpSpPr/>
          <p:nvPr/>
        </p:nvGrpSpPr>
        <p:grpSpPr>
          <a:xfrm>
            <a:off x="6824734" y="3082353"/>
            <a:ext cx="191734" cy="315562"/>
            <a:chOff x="3219970" y="2049848"/>
            <a:chExt cx="819826" cy="1646582"/>
          </a:xfrm>
        </p:grpSpPr>
        <p:sp>
          <p:nvSpPr>
            <p:cNvPr id="30" name="자유형: 도형 55">
              <a:extLst>
                <a:ext uri="{FF2B5EF4-FFF2-40B4-BE49-F238E27FC236}">
                  <a16:creationId xmlns:a16="http://schemas.microsoft.com/office/drawing/2014/main" id="{F096D9E8-0927-E14D-BAFA-16DC81F01267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1" name="자유형: 도형 56">
              <a:extLst>
                <a:ext uri="{FF2B5EF4-FFF2-40B4-BE49-F238E27FC236}">
                  <a16:creationId xmlns:a16="http://schemas.microsoft.com/office/drawing/2014/main" id="{0712D4BD-CDA7-FA44-B414-566E22BE84DE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94B7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9F5FA3F-147F-EE44-AE60-3DCA9AC45543}"/>
              </a:ext>
            </a:extLst>
          </p:cNvPr>
          <p:cNvGrpSpPr/>
          <p:nvPr/>
        </p:nvGrpSpPr>
        <p:grpSpPr>
          <a:xfrm>
            <a:off x="6824734" y="4598928"/>
            <a:ext cx="191734" cy="315562"/>
            <a:chOff x="3219970" y="2049848"/>
            <a:chExt cx="819826" cy="1646582"/>
          </a:xfrm>
        </p:grpSpPr>
        <p:sp>
          <p:nvSpPr>
            <p:cNvPr id="33" name="자유형: 도형 58">
              <a:extLst>
                <a:ext uri="{FF2B5EF4-FFF2-40B4-BE49-F238E27FC236}">
                  <a16:creationId xmlns:a16="http://schemas.microsoft.com/office/drawing/2014/main" id="{D8AFD594-545A-6A47-9550-BC2061B9A0F1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4" name="자유형: 도형 59">
              <a:extLst>
                <a:ext uri="{FF2B5EF4-FFF2-40B4-BE49-F238E27FC236}">
                  <a16:creationId xmlns:a16="http://schemas.microsoft.com/office/drawing/2014/main" id="{7EA398A7-D156-6E46-889D-8A928DF73963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3728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5" name="타원 34">
            <a:extLst>
              <a:ext uri="{FF2B5EF4-FFF2-40B4-BE49-F238E27FC236}">
                <a16:creationId xmlns:a16="http://schemas.microsoft.com/office/drawing/2014/main" id="{C07CA7EA-6B37-9448-92B2-133BCE790079}"/>
              </a:ext>
            </a:extLst>
          </p:cNvPr>
          <p:cNvSpPr/>
          <p:nvPr/>
        </p:nvSpPr>
        <p:spPr>
          <a:xfrm>
            <a:off x="7122458" y="2237455"/>
            <a:ext cx="397364" cy="397364"/>
          </a:xfrm>
          <a:prstGeom prst="ellipse">
            <a:avLst/>
          </a:prstGeom>
          <a:solidFill>
            <a:srgbClr val="BC4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01</a:t>
            </a:r>
            <a:endParaRPr lang="ko-KR" altLang="en-US" b="1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E4EEA85-8076-4B4B-827B-E738204AD976}"/>
              </a:ext>
            </a:extLst>
          </p:cNvPr>
          <p:cNvSpPr/>
          <p:nvPr/>
        </p:nvSpPr>
        <p:spPr>
          <a:xfrm>
            <a:off x="7122458" y="3041452"/>
            <a:ext cx="397364" cy="397364"/>
          </a:xfrm>
          <a:prstGeom prst="ellipse">
            <a:avLst/>
          </a:prstGeom>
          <a:solidFill>
            <a:srgbClr val="94B7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02</a:t>
            </a:r>
            <a:endParaRPr lang="ko-KR" altLang="en-US" b="1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8162031-9A5E-0443-8DAD-749BB1D49DCD}"/>
              </a:ext>
            </a:extLst>
          </p:cNvPr>
          <p:cNvSpPr/>
          <p:nvPr/>
        </p:nvSpPr>
        <p:spPr>
          <a:xfrm>
            <a:off x="7122458" y="4558027"/>
            <a:ext cx="397364" cy="397364"/>
          </a:xfrm>
          <a:prstGeom prst="ellipse">
            <a:avLst/>
          </a:prstGeom>
          <a:solidFill>
            <a:srgbClr val="3728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03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3969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ko-KR" altLang="en-US" dirty="0"/>
              <a:t>가 적용된 </a:t>
            </a:r>
            <a:r>
              <a:rPr lang="ko-KR" altLang="en-US" dirty="0" err="1"/>
              <a:t>이더리움</a:t>
            </a:r>
            <a:r>
              <a:rPr lang="ko-KR" altLang="en-US" dirty="0"/>
              <a:t> 구현체 </a:t>
            </a:r>
            <a:r>
              <a:rPr lang="en-US" altLang="ko-KR" dirty="0"/>
              <a:t>(</a:t>
            </a:r>
            <a:r>
              <a:rPr lang="en-US" altLang="ko-KR" dirty="0" err="1"/>
              <a:t>Py-evm</a:t>
            </a:r>
            <a:r>
              <a:rPr lang="en-US" altLang="ko-KR" dirty="0"/>
              <a:t>)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</a:t>
            </a:r>
            <a:r>
              <a:rPr lang="ko-KR" altLang="en-US"/>
              <a:t>암호화폐</a:t>
            </a:r>
            <a:r>
              <a:rPr lang="en-US" altLang="ko-KR"/>
              <a:t>(</a:t>
            </a:r>
            <a:r>
              <a:rPr lang="ko-KR" altLang="en-US"/>
              <a:t>이더리움</a:t>
            </a:r>
            <a:r>
              <a:rPr lang="en-US" altLang="ko-KR"/>
              <a:t>) </a:t>
            </a:r>
            <a:r>
              <a:rPr lang="ko-KR" altLang="en-US" dirty="0"/>
              <a:t>시스템에 적용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8CD7D1-4271-4B45-AE3A-DD152484A131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907FF0-6205-8446-8EE1-9FCDA825B0E8}"/>
              </a:ext>
            </a:extLst>
          </p:cNvPr>
          <p:cNvSpPr/>
          <p:nvPr/>
        </p:nvSpPr>
        <p:spPr>
          <a:xfrm>
            <a:off x="438868" y="1457352"/>
            <a:ext cx="10977605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/>
              <a:t>ECCP</a:t>
            </a:r>
            <a:r>
              <a:rPr lang="ko-KR" altLang="en-US" dirty="0"/>
              <a:t>의 </a:t>
            </a:r>
            <a:r>
              <a:rPr lang="ko-KR" altLang="en-US" dirty="0" err="1"/>
              <a:t>파이썬</a:t>
            </a:r>
            <a:r>
              <a:rPr lang="ko-KR" altLang="en-US" dirty="0"/>
              <a:t> 버전을 </a:t>
            </a:r>
            <a:r>
              <a:rPr lang="en-US" altLang="ko-KR" dirty="0" err="1"/>
              <a:t>pypi</a:t>
            </a:r>
            <a:r>
              <a:rPr lang="ko-KR" altLang="en-US" dirty="0"/>
              <a:t>에 등록</a:t>
            </a: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en" altLang="ko-KR" dirty="0" err="1"/>
              <a:t>ECCPoW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ko-KR" altLang="en-US" dirty="0" err="1"/>
              <a:t>파이썬</a:t>
            </a:r>
            <a:r>
              <a:rPr lang="ko-KR" altLang="en-US" dirty="0"/>
              <a:t> 패키지로 만들어 </a:t>
            </a:r>
            <a:r>
              <a:rPr lang="en" altLang="ko-KR" dirty="0" err="1"/>
              <a:t>pypi</a:t>
            </a:r>
            <a:r>
              <a:rPr lang="ko-KR" altLang="en-US" dirty="0"/>
              <a:t>에 업로드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 err="1"/>
              <a:t>업로드된</a:t>
            </a:r>
            <a:r>
              <a:rPr lang="ko-KR" altLang="en-US" dirty="0"/>
              <a:t> </a:t>
            </a:r>
            <a:r>
              <a:rPr lang="ko-KR" altLang="en-US" dirty="0" err="1"/>
              <a:t>파이썬</a:t>
            </a:r>
            <a:r>
              <a:rPr lang="ko-KR" altLang="en-US" dirty="0"/>
              <a:t> 패키지는 </a:t>
            </a:r>
            <a:r>
              <a:rPr lang="en" altLang="ko-KR" dirty="0"/>
              <a:t>pip3 install </a:t>
            </a:r>
            <a:r>
              <a:rPr lang="en" altLang="ko-KR" dirty="0" err="1"/>
              <a:t>py-ecceth</a:t>
            </a:r>
            <a:r>
              <a:rPr lang="en" altLang="ko-KR" dirty="0"/>
              <a:t> </a:t>
            </a:r>
            <a:r>
              <a:rPr lang="ko-KR" altLang="en-US" dirty="0"/>
              <a:t>명령어를 입력하여 </a:t>
            </a:r>
            <a:r>
              <a:rPr lang="ko-KR" altLang="en-US" dirty="0" err="1"/>
              <a:t>파이썬</a:t>
            </a:r>
            <a:r>
              <a:rPr lang="en-US" altLang="ko-KR" dirty="0"/>
              <a:t>3</a:t>
            </a:r>
            <a:r>
              <a:rPr lang="ko-KR" altLang="en-US" dirty="0"/>
              <a:t>이 설치된 환경에서 쉽게 설치 가능</a:t>
            </a:r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ko-KR" altLang="en-US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ko-KR" altLang="en-US" dirty="0"/>
          </a:p>
        </p:txBody>
      </p:sp>
      <p:pic>
        <p:nvPicPr>
          <p:cNvPr id="7" name="Google Shape;1771;g7a6da0afd1_0_46">
            <a:extLst>
              <a:ext uri="{FF2B5EF4-FFF2-40B4-BE49-F238E27FC236}">
                <a16:creationId xmlns:a16="http://schemas.microsoft.com/office/drawing/2014/main" id="{5D17B404-24DE-F04A-B18E-AFB47168D26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52682"/>
          <a:stretch/>
        </p:blipFill>
        <p:spPr>
          <a:xfrm>
            <a:off x="1186933" y="2133677"/>
            <a:ext cx="7874675" cy="2147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9081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/>
              <a:t>ETHECC</a:t>
            </a:r>
            <a:r>
              <a:rPr lang="ko-KR" altLang="en-US"/>
              <a:t>의 </a:t>
            </a:r>
            <a:r>
              <a:rPr lang="ko-KR" altLang="en-US" dirty="0"/>
              <a:t>작업증명 과정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</a:t>
            </a:r>
            <a:r>
              <a:rPr lang="ko-KR" altLang="en-US"/>
              <a:t>암호화폐</a:t>
            </a:r>
            <a:r>
              <a:rPr lang="en-US" altLang="ko-KR"/>
              <a:t>(</a:t>
            </a:r>
            <a:r>
              <a:rPr lang="ko-KR" altLang="en-US"/>
              <a:t>이더리움</a:t>
            </a:r>
            <a:r>
              <a:rPr lang="en-US" altLang="ko-KR"/>
              <a:t>) </a:t>
            </a:r>
            <a:r>
              <a:rPr lang="ko-KR" altLang="en-US" dirty="0"/>
              <a:t>시스템에 적용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9212BE-C90D-C746-85E9-42FADC9542C8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5C264C-6532-4142-B0DE-D1A0666C0761}"/>
              </a:ext>
            </a:extLst>
          </p:cNvPr>
          <p:cNvSpPr/>
          <p:nvPr/>
        </p:nvSpPr>
        <p:spPr>
          <a:xfrm>
            <a:off x="438868" y="1457352"/>
            <a:ext cx="10977605" cy="4121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 err="1"/>
              <a:t>algorithm.go</a:t>
            </a:r>
            <a:r>
              <a:rPr lang="ko-KR" altLang="en-US" dirty="0"/>
              <a:t>의 </a:t>
            </a:r>
            <a:r>
              <a:rPr lang="en-US" altLang="ko-KR" dirty="0" err="1"/>
              <a:t>hashimoto</a:t>
            </a:r>
            <a:r>
              <a:rPr lang="en-US" altLang="ko-KR" dirty="0"/>
              <a:t> </a:t>
            </a:r>
            <a:r>
              <a:rPr lang="ko-KR" altLang="en-US" dirty="0"/>
              <a:t>함수 변경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ko-KR" altLang="en-US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ko-KR" altLang="en-US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ko-KR" altLang="en-US" dirty="0"/>
          </a:p>
        </p:txBody>
      </p:sp>
      <p:grpSp>
        <p:nvGrpSpPr>
          <p:cNvPr id="10" name="Google Shape;1778;g7a6da0afd1_0_11">
            <a:extLst>
              <a:ext uri="{FF2B5EF4-FFF2-40B4-BE49-F238E27FC236}">
                <a16:creationId xmlns:a16="http://schemas.microsoft.com/office/drawing/2014/main" id="{9A6595D2-EB84-A144-A42B-940335E8CBDA}"/>
              </a:ext>
            </a:extLst>
          </p:cNvPr>
          <p:cNvGrpSpPr/>
          <p:nvPr/>
        </p:nvGrpSpPr>
        <p:grpSpPr>
          <a:xfrm>
            <a:off x="696025" y="1895475"/>
            <a:ext cx="6080025" cy="3943350"/>
            <a:chOff x="2143825" y="371475"/>
            <a:chExt cx="6080025" cy="3943350"/>
          </a:xfrm>
        </p:grpSpPr>
        <p:pic>
          <p:nvPicPr>
            <p:cNvPr id="11" name="Google Shape;1779;g7a6da0afd1_0_11">
              <a:extLst>
                <a:ext uri="{FF2B5EF4-FFF2-40B4-BE49-F238E27FC236}">
                  <a16:creationId xmlns:a16="http://schemas.microsoft.com/office/drawing/2014/main" id="{18E7C91C-A5D2-2342-A2D4-034FEAC79F0F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143825" y="371475"/>
              <a:ext cx="5467350" cy="3943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780;g7a6da0afd1_0_11">
              <a:extLst>
                <a:ext uri="{FF2B5EF4-FFF2-40B4-BE49-F238E27FC236}">
                  <a16:creationId xmlns:a16="http://schemas.microsoft.com/office/drawing/2014/main" id="{594A215E-85CD-3647-92C4-184D49B09A2C}"/>
                </a:ext>
              </a:extLst>
            </p:cNvPr>
            <p:cNvSpPr/>
            <p:nvPr/>
          </p:nvSpPr>
          <p:spPr>
            <a:xfrm>
              <a:off x="2243800" y="428475"/>
              <a:ext cx="5248500" cy="792300"/>
            </a:xfrm>
            <a:prstGeom prst="rect">
              <a:avLst/>
            </a:prstGeom>
            <a:noFill/>
            <a:ln w="9525" cap="flat" cmpd="sng">
              <a:solidFill>
                <a:srgbClr val="BD44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81;g7a6da0afd1_0_11">
              <a:extLst>
                <a:ext uri="{FF2B5EF4-FFF2-40B4-BE49-F238E27FC236}">
                  <a16:creationId xmlns:a16="http://schemas.microsoft.com/office/drawing/2014/main" id="{561F667E-A87E-E346-8E23-B97F8FE26368}"/>
                </a:ext>
              </a:extLst>
            </p:cNvPr>
            <p:cNvSpPr/>
            <p:nvPr/>
          </p:nvSpPr>
          <p:spPr>
            <a:xfrm>
              <a:off x="2243800" y="1308400"/>
              <a:ext cx="5248500" cy="1044600"/>
            </a:xfrm>
            <a:prstGeom prst="rect">
              <a:avLst/>
            </a:prstGeom>
            <a:noFill/>
            <a:ln w="9525" cap="flat" cmpd="sng">
              <a:solidFill>
                <a:srgbClr val="91B3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82;g7a6da0afd1_0_11">
              <a:extLst>
                <a:ext uri="{FF2B5EF4-FFF2-40B4-BE49-F238E27FC236}">
                  <a16:creationId xmlns:a16="http://schemas.microsoft.com/office/drawing/2014/main" id="{957D53A7-8EBB-9D4A-9C0E-0059E7BF4D7C}"/>
                </a:ext>
              </a:extLst>
            </p:cNvPr>
            <p:cNvSpPr/>
            <p:nvPr/>
          </p:nvSpPr>
          <p:spPr>
            <a:xfrm>
              <a:off x="2243800" y="2410575"/>
              <a:ext cx="5248500" cy="1904100"/>
            </a:xfrm>
            <a:prstGeom prst="rect">
              <a:avLst/>
            </a:prstGeom>
            <a:noFill/>
            <a:ln w="9525" cap="flat" cmpd="sng">
              <a:solidFill>
                <a:srgbClr val="3827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84;g7a6da0afd1_0_11">
              <a:extLst>
                <a:ext uri="{FF2B5EF4-FFF2-40B4-BE49-F238E27FC236}">
                  <a16:creationId xmlns:a16="http://schemas.microsoft.com/office/drawing/2014/main" id="{2763125B-E94F-2642-8337-142770AEF4E2}"/>
                </a:ext>
              </a:extLst>
            </p:cNvPr>
            <p:cNvSpPr/>
            <p:nvPr/>
          </p:nvSpPr>
          <p:spPr>
            <a:xfrm>
              <a:off x="7711150" y="1402058"/>
              <a:ext cx="512700" cy="3396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 dirty="0"/>
            </a:p>
          </p:txBody>
        </p:sp>
        <p:sp>
          <p:nvSpPr>
            <p:cNvPr id="17" name="Google Shape;1785;g7a6da0afd1_0_11">
              <a:extLst>
                <a:ext uri="{FF2B5EF4-FFF2-40B4-BE49-F238E27FC236}">
                  <a16:creationId xmlns:a16="http://schemas.microsoft.com/office/drawing/2014/main" id="{11149CA4-EF17-7545-A6B9-0A98FC1758D1}"/>
                </a:ext>
              </a:extLst>
            </p:cNvPr>
            <p:cNvSpPr/>
            <p:nvPr/>
          </p:nvSpPr>
          <p:spPr>
            <a:xfrm>
              <a:off x="7720577" y="2468858"/>
              <a:ext cx="391800" cy="3396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05BFC12-820B-744E-8A8B-BC00CE9875B1}"/>
              </a:ext>
            </a:extLst>
          </p:cNvPr>
          <p:cNvSpPr txBox="1"/>
          <p:nvPr/>
        </p:nvSpPr>
        <p:spPr>
          <a:xfrm>
            <a:off x="6892190" y="2149619"/>
            <a:ext cx="3546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기존 </a:t>
            </a:r>
            <a:r>
              <a:rPr lang="ko-KR" altLang="ko-KR" dirty="0" err="1"/>
              <a:t>hashimoto</a:t>
            </a:r>
            <a:r>
              <a:rPr lang="ko-KR" altLang="ko-KR" dirty="0"/>
              <a:t> 함수의 마지막 부분</a:t>
            </a:r>
            <a:endParaRPr lang="ko-KR" altLang="en-US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34E563-A945-5440-8687-A9213AB81E16}"/>
              </a:ext>
            </a:extLst>
          </p:cNvPr>
          <p:cNvSpPr txBox="1"/>
          <p:nvPr/>
        </p:nvSpPr>
        <p:spPr>
          <a:xfrm>
            <a:off x="6892190" y="3199424"/>
            <a:ext cx="396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LDPC </a:t>
            </a:r>
            <a:r>
              <a:rPr lang="ko-KR" altLang="ko-KR" dirty="0" err="1"/>
              <a:t>디코딩을</a:t>
            </a:r>
            <a:r>
              <a:rPr lang="ko-KR" altLang="ko-KR" dirty="0"/>
              <a:t> 수행</a:t>
            </a:r>
            <a:endParaRPr lang="ko-KR" altLang="en-US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AD9C58-8F77-A346-A7C7-304866DE6FDA}"/>
              </a:ext>
            </a:extLst>
          </p:cNvPr>
          <p:cNvSpPr txBox="1"/>
          <p:nvPr/>
        </p:nvSpPr>
        <p:spPr>
          <a:xfrm>
            <a:off x="6892190" y="4607843"/>
            <a:ext cx="3842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LDPC </a:t>
            </a:r>
            <a:r>
              <a:rPr lang="ko-KR" altLang="ko-KR" dirty="0" err="1"/>
              <a:t>디코딩을</a:t>
            </a:r>
            <a:r>
              <a:rPr lang="ko-KR" altLang="ko-KR" dirty="0"/>
              <a:t> 수행한 값을 바탕으로 </a:t>
            </a:r>
            <a:r>
              <a:rPr lang="ko-KR" altLang="ko-KR" dirty="0" err="1"/>
              <a:t>리턴값을</a:t>
            </a:r>
            <a:r>
              <a:rPr lang="ko-KR" altLang="ko-KR" dirty="0"/>
              <a:t> 생성</a:t>
            </a:r>
            <a:endParaRPr lang="ko-KR" altLang="en-US" dirty="0"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839F533-3D68-704B-80C7-A501E9D5673E}"/>
              </a:ext>
            </a:extLst>
          </p:cNvPr>
          <p:cNvGrpSpPr/>
          <p:nvPr/>
        </p:nvGrpSpPr>
        <p:grpSpPr>
          <a:xfrm>
            <a:off x="6163375" y="2161115"/>
            <a:ext cx="191734" cy="315562"/>
            <a:chOff x="3219970" y="2049848"/>
            <a:chExt cx="819826" cy="1646582"/>
          </a:xfrm>
        </p:grpSpPr>
        <p:sp>
          <p:nvSpPr>
            <p:cNvPr id="25" name="자유형: 도형 49">
              <a:extLst>
                <a:ext uri="{FF2B5EF4-FFF2-40B4-BE49-F238E27FC236}">
                  <a16:creationId xmlns:a16="http://schemas.microsoft.com/office/drawing/2014/main" id="{3F44062F-4E2B-4141-842B-9ED3D718753F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6" name="자유형: 도형 53">
              <a:extLst>
                <a:ext uri="{FF2B5EF4-FFF2-40B4-BE49-F238E27FC236}">
                  <a16:creationId xmlns:a16="http://schemas.microsoft.com/office/drawing/2014/main" id="{73AB5181-7CD5-F848-980F-353E2D095F70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BC44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264AD4C-3337-1A48-8315-8579E51680DC}"/>
              </a:ext>
            </a:extLst>
          </p:cNvPr>
          <p:cNvGrpSpPr/>
          <p:nvPr/>
        </p:nvGrpSpPr>
        <p:grpSpPr>
          <a:xfrm>
            <a:off x="6163375" y="3210920"/>
            <a:ext cx="191734" cy="315562"/>
            <a:chOff x="3219970" y="2049848"/>
            <a:chExt cx="819826" cy="1646582"/>
          </a:xfrm>
        </p:grpSpPr>
        <p:sp>
          <p:nvSpPr>
            <p:cNvPr id="28" name="자유형: 도형 55">
              <a:extLst>
                <a:ext uri="{FF2B5EF4-FFF2-40B4-BE49-F238E27FC236}">
                  <a16:creationId xmlns:a16="http://schemas.microsoft.com/office/drawing/2014/main" id="{73458A52-D1AD-9842-B49F-E202E31A5127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9" name="자유형: 도형 56">
              <a:extLst>
                <a:ext uri="{FF2B5EF4-FFF2-40B4-BE49-F238E27FC236}">
                  <a16:creationId xmlns:a16="http://schemas.microsoft.com/office/drawing/2014/main" id="{90B3659E-62B2-E247-AD23-740F86FCBE55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94B7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C486680-8B33-D54C-9D05-6E7C6653757A}"/>
              </a:ext>
            </a:extLst>
          </p:cNvPr>
          <p:cNvGrpSpPr/>
          <p:nvPr/>
        </p:nvGrpSpPr>
        <p:grpSpPr>
          <a:xfrm>
            <a:off x="6163375" y="4619339"/>
            <a:ext cx="191734" cy="315562"/>
            <a:chOff x="3219970" y="2049848"/>
            <a:chExt cx="819826" cy="1646582"/>
          </a:xfrm>
        </p:grpSpPr>
        <p:sp>
          <p:nvSpPr>
            <p:cNvPr id="31" name="자유형: 도형 58">
              <a:extLst>
                <a:ext uri="{FF2B5EF4-FFF2-40B4-BE49-F238E27FC236}">
                  <a16:creationId xmlns:a16="http://schemas.microsoft.com/office/drawing/2014/main" id="{5539C70D-7748-E945-B353-5B694680B909}"/>
                </a:ext>
              </a:extLst>
            </p:cNvPr>
            <p:cNvSpPr/>
            <p:nvPr/>
          </p:nvSpPr>
          <p:spPr>
            <a:xfrm rot="5400000">
              <a:off x="2806592" y="2463226"/>
              <a:ext cx="1646582" cy="819826"/>
            </a:xfrm>
            <a:custGeom>
              <a:avLst/>
              <a:gdLst>
                <a:gd name="connsiteX0" fmla="*/ 0 w 1646582"/>
                <a:gd name="connsiteY0" fmla="*/ 819826 h 819826"/>
                <a:gd name="connsiteX1" fmla="*/ 823291 w 1646582"/>
                <a:gd name="connsiteY1" fmla="*/ 0 h 819826"/>
                <a:gd name="connsiteX2" fmla="*/ 1646582 w 1646582"/>
                <a:gd name="connsiteY2" fmla="*/ 819826 h 819826"/>
                <a:gd name="connsiteX3" fmla="*/ 1217553 w 1646582"/>
                <a:gd name="connsiteY3" fmla="*/ 819826 h 819826"/>
                <a:gd name="connsiteX4" fmla="*/ 1217552 w 1646582"/>
                <a:gd name="connsiteY4" fmla="*/ 819825 h 819826"/>
                <a:gd name="connsiteX5" fmla="*/ 1320422 w 1646582"/>
                <a:gd name="connsiteY5" fmla="*/ 819825 h 819826"/>
                <a:gd name="connsiteX6" fmla="*/ 823292 w 1646582"/>
                <a:gd name="connsiteY6" fmla="*/ 324784 h 819826"/>
                <a:gd name="connsiteX7" fmla="*/ 326162 w 1646582"/>
                <a:gd name="connsiteY7" fmla="*/ 819825 h 819826"/>
                <a:gd name="connsiteX8" fmla="*/ 429034 w 1646582"/>
                <a:gd name="connsiteY8" fmla="*/ 819825 h 819826"/>
                <a:gd name="connsiteX9" fmla="*/ 429033 w 1646582"/>
                <a:gd name="connsiteY9" fmla="*/ 819826 h 819826"/>
                <a:gd name="connsiteX10" fmla="*/ 0 w 1646582"/>
                <a:gd name="connsiteY10" fmla="*/ 819826 h 81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46582" h="819826">
                  <a:moveTo>
                    <a:pt x="0" y="819826"/>
                  </a:moveTo>
                  <a:lnTo>
                    <a:pt x="823291" y="0"/>
                  </a:lnTo>
                  <a:lnTo>
                    <a:pt x="1646582" y="819826"/>
                  </a:lnTo>
                  <a:lnTo>
                    <a:pt x="1217553" y="819826"/>
                  </a:lnTo>
                  <a:lnTo>
                    <a:pt x="1217552" y="819825"/>
                  </a:lnTo>
                  <a:lnTo>
                    <a:pt x="1320422" y="819825"/>
                  </a:lnTo>
                  <a:lnTo>
                    <a:pt x="823292" y="324784"/>
                  </a:lnTo>
                  <a:lnTo>
                    <a:pt x="326162" y="819825"/>
                  </a:lnTo>
                  <a:lnTo>
                    <a:pt x="429034" y="819825"/>
                  </a:lnTo>
                  <a:lnTo>
                    <a:pt x="429033" y="819826"/>
                  </a:lnTo>
                  <a:lnTo>
                    <a:pt x="0" y="819826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2" name="자유형: 도형 59">
              <a:extLst>
                <a:ext uri="{FF2B5EF4-FFF2-40B4-BE49-F238E27FC236}">
                  <a16:creationId xmlns:a16="http://schemas.microsoft.com/office/drawing/2014/main" id="{9C0D565E-246D-8C41-9C04-D4E3764DC25A}"/>
                </a:ext>
              </a:extLst>
            </p:cNvPr>
            <p:cNvSpPr/>
            <p:nvPr/>
          </p:nvSpPr>
          <p:spPr>
            <a:xfrm rot="5400000">
              <a:off x="3022012" y="2676841"/>
              <a:ext cx="788518" cy="392601"/>
            </a:xfrm>
            <a:custGeom>
              <a:avLst/>
              <a:gdLst>
                <a:gd name="connsiteX0" fmla="*/ 0 w 788518"/>
                <a:gd name="connsiteY0" fmla="*/ 392601 h 392601"/>
                <a:gd name="connsiteX1" fmla="*/ 394259 w 788518"/>
                <a:gd name="connsiteY1" fmla="*/ 0 h 392601"/>
                <a:gd name="connsiteX2" fmla="*/ 788518 w 788518"/>
                <a:gd name="connsiteY2" fmla="*/ 392601 h 392601"/>
                <a:gd name="connsiteX3" fmla="*/ 0 w 788518"/>
                <a:gd name="connsiteY3" fmla="*/ 392601 h 39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18" h="392601">
                  <a:moveTo>
                    <a:pt x="0" y="392601"/>
                  </a:moveTo>
                  <a:lnTo>
                    <a:pt x="394259" y="0"/>
                  </a:lnTo>
                  <a:lnTo>
                    <a:pt x="788518" y="392601"/>
                  </a:lnTo>
                  <a:lnTo>
                    <a:pt x="0" y="392601"/>
                  </a:lnTo>
                  <a:close/>
                </a:path>
              </a:pathLst>
            </a:custGeom>
            <a:solidFill>
              <a:srgbClr val="3728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33" name="타원 32">
            <a:extLst>
              <a:ext uri="{FF2B5EF4-FFF2-40B4-BE49-F238E27FC236}">
                <a16:creationId xmlns:a16="http://schemas.microsoft.com/office/drawing/2014/main" id="{562BD095-5F7A-0547-A662-AAEDCF7876DC}"/>
              </a:ext>
            </a:extLst>
          </p:cNvPr>
          <p:cNvSpPr/>
          <p:nvPr/>
        </p:nvSpPr>
        <p:spPr>
          <a:xfrm>
            <a:off x="6461099" y="2120214"/>
            <a:ext cx="397364" cy="397364"/>
          </a:xfrm>
          <a:prstGeom prst="ellipse">
            <a:avLst/>
          </a:prstGeom>
          <a:solidFill>
            <a:srgbClr val="BC4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01</a:t>
            </a:r>
            <a:endParaRPr lang="ko-KR" altLang="en-US" b="1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CB73482-8201-EE40-94BF-2D6118613818}"/>
              </a:ext>
            </a:extLst>
          </p:cNvPr>
          <p:cNvSpPr/>
          <p:nvPr/>
        </p:nvSpPr>
        <p:spPr>
          <a:xfrm>
            <a:off x="6461099" y="3170019"/>
            <a:ext cx="397364" cy="397364"/>
          </a:xfrm>
          <a:prstGeom prst="ellipse">
            <a:avLst/>
          </a:prstGeom>
          <a:solidFill>
            <a:srgbClr val="94B7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02</a:t>
            </a:r>
            <a:endParaRPr lang="ko-KR" altLang="en-US" b="1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B047F316-7D55-5643-9C2B-073E3C321D76}"/>
              </a:ext>
            </a:extLst>
          </p:cNvPr>
          <p:cNvSpPr/>
          <p:nvPr/>
        </p:nvSpPr>
        <p:spPr>
          <a:xfrm>
            <a:off x="6461099" y="4578438"/>
            <a:ext cx="397364" cy="397364"/>
          </a:xfrm>
          <a:prstGeom prst="ellipse">
            <a:avLst/>
          </a:prstGeom>
          <a:solidFill>
            <a:srgbClr val="3728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b="1" dirty="0"/>
              <a:t>03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2260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 err="1"/>
              <a:t>puppeth</a:t>
            </a:r>
            <a:r>
              <a:rPr lang="ko-KR" altLang="en-US" dirty="0"/>
              <a:t>를 이용하여 배포된 </a:t>
            </a:r>
            <a:r>
              <a:rPr lang="ko-KR" altLang="en-US" dirty="0" err="1"/>
              <a:t>프라이빗</a:t>
            </a:r>
            <a:r>
              <a:rPr lang="ko-KR" altLang="en-US" dirty="0"/>
              <a:t> 네트워크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개발 및 기존의 </a:t>
            </a:r>
            <a:r>
              <a:rPr lang="ko-KR" altLang="en-US"/>
              <a:t>암호화폐</a:t>
            </a:r>
            <a:r>
              <a:rPr lang="en-US" altLang="ko-KR"/>
              <a:t>(</a:t>
            </a:r>
            <a:r>
              <a:rPr lang="ko-KR" altLang="en-US"/>
              <a:t>이더리움</a:t>
            </a:r>
            <a:r>
              <a:rPr lang="en-US" altLang="ko-KR"/>
              <a:t>) </a:t>
            </a:r>
            <a:r>
              <a:rPr lang="ko-KR" altLang="en-US" dirty="0"/>
              <a:t>시스템에 적용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E4F38C-76C5-7C43-8B25-E2C54981A562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F40833-AAEB-824F-8460-B23E6C16132D}"/>
              </a:ext>
            </a:extLst>
          </p:cNvPr>
          <p:cNvSpPr/>
          <p:nvPr/>
        </p:nvSpPr>
        <p:spPr>
          <a:xfrm>
            <a:off x="438868" y="1457352"/>
            <a:ext cx="10977605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endParaRPr lang="en-US" altLang="ko-KR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en" altLang="ko-KR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ko-KR" altLang="en-US" dirty="0"/>
          </a:p>
          <a:p>
            <a:pPr marL="742950" lvl="1" indent="-285750"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endParaRPr lang="ko-KR" altLang="en-US" dirty="0"/>
          </a:p>
        </p:txBody>
      </p:sp>
      <p:pic>
        <p:nvPicPr>
          <p:cNvPr id="10" name="Google Shape;1819;g7a6da0afd1_0_116">
            <a:extLst>
              <a:ext uri="{FF2B5EF4-FFF2-40B4-BE49-F238E27FC236}">
                <a16:creationId xmlns:a16="http://schemas.microsoft.com/office/drawing/2014/main" id="{DAE4C482-8B51-934A-A873-2CA5C351C33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5397" y="1547348"/>
            <a:ext cx="10541206" cy="312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A0C7D8-982A-6546-A109-EBA933501522}"/>
              </a:ext>
            </a:extLst>
          </p:cNvPr>
          <p:cNvSpPr/>
          <p:nvPr/>
        </p:nvSpPr>
        <p:spPr>
          <a:xfrm>
            <a:off x="438868" y="4833285"/>
            <a:ext cx="10977605" cy="1392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ko-KR" dirty="0" err="1"/>
              <a:t>puppeth</a:t>
            </a:r>
            <a:r>
              <a:rPr lang="ko-KR" altLang="en-US" dirty="0" err="1"/>
              <a:t>를</a:t>
            </a:r>
            <a:r>
              <a:rPr lang="ko-KR" altLang="en-US" dirty="0"/>
              <a:t> 통해 배포된 </a:t>
            </a:r>
            <a:r>
              <a:rPr lang="en-US" altLang="ko-KR" dirty="0"/>
              <a:t>ETHECC</a:t>
            </a:r>
            <a:r>
              <a:rPr lang="ko-KR" altLang="en-US" dirty="0"/>
              <a:t>의 대시보드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평균 블록 </a:t>
            </a:r>
            <a:r>
              <a:rPr lang="ko-KR" altLang="en-US" dirty="0" err="1"/>
              <a:t>생성시간</a:t>
            </a:r>
            <a:r>
              <a:rPr lang="ko-KR" altLang="en-US" dirty="0"/>
              <a:t> 현재 블록 넘버</a:t>
            </a:r>
            <a:r>
              <a:rPr lang="en-US" altLang="ko-KR" dirty="0"/>
              <a:t>, </a:t>
            </a:r>
            <a:r>
              <a:rPr lang="ko-KR" altLang="en-US" dirty="0"/>
              <a:t>마지막 블록 생성 후 경과한 시간 등을 확인 가능</a:t>
            </a:r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 dirty="0"/>
              <a:t>대시보드와 통신하고 있는 여러 노드들의 상태를 한번에 </a:t>
            </a:r>
            <a:r>
              <a:rPr lang="ko-KR" altLang="en-US"/>
              <a:t>관찰 가능</a:t>
            </a:r>
            <a:endParaRPr lang="en-US" altLang="ko-KR"/>
          </a:p>
          <a:p>
            <a:pPr marL="285750" indent="-285750">
              <a:spcBef>
                <a:spcPts val="500"/>
              </a:spcBef>
              <a:buFont typeface="Wingdings" panose="05000000000000000000" pitchFamily="2" charset="2"/>
              <a:buChar char="l"/>
              <a:defRPr/>
            </a:pPr>
            <a:r>
              <a:rPr lang="ko-KR" altLang="en-US"/>
              <a:t>노드숫자 </a:t>
            </a:r>
            <a:r>
              <a:rPr lang="en-US" altLang="ko-KR"/>
              <a:t>4</a:t>
            </a:r>
            <a:r>
              <a:rPr lang="ko-KR" altLang="en-US"/>
              <a:t>대</a:t>
            </a:r>
            <a:r>
              <a:rPr lang="en-US" altLang="ko-KR"/>
              <a:t>, </a:t>
            </a:r>
            <a:r>
              <a:rPr lang="ko-KR" altLang="en-US"/>
              <a:t>네트워크 생성초기라 </a:t>
            </a:r>
            <a:r>
              <a:rPr lang="en-US" altLang="ko-KR"/>
              <a:t>29.37</a:t>
            </a:r>
            <a:r>
              <a:rPr lang="ko-KR" altLang="en-US"/>
              <a:t>초이며 시간에 지남에따라 </a:t>
            </a:r>
            <a:r>
              <a:rPr lang="en-US" altLang="ko-KR"/>
              <a:t>10~15</a:t>
            </a:r>
            <a:r>
              <a:rPr lang="ko-KR" altLang="en-US"/>
              <a:t>초 형성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924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en-US" altLang="ko-KR" dirty="0" smtClean="0"/>
              <a:t>BTCECC/ETHECC </a:t>
            </a:r>
            <a:r>
              <a:rPr lang="ko-KR" altLang="en-US" dirty="0" smtClean="0"/>
              <a:t>평가 </a:t>
            </a:r>
            <a:r>
              <a:rPr lang="ko-KR" altLang="en-US" dirty="0"/>
              <a:t>목적 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/>
              <a:t>BTCECC/ETHECC </a:t>
            </a:r>
            <a:r>
              <a:rPr lang="ko-KR" altLang="en-US" dirty="0"/>
              <a:t>평가 결과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18D7927-3C2A-4CAB-9E62-85C605E15561}"/>
              </a:ext>
            </a:extLst>
          </p:cNvPr>
          <p:cNvSpPr/>
          <p:nvPr/>
        </p:nvSpPr>
        <p:spPr>
          <a:xfrm>
            <a:off x="334963" y="1268413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31A211-293E-4312-A2A8-9884F5E07D10}"/>
              </a:ext>
            </a:extLst>
          </p:cNvPr>
          <p:cNvSpPr/>
          <p:nvPr/>
        </p:nvSpPr>
        <p:spPr>
          <a:xfrm>
            <a:off x="1310805" y="1654122"/>
            <a:ext cx="9233732" cy="2870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  <a:defRPr/>
            </a:pPr>
            <a:r>
              <a:rPr lang="ko-KR" altLang="en-US" sz="2400" dirty="0"/>
              <a:t>세계 최고 수준의 블록체인인 </a:t>
            </a:r>
            <a:r>
              <a:rPr lang="ko-KR" altLang="en-US" sz="2400" dirty="0" err="1"/>
              <a:t>비트코인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이더리움과</a:t>
            </a:r>
            <a:r>
              <a:rPr lang="ko-KR" altLang="en-US" sz="2400" dirty="0"/>
              <a:t> 비교 평가함</a:t>
            </a:r>
          </a:p>
          <a:p>
            <a:pPr algn="ctr">
              <a:spcBef>
                <a:spcPts val="500"/>
              </a:spcBef>
              <a:defRPr/>
            </a:pPr>
            <a:r>
              <a:rPr lang="ko-KR" altLang="en-US" sz="2400" dirty="0"/>
              <a:t>동일한 평가 환경</a:t>
            </a:r>
            <a:r>
              <a:rPr lang="en-US" altLang="ko-KR" sz="2400" dirty="0"/>
              <a:t>(</a:t>
            </a:r>
            <a:r>
              <a:rPr lang="ko-KR" altLang="en-US" sz="2400" dirty="0"/>
              <a:t>난이도 변경 주기</a:t>
            </a:r>
            <a:r>
              <a:rPr lang="en-US" altLang="ko-KR" sz="2400" dirty="0"/>
              <a:t>, </a:t>
            </a:r>
            <a:r>
              <a:rPr lang="ko-KR" altLang="en-US" sz="2400" dirty="0"/>
              <a:t>목표 블록 생성시간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dirty="0"/>
              <a:t>23</a:t>
            </a:r>
            <a:r>
              <a:rPr lang="ko-KR" altLang="en-US" sz="2400" dirty="0"/>
              <a:t>개의 </a:t>
            </a:r>
            <a:r>
              <a:rPr lang="en-US" altLang="ko-KR" sz="2400" dirty="0"/>
              <a:t>Instance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r>
              <a:rPr lang="ko-KR" altLang="en-US" sz="2400" dirty="0"/>
              <a:t>에서 비교</a:t>
            </a:r>
          </a:p>
          <a:p>
            <a:pPr algn="ctr">
              <a:spcBef>
                <a:spcPts val="500"/>
              </a:spcBef>
              <a:defRPr/>
            </a:pPr>
            <a:endParaRPr lang="en-US" altLang="ko-KR" sz="2400" b="1" dirty="0">
              <a:solidFill>
                <a:srgbClr val="0255B8"/>
              </a:solidFill>
            </a:endParaRPr>
          </a:p>
          <a:p>
            <a:pPr algn="ctr">
              <a:spcBef>
                <a:spcPts val="500"/>
              </a:spcBef>
              <a:defRPr/>
            </a:pPr>
            <a:r>
              <a:rPr lang="en-US" altLang="ko-KR" sz="2400" b="1" dirty="0">
                <a:solidFill>
                  <a:srgbClr val="0255B8"/>
                </a:solidFill>
              </a:rPr>
              <a:t>[</a:t>
            </a:r>
            <a:r>
              <a:rPr lang="ko-KR" altLang="en-US" sz="2400" b="1" dirty="0">
                <a:solidFill>
                  <a:srgbClr val="0255B8"/>
                </a:solidFill>
              </a:rPr>
              <a:t>평가의 객관성</a:t>
            </a:r>
            <a:r>
              <a:rPr lang="en-US" altLang="ko-KR" sz="2400" b="1" dirty="0">
                <a:solidFill>
                  <a:srgbClr val="0255B8"/>
                </a:solidFill>
              </a:rPr>
              <a:t>]</a:t>
            </a:r>
            <a:br>
              <a:rPr lang="en-US" altLang="ko-KR" sz="2400" b="1" dirty="0">
                <a:solidFill>
                  <a:srgbClr val="0255B8"/>
                </a:solidFill>
              </a:rPr>
            </a:br>
            <a:r>
              <a:rPr lang="ko-KR" altLang="en-US" sz="2400" dirty="0"/>
              <a:t>평가 데이터와 블록체인 소스코드를 </a:t>
            </a:r>
            <a:r>
              <a:rPr lang="en-US" altLang="ko-KR" sz="2400" dirty="0" err="1"/>
              <a:t>Github</a:t>
            </a:r>
            <a:r>
              <a:rPr lang="ko-KR" altLang="en-US" sz="2400" dirty="0"/>
              <a:t>에 공개하여 평가 결과는 누구나 검증 가능함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F045D80-A2CA-4500-944D-E30AB507D12A}"/>
              </a:ext>
            </a:extLst>
          </p:cNvPr>
          <p:cNvSpPr/>
          <p:nvPr/>
        </p:nvSpPr>
        <p:spPr>
          <a:xfrm>
            <a:off x="1149752" y="4724777"/>
            <a:ext cx="98924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251460" lvl="1" algn="ctr" fontAlgn="base"/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</a:rPr>
              <a:t>Bitcoin </a:t>
            </a:r>
            <a:r>
              <a:rPr lang="ko-KR" altLang="en-US" kern="0" spc="-30" dirty="0">
                <a:solidFill>
                  <a:srgbClr val="000000"/>
                </a:solidFill>
                <a:latin typeface="+mj-lt"/>
                <a:ea typeface="+mj-ea"/>
              </a:rPr>
              <a:t>평가 데이터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</a:rPr>
              <a:t>: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  <a:hlinkClick r:id="rId2"/>
              </a:rPr>
              <a:t>https://github.com/paaabx3/BTCBGT3-2</a:t>
            </a:r>
            <a:endParaRPr lang="ko-KR" altLang="en-US" kern="0" dirty="0">
              <a:solidFill>
                <a:srgbClr val="000000"/>
              </a:solidFill>
              <a:latin typeface="+mj-lt"/>
              <a:ea typeface="+mj-ea"/>
            </a:endParaRPr>
          </a:p>
          <a:p>
            <a:pPr marR="251460" lvl="1" algn="ctr" fontAlgn="base"/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</a:rPr>
              <a:t>Bitcoin</a:t>
            </a:r>
            <a:r>
              <a:rPr lang="ko-KR" altLang="en-US" kern="0" spc="-30" dirty="0">
                <a:solidFill>
                  <a:srgbClr val="000000"/>
                </a:solidFill>
                <a:latin typeface="+mj-lt"/>
                <a:ea typeface="+mj-ea"/>
              </a:rPr>
              <a:t> 평가 데이터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</a:rPr>
              <a:t>: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  <a:hlinkClick r:id="rId3"/>
              </a:rPr>
              <a:t>https://github.com/paaabx3/BTCeccBGT3</a:t>
            </a:r>
            <a:endParaRPr lang="ko-KR" altLang="en-US" kern="0" dirty="0">
              <a:solidFill>
                <a:srgbClr val="000000"/>
              </a:solidFill>
              <a:latin typeface="+mj-lt"/>
              <a:ea typeface="+mj-ea"/>
            </a:endParaRPr>
          </a:p>
          <a:p>
            <a:pPr lvl="1" algn="ctr" fontAlgn="base">
              <a:tabLst>
                <a:tab pos="12700" algn="l"/>
                <a:tab pos="435610" algn="l"/>
                <a:tab pos="554990" algn="l"/>
                <a:tab pos="1877060" algn="l"/>
              </a:tabLst>
            </a:pPr>
            <a:r>
              <a:rPr lang="en-US" altLang="ko-KR" kern="0" spc="-30" dirty="0" err="1">
                <a:solidFill>
                  <a:srgbClr val="000000"/>
                </a:solidFill>
                <a:latin typeface="+mj-lt"/>
                <a:ea typeface="+mj-ea"/>
              </a:rPr>
              <a:t>ECCPoW</a:t>
            </a:r>
            <a:r>
              <a:rPr lang="ko-KR" altLang="en-US" kern="0" spc="-30" dirty="0">
                <a:solidFill>
                  <a:srgbClr val="000000"/>
                </a:solidFill>
                <a:latin typeface="+mj-lt"/>
                <a:ea typeface="+mj-ea"/>
              </a:rPr>
              <a:t> 블록체인 탐색기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</a:rPr>
              <a:t>: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  <a:hlinkClick r:id="rId4"/>
              </a:rPr>
              <a:t>http://13.125.223.181/blocks</a:t>
            </a:r>
            <a:endParaRPr lang="ko-KR" altLang="en-US" kern="0" dirty="0">
              <a:solidFill>
                <a:srgbClr val="000000"/>
              </a:solidFill>
              <a:latin typeface="+mj-lt"/>
              <a:ea typeface="+mj-ea"/>
            </a:endParaRPr>
          </a:p>
          <a:p>
            <a:pPr lvl="1" algn="ctr" fontAlgn="base">
              <a:tabLst>
                <a:tab pos="1877060" algn="l"/>
              </a:tabLst>
            </a:pPr>
            <a:r>
              <a:rPr lang="en-US" altLang="ko-KR" kern="0" spc="-30" dirty="0" err="1">
                <a:solidFill>
                  <a:srgbClr val="000000"/>
                </a:solidFill>
                <a:latin typeface="+mj-lt"/>
                <a:ea typeface="+mj-ea"/>
              </a:rPr>
              <a:t>ECCPoW</a:t>
            </a:r>
            <a:r>
              <a:rPr lang="ko-KR" altLang="en-US" kern="0" spc="-30" dirty="0">
                <a:solidFill>
                  <a:srgbClr val="000000"/>
                </a:solidFill>
                <a:latin typeface="+mj-lt"/>
                <a:ea typeface="+mj-ea"/>
              </a:rPr>
              <a:t> 블록체인 탐색기 </a:t>
            </a:r>
            <a:r>
              <a:rPr lang="en-US" altLang="ko-KR" kern="0" spc="-30" dirty="0">
                <a:solidFill>
                  <a:srgbClr val="000000"/>
                </a:solidFill>
                <a:latin typeface="+mj-lt"/>
                <a:ea typeface="+mj-ea"/>
              </a:rPr>
              <a:t>: </a:t>
            </a:r>
            <a:r>
              <a:rPr lang="en-US" altLang="ko-KR" u="sng" kern="0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j-lt"/>
                <a:ea typeface="+mj-ea"/>
                <a:hlinkClick r:id="rId5"/>
              </a:rPr>
              <a:t>http://15.164.244.139/blocks</a:t>
            </a:r>
            <a:endParaRPr lang="ko-KR" altLang="en-US" kern="0" dirty="0">
              <a:solidFill>
                <a:srgbClr val="000000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6077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 smtClean="0"/>
              <a:t>평가 </a:t>
            </a:r>
            <a:r>
              <a:rPr lang="ko-KR" altLang="en-US" dirty="0"/>
              <a:t>요소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/>
              <a:t>BTCECC/ETHECC </a:t>
            </a:r>
            <a:r>
              <a:rPr lang="ko-KR" altLang="en-US" dirty="0"/>
              <a:t>평가 결과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17F49E3-049C-4C1F-A673-4C97B447C729}"/>
              </a:ext>
            </a:extLst>
          </p:cNvPr>
          <p:cNvGrpSpPr/>
          <p:nvPr/>
        </p:nvGrpSpPr>
        <p:grpSpPr>
          <a:xfrm>
            <a:off x="334963" y="2222338"/>
            <a:ext cx="11520001" cy="4014949"/>
            <a:chOff x="334963" y="2383883"/>
            <a:chExt cx="12604831" cy="359972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B367945-0ED8-4047-A634-DD36035AE367}"/>
                </a:ext>
              </a:extLst>
            </p:cNvPr>
            <p:cNvSpPr/>
            <p:nvPr/>
          </p:nvSpPr>
          <p:spPr>
            <a:xfrm>
              <a:off x="334963" y="2383883"/>
              <a:ext cx="4109013" cy="3599726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73B221D-A3F0-4D1B-8AE8-C2A407A78BFF}"/>
                </a:ext>
              </a:extLst>
            </p:cNvPr>
            <p:cNvSpPr/>
            <p:nvPr/>
          </p:nvSpPr>
          <p:spPr>
            <a:xfrm>
              <a:off x="4582872" y="2383883"/>
              <a:ext cx="4109013" cy="3599726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7CCFF4A-5FA8-4A32-BF47-6C8E3EC4F7CE}"/>
                </a:ext>
              </a:extLst>
            </p:cNvPr>
            <p:cNvSpPr/>
            <p:nvPr/>
          </p:nvSpPr>
          <p:spPr>
            <a:xfrm>
              <a:off x="8830781" y="2383883"/>
              <a:ext cx="4109013" cy="3599726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2D6325-27D6-496B-865F-9FD1535EFC67}"/>
              </a:ext>
            </a:extLst>
          </p:cNvPr>
          <p:cNvSpPr/>
          <p:nvPr/>
        </p:nvSpPr>
        <p:spPr>
          <a:xfrm>
            <a:off x="675099" y="3584506"/>
            <a:ext cx="3075098" cy="2069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각 채굴 노드들이 전체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채굴량에 대해 일정하게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채굴하는 정도를 의미함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.</a:t>
            </a:r>
          </a:p>
          <a:p>
            <a:pPr algn="ctr">
              <a:spcBef>
                <a:spcPts val="300"/>
              </a:spcBef>
              <a:defRPr/>
            </a:pPr>
            <a:r>
              <a:rPr lang="ko-KR" altLang="en-US" dirty="0" err="1">
                <a:solidFill>
                  <a:srgbClr val="000000"/>
                </a:solidFill>
                <a:ea typeface="+mj-ea"/>
              </a:rPr>
              <a:t>분산성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 수치가 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100%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에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가까울 수록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 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각 채굴자들의 채굴 확률이 균등하게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분포 된 것을 뜻함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0E8807D-969E-4925-BE91-5521FD4DCA6F}"/>
              </a:ext>
            </a:extLst>
          </p:cNvPr>
          <p:cNvSpPr/>
          <p:nvPr/>
        </p:nvSpPr>
        <p:spPr>
          <a:xfrm>
            <a:off x="547777" y="1932082"/>
            <a:ext cx="713864" cy="67710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>
              <a:defRPr/>
            </a:pPr>
            <a:r>
              <a:rPr lang="en-US" altLang="ko-KR" sz="4400" dirty="0">
                <a:solidFill>
                  <a:srgbClr val="0255B8"/>
                </a:solidFill>
                <a:ea typeface="+mj-ea"/>
              </a:rPr>
              <a:t>01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7604F7-A4FA-4D56-9C1E-6B23C4DCF065}"/>
              </a:ext>
            </a:extLst>
          </p:cNvPr>
          <p:cNvSpPr/>
          <p:nvPr/>
        </p:nvSpPr>
        <p:spPr>
          <a:xfrm>
            <a:off x="4439454" y="1932082"/>
            <a:ext cx="713864" cy="67710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>
              <a:defRPr/>
            </a:pPr>
            <a:r>
              <a:rPr lang="en-US" altLang="ko-KR" sz="4400" dirty="0">
                <a:solidFill>
                  <a:srgbClr val="0255B8"/>
                </a:solidFill>
                <a:ea typeface="+mj-ea"/>
              </a:rPr>
              <a:t>02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207FA0-6D69-4E29-811C-3AE41C08492D}"/>
              </a:ext>
            </a:extLst>
          </p:cNvPr>
          <p:cNvSpPr/>
          <p:nvPr/>
        </p:nvSpPr>
        <p:spPr>
          <a:xfrm>
            <a:off x="8314481" y="1932082"/>
            <a:ext cx="713864" cy="67710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 anchorCtr="0">
            <a:noAutofit/>
          </a:bodyPr>
          <a:lstStyle/>
          <a:p>
            <a:pPr algn="ctr">
              <a:defRPr/>
            </a:pPr>
            <a:r>
              <a:rPr lang="en-US" altLang="ko-KR" sz="4400" dirty="0">
                <a:solidFill>
                  <a:srgbClr val="0255B8"/>
                </a:solidFill>
                <a:ea typeface="+mj-ea"/>
              </a:rPr>
              <a:t>03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E5B5A7-A024-4162-9803-03F5FC365DE3}"/>
              </a:ext>
            </a:extLst>
          </p:cNvPr>
          <p:cNvSpPr/>
          <p:nvPr/>
        </p:nvSpPr>
        <p:spPr>
          <a:xfrm>
            <a:off x="1432092" y="2741652"/>
            <a:ext cx="16658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b="1" spc="-150" dirty="0" err="1">
                <a:solidFill>
                  <a:srgbClr val="0255B8"/>
                </a:solidFill>
              </a:rPr>
              <a:t>분산성</a:t>
            </a:r>
            <a:endParaRPr lang="ko-KR" altLang="en-US" sz="4000" b="1" spc="-150" dirty="0">
              <a:solidFill>
                <a:srgbClr val="0255B8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1A5B53-E014-4565-B13A-A9F50E5A72D1}"/>
              </a:ext>
            </a:extLst>
          </p:cNvPr>
          <p:cNvSpPr/>
          <p:nvPr/>
        </p:nvSpPr>
        <p:spPr>
          <a:xfrm>
            <a:off x="5271405" y="2741652"/>
            <a:ext cx="16658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b="1" spc="-150">
                <a:solidFill>
                  <a:srgbClr val="0255B8"/>
                </a:solidFill>
              </a:rPr>
              <a:t>보안성</a:t>
            </a:r>
            <a:endParaRPr lang="ko-KR" altLang="en-US" sz="4000" b="1" spc="-150" dirty="0">
              <a:solidFill>
                <a:srgbClr val="0255B8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64037D-4BCC-420D-B4AC-62811DC38D79}"/>
              </a:ext>
            </a:extLst>
          </p:cNvPr>
          <p:cNvSpPr/>
          <p:nvPr/>
        </p:nvSpPr>
        <p:spPr>
          <a:xfrm>
            <a:off x="9144358" y="2741652"/>
            <a:ext cx="16658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4000" b="1" spc="-150" dirty="0">
                <a:solidFill>
                  <a:srgbClr val="0255B8"/>
                </a:solidFill>
              </a:rPr>
              <a:t>확장성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9099FF-22E7-4F44-BA3F-86FBA05A7EA5}"/>
              </a:ext>
            </a:extLst>
          </p:cNvPr>
          <p:cNvSpPr/>
          <p:nvPr/>
        </p:nvSpPr>
        <p:spPr>
          <a:xfrm>
            <a:off x="4557414" y="3584506"/>
            <a:ext cx="3075098" cy="1792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이중 지불 공격의 원인인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고아 블록의 출현을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방지하고 이를 보안을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유지할 수 있는 것을 의미함</a:t>
            </a:r>
            <a:endParaRPr lang="en-US" altLang="ko-KR" dirty="0">
              <a:solidFill>
                <a:srgbClr val="000000"/>
              </a:solidFill>
              <a:ea typeface="+mj-ea"/>
            </a:endParaRPr>
          </a:p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즉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고아 블록 비율이 낮으면 보안성이 좋다고 할 수 있음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3E6A35E-8F4A-4346-AAEA-E21F1F93DA67}"/>
              </a:ext>
            </a:extLst>
          </p:cNvPr>
          <p:cNvSpPr/>
          <p:nvPr/>
        </p:nvSpPr>
        <p:spPr>
          <a:xfrm>
            <a:off x="8441803" y="3584506"/>
            <a:ext cx="3075098" cy="2346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블록체인 환경에서의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처리할 수 있는 트랜잭션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en-US" altLang="ko-KR" dirty="0">
                <a:solidFill>
                  <a:srgbClr val="000000"/>
                </a:solidFill>
                <a:ea typeface="+mj-ea"/>
              </a:rPr>
              <a:t>(TPS)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을 증가시킬 수 있음을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의미함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.</a:t>
            </a:r>
          </a:p>
          <a:p>
            <a:pPr algn="ctr">
              <a:spcBef>
                <a:spcPts val="300"/>
              </a:spcBef>
              <a:defRPr/>
            </a:pPr>
            <a:r>
              <a:rPr lang="ko-KR" altLang="en-US" dirty="0">
                <a:solidFill>
                  <a:srgbClr val="000000"/>
                </a:solidFill>
                <a:ea typeface="+mj-ea"/>
              </a:rPr>
              <a:t>동일한 환경에서 </a:t>
            </a:r>
            <a:r>
              <a:rPr lang="ko-KR" altLang="en-US" dirty="0" err="1">
                <a:solidFill>
                  <a:srgbClr val="000000"/>
                </a:solidFill>
                <a:ea typeface="+mj-ea"/>
              </a:rPr>
              <a:t>비트코인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/</a:t>
            </a:r>
            <a:r>
              <a:rPr lang="ko-KR" altLang="en-US" dirty="0" err="1">
                <a:solidFill>
                  <a:srgbClr val="000000"/>
                </a:solidFill>
                <a:ea typeface="+mj-ea"/>
              </a:rPr>
              <a:t>이더리움과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a typeface="+mj-ea"/>
              </a:rPr>
              <a:t>ECCPoW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의 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>TPS</a:t>
            </a:r>
            <a:r>
              <a:rPr lang="ko-KR" altLang="en-US" dirty="0">
                <a:solidFill>
                  <a:srgbClr val="000000"/>
                </a:solidFill>
                <a:ea typeface="+mj-ea"/>
              </a:rPr>
              <a:t>를 비교는 확장성을</a:t>
            </a:r>
            <a:r>
              <a:rPr lang="en-US" altLang="ko-KR" dirty="0">
                <a:solidFill>
                  <a:srgbClr val="000000"/>
                </a:solidFill>
                <a:ea typeface="+mj-ea"/>
              </a:rPr>
              <a:t/>
            </a:r>
            <a:br>
              <a:rPr lang="en-US" altLang="ko-KR" dirty="0">
                <a:solidFill>
                  <a:srgbClr val="000000"/>
                </a:solidFill>
                <a:ea typeface="+mj-ea"/>
              </a:rPr>
            </a:br>
            <a:r>
              <a:rPr lang="ko-KR" altLang="en-US" dirty="0">
                <a:solidFill>
                  <a:srgbClr val="000000"/>
                </a:solidFill>
                <a:ea typeface="+mj-ea"/>
              </a:rPr>
              <a:t>비교할 수 있음 </a:t>
            </a:r>
            <a:endParaRPr lang="en-US" altLang="ko-KR" dirty="0">
              <a:solidFill>
                <a:srgbClr val="000000"/>
              </a:solidFill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5361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 smtClean="0"/>
              <a:t>평가 </a:t>
            </a:r>
            <a:r>
              <a:rPr lang="ko-KR" altLang="en-US" dirty="0"/>
              <a:t>결과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en-US" altLang="ko-KR" dirty="0"/>
              <a:t>BTCECC/ETHECC </a:t>
            </a:r>
            <a:r>
              <a:rPr lang="ko-KR" altLang="en-US" dirty="0"/>
              <a:t>평가 결과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5A00957-625B-46D7-94BC-5EC172D84209}"/>
              </a:ext>
            </a:extLst>
          </p:cNvPr>
          <p:cNvSpPr/>
          <p:nvPr/>
        </p:nvSpPr>
        <p:spPr>
          <a:xfrm>
            <a:off x="333924" y="1267935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264378"/>
              </p:ext>
            </p:extLst>
          </p:nvPr>
        </p:nvGraphicFramePr>
        <p:xfrm>
          <a:off x="763227" y="2002302"/>
          <a:ext cx="10682196" cy="3309168"/>
        </p:xfrm>
        <a:graphic>
          <a:graphicData uri="http://schemas.openxmlformats.org/drawingml/2006/table">
            <a:tbl>
              <a:tblPr/>
              <a:tblGrid>
                <a:gridCol w="2899986">
                  <a:extLst>
                    <a:ext uri="{9D8B030D-6E8A-4147-A177-3AD203B41FA5}">
                      <a16:colId xmlns:a16="http://schemas.microsoft.com/office/drawing/2014/main" val="3478640238"/>
                    </a:ext>
                  </a:extLst>
                </a:gridCol>
                <a:gridCol w="905757">
                  <a:extLst>
                    <a:ext uri="{9D8B030D-6E8A-4147-A177-3AD203B41FA5}">
                      <a16:colId xmlns:a16="http://schemas.microsoft.com/office/drawing/2014/main" val="3699512016"/>
                    </a:ext>
                  </a:extLst>
                </a:gridCol>
                <a:gridCol w="2237415">
                  <a:extLst>
                    <a:ext uri="{9D8B030D-6E8A-4147-A177-3AD203B41FA5}">
                      <a16:colId xmlns:a16="http://schemas.microsoft.com/office/drawing/2014/main" val="177982987"/>
                    </a:ext>
                  </a:extLst>
                </a:gridCol>
                <a:gridCol w="1270405">
                  <a:extLst>
                    <a:ext uri="{9D8B030D-6E8A-4147-A177-3AD203B41FA5}">
                      <a16:colId xmlns:a16="http://schemas.microsoft.com/office/drawing/2014/main" val="3570136534"/>
                    </a:ext>
                  </a:extLst>
                </a:gridCol>
                <a:gridCol w="1270405">
                  <a:extLst>
                    <a:ext uri="{9D8B030D-6E8A-4147-A177-3AD203B41FA5}">
                      <a16:colId xmlns:a16="http://schemas.microsoft.com/office/drawing/2014/main" val="3158973439"/>
                    </a:ext>
                  </a:extLst>
                </a:gridCol>
                <a:gridCol w="1122877">
                  <a:extLst>
                    <a:ext uri="{9D8B030D-6E8A-4147-A177-3AD203B41FA5}">
                      <a16:colId xmlns:a16="http://schemas.microsoft.com/office/drawing/2014/main" val="5176231"/>
                    </a:ext>
                  </a:extLst>
                </a:gridCol>
                <a:gridCol w="975351">
                  <a:extLst>
                    <a:ext uri="{9D8B030D-6E8A-4147-A177-3AD203B41FA5}">
                      <a16:colId xmlns:a16="http://schemas.microsoft.com/office/drawing/2014/main" val="3693796053"/>
                    </a:ext>
                  </a:extLst>
                </a:gridCol>
              </a:tblGrid>
              <a:tr h="98949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평가 항목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(</a:t>
                      </a:r>
                      <a:r>
                        <a:rPr lang="ko-KR" altLang="en-US" sz="1400" kern="0" spc="-50" dirty="0" err="1" smtClean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주요성능</a:t>
                      </a:r>
                      <a:r>
                        <a:rPr lang="ko-KR" altLang="en-US" sz="1400" kern="0" spc="-50" dirty="0" smtClean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 </a:t>
                      </a:r>
                      <a:r>
                        <a:rPr lang="en-US" altLang="ko-KR" sz="1400" kern="0" spc="-50" dirty="0" smtClean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Spec)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단위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9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세계최고 수준</a:t>
                      </a:r>
                      <a:r>
                        <a:rPr lang="en-US" altLang="ko-KR" sz="1400" kern="0" spc="-9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, </a:t>
                      </a:r>
                      <a:r>
                        <a:rPr lang="ko-KR" altLang="en-US" sz="1400" kern="0" spc="-9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보유국</a:t>
                      </a:r>
                      <a:r>
                        <a:rPr lang="en-US" altLang="ko-KR" sz="1400" kern="0" spc="-9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/</a:t>
                      </a:r>
                      <a:r>
                        <a:rPr lang="ko-KR" altLang="en-US" sz="1400" kern="0" spc="-9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보유기업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9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(</a:t>
                      </a:r>
                      <a:r>
                        <a:rPr lang="ko-KR" altLang="en-US" sz="1400" kern="0" spc="-9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미국</a:t>
                      </a:r>
                      <a:r>
                        <a:rPr lang="en-US" altLang="ko-KR" sz="1400" kern="0" spc="-9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/</a:t>
                      </a:r>
                      <a:r>
                        <a:rPr lang="ko-KR" altLang="en-US" sz="1400" kern="0" spc="-9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비트코인 재단</a:t>
                      </a:r>
                      <a:r>
                        <a:rPr lang="en-US" altLang="ko-KR" sz="1400" kern="0" spc="-9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)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연구개발전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국내수준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연구개발 목표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215321"/>
                  </a:ext>
                </a:extLst>
              </a:tr>
              <a:tr h="6617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성능수준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성능수준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계획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실적 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달성도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(%)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092980"/>
                  </a:ext>
                </a:extLst>
              </a:tr>
              <a:tr h="901404"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암호</a:t>
                      </a:r>
                      <a:r>
                        <a:rPr lang="en-US" altLang="ko-KR" sz="16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-</a:t>
                      </a: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부호 작업증명 </a:t>
                      </a:r>
                      <a:r>
                        <a:rPr lang="en-US" altLang="ko-KR" sz="16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1.0 Version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50%</a:t>
                      </a:r>
                      <a:endParaRPr 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중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하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상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중 이상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100%</a:t>
                      </a:r>
                      <a:endParaRPr 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217597"/>
                  </a:ext>
                </a:extLst>
              </a:tr>
              <a:tr h="756528"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암호</a:t>
                      </a:r>
                      <a:r>
                        <a:rPr lang="en-US" altLang="ko-KR" sz="16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-</a:t>
                      </a: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부호 블록체인 개발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50%</a:t>
                      </a:r>
                      <a:endParaRPr 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중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하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상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중 이상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나눔스퀘어_ac"/>
                          <a:ea typeface="한컴바탕"/>
                        </a:rPr>
                        <a:t>100%</a:t>
                      </a:r>
                      <a:endParaRPr lang="en-US" sz="1600" kern="0" spc="0" dirty="0">
                        <a:solidFill>
                          <a:srgbClr val="000000"/>
                        </a:solidFill>
                        <a:effectLst/>
                        <a:latin typeface="나눔스퀘어_ac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21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32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월별 개발 추진 </a:t>
            </a:r>
            <a:r>
              <a:rPr lang="ko-KR" altLang="en-US" dirty="0" smtClean="0"/>
              <a:t>일정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ko-KR" altLang="en-US" dirty="0"/>
              <a:t>기술개발의 추진전략</a:t>
            </a:r>
            <a:r>
              <a:rPr lang="en-US" altLang="ko-KR" dirty="0"/>
              <a:t>, </a:t>
            </a:r>
            <a:r>
              <a:rPr lang="ko-KR" altLang="en-US" dirty="0"/>
              <a:t>방법 및 추진체계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47FD3816-33D8-4CBD-939A-875B2211C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832985"/>
              </p:ext>
            </p:extLst>
          </p:nvPr>
        </p:nvGraphicFramePr>
        <p:xfrm>
          <a:off x="899504" y="1267934"/>
          <a:ext cx="10280418" cy="4967403"/>
        </p:xfrm>
        <a:graphic>
          <a:graphicData uri="http://schemas.openxmlformats.org/drawingml/2006/table">
            <a:tbl>
              <a:tblPr/>
              <a:tblGrid>
                <a:gridCol w="2802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158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87779">
                <a:tc gridSpan="25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1</a:t>
                      </a:r>
                      <a:r>
                        <a:rPr lang="ko-KR" altLang="en-US" sz="1300" b="1" kern="0" spc="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차년도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434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개발내용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추진 일정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새로운 암호 퍼즐 연구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새로운 </a:t>
                      </a:r>
                      <a:r>
                        <a:rPr lang="ko-KR" altLang="en-US" sz="1400" b="1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디코더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 개발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ECCPoW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버전 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1.0</a:t>
                      </a: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ECCPoW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버전 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1.0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시스템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테스트 및 고도화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비트코인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 하드포크 및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테스트 넷 배포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go-</a:t>
                      </a:r>
                      <a:r>
                        <a:rPr lang="en-US" altLang="ko-KR" sz="1400" b="1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ethereum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패키지 연구 및 분석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Ethereum 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하드포크 및</a:t>
                      </a:r>
                      <a:endParaRPr lang="en-US" altLang="ko-KR" sz="14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테스트 넷 배포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045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j-ea"/>
                        </a:rPr>
                        <a:t>시스템 보완</a:t>
                      </a:r>
                    </a:p>
                  </a:txBody>
                  <a:tcPr marL="3600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F149B71B-7EE1-45EE-A822-B6E5C6F7D945}"/>
              </a:ext>
            </a:extLst>
          </p:cNvPr>
          <p:cNvSpPr/>
          <p:nvPr/>
        </p:nvSpPr>
        <p:spPr>
          <a:xfrm>
            <a:off x="5571972" y="2481943"/>
            <a:ext cx="627017" cy="0"/>
          </a:xfrm>
          <a:custGeom>
            <a:avLst/>
            <a:gdLst>
              <a:gd name="connsiteX0" fmla="*/ 0 w 627017"/>
              <a:gd name="connsiteY0" fmla="*/ 0 h 0"/>
              <a:gd name="connsiteX1" fmla="*/ 627017 w 62701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7017">
                <a:moveTo>
                  <a:pt x="0" y="0"/>
                </a:moveTo>
                <a:lnTo>
                  <a:pt x="627017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EC190A7C-FDC6-4FCA-93CC-F7DD76F7AC57}"/>
              </a:ext>
            </a:extLst>
          </p:cNvPr>
          <p:cNvSpPr/>
          <p:nvPr/>
        </p:nvSpPr>
        <p:spPr>
          <a:xfrm>
            <a:off x="6201772" y="2978870"/>
            <a:ext cx="1536569" cy="0"/>
          </a:xfrm>
          <a:custGeom>
            <a:avLst/>
            <a:gdLst>
              <a:gd name="connsiteX0" fmla="*/ 0 w 1536569"/>
              <a:gd name="connsiteY0" fmla="*/ 0 h 0"/>
              <a:gd name="connsiteX1" fmla="*/ 1536569 w 153656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36569">
                <a:moveTo>
                  <a:pt x="0" y="0"/>
                </a:moveTo>
                <a:lnTo>
                  <a:pt x="1536569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A0C5FC27-7624-4C56-94B5-F6ABC6B998CC}"/>
              </a:ext>
            </a:extLst>
          </p:cNvPr>
          <p:cNvSpPr/>
          <p:nvPr/>
        </p:nvSpPr>
        <p:spPr>
          <a:xfrm>
            <a:off x="7436683" y="3478491"/>
            <a:ext cx="1875934" cy="0"/>
          </a:xfrm>
          <a:custGeom>
            <a:avLst/>
            <a:gdLst>
              <a:gd name="connsiteX0" fmla="*/ 0 w 1875934"/>
              <a:gd name="connsiteY0" fmla="*/ 0 h 0"/>
              <a:gd name="connsiteX1" fmla="*/ 1875934 w 187593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75934">
                <a:moveTo>
                  <a:pt x="0" y="0"/>
                </a:moveTo>
                <a:lnTo>
                  <a:pt x="1875934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F0993E0C-42B7-41E8-B02D-4A07A2120DA0}"/>
              </a:ext>
            </a:extLst>
          </p:cNvPr>
          <p:cNvSpPr/>
          <p:nvPr/>
        </p:nvSpPr>
        <p:spPr>
          <a:xfrm>
            <a:off x="8681021" y="3978111"/>
            <a:ext cx="2498103" cy="0"/>
          </a:xfrm>
          <a:custGeom>
            <a:avLst/>
            <a:gdLst>
              <a:gd name="connsiteX0" fmla="*/ 0 w 2498103"/>
              <a:gd name="connsiteY0" fmla="*/ 0 h 0"/>
              <a:gd name="connsiteX1" fmla="*/ 2498103 w 249810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98103">
                <a:moveTo>
                  <a:pt x="0" y="0"/>
                </a:moveTo>
                <a:lnTo>
                  <a:pt x="2498103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CDA253D4-873C-4498-A3A9-8855626C8D3D}"/>
              </a:ext>
            </a:extLst>
          </p:cNvPr>
          <p:cNvSpPr/>
          <p:nvPr/>
        </p:nvSpPr>
        <p:spPr>
          <a:xfrm>
            <a:off x="8058852" y="4477732"/>
            <a:ext cx="1253765" cy="0"/>
          </a:xfrm>
          <a:custGeom>
            <a:avLst/>
            <a:gdLst>
              <a:gd name="connsiteX0" fmla="*/ 0 w 1253765"/>
              <a:gd name="connsiteY0" fmla="*/ 0 h 0"/>
              <a:gd name="connsiteX1" fmla="*/ 0 w 1253765"/>
              <a:gd name="connsiteY1" fmla="*/ 0 h 0"/>
              <a:gd name="connsiteX2" fmla="*/ 1253765 w 1253765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3765">
                <a:moveTo>
                  <a:pt x="0" y="0"/>
                </a:moveTo>
                <a:lnTo>
                  <a:pt x="0" y="0"/>
                </a:lnTo>
                <a:lnTo>
                  <a:pt x="1253765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826D2DFF-5B4E-4EA6-8438-E816A568F60F}"/>
              </a:ext>
            </a:extLst>
          </p:cNvPr>
          <p:cNvSpPr/>
          <p:nvPr/>
        </p:nvSpPr>
        <p:spPr>
          <a:xfrm>
            <a:off x="5570176" y="4977353"/>
            <a:ext cx="1234911" cy="0"/>
          </a:xfrm>
          <a:custGeom>
            <a:avLst/>
            <a:gdLst>
              <a:gd name="connsiteX0" fmla="*/ 0 w 1234911"/>
              <a:gd name="connsiteY0" fmla="*/ 0 h 0"/>
              <a:gd name="connsiteX1" fmla="*/ 1234911 w 123491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34911">
                <a:moveTo>
                  <a:pt x="0" y="0"/>
                </a:moveTo>
                <a:lnTo>
                  <a:pt x="1234911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C73FEAC-9593-4446-B702-4A1EFBA3BD81}"/>
              </a:ext>
            </a:extLst>
          </p:cNvPr>
          <p:cNvSpPr/>
          <p:nvPr/>
        </p:nvSpPr>
        <p:spPr>
          <a:xfrm>
            <a:off x="6512856" y="5486400"/>
            <a:ext cx="2488677" cy="0"/>
          </a:xfrm>
          <a:custGeom>
            <a:avLst/>
            <a:gdLst>
              <a:gd name="connsiteX0" fmla="*/ 0 w 2488677"/>
              <a:gd name="connsiteY0" fmla="*/ 0 h 0"/>
              <a:gd name="connsiteX1" fmla="*/ 2488677 w 248867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88677">
                <a:moveTo>
                  <a:pt x="0" y="0"/>
                </a:moveTo>
                <a:lnTo>
                  <a:pt x="2488677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6429AD-C842-41F3-8E09-C292187E87CD}"/>
              </a:ext>
            </a:extLst>
          </p:cNvPr>
          <p:cNvSpPr/>
          <p:nvPr/>
        </p:nvSpPr>
        <p:spPr>
          <a:xfrm>
            <a:off x="8379364" y="5995447"/>
            <a:ext cx="1555422" cy="0"/>
          </a:xfrm>
          <a:custGeom>
            <a:avLst/>
            <a:gdLst>
              <a:gd name="connsiteX0" fmla="*/ 0 w 1555422"/>
              <a:gd name="connsiteY0" fmla="*/ 0 h 0"/>
              <a:gd name="connsiteX1" fmla="*/ 1555422 w 155542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5422">
                <a:moveTo>
                  <a:pt x="0" y="0"/>
                </a:moveTo>
                <a:lnTo>
                  <a:pt x="1555422" y="0"/>
                </a:lnTo>
              </a:path>
            </a:pathLst>
          </a:custGeom>
          <a:noFill/>
          <a:ln w="28575">
            <a:solidFill>
              <a:srgbClr val="434348"/>
            </a:solidFill>
            <a:headEnd type="none" w="med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77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5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25E5B-300F-49FB-9231-D39764DAB0F0}"/>
              </a:ext>
            </a:extLst>
          </p:cNvPr>
          <p:cNvSpPr txBox="1"/>
          <p:nvPr/>
        </p:nvSpPr>
        <p:spPr>
          <a:xfrm>
            <a:off x="487680" y="2392680"/>
            <a:ext cx="9026710" cy="5539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fontAlgn="base"/>
            <a:r>
              <a:rPr lang="ko-KR" altLang="en-US" sz="3600" b="1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기술개발 결과의 활용 방안 및 기대효과</a:t>
            </a:r>
            <a:endParaRPr lang="en-US" altLang="ko-KR" sz="3600" b="1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3591D-560F-436F-B4B3-784597D85279}"/>
              </a:ext>
            </a:extLst>
          </p:cNvPr>
          <p:cNvSpPr txBox="1"/>
          <p:nvPr/>
        </p:nvSpPr>
        <p:spPr>
          <a:xfrm>
            <a:off x="487680" y="624840"/>
            <a:ext cx="3322320" cy="17697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500" b="1" i="0" u="none" strike="noStrike" kern="1200" cap="none" spc="-30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+mn-cs"/>
              </a:rPr>
              <a:t>04</a:t>
            </a:r>
            <a:endParaRPr kumimoji="0" lang="ko-KR" altLang="en-US" sz="11500" b="1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30DBB7-8042-4859-ADD2-C122EC07B093}"/>
              </a:ext>
            </a:extLst>
          </p:cNvPr>
          <p:cNvSpPr/>
          <p:nvPr/>
        </p:nvSpPr>
        <p:spPr>
          <a:xfrm>
            <a:off x="487680" y="6235115"/>
            <a:ext cx="6096000" cy="261610"/>
          </a:xfrm>
          <a:prstGeom prst="rect">
            <a:avLst/>
          </a:prstGeom>
        </p:spPr>
        <p:txBody>
          <a:bodyPr lIns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확장가능한 탈중앙화 보안성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DeSecure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)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ECCPoW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나눔스퀘어_ac" panose="020B0600000101010101" pitchFamily="50" charset="-127"/>
                <a:ea typeface="나눔스퀘어_ac" panose="020B0600000101010101" pitchFamily="50" charset="-127"/>
                <a:cs typeface="+mn-cs"/>
              </a:rPr>
              <a:t>블록체인</a:t>
            </a:r>
          </a:p>
        </p:txBody>
      </p:sp>
    </p:spTree>
    <p:extLst>
      <p:ext uri="{BB962C8B-B14F-4D97-AF65-F5344CB8AC3E}">
        <p14:creationId xmlns:p14="http://schemas.microsoft.com/office/powerpoint/2010/main" val="2192101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기대효과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ko-KR" altLang="en-US" dirty="0"/>
              <a:t>기술개발 결과의 활용 방안 및 기대효과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F287D7-390D-C34E-9D01-E90C3497677F}"/>
              </a:ext>
            </a:extLst>
          </p:cNvPr>
          <p:cNvSpPr/>
          <p:nvPr/>
        </p:nvSpPr>
        <p:spPr>
          <a:xfrm>
            <a:off x="333924" y="1267935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E98CE6-2AAE-B449-87DF-BEA4647C5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168" y="1781606"/>
            <a:ext cx="3586242" cy="380080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09AC7BE-0D19-CB45-A972-F8655BE189EC}"/>
              </a:ext>
            </a:extLst>
          </p:cNvPr>
          <p:cNvSpPr/>
          <p:nvPr/>
        </p:nvSpPr>
        <p:spPr>
          <a:xfrm>
            <a:off x="438868" y="1457352"/>
            <a:ext cx="10977605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itchFamily="2" charset="2"/>
              <a:buChar char="l"/>
              <a:tabLst>
                <a:tab pos="444500" algn="l"/>
              </a:tabLst>
              <a:defRPr/>
            </a:pPr>
            <a:r>
              <a:rPr lang="ko-KR" altLang="en-US" b="1" dirty="0"/>
              <a:t>표준화 된 </a:t>
            </a:r>
            <a:r>
              <a:rPr lang="ko-KR" altLang="en-US" b="1"/>
              <a:t>다층멀티체인 생태계 </a:t>
            </a:r>
            <a:r>
              <a:rPr lang="ko-KR" altLang="en-US" b="1" dirty="0"/>
              <a:t>추동 기대</a:t>
            </a:r>
            <a:endParaRPr lang="en-US" altLang="ko-KR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/>
              <a:t>표준 </a:t>
            </a:r>
            <a:r>
              <a:rPr lang="ko-KR" altLang="en-US" dirty="0" err="1"/>
              <a:t>독립형</a:t>
            </a:r>
            <a:r>
              <a:rPr lang="ko-KR" altLang="en-US" dirty="0"/>
              <a:t> </a:t>
            </a:r>
            <a:r>
              <a:rPr lang="en-US" altLang="ko-KR" dirty="0" err="1"/>
              <a:t>DeSecure</a:t>
            </a:r>
            <a:r>
              <a:rPr lang="en-US" altLang="ko-KR" dirty="0"/>
              <a:t> </a:t>
            </a:r>
            <a:r>
              <a:rPr lang="ko-KR" altLang="en-US" dirty="0" err="1"/>
              <a:t>블록체인</a:t>
            </a:r>
            <a:r>
              <a:rPr lang="ko-KR" altLang="en-US" dirty="0"/>
              <a:t> </a:t>
            </a:r>
            <a:r>
              <a:rPr lang="en-US" altLang="ko-KR" dirty="0"/>
              <a:t>BTCECC, ETHECC </a:t>
            </a:r>
            <a:r>
              <a:rPr lang="ko-KR" altLang="en-US" dirty="0"/>
              <a:t>보급</a:t>
            </a:r>
            <a:endParaRPr lang="en-US" altLang="ko-KR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 err="1"/>
              <a:t>다층형</a:t>
            </a:r>
            <a:r>
              <a:rPr lang="ko-KR" altLang="en-US" dirty="0"/>
              <a:t> </a:t>
            </a:r>
            <a:r>
              <a:rPr lang="ko-KR" altLang="en-US" dirty="0" err="1"/>
              <a:t>블록체인</a:t>
            </a:r>
            <a:r>
              <a:rPr lang="ko-KR" altLang="en-US" dirty="0"/>
              <a:t> 생태계 자연적 구축</a:t>
            </a:r>
            <a:endParaRPr lang="en-US" altLang="ko-KR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/>
              <a:t>확장성 문제 해결 기대</a:t>
            </a:r>
          </a:p>
        </p:txBody>
      </p:sp>
    </p:spTree>
    <p:extLst>
      <p:ext uri="{BB962C8B-B14F-4D97-AF65-F5344CB8AC3E}">
        <p14:creationId xmlns:p14="http://schemas.microsoft.com/office/powerpoint/2010/main" val="1996064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사업화 전략 </a:t>
            </a:r>
            <a:r>
              <a:rPr lang="en-US" altLang="ko-KR" dirty="0"/>
              <a:t>–</a:t>
            </a:r>
            <a:r>
              <a:rPr lang="ko-KR" altLang="en-US" dirty="0"/>
              <a:t> 국내대학 및 </a:t>
            </a:r>
            <a:r>
              <a:rPr lang="ko-KR" altLang="en-US" dirty="0" err="1"/>
              <a:t>협력사</a:t>
            </a:r>
            <a:r>
              <a:rPr lang="ko-KR" altLang="en-US" dirty="0"/>
              <a:t> 연계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ko-KR" altLang="en-US" dirty="0"/>
              <a:t>기술개발 결과의 활용 방안 및 기대효과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BE5953-E076-4840-A25E-80E0F9BEA0DB}"/>
              </a:ext>
            </a:extLst>
          </p:cNvPr>
          <p:cNvSpPr/>
          <p:nvPr/>
        </p:nvSpPr>
        <p:spPr>
          <a:xfrm>
            <a:off x="333924" y="1267935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ED4A32-8FBF-43DC-9F09-3B330C38D399}"/>
              </a:ext>
            </a:extLst>
          </p:cNvPr>
          <p:cNvSpPr/>
          <p:nvPr/>
        </p:nvSpPr>
        <p:spPr>
          <a:xfrm>
            <a:off x="438868" y="1457352"/>
            <a:ext cx="10977605" cy="312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itchFamily="2" charset="2"/>
              <a:buChar char="l"/>
              <a:tabLst>
                <a:tab pos="444500" algn="l"/>
              </a:tabLst>
              <a:defRPr/>
            </a:pPr>
            <a:r>
              <a:rPr lang="en-US" altLang="ko-KR" b="1" dirty="0" err="1"/>
              <a:t>ECCPoW</a:t>
            </a:r>
            <a:r>
              <a:rPr lang="ko-KR" altLang="en-US" b="1" dirty="0"/>
              <a:t> </a:t>
            </a:r>
            <a:r>
              <a:rPr lang="ko-KR" altLang="en-US" b="1" dirty="0" err="1"/>
              <a:t>블록체인</a:t>
            </a:r>
            <a:r>
              <a:rPr lang="ko-KR" altLang="en-US" b="1" dirty="0"/>
              <a:t> 유저 확대 방안</a:t>
            </a:r>
            <a:endParaRPr lang="en-US" altLang="ko-KR" b="1" dirty="0">
              <a:solidFill>
                <a:srgbClr val="0255B8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ko-KR" altLang="en-US" dirty="0" smtClean="0"/>
              <a:t>국내외 </a:t>
            </a:r>
            <a:r>
              <a:rPr lang="ko-KR" altLang="en-US" dirty="0"/>
              <a:t>유수 대학에 연구용 </a:t>
            </a:r>
            <a:r>
              <a:rPr lang="en-US" altLang="ko-KR" dirty="0" err="1"/>
              <a:t>DeSecure</a:t>
            </a:r>
            <a:r>
              <a:rPr lang="en-US" altLang="ko-KR" dirty="0"/>
              <a:t> </a:t>
            </a:r>
            <a:r>
              <a:rPr lang="ko-KR" altLang="en-US" dirty="0" err="1"/>
              <a:t>블록체인</a:t>
            </a:r>
            <a:r>
              <a:rPr lang="ko-KR" altLang="en-US" dirty="0"/>
              <a:t> </a:t>
            </a:r>
            <a:r>
              <a:rPr lang="en-US" altLang="ko-KR" dirty="0"/>
              <a:t>SW </a:t>
            </a:r>
            <a:r>
              <a:rPr lang="ko-KR" altLang="en-US" dirty="0"/>
              <a:t>보급</a:t>
            </a:r>
            <a:endParaRPr lang="en-US" altLang="ko-KR" dirty="0"/>
          </a:p>
          <a:p>
            <a:pPr lvl="1">
              <a:spcBef>
                <a:spcPts val="600"/>
              </a:spcBef>
              <a:tabLst>
                <a:tab pos="444500" algn="l"/>
              </a:tabLst>
              <a:defRPr/>
            </a:pPr>
            <a:endParaRPr lang="en-US" altLang="ko-KR" dirty="0"/>
          </a:p>
          <a:p>
            <a:pPr lvl="1">
              <a:spcBef>
                <a:spcPts val="600"/>
              </a:spcBef>
              <a:tabLst>
                <a:tab pos="444500" algn="l"/>
              </a:tabLst>
              <a:defRPr/>
            </a:pPr>
            <a:endParaRPr lang="en-US" altLang="ko-KR" dirty="0"/>
          </a:p>
          <a:p>
            <a:pPr marL="285750" indent="-285750">
              <a:spcBef>
                <a:spcPts val="600"/>
              </a:spcBef>
              <a:buFont typeface="Wingdings" pitchFamily="2" charset="2"/>
              <a:buChar char="l"/>
              <a:defRPr/>
            </a:pPr>
            <a:r>
              <a:rPr lang="ko-KR" altLang="en-US" dirty="0"/>
              <a:t>기반 기술과 경험 활용 비즈니스 확장 전략</a:t>
            </a:r>
            <a:endParaRPr lang="en-US" altLang="ko-KR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/>
              <a:t>기 확보된 파트너사들의 비즈니스를 </a:t>
            </a:r>
            <a:r>
              <a:rPr lang="en-US" altLang="ko-KR" dirty="0"/>
              <a:t>ECCPOW</a:t>
            </a:r>
            <a:r>
              <a:rPr lang="ko-KR" altLang="en-US" dirty="0"/>
              <a:t>기반 </a:t>
            </a:r>
            <a:r>
              <a:rPr lang="ko-KR" altLang="en-US" dirty="0" err="1"/>
              <a:t>솔류션</a:t>
            </a:r>
            <a:r>
              <a:rPr lang="ko-KR" altLang="en-US" dirty="0"/>
              <a:t> 적용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dirty="0"/>
              <a:t>ECCPOW </a:t>
            </a:r>
            <a:r>
              <a:rPr lang="ko-KR" altLang="en-US" dirty="0" err="1"/>
              <a:t>블록체인</a:t>
            </a:r>
            <a:r>
              <a:rPr lang="ko-KR" altLang="en-US" dirty="0"/>
              <a:t> 플랫폼 </a:t>
            </a:r>
            <a:r>
              <a:rPr lang="ko-KR" altLang="en-US" dirty="0" err="1"/>
              <a:t>구축관련</a:t>
            </a:r>
            <a:r>
              <a:rPr lang="ko-KR" altLang="en-US" dirty="0"/>
              <a:t> 컨설팅 및 교육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 err="1"/>
              <a:t>이더리움</a:t>
            </a:r>
            <a:r>
              <a:rPr lang="ko-KR" altLang="en-US" dirty="0"/>
              <a:t> </a:t>
            </a:r>
            <a:r>
              <a:rPr lang="en-US" altLang="ko-KR" dirty="0" err="1"/>
              <a:t>dApp</a:t>
            </a:r>
            <a:r>
              <a:rPr lang="ko-KR" altLang="en-US" dirty="0"/>
              <a:t>을 </a:t>
            </a:r>
            <a:r>
              <a:rPr lang="en-US" altLang="ko-KR" dirty="0" err="1"/>
              <a:t>DeSecure</a:t>
            </a:r>
            <a:r>
              <a:rPr lang="en-US" altLang="ko-KR" dirty="0"/>
              <a:t> </a:t>
            </a:r>
            <a:r>
              <a:rPr lang="en-US" altLang="ko-KR" dirty="0" err="1"/>
              <a:t>ECCPoW</a:t>
            </a:r>
            <a:r>
              <a:rPr lang="en-US" altLang="ko-KR" dirty="0"/>
              <a:t> </a:t>
            </a:r>
            <a:r>
              <a:rPr lang="ko-KR" altLang="en-US" dirty="0"/>
              <a:t>블록체인으로 </a:t>
            </a:r>
            <a:r>
              <a:rPr lang="ko-KR" altLang="en-US" dirty="0" err="1"/>
              <a:t>탑재운용</a:t>
            </a:r>
            <a:r>
              <a:rPr lang="ko-KR" altLang="en-US" dirty="0"/>
              <a:t> 유도</a:t>
            </a:r>
            <a:r>
              <a:rPr lang="en-US" altLang="ko-KR" dirty="0"/>
              <a:t/>
            </a:r>
            <a:br>
              <a:rPr lang="en-US" altLang="ko-KR" dirty="0"/>
            </a:b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4776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DFE2586-30B9-47F6-9945-34F1A6D6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25" y="576979"/>
            <a:ext cx="11520000" cy="424732"/>
          </a:xfrm>
        </p:spPr>
        <p:txBody>
          <a:bodyPr/>
          <a:lstStyle/>
          <a:p>
            <a:r>
              <a:rPr lang="ko-KR" altLang="en-US" dirty="0"/>
              <a:t>사업화 전략</a:t>
            </a:r>
            <a:r>
              <a:rPr lang="en-US" altLang="ko-KR" dirty="0"/>
              <a:t> _ GIST </a:t>
            </a:r>
            <a:r>
              <a:rPr lang="ko-KR" altLang="en-US" dirty="0"/>
              <a:t>캠퍼스블록체인 추진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7B741F-DA43-45F6-A9E6-11D16EB00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325" y="174108"/>
            <a:ext cx="11520000" cy="313932"/>
          </a:xfrm>
        </p:spPr>
        <p:txBody>
          <a:bodyPr/>
          <a:lstStyle/>
          <a:p>
            <a:r>
              <a:rPr lang="ko-KR" altLang="en-US" dirty="0"/>
              <a:t>기술개발 결과의 활용 방안 및 기대효과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C375E9-A0AA-3240-9000-50948466B24E}"/>
              </a:ext>
            </a:extLst>
          </p:cNvPr>
          <p:cNvSpPr/>
          <p:nvPr/>
        </p:nvSpPr>
        <p:spPr>
          <a:xfrm>
            <a:off x="333924" y="1267935"/>
            <a:ext cx="11522075" cy="496935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lIns="0" tIns="0" rIns="0" bIns="0" anchor="ctr" anchorCtr="0">
            <a:noAutofit/>
          </a:bodyPr>
          <a:lstStyle/>
          <a:p>
            <a:pPr algn="ctr"/>
            <a:endParaRPr kumimoji="1" lang="ko-KR" altLang="en-US" sz="1600" dirty="0">
              <a:solidFill>
                <a:schemeClr val="tx1"/>
              </a:solidFill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C48A24-54E0-FE4C-A77A-C8CE64E1BCA4}"/>
              </a:ext>
            </a:extLst>
          </p:cNvPr>
          <p:cNvSpPr/>
          <p:nvPr/>
        </p:nvSpPr>
        <p:spPr>
          <a:xfrm>
            <a:off x="438868" y="1457352"/>
            <a:ext cx="10977605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Wingdings" pitchFamily="2" charset="2"/>
              <a:buChar char="l"/>
              <a:tabLst>
                <a:tab pos="444500" algn="l"/>
              </a:tabLst>
              <a:defRPr/>
            </a:pPr>
            <a:r>
              <a:rPr lang="en-US" altLang="ko-KR" b="1" dirty="0"/>
              <a:t>GIST</a:t>
            </a:r>
            <a:r>
              <a:rPr lang="ko-KR" altLang="en-US" b="1" dirty="0"/>
              <a:t> </a:t>
            </a:r>
            <a:r>
              <a:rPr lang="ko-KR" altLang="en-US" b="1" dirty="0" err="1"/>
              <a:t>블록체인</a:t>
            </a:r>
            <a:r>
              <a:rPr lang="ko-KR" altLang="en-US" b="1" dirty="0"/>
              <a:t> 활용방안</a:t>
            </a:r>
            <a:endParaRPr lang="en-US" altLang="ko-KR" b="1" dirty="0">
              <a:solidFill>
                <a:srgbClr val="0255B8"/>
              </a:solidFill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dirty="0"/>
              <a:t>GIST </a:t>
            </a:r>
            <a:r>
              <a:rPr lang="ko-KR" altLang="en-US" dirty="0"/>
              <a:t>캠퍼스 </a:t>
            </a:r>
            <a:r>
              <a:rPr lang="ko-KR" altLang="en-US" dirty="0" err="1"/>
              <a:t>블록체인</a:t>
            </a:r>
            <a:r>
              <a:rPr lang="ko-KR" altLang="en-US" dirty="0"/>
              <a:t> 개발 및 적용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ko-KR" altLang="en-US" dirty="0"/>
              <a:t>연구노트</a:t>
            </a:r>
            <a:r>
              <a:rPr lang="en-US" altLang="ko-KR" dirty="0"/>
              <a:t>, </a:t>
            </a:r>
            <a:r>
              <a:rPr lang="ko-KR" altLang="en-US" dirty="0" err="1"/>
              <a:t>상품권코인</a:t>
            </a:r>
            <a:r>
              <a:rPr lang="en-US" altLang="ko-KR" dirty="0"/>
              <a:t>, </a:t>
            </a:r>
            <a:r>
              <a:rPr lang="ko-KR" altLang="en-US" dirty="0"/>
              <a:t>성적표</a:t>
            </a:r>
            <a:r>
              <a:rPr lang="en-US" altLang="ko-KR" dirty="0"/>
              <a:t>, </a:t>
            </a:r>
            <a:r>
              <a:rPr lang="ko-KR" altLang="en-US" dirty="0"/>
              <a:t>강의평가 등 시범 네트워크 구축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dirty="0"/>
              <a:t>GIST </a:t>
            </a:r>
            <a:r>
              <a:rPr lang="ko-KR" altLang="en-US" dirty="0"/>
              <a:t>스캔 서버 운용 </a:t>
            </a:r>
            <a:r>
              <a:rPr lang="en-US" altLang="ko-KR" dirty="0"/>
              <a:t>(</a:t>
            </a:r>
            <a:r>
              <a:rPr lang="ko-KR" altLang="en-US" dirty="0" err="1"/>
              <a:t>블록크기</a:t>
            </a:r>
            <a:r>
              <a:rPr lang="en-US" altLang="ko-KR" dirty="0"/>
              <a:t>, </a:t>
            </a:r>
            <a:r>
              <a:rPr lang="ko-KR" altLang="en-US" dirty="0"/>
              <a:t>속도</a:t>
            </a:r>
            <a:r>
              <a:rPr lang="en-US" altLang="ko-KR" dirty="0"/>
              <a:t>, TPS </a:t>
            </a:r>
            <a:r>
              <a:rPr lang="ko-KR" altLang="en-US" dirty="0"/>
              <a:t>등을 모니터링</a:t>
            </a:r>
            <a:r>
              <a:rPr lang="en-US" altLang="ko-KR" dirty="0"/>
              <a:t>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dirty="0"/>
              <a:t>(Living Lab.) </a:t>
            </a:r>
            <a:r>
              <a:rPr lang="ko-KR" altLang="en-US" dirty="0"/>
              <a:t>학내 구성원으로부터 </a:t>
            </a:r>
            <a:r>
              <a:rPr lang="en-US" altLang="ko-KR" dirty="0"/>
              <a:t>GIST </a:t>
            </a:r>
            <a:r>
              <a:rPr lang="ko-KR" altLang="en-US" dirty="0"/>
              <a:t>캠퍼스 </a:t>
            </a:r>
            <a:r>
              <a:rPr lang="ko-KR" altLang="en-US" dirty="0" err="1"/>
              <a:t>블록체인</a:t>
            </a:r>
            <a:r>
              <a:rPr lang="ko-KR" altLang="en-US" dirty="0"/>
              <a:t> 평가를 수집하고 평가 결과를 반영하여 시스템을 고도화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lang="en-US" altLang="ko-KR" dirty="0"/>
              <a:t>GIST </a:t>
            </a:r>
            <a:r>
              <a:rPr lang="ko-KR" altLang="en-US" err="1"/>
              <a:t>블록체인</a:t>
            </a:r>
            <a:r>
              <a:rPr lang="ko-KR" altLang="en-US"/>
              <a:t> </a:t>
            </a:r>
            <a:r>
              <a:rPr lang="en-US" altLang="ko-KR"/>
              <a:t>dApp </a:t>
            </a:r>
            <a:r>
              <a:rPr lang="ko-KR" altLang="en-US" dirty="0"/>
              <a:t>개발 경진대회 운용 </a:t>
            </a:r>
            <a:r>
              <a:rPr lang="en-US" altLang="ko-KR" dirty="0"/>
              <a:t>(</a:t>
            </a:r>
            <a:r>
              <a:rPr lang="ko-KR" altLang="en-US" dirty="0" err="1"/>
              <a:t>해커톤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ko-KR" altLang="en-US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B273791-88F1-C94C-BB49-C8F65CFFC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597" y="3991822"/>
            <a:ext cx="2046433" cy="216886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F8D359-49C0-F84D-B12F-1BE698108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944" y="4416621"/>
            <a:ext cx="1639468" cy="156082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FF04A79-9506-C844-B051-98EA8D31098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718" y="4535097"/>
            <a:ext cx="498239" cy="498239"/>
          </a:xfrm>
          <a:prstGeom prst="rect">
            <a:avLst/>
          </a:prstGeom>
        </p:spPr>
      </p:pic>
      <p:sp>
        <p:nvSpPr>
          <p:cNvPr id="13" name="오른쪽 화살표 14">
            <a:extLst>
              <a:ext uri="{FF2B5EF4-FFF2-40B4-BE49-F238E27FC236}">
                <a16:creationId xmlns:a16="http://schemas.microsoft.com/office/drawing/2014/main" id="{CC71944C-CB0F-984A-AAF3-FEF61AA33FB9}"/>
              </a:ext>
            </a:extLst>
          </p:cNvPr>
          <p:cNvSpPr/>
          <p:nvPr/>
        </p:nvSpPr>
        <p:spPr>
          <a:xfrm>
            <a:off x="5261871" y="5076257"/>
            <a:ext cx="2088232" cy="21602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5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F540093-6ED9-43DF-85FB-F26BAF39BDD1}"/>
              </a:ext>
            </a:extLst>
          </p:cNvPr>
          <p:cNvGrpSpPr/>
          <p:nvPr/>
        </p:nvGrpSpPr>
        <p:grpSpPr>
          <a:xfrm>
            <a:off x="8738152" y="568961"/>
            <a:ext cx="3453847" cy="5791199"/>
            <a:chOff x="8738152" y="568961"/>
            <a:chExt cx="3453847" cy="579119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A7F50E7-BCC3-4C5E-8C48-AD6A5EACB8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20192" b="8602"/>
            <a:stretch/>
          </p:blipFill>
          <p:spPr>
            <a:xfrm flipH="1">
              <a:off x="8738152" y="2372303"/>
              <a:ext cx="3453847" cy="3987857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57535FE-4100-4F1C-9B5B-250A7DFEC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0192" b="8602"/>
            <a:stretch/>
          </p:blipFill>
          <p:spPr>
            <a:xfrm flipH="1">
              <a:off x="10449700" y="568961"/>
              <a:ext cx="1742298" cy="2011680"/>
            </a:xfrm>
            <a:prstGeom prst="rect">
              <a:avLst/>
            </a:prstGeom>
          </p:spPr>
        </p:pic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7FFB47-9621-4A14-B511-030D6ABA6AA5}"/>
              </a:ext>
            </a:extLst>
          </p:cNvPr>
          <p:cNvSpPr/>
          <p:nvPr/>
        </p:nvSpPr>
        <p:spPr>
          <a:xfrm>
            <a:off x="0" y="0"/>
            <a:ext cx="12191999" cy="183600"/>
          </a:xfrm>
          <a:prstGeom prst="rect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68F0AF-43CC-456E-AA3D-61B5EC3B1D7E}"/>
              </a:ext>
            </a:extLst>
          </p:cNvPr>
          <p:cNvSpPr/>
          <p:nvPr/>
        </p:nvSpPr>
        <p:spPr>
          <a:xfrm>
            <a:off x="0" y="6675120"/>
            <a:ext cx="12191999" cy="182880"/>
          </a:xfrm>
          <a:prstGeom prst="rect">
            <a:avLst/>
          </a:prstGeom>
          <a:solidFill>
            <a:srgbClr val="025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CA0CC-D218-4D3E-A2BC-7E7069610F14}"/>
              </a:ext>
            </a:extLst>
          </p:cNvPr>
          <p:cNvSpPr txBox="1"/>
          <p:nvPr/>
        </p:nvSpPr>
        <p:spPr>
          <a:xfrm>
            <a:off x="1582645" y="2901967"/>
            <a:ext cx="9026710" cy="5539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 fontAlgn="base"/>
            <a:r>
              <a:rPr lang="ko-KR" altLang="en-US" sz="3600" b="1" dirty="0">
                <a:solidFill>
                  <a:srgbClr val="0255B8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감사합니다</a:t>
            </a:r>
            <a:endParaRPr lang="en-US" altLang="ko-KR" sz="3600" b="1" dirty="0">
              <a:solidFill>
                <a:srgbClr val="0255B8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537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6118</TotalTime>
  <Words>2833</Words>
  <Application>Microsoft Office PowerPoint</Application>
  <PresentationFormat>와이드스크린</PresentationFormat>
  <Paragraphs>694</Paragraphs>
  <Slides>42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4" baseType="lpstr">
      <vt:lpstr>나눔스퀘어_ac</vt:lpstr>
      <vt:lpstr>나눔스퀘어_ac ExtraBold</vt:lpstr>
      <vt:lpstr>맑은 고딕</vt:lpstr>
      <vt:lpstr>한컴바탕</vt:lpstr>
      <vt:lpstr>휴먼명조</vt:lpstr>
      <vt:lpstr>Arial</vt:lpstr>
      <vt:lpstr>Calibri</vt:lpstr>
      <vt:lpstr>Cambria Math</vt:lpstr>
      <vt:lpstr>Times New Roman</vt:lpstr>
      <vt:lpstr>Wingdings</vt:lpstr>
      <vt:lpstr>Office 테마</vt:lpstr>
      <vt:lpstr>Equation</vt:lpstr>
      <vt:lpstr>PowerPoint 프레젠테이션</vt:lpstr>
      <vt:lpstr>PowerPoint 프레젠테이션</vt:lpstr>
      <vt:lpstr>PowerPoint 프레젠테이션</vt:lpstr>
      <vt:lpstr>암호-부호 작업증명 (POW) 비트코인/이더리움 하드포크 1.0 개발</vt:lpstr>
      <vt:lpstr>분산성과 보안성 문제 해결의 중요성</vt:lpstr>
      <vt:lpstr>분산성과 보안성 문제 해결의 중요성</vt:lpstr>
      <vt:lpstr>작업증명 이외의 다른 합의알고리즘 사용 가능성은?</vt:lpstr>
      <vt:lpstr>작업증명 이외의 다른 합의알고리즘 사용 가능성은?</vt:lpstr>
      <vt:lpstr>PoW 문제점을 해결, 제안기술의 도전성, 혁신성</vt:lpstr>
      <vt:lpstr>문제 해결 전략</vt:lpstr>
      <vt:lpstr>ECCPoW 하드포크의 의미는 합의엔진 교체</vt:lpstr>
      <vt:lpstr>PowerPoint 프레젠테이션</vt:lpstr>
      <vt:lpstr>연구 개발 성과 _ 특허</vt:lpstr>
      <vt:lpstr>연구 개발 성과 _ 국내 및 국외 논문 게재 </vt:lpstr>
      <vt:lpstr>연구 개발 성과 _ 국내 및 국제 학술대회 발표</vt:lpstr>
      <vt:lpstr>연구 개발 성과 _ 프로그램 산출물</vt:lpstr>
      <vt:lpstr>PowerPoint 프레젠테이션</vt:lpstr>
      <vt:lpstr>당해 (연도〮단계) 연구 개발 목표 및 결과</vt:lpstr>
      <vt:lpstr>부호 – 암호 작업증명</vt:lpstr>
      <vt:lpstr>부호 – 암호 작업증명 _ 5가지 특성</vt:lpstr>
      <vt:lpstr>매 블록마다 바뀌는 암호 퍼즐 생성 (1)</vt:lpstr>
      <vt:lpstr>매 블록마다 바뀌는 암호 퍼즐 디코더 개발 (1)</vt:lpstr>
      <vt:lpstr>매 블록마다 바뀌는 암호 퍼즐 디코더 개발 (2)</vt:lpstr>
      <vt:lpstr>암호 퍼즐 해결 유무 판단 기준</vt:lpstr>
      <vt:lpstr>기준 1 _ 부호의 특징을 이용한 것</vt:lpstr>
      <vt:lpstr>기준 2 _ 기존 작업 증명 것</vt:lpstr>
      <vt:lpstr>BTCECC 난이도 조절</vt:lpstr>
      <vt:lpstr>BTCECC 블록 탐색기</vt:lpstr>
      <vt:lpstr>BTCECC 난이도 조절 기능 검증</vt:lpstr>
      <vt:lpstr>ECCPoW가 적용된 이더리움 구현체 (Py-evm)</vt:lpstr>
      <vt:lpstr>ECCPoW가 적용된 이더리움 구현체 (Py-evm)</vt:lpstr>
      <vt:lpstr>ETHECC의 작업증명 과정</vt:lpstr>
      <vt:lpstr>puppeth를 이용하여 배포된 프라이빗 네트워크</vt:lpstr>
      <vt:lpstr>BTCECC/ETHECC 평가 목적 </vt:lpstr>
      <vt:lpstr>평가 요소</vt:lpstr>
      <vt:lpstr>평가 결과</vt:lpstr>
      <vt:lpstr>월별 개발 추진 일정</vt:lpstr>
      <vt:lpstr>PowerPoint 프레젠테이션</vt:lpstr>
      <vt:lpstr>기대효과</vt:lpstr>
      <vt:lpstr>사업화 전략 – 국내대학 및 협력사 연계</vt:lpstr>
      <vt:lpstr>사업화 전략 _ GIST 캠퍼스블록체인 추진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minth</dc:creator>
  <cp:lastModifiedBy>Kim HyoungSung</cp:lastModifiedBy>
  <cp:revision>263</cp:revision>
  <cp:lastPrinted>2019-12-02T02:31:25Z</cp:lastPrinted>
  <dcterms:created xsi:type="dcterms:W3CDTF">2019-11-29T15:38:17Z</dcterms:created>
  <dcterms:modified xsi:type="dcterms:W3CDTF">2020-02-03T11:40:26Z</dcterms:modified>
</cp:coreProperties>
</file>