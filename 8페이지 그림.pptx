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556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9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08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98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565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67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64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45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819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71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77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9EE47-772A-459D-BF65-804FF976F120}" type="datetimeFigureOut">
              <a:rPr lang="ko-KR" altLang="en-US" smtClean="0"/>
              <a:t>2020-02-25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F18CA-C439-46E2-83D9-51145711F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58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3594614" y="566443"/>
            <a:ext cx="2484254" cy="92249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CDBC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76286" y="1998733"/>
            <a:ext cx="2484254" cy="92249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단일원장</a:t>
            </a:r>
            <a:r>
              <a:rPr lang="ko-KR" altLang="en-US" dirty="0" smtClean="0">
                <a:solidFill>
                  <a:schemeClr val="tx1"/>
                </a:solidFill>
              </a:rPr>
              <a:t> 방식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6677682" y="1998733"/>
            <a:ext cx="2484254" cy="92249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분산원장</a:t>
            </a:r>
            <a:r>
              <a:rPr lang="ko-KR" altLang="en-US" dirty="0" smtClean="0">
                <a:solidFill>
                  <a:schemeClr val="tx1"/>
                </a:solidFill>
              </a:rPr>
              <a:t> 방식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016746" y="3867992"/>
            <a:ext cx="3083068" cy="9063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허가형</a:t>
            </a:r>
            <a:r>
              <a:rPr lang="en-US" altLang="ko-KR" dirty="0" smtClean="0">
                <a:solidFill>
                  <a:schemeClr val="tx1"/>
                </a:solidFill>
              </a:rPr>
              <a:t/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en-US" altLang="ko-KR" dirty="0" smtClean="0">
                <a:solidFill>
                  <a:schemeClr val="tx1"/>
                </a:solidFill>
              </a:rPr>
              <a:t>(Permissioned)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8835554" y="3867992"/>
            <a:ext cx="3083068" cy="9063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비허가형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Permissionless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꺾인 연결선 16"/>
          <p:cNvCxnSpPr>
            <a:stCxn id="7" idx="2"/>
            <a:endCxn id="8" idx="0"/>
          </p:cNvCxnSpPr>
          <p:nvPr/>
        </p:nvCxnSpPr>
        <p:spPr>
          <a:xfrm rot="5400000">
            <a:off x="3072678" y="234670"/>
            <a:ext cx="509798" cy="3018328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7" idx="2"/>
            <a:endCxn id="9" idx="0"/>
          </p:cNvCxnSpPr>
          <p:nvPr/>
        </p:nvCxnSpPr>
        <p:spPr>
          <a:xfrm rot="16200000" flipH="1">
            <a:off x="6123376" y="202300"/>
            <a:ext cx="509798" cy="3083068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9" idx="2"/>
            <a:endCxn id="10" idx="0"/>
          </p:cNvCxnSpPr>
          <p:nvPr/>
        </p:nvCxnSpPr>
        <p:spPr>
          <a:xfrm rot="5400000">
            <a:off x="6265662" y="2213844"/>
            <a:ext cx="946767" cy="2361529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9" idx="2"/>
            <a:endCxn id="11" idx="0"/>
          </p:cNvCxnSpPr>
          <p:nvPr/>
        </p:nvCxnSpPr>
        <p:spPr>
          <a:xfrm rot="16200000" flipH="1">
            <a:off x="8675065" y="2165968"/>
            <a:ext cx="946767" cy="2457279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대각선 방향의 모서리가 둥근 사각형 28"/>
          <p:cNvSpPr/>
          <p:nvPr/>
        </p:nvSpPr>
        <p:spPr>
          <a:xfrm>
            <a:off x="3867023" y="3259798"/>
            <a:ext cx="8171005" cy="1800852"/>
          </a:xfrm>
          <a:prstGeom prst="round2Diag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912248" y="2879734"/>
            <a:ext cx="312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거래 검증 및 원장 관리 권한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1" name="왼쪽/오른쪽 화살표 30"/>
          <p:cNvSpPr/>
          <p:nvPr/>
        </p:nvSpPr>
        <p:spPr>
          <a:xfrm>
            <a:off x="576286" y="5258778"/>
            <a:ext cx="7376239" cy="820132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결제 완결성 보장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2" name="왼쪽/오른쪽 화살표 31"/>
          <p:cNvSpPr/>
          <p:nvPr/>
        </p:nvSpPr>
        <p:spPr>
          <a:xfrm>
            <a:off x="7919809" y="5258778"/>
            <a:ext cx="3998813" cy="820132"/>
          </a:xfrm>
          <a:prstGeom prst="left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결제 완결성 보장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85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725104" y="942681"/>
            <a:ext cx="9228841" cy="4524866"/>
            <a:chOff x="576286" y="566443"/>
            <a:chExt cx="11461742" cy="5512467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3594614" y="566443"/>
              <a:ext cx="2484254" cy="92249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CDBC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576286" y="1998733"/>
              <a:ext cx="2484254" cy="92249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 smtClean="0">
                  <a:solidFill>
                    <a:schemeClr val="tx1"/>
                  </a:solidFill>
                </a:rPr>
                <a:t>단일원장</a:t>
              </a:r>
              <a:r>
                <a:rPr lang="ko-KR" altLang="en-US" sz="1400" dirty="0" smtClean="0">
                  <a:solidFill>
                    <a:schemeClr val="tx1"/>
                  </a:solidFill>
                </a:rPr>
                <a:t> 방식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6677682" y="1998733"/>
              <a:ext cx="2484254" cy="92249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mtClean="0">
                  <a:solidFill>
                    <a:schemeClr val="tx1"/>
                  </a:solidFill>
                </a:rPr>
                <a:t>분산원장</a:t>
              </a:r>
              <a:r>
                <a:rPr lang="ko-KR" altLang="en-US" sz="1400" dirty="0" smtClean="0">
                  <a:solidFill>
                    <a:schemeClr val="tx1"/>
                  </a:solidFill>
                </a:rPr>
                <a:t> 방식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타원 9"/>
            <p:cNvSpPr/>
            <p:nvPr/>
          </p:nvSpPr>
          <p:spPr>
            <a:xfrm>
              <a:off x="4016746" y="3867992"/>
              <a:ext cx="3083068" cy="9063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 smtClean="0">
                  <a:solidFill>
                    <a:schemeClr val="tx1"/>
                  </a:solidFill>
                </a:rPr>
                <a:t>허가형</a:t>
              </a:r>
              <a:r>
                <a:rPr lang="en-US" altLang="ko-KR" sz="1400" dirty="0" smtClean="0">
                  <a:solidFill>
                    <a:schemeClr val="tx1"/>
                  </a:solidFill>
                </a:rPr>
                <a:t/>
              </a:r>
              <a:br>
                <a:rPr lang="en-US" altLang="ko-KR" sz="1400" dirty="0" smtClean="0">
                  <a:solidFill>
                    <a:schemeClr val="tx1"/>
                  </a:solidFill>
                </a:rPr>
              </a:br>
              <a:r>
                <a:rPr lang="en-US" altLang="ko-KR" sz="1400" dirty="0" smtClean="0">
                  <a:solidFill>
                    <a:schemeClr val="tx1"/>
                  </a:solidFill>
                </a:rPr>
                <a:t>(Permissioned)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8835554" y="3867992"/>
              <a:ext cx="3083068" cy="9063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 smtClean="0">
                  <a:solidFill>
                    <a:schemeClr val="tx1"/>
                  </a:solidFill>
                </a:rPr>
                <a:t>비허가형</a:t>
              </a:r>
              <a:endParaRPr lang="en-US" altLang="ko-KR" sz="14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(</a:t>
              </a:r>
              <a:r>
                <a:rPr lang="en-US" altLang="ko-KR" sz="1400" dirty="0" err="1" smtClean="0">
                  <a:solidFill>
                    <a:schemeClr val="tx1"/>
                  </a:solidFill>
                </a:rPr>
                <a:t>Permissionless</a:t>
              </a:r>
              <a:r>
                <a:rPr lang="en-US" altLang="ko-KR" sz="1400" dirty="0" smtClean="0">
                  <a:solidFill>
                    <a:schemeClr val="tx1"/>
                  </a:solidFill>
                </a:rPr>
                <a:t>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꺾인 연결선 16"/>
            <p:cNvCxnSpPr>
              <a:stCxn id="7" idx="2"/>
              <a:endCxn id="8" idx="0"/>
            </p:cNvCxnSpPr>
            <p:nvPr/>
          </p:nvCxnSpPr>
          <p:spPr>
            <a:xfrm rot="5400000">
              <a:off x="3072678" y="234670"/>
              <a:ext cx="509798" cy="3018328"/>
            </a:xfrm>
            <a:prstGeom prst="bent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꺾인 연결선 18"/>
            <p:cNvCxnSpPr>
              <a:stCxn id="7" idx="2"/>
              <a:endCxn id="9" idx="0"/>
            </p:cNvCxnSpPr>
            <p:nvPr/>
          </p:nvCxnSpPr>
          <p:spPr>
            <a:xfrm rot="16200000" flipH="1">
              <a:off x="6123376" y="202300"/>
              <a:ext cx="509798" cy="3083068"/>
            </a:xfrm>
            <a:prstGeom prst="bent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꺾인 연결선 20"/>
            <p:cNvCxnSpPr>
              <a:stCxn id="9" idx="2"/>
              <a:endCxn id="10" idx="0"/>
            </p:cNvCxnSpPr>
            <p:nvPr/>
          </p:nvCxnSpPr>
          <p:spPr>
            <a:xfrm rot="5400000">
              <a:off x="6265662" y="2213844"/>
              <a:ext cx="946767" cy="2361529"/>
            </a:xfrm>
            <a:prstGeom prst="bent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꺾인 연결선 22"/>
            <p:cNvCxnSpPr>
              <a:stCxn id="9" idx="2"/>
              <a:endCxn id="11" idx="0"/>
            </p:cNvCxnSpPr>
            <p:nvPr/>
          </p:nvCxnSpPr>
          <p:spPr>
            <a:xfrm rot="16200000" flipH="1">
              <a:off x="8675065" y="2165968"/>
              <a:ext cx="946767" cy="2457279"/>
            </a:xfrm>
            <a:prstGeom prst="bent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대각선 방향의 모서리가 둥근 사각형 28"/>
            <p:cNvSpPr/>
            <p:nvPr/>
          </p:nvSpPr>
          <p:spPr>
            <a:xfrm>
              <a:off x="3867023" y="3259798"/>
              <a:ext cx="8171005" cy="1800852"/>
            </a:xfrm>
            <a:prstGeom prst="round2Diag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12248" y="2879734"/>
              <a:ext cx="3125780" cy="374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solidFill>
                    <a:srgbClr val="FF0000"/>
                  </a:solidFill>
                </a:rPr>
                <a:t>거래 검증 및 원장 관리 권한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1" name="왼쪽/오른쪽 화살표 30"/>
            <p:cNvSpPr/>
            <p:nvPr/>
          </p:nvSpPr>
          <p:spPr>
            <a:xfrm>
              <a:off x="576286" y="5258778"/>
              <a:ext cx="7376239" cy="820132"/>
            </a:xfrm>
            <a:prstGeom prst="left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bg1"/>
                  </a:solidFill>
                </a:rPr>
                <a:t>결제 완결성 보장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32" name="왼쪽/오른쪽 화살표 31"/>
            <p:cNvSpPr/>
            <p:nvPr/>
          </p:nvSpPr>
          <p:spPr>
            <a:xfrm>
              <a:off x="7919809" y="5258778"/>
              <a:ext cx="3998813" cy="820132"/>
            </a:xfrm>
            <a:prstGeom prst="leftRight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bg1"/>
                  </a:solidFill>
                </a:rPr>
                <a:t>결제 완결성 보장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569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779866"/>
              </p:ext>
            </p:extLst>
          </p:nvPr>
        </p:nvGraphicFramePr>
        <p:xfrm>
          <a:off x="282803" y="838986"/>
          <a:ext cx="11576116" cy="4949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5115">
                  <a:extLst>
                    <a:ext uri="{9D8B030D-6E8A-4147-A177-3AD203B41FA5}">
                      <a16:colId xmlns:a16="http://schemas.microsoft.com/office/drawing/2014/main" val="1684621040"/>
                    </a:ext>
                  </a:extLst>
                </a:gridCol>
                <a:gridCol w="2582943">
                  <a:extLst>
                    <a:ext uri="{9D8B030D-6E8A-4147-A177-3AD203B41FA5}">
                      <a16:colId xmlns:a16="http://schemas.microsoft.com/office/drawing/2014/main" val="2203698335"/>
                    </a:ext>
                  </a:extLst>
                </a:gridCol>
                <a:gridCol w="2894029">
                  <a:extLst>
                    <a:ext uri="{9D8B030D-6E8A-4147-A177-3AD203B41FA5}">
                      <a16:colId xmlns:a16="http://schemas.microsoft.com/office/drawing/2014/main" val="2321135633"/>
                    </a:ext>
                  </a:extLst>
                </a:gridCol>
                <a:gridCol w="2894029">
                  <a:extLst>
                    <a:ext uri="{9D8B030D-6E8A-4147-A177-3AD203B41FA5}">
                      <a16:colId xmlns:a16="http://schemas.microsoft.com/office/drawing/2014/main" val="698078057"/>
                    </a:ext>
                  </a:extLst>
                </a:gridCol>
              </a:tblGrid>
              <a:tr h="42459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u="sng" dirty="0" smtClean="0">
                          <a:solidFill>
                            <a:sysClr val="windowText" lastClr="000000"/>
                          </a:solidFill>
                        </a:rPr>
                        <a:t>구현 </a:t>
                      </a:r>
                      <a:r>
                        <a:rPr lang="ko-KR" altLang="en-US" b="1" u="sng" dirty="0" err="1" smtClean="0">
                          <a:solidFill>
                            <a:sysClr val="windowText" lastClr="000000"/>
                          </a:solidFill>
                        </a:rPr>
                        <a:t>방식간</a:t>
                      </a:r>
                      <a:r>
                        <a:rPr lang="ko-KR" altLang="en-US" b="1" u="sng" dirty="0" smtClean="0">
                          <a:solidFill>
                            <a:sysClr val="windowText" lastClr="000000"/>
                          </a:solidFill>
                        </a:rPr>
                        <a:t> 특징 비교</a:t>
                      </a:r>
                      <a:endParaRPr lang="ko-KR" altLang="en-US" b="1" u="sng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017569"/>
                  </a:ext>
                </a:extLst>
              </a:tr>
              <a:tr h="42459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구분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분산원장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방식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단일원장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방식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322039"/>
                  </a:ext>
                </a:extLst>
              </a:tr>
              <a:tr h="424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비허가형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허가형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112494"/>
                  </a:ext>
                </a:extLst>
              </a:tr>
              <a:tr h="4245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원장 보유 주체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복수의 참여자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노드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단일 주체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766805"/>
                  </a:ext>
                </a:extLst>
              </a:tr>
              <a:tr h="732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거래 검증 및 원장 관리 권한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제한이</a:t>
                      </a:r>
                      <a:r>
                        <a:rPr lang="ko-KR" altLang="en-US" sz="1600" b="0" baseline="0" dirty="0" smtClean="0">
                          <a:solidFill>
                            <a:sysClr val="windowText" lastClr="000000"/>
                          </a:solidFill>
                        </a:rPr>
                        <a:t> 없음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제한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416551"/>
                  </a:ext>
                </a:extLst>
              </a:tr>
              <a:tr h="1361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신뢰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(Trust)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의 원천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거래 검증 및 원장 관리에 대한 개방성과 경제적 </a:t>
                      </a:r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유인체계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원장관리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노드에 대한 </a:t>
                      </a:r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법적규제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및 평판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은행 및 중앙은행에 대한 </a:t>
                      </a:r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법적규제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및 평판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598080"/>
                  </a:ext>
                </a:extLst>
              </a:tr>
              <a:tr h="732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적용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또는 적용 가능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예시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비트코인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ko-KR" sz="1600" b="0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600" b="0" baseline="0" dirty="0" smtClean="0">
                          <a:solidFill>
                            <a:sysClr val="windowText" lastClr="000000"/>
                          </a:solidFill>
                        </a:rPr>
                        <a:t>이더리움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CDBC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ysClr val="windowText" lastClr="000000"/>
                          </a:solidFill>
                        </a:rPr>
                        <a:t>지준예치금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은행예금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, CDBC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483886"/>
                  </a:ext>
                </a:extLst>
              </a:tr>
              <a:tr h="4245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결제 완결성 보장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불가능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가능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77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170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123</Words>
  <Application>Microsoft Office PowerPoint</Application>
  <PresentationFormat>와이드스크린</PresentationFormat>
  <Paragraphs>41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HyoungSung</dc:creator>
  <cp:lastModifiedBy>Kim HyoungSung</cp:lastModifiedBy>
  <cp:revision>5</cp:revision>
  <dcterms:created xsi:type="dcterms:W3CDTF">2020-02-24T22:50:37Z</dcterms:created>
  <dcterms:modified xsi:type="dcterms:W3CDTF">2020-02-24T23:11:38Z</dcterms:modified>
</cp:coreProperties>
</file>