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04A0-3DC7-4DDA-B69A-601B8779B147}" type="datetimeFigureOut">
              <a:rPr lang="ko-KR" altLang="en-US" smtClean="0"/>
              <a:t>2021-02-05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3C12-E08B-404C-AA63-FD5358E0E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720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04A0-3DC7-4DDA-B69A-601B8779B147}" type="datetimeFigureOut">
              <a:rPr lang="ko-KR" altLang="en-US" smtClean="0"/>
              <a:t>2021-02-05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3C12-E08B-404C-AA63-FD5358E0E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72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04A0-3DC7-4DDA-B69A-601B8779B147}" type="datetimeFigureOut">
              <a:rPr lang="ko-KR" altLang="en-US" smtClean="0"/>
              <a:t>2021-02-05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3C12-E08B-404C-AA63-FD5358E0E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02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04A0-3DC7-4DDA-B69A-601B8779B147}" type="datetimeFigureOut">
              <a:rPr lang="ko-KR" altLang="en-US" smtClean="0"/>
              <a:t>2021-02-05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3C12-E08B-404C-AA63-FD5358E0E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03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04A0-3DC7-4DDA-B69A-601B8779B147}" type="datetimeFigureOut">
              <a:rPr lang="ko-KR" altLang="en-US" smtClean="0"/>
              <a:t>2021-02-05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3C12-E08B-404C-AA63-FD5358E0E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997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04A0-3DC7-4DDA-B69A-601B8779B147}" type="datetimeFigureOut">
              <a:rPr lang="ko-KR" altLang="en-US" smtClean="0"/>
              <a:t>2021-02-05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3C12-E08B-404C-AA63-FD5358E0E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22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04A0-3DC7-4DDA-B69A-601B8779B147}" type="datetimeFigureOut">
              <a:rPr lang="ko-KR" altLang="en-US" smtClean="0"/>
              <a:t>2021-02-05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3C12-E08B-404C-AA63-FD5358E0E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925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04A0-3DC7-4DDA-B69A-601B8779B147}" type="datetimeFigureOut">
              <a:rPr lang="ko-KR" altLang="en-US" smtClean="0"/>
              <a:t>2021-02-05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3C12-E08B-404C-AA63-FD5358E0E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042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04A0-3DC7-4DDA-B69A-601B8779B147}" type="datetimeFigureOut">
              <a:rPr lang="ko-KR" altLang="en-US" smtClean="0"/>
              <a:t>2021-02-05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3C12-E08B-404C-AA63-FD5358E0E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694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04A0-3DC7-4DDA-B69A-601B8779B147}" type="datetimeFigureOut">
              <a:rPr lang="ko-KR" altLang="en-US" smtClean="0"/>
              <a:t>2021-02-05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3C12-E08B-404C-AA63-FD5358E0E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0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304A0-3DC7-4DDA-B69A-601B8779B147}" type="datetimeFigureOut">
              <a:rPr lang="ko-KR" altLang="en-US" smtClean="0"/>
              <a:t>2021-02-05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3C12-E08B-404C-AA63-FD5358E0E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19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304A0-3DC7-4DDA-B69A-601B8779B147}" type="datetimeFigureOut">
              <a:rPr lang="ko-KR" altLang="en-US" smtClean="0"/>
              <a:t>2021-02-05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53C12-E08B-404C-AA63-FD5358E0E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53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IITP 67</a:t>
            </a:r>
            <a:r>
              <a:rPr lang="ko-KR" altLang="en-US" dirty="0" smtClean="0"/>
              <a:t>번 과제 그림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GIST </a:t>
            </a:r>
            <a:r>
              <a:rPr lang="ko-KR" altLang="en-US" dirty="0" smtClean="0"/>
              <a:t>김형성</a:t>
            </a:r>
            <a:endParaRPr lang="en-US" altLang="ko-KR" dirty="0" smtClean="0"/>
          </a:p>
          <a:p>
            <a:r>
              <a:rPr lang="en-US" altLang="ko-KR" dirty="0" smtClean="0"/>
              <a:t>hyoungsung@gist.ac.kr</a:t>
            </a:r>
          </a:p>
        </p:txBody>
      </p:sp>
    </p:spTree>
    <p:extLst>
      <p:ext uri="{BB962C8B-B14F-4D97-AF65-F5344CB8AC3E}">
        <p14:creationId xmlns:p14="http://schemas.microsoft.com/office/powerpoint/2010/main" val="3985880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50799"/>
            <a:ext cx="10515600" cy="773438"/>
          </a:xfrm>
        </p:spPr>
        <p:txBody>
          <a:bodyPr>
            <a:normAutofit/>
          </a:bodyPr>
          <a:lstStyle/>
          <a:p>
            <a:r>
              <a:rPr lang="en-US" altLang="ko-KR" sz="3200" dirty="0" smtClean="0"/>
              <a:t>1</a:t>
            </a:r>
            <a:r>
              <a:rPr lang="ko-KR" altLang="en-US" sz="3200" dirty="0" smtClean="0"/>
              <a:t>차년도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24263"/>
            <a:ext cx="10515600" cy="1189423"/>
          </a:xfrm>
        </p:spPr>
        <p:txBody>
          <a:bodyPr>
            <a:noAutofit/>
          </a:bodyPr>
          <a:lstStyle/>
          <a:p>
            <a:r>
              <a:rPr lang="en-US" altLang="ko-KR" sz="1600" dirty="0" smtClean="0"/>
              <a:t>1</a:t>
            </a:r>
            <a:r>
              <a:rPr lang="ko-KR" altLang="en-US" sz="1600" dirty="0" smtClean="0"/>
              <a:t>차년도 그림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개를 첨부된 그림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개로 교체해주세요</a:t>
            </a:r>
            <a:r>
              <a:rPr lang="en-US" altLang="ko-KR" sz="1600" dirty="0" smtClean="0"/>
              <a:t>.</a:t>
            </a:r>
            <a:br>
              <a:rPr lang="en-US" altLang="ko-KR" sz="1600" dirty="0" smtClean="0"/>
            </a:br>
            <a:endParaRPr lang="en-US" altLang="ko-KR" sz="1600" dirty="0"/>
          </a:p>
          <a:p>
            <a:pPr lvl="1"/>
            <a:r>
              <a:rPr lang="ko-KR" altLang="en-US" sz="1400" dirty="0" smtClean="0"/>
              <a:t>매 블록마다 변화하는 퍼즐을 만들기 위하여 제안하는 방법 </a:t>
            </a:r>
            <a:r>
              <a:rPr lang="en-US" altLang="ko-KR" sz="1400" dirty="0" smtClean="0"/>
              <a:t>-&gt; </a:t>
            </a:r>
            <a:r>
              <a:rPr lang="ko-KR" altLang="en-US" sz="1400" dirty="0" smtClean="0"/>
              <a:t>삭제</a:t>
            </a:r>
            <a:endParaRPr lang="en-US" altLang="ko-KR" sz="1400" dirty="0" smtClean="0"/>
          </a:p>
          <a:p>
            <a:pPr lvl="1"/>
            <a:r>
              <a:rPr lang="ko-KR" altLang="en-US" sz="1400" dirty="0" smtClean="0"/>
              <a:t>부호</a:t>
            </a:r>
            <a:r>
              <a:rPr lang="en-US" altLang="ko-KR" sz="1400" dirty="0" smtClean="0"/>
              <a:t>-</a:t>
            </a:r>
            <a:r>
              <a:rPr lang="ko-KR" altLang="en-US" sz="1400" dirty="0" smtClean="0"/>
              <a:t>암호 </a:t>
            </a:r>
            <a:r>
              <a:rPr lang="ko-KR" altLang="en-US" sz="1400" dirty="0" err="1" smtClean="0"/>
              <a:t>작업증명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디코더</a:t>
            </a:r>
            <a:r>
              <a:rPr lang="ko-KR" altLang="en-US" sz="1400" dirty="0" smtClean="0"/>
              <a:t> 프로세스 </a:t>
            </a:r>
            <a:r>
              <a:rPr lang="en-US" altLang="ko-KR" sz="1400" dirty="0" smtClean="0"/>
              <a:t>-&gt; </a:t>
            </a:r>
            <a:r>
              <a:rPr lang="ko-KR" altLang="en-US" sz="1400" dirty="0" smtClean="0"/>
              <a:t>아래의 그림으로 교체</a:t>
            </a:r>
            <a:endParaRPr lang="en-US" altLang="ko-KR" sz="1400" dirty="0" smtClean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3974BC1-1E3C-4569-A55A-3052DD2D3858}"/>
              </a:ext>
            </a:extLst>
          </p:cNvPr>
          <p:cNvGrpSpPr/>
          <p:nvPr/>
        </p:nvGrpSpPr>
        <p:grpSpPr>
          <a:xfrm>
            <a:off x="1859279" y="2684483"/>
            <a:ext cx="8473442" cy="2263314"/>
            <a:chOff x="1804700" y="2608609"/>
            <a:chExt cx="8817731" cy="235527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201890C-5D31-402B-BE33-70328041F883}"/>
                </a:ext>
              </a:extLst>
            </p:cNvPr>
            <p:cNvSpPr/>
            <p:nvPr/>
          </p:nvSpPr>
          <p:spPr>
            <a:xfrm>
              <a:off x="2666358" y="3526972"/>
              <a:ext cx="6477642" cy="14369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A56943A-FD78-4374-8700-9F89C472F09D}"/>
                </a:ext>
              </a:extLst>
            </p:cNvPr>
            <p:cNvSpPr/>
            <p:nvPr/>
          </p:nvSpPr>
          <p:spPr>
            <a:xfrm>
              <a:off x="6741751" y="3884023"/>
              <a:ext cx="2178595" cy="770864"/>
            </a:xfrm>
            <a:prstGeom prst="rect">
              <a:avLst/>
            </a:prstGeom>
            <a:solidFill>
              <a:srgbClr val="0255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</a:rPr>
                <a:t>오류 정정 부호 </a:t>
              </a:r>
              <a:r>
                <a:rPr lang="ko-KR" altLang="en-US" sz="1400" dirty="0" err="1">
                  <a:solidFill>
                    <a:schemeClr val="bg1"/>
                  </a:solidFill>
                </a:rPr>
                <a:t>디코더</a:t>
              </a:r>
              <a:endParaRPr lang="en-US" altLang="ko-KR" sz="1400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chemeClr val="bg1"/>
                  </a:solidFill>
                </a:rPr>
                <a:t>e.g. LDPC </a:t>
              </a:r>
              <a:r>
                <a:rPr lang="ko-KR" altLang="en-US" sz="1400" dirty="0" err="1">
                  <a:solidFill>
                    <a:schemeClr val="bg1"/>
                  </a:solidFill>
                </a:rPr>
                <a:t>디코더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6B1140E-209C-428D-AE1B-7A5BBA6AF3F2}"/>
                </a:ext>
              </a:extLst>
            </p:cNvPr>
            <p:cNvSpPr/>
            <p:nvPr/>
          </p:nvSpPr>
          <p:spPr>
            <a:xfrm>
              <a:off x="2890014" y="3884023"/>
              <a:ext cx="2178595" cy="770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>
                  <a:solidFill>
                    <a:schemeClr val="bg1"/>
                  </a:solidFill>
                </a:rPr>
                <a:t>해쉬</a:t>
              </a:r>
              <a:r>
                <a:rPr lang="ko-KR" altLang="en-US" sz="1400" dirty="0">
                  <a:solidFill>
                    <a:schemeClr val="bg1"/>
                  </a:solidFill>
                </a:rPr>
                <a:t> 함수</a:t>
              </a:r>
              <a:endParaRPr lang="en-US" altLang="ko-KR" sz="1400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chemeClr val="bg1"/>
                  </a:solidFill>
                </a:rPr>
                <a:t>e.g., SHA256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22C58FE1-9E0B-4DCB-881C-8BEB351992FF}"/>
                </a:ext>
              </a:extLst>
            </p:cNvPr>
            <p:cNvCxnSpPr>
              <a:stCxn id="7" idx="3"/>
              <a:endCxn id="6" idx="1"/>
            </p:cNvCxnSpPr>
            <p:nvPr/>
          </p:nvCxnSpPr>
          <p:spPr>
            <a:xfrm>
              <a:off x="5068609" y="4269455"/>
              <a:ext cx="1673142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2A88CD0-ECD7-44BF-933B-55852EA25310}"/>
                </a:ext>
              </a:extLst>
            </p:cNvPr>
            <p:cNvCxnSpPr/>
            <p:nvPr/>
          </p:nvCxnSpPr>
          <p:spPr>
            <a:xfrm>
              <a:off x="1913558" y="4269455"/>
              <a:ext cx="976456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E4A7403F-B7B7-497C-9A38-5B4A4BA5F8A2}"/>
                </a:ext>
              </a:extLst>
            </p:cNvPr>
            <p:cNvCxnSpPr/>
            <p:nvPr/>
          </p:nvCxnSpPr>
          <p:spPr>
            <a:xfrm>
              <a:off x="8920346" y="4269455"/>
              <a:ext cx="976456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A766913-B7C0-4C7A-8BC5-03A9F858BAB7}"/>
                </a:ext>
              </a:extLst>
            </p:cNvPr>
            <p:cNvSpPr/>
            <p:nvPr/>
          </p:nvSpPr>
          <p:spPr>
            <a:xfrm>
              <a:off x="1804700" y="3941021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b="1"/>
                <a:t>논스</a:t>
              </a:r>
              <a:endParaRPr lang="ko-KR" altLang="en-US" sz="1400" b="1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D47D50D-3C3F-463F-AD2D-065AFA463A01}"/>
                </a:ext>
              </a:extLst>
            </p:cNvPr>
            <p:cNvSpPr/>
            <p:nvPr/>
          </p:nvSpPr>
          <p:spPr>
            <a:xfrm>
              <a:off x="5471407" y="4347110"/>
              <a:ext cx="86754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/>
                <a:t>해쉬</a:t>
              </a:r>
              <a:r>
                <a:rPr lang="ko-KR" altLang="en-US" sz="1400" b="1" dirty="0"/>
                <a:t> 값 </a:t>
              </a:r>
              <a:r>
                <a:rPr lang="en-US" altLang="ko-KR" sz="1400" b="1" dirty="0"/>
                <a:t>r</a:t>
              </a:r>
              <a:endParaRPr lang="ko-KR" altLang="en-US" sz="1400" b="1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B40D734-5F42-42BE-BCBA-765E68BDB7DA}"/>
                </a:ext>
              </a:extLst>
            </p:cNvPr>
            <p:cNvSpPr/>
            <p:nvPr/>
          </p:nvSpPr>
          <p:spPr>
            <a:xfrm>
              <a:off x="9164981" y="4347110"/>
              <a:ext cx="145745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/>
                <a:t>디코더</a:t>
              </a:r>
              <a:r>
                <a:rPr lang="ko-KR" altLang="en-US" sz="1400" b="1" dirty="0"/>
                <a:t> 출력 값 </a:t>
              </a:r>
              <a:r>
                <a:rPr lang="en-US" altLang="ko-KR" sz="1400" b="1" dirty="0"/>
                <a:t>c</a:t>
              </a:r>
              <a:endParaRPr lang="ko-KR" altLang="en-US" sz="1400" b="1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BC6E22C-F358-4CAE-BF82-FDC3508E3453}"/>
                </a:ext>
              </a:extLst>
            </p:cNvPr>
            <p:cNvSpPr/>
            <p:nvPr/>
          </p:nvSpPr>
          <p:spPr>
            <a:xfrm>
              <a:off x="6968882" y="2608609"/>
              <a:ext cx="167385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dirty="0"/>
                <a:t>패리티 체크 행렬 </a:t>
              </a:r>
              <a:r>
                <a:rPr lang="en-US" altLang="ko-KR" sz="1400" dirty="0"/>
                <a:t>H</a:t>
              </a:r>
              <a:endParaRPr lang="ko-KR" altLang="en-US" sz="1400" dirty="0"/>
            </a:p>
          </p:txBody>
        </p:sp>
        <p:sp>
          <p:nvSpPr>
            <p:cNvPr id="15" name="자유형: 도형 23">
              <a:extLst>
                <a:ext uri="{FF2B5EF4-FFF2-40B4-BE49-F238E27FC236}">
                  <a16:creationId xmlns:a16="http://schemas.microsoft.com/office/drawing/2014/main" id="{6432F061-7164-4768-AC48-ED0618B9CA29}"/>
                </a:ext>
              </a:extLst>
            </p:cNvPr>
            <p:cNvSpPr/>
            <p:nvPr/>
          </p:nvSpPr>
          <p:spPr>
            <a:xfrm>
              <a:off x="6967625" y="2656114"/>
              <a:ext cx="0" cy="1227909"/>
            </a:xfrm>
            <a:custGeom>
              <a:avLst/>
              <a:gdLst>
                <a:gd name="connsiteX0" fmla="*/ 0 w 0"/>
                <a:gd name="connsiteY0" fmla="*/ 1227909 h 1227909"/>
                <a:gd name="connsiteX1" fmla="*/ 0 w 0"/>
                <a:gd name="connsiteY1" fmla="*/ 0 h 122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227909">
                  <a:moveTo>
                    <a:pt x="0" y="122790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068A905-8A86-48B3-9133-10FD2BFEACC3}"/>
                </a:ext>
              </a:extLst>
            </p:cNvPr>
            <p:cNvSpPr/>
            <p:nvPr/>
          </p:nvSpPr>
          <p:spPr>
            <a:xfrm>
              <a:off x="5422516" y="3598173"/>
              <a:ext cx="96532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/>
                <a:t>합성 함수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302621" y="5276616"/>
            <a:ext cx="9827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부호</a:t>
            </a:r>
            <a:r>
              <a:rPr lang="en-US" altLang="ko-KR" dirty="0"/>
              <a:t>-</a:t>
            </a:r>
            <a:r>
              <a:rPr lang="ko-KR" altLang="en-US" dirty="0"/>
              <a:t>암호 </a:t>
            </a:r>
            <a:r>
              <a:rPr lang="ko-KR" altLang="en-US" dirty="0" err="1"/>
              <a:t>작업증명</a:t>
            </a:r>
            <a:r>
              <a:rPr lang="ko-KR" altLang="en-US" dirty="0"/>
              <a:t> </a:t>
            </a:r>
            <a:r>
              <a:rPr lang="ko-KR" altLang="en-US" dirty="0" err="1"/>
              <a:t>디코더</a:t>
            </a:r>
            <a:r>
              <a:rPr lang="ko-KR" altLang="en-US" dirty="0"/>
              <a:t> 프로세스</a:t>
            </a:r>
          </a:p>
        </p:txBody>
      </p:sp>
    </p:spTree>
    <p:extLst>
      <p:ext uri="{BB962C8B-B14F-4D97-AF65-F5344CB8AC3E}">
        <p14:creationId xmlns:p14="http://schemas.microsoft.com/office/powerpoint/2010/main" val="3912225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07787"/>
            <a:ext cx="10515600" cy="604537"/>
          </a:xfrm>
        </p:spPr>
        <p:txBody>
          <a:bodyPr>
            <a:normAutofit fontScale="62500" lnSpcReduction="20000"/>
          </a:bodyPr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차년도에 추가 할 그림입니다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기존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1</a:t>
            </a:r>
            <a:r>
              <a:rPr lang="ko-KR" altLang="en-US" dirty="0" smtClean="0"/>
              <a:t>차년도 그림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 </a:t>
            </a:r>
            <a:r>
              <a:rPr lang="en-US" altLang="ko-KR" dirty="0" smtClean="0"/>
              <a:t>-&gt; (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) 1</a:t>
            </a:r>
            <a:r>
              <a:rPr lang="ko-KR" altLang="en-US" dirty="0" smtClean="0"/>
              <a:t>차년도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</a:t>
            </a:r>
            <a:r>
              <a:rPr lang="en-US" altLang="ko-KR" dirty="0" smtClean="0"/>
              <a:t>, 2</a:t>
            </a:r>
            <a:r>
              <a:rPr lang="ko-KR" altLang="en-US" dirty="0" smtClean="0"/>
              <a:t>차년도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</a:t>
            </a:r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838200" y="250799"/>
            <a:ext cx="10515600" cy="7734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/>
              <a:t>2</a:t>
            </a:r>
            <a:r>
              <a:rPr lang="ko-KR" altLang="en-US" sz="3200" dirty="0" smtClean="0"/>
              <a:t>차년도</a:t>
            </a:r>
            <a:endParaRPr lang="ko-KR" altLang="en-US" sz="32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35E5D17-7C7F-4EF3-9020-1EA392396CB2}"/>
              </a:ext>
            </a:extLst>
          </p:cNvPr>
          <p:cNvGrpSpPr/>
          <p:nvPr/>
        </p:nvGrpSpPr>
        <p:grpSpPr>
          <a:xfrm>
            <a:off x="571228" y="2896453"/>
            <a:ext cx="10058398" cy="2944949"/>
            <a:chOff x="2674850" y="1924594"/>
            <a:chExt cx="7183253" cy="2525486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A78DA76-EC29-434C-AA9F-BAF72F50AE31}"/>
                </a:ext>
              </a:extLst>
            </p:cNvPr>
            <p:cNvSpPr/>
            <p:nvPr/>
          </p:nvSpPr>
          <p:spPr>
            <a:xfrm>
              <a:off x="2674850" y="1924594"/>
              <a:ext cx="1897150" cy="813310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0255B8"/>
                  </a:solidFill>
                </a:rPr>
                <a:t>블록 헤더</a:t>
              </a:r>
            </a:p>
            <a:p>
              <a:pPr algn="ctr"/>
              <a:r>
                <a:rPr lang="en-US" altLang="ko-KR" sz="1600" dirty="0">
                  <a:solidFill>
                    <a:srgbClr val="0255B8"/>
                  </a:solidFill>
                </a:rPr>
                <a:t>(version, previous hash value, </a:t>
              </a:r>
              <a:r>
                <a:rPr lang="en-US" altLang="ko-KR" sz="1600" dirty="0" err="1">
                  <a:solidFill>
                    <a:srgbClr val="0255B8"/>
                  </a:solidFill>
                </a:rPr>
                <a:t>merkle</a:t>
              </a:r>
              <a:r>
                <a:rPr lang="en-US" altLang="ko-KR" sz="1600" dirty="0">
                  <a:solidFill>
                    <a:srgbClr val="0255B8"/>
                  </a:solidFill>
                </a:rPr>
                <a:t> tree value ...)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03CFEA0-E25D-40F2-A1A9-3E2D713A89F0}"/>
                </a:ext>
              </a:extLst>
            </p:cNvPr>
            <p:cNvSpPr/>
            <p:nvPr/>
          </p:nvSpPr>
          <p:spPr>
            <a:xfrm>
              <a:off x="5535687" y="2987040"/>
              <a:ext cx="2194086" cy="813310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bg1"/>
                  </a:solidFill>
                </a:rPr>
                <a:t>패리티 체크 행렬 생성 부분</a:t>
              </a: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</a:rPr>
                <a:t>입력 </a:t>
              </a:r>
              <a:r>
                <a:rPr lang="en-US" altLang="ko-KR" sz="1600" dirty="0">
                  <a:solidFill>
                    <a:schemeClr val="bg1"/>
                  </a:solidFill>
                </a:rPr>
                <a:t>: </a:t>
              </a:r>
              <a:r>
                <a:rPr lang="ko-KR" altLang="en-US" sz="1600" dirty="0">
                  <a:solidFill>
                    <a:schemeClr val="bg1"/>
                  </a:solidFill>
                </a:rPr>
                <a:t>이전 </a:t>
              </a:r>
              <a:r>
                <a:rPr lang="ko-KR" altLang="en-US" sz="1600" dirty="0" err="1">
                  <a:solidFill>
                    <a:schemeClr val="bg1"/>
                  </a:solidFill>
                </a:rPr>
                <a:t>해쉬</a:t>
              </a:r>
              <a:r>
                <a:rPr lang="ko-KR" altLang="en-US" sz="1600" dirty="0">
                  <a:solidFill>
                    <a:schemeClr val="bg1"/>
                  </a:solidFill>
                </a:rPr>
                <a:t> 값</a:t>
              </a:r>
              <a:r>
                <a:rPr lang="en-US" altLang="ko-KR" sz="1600" dirty="0">
                  <a:solidFill>
                    <a:schemeClr val="bg1"/>
                  </a:solidFill>
                </a:rPr>
                <a:t>, </a:t>
              </a:r>
              <a:r>
                <a:rPr lang="ko-KR" altLang="en-US" sz="1600" dirty="0">
                  <a:solidFill>
                    <a:schemeClr val="bg1"/>
                  </a:solidFill>
                </a:rPr>
                <a:t>난이도</a:t>
              </a: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</a:rPr>
                <a:t>출력 </a:t>
              </a:r>
              <a:r>
                <a:rPr lang="en-US" altLang="ko-KR" sz="1600" dirty="0">
                  <a:solidFill>
                    <a:schemeClr val="bg1"/>
                  </a:solidFill>
                </a:rPr>
                <a:t>: </a:t>
              </a:r>
              <a:r>
                <a:rPr lang="ko-KR" altLang="en-US" sz="1600" dirty="0" err="1">
                  <a:solidFill>
                    <a:schemeClr val="bg1"/>
                  </a:solidFill>
                </a:rPr>
                <a:t>패리치</a:t>
              </a:r>
              <a:r>
                <a:rPr lang="ko-KR" altLang="en-US" sz="1600" dirty="0">
                  <a:solidFill>
                    <a:schemeClr val="bg1"/>
                  </a:solidFill>
                </a:rPr>
                <a:t> 체크 행렬 </a:t>
              </a:r>
              <a:r>
                <a:rPr lang="en-US" altLang="ko-KR" sz="1600" dirty="0">
                  <a:solidFill>
                    <a:schemeClr val="bg1"/>
                  </a:solidFill>
                </a:rPr>
                <a:t>H</a:t>
              </a:r>
              <a:endParaRPr lang="en-US" altLang="ko-KR" dirty="0">
                <a:solidFill>
                  <a:schemeClr val="bg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D1A8B28-23E4-4783-9517-CF97EE7B9051}"/>
                </a:ext>
              </a:extLst>
            </p:cNvPr>
            <p:cNvSpPr/>
            <p:nvPr/>
          </p:nvSpPr>
          <p:spPr>
            <a:xfrm>
              <a:off x="8693459" y="2987040"/>
              <a:ext cx="1164644" cy="813310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bg1"/>
                  </a:solidFill>
                </a:rPr>
                <a:t>난이도</a:t>
              </a:r>
              <a:endParaRPr lang="en-US" altLang="ko-KR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sz="1600" b="1" dirty="0">
                  <a:solidFill>
                    <a:schemeClr val="bg1"/>
                  </a:solidFill>
                </a:rPr>
                <a:t>조절 장치</a:t>
              </a:r>
              <a:endParaRPr lang="en-US" altLang="ko-KR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연결선: 꺾임 3">
              <a:extLst>
                <a:ext uri="{FF2B5EF4-FFF2-40B4-BE49-F238E27FC236}">
                  <a16:creationId xmlns:a16="http://schemas.microsoft.com/office/drawing/2014/main" id="{FE5D0B6F-FDAA-459D-8DC6-A8C702A89D00}"/>
                </a:ext>
              </a:extLst>
            </p:cNvPr>
            <p:cNvCxnSpPr>
              <a:cxnSpLocks/>
              <a:stCxn id="6" idx="2"/>
              <a:endCxn id="7" idx="1"/>
            </p:cNvCxnSpPr>
            <p:nvPr/>
          </p:nvCxnSpPr>
          <p:spPr>
            <a:xfrm rot="16200000" flipH="1">
              <a:off x="4251661" y="2109668"/>
              <a:ext cx="655791" cy="1912262"/>
            </a:xfrm>
            <a:prstGeom prst="bentConnector2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411B497-CF5D-4093-97D7-5BBC68175A2C}"/>
                </a:ext>
              </a:extLst>
            </p:cNvPr>
            <p:cNvCxnSpPr>
              <a:cxnSpLocks/>
              <a:stCxn id="8" idx="1"/>
              <a:endCxn id="7" idx="3"/>
            </p:cNvCxnSpPr>
            <p:nvPr/>
          </p:nvCxnSpPr>
          <p:spPr>
            <a:xfrm flipH="1">
              <a:off x="7729773" y="3393695"/>
              <a:ext cx="963686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연결선: 꺾임 52">
              <a:extLst>
                <a:ext uri="{FF2B5EF4-FFF2-40B4-BE49-F238E27FC236}">
                  <a16:creationId xmlns:a16="http://schemas.microsoft.com/office/drawing/2014/main" id="{A86BF4BC-43BB-410F-A363-B1A9542EB347}"/>
                </a:ext>
              </a:extLst>
            </p:cNvPr>
            <p:cNvCxnSpPr>
              <a:cxnSpLocks/>
              <a:stCxn id="6" idx="3"/>
              <a:endCxn id="8" idx="0"/>
            </p:cNvCxnSpPr>
            <p:nvPr/>
          </p:nvCxnSpPr>
          <p:spPr>
            <a:xfrm>
              <a:off x="4572000" y="2331249"/>
              <a:ext cx="4703781" cy="655791"/>
            </a:xfrm>
            <a:prstGeom prst="bentConnector2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FAAC7F4-2C26-4305-B65C-20E25D90AF9B}"/>
                </a:ext>
              </a:extLst>
            </p:cNvPr>
            <p:cNvSpPr/>
            <p:nvPr/>
          </p:nvSpPr>
          <p:spPr>
            <a:xfrm>
              <a:off x="7269727" y="1954494"/>
              <a:ext cx="2094805" cy="3167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b="1" dirty="0"/>
                <a:t>현재 블록 높이 </a:t>
              </a:r>
              <a:r>
                <a:rPr lang="en-US" altLang="ko-KR" b="1" dirty="0"/>
                <a:t>(Block Height)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8B35063-D71B-4EA7-99D6-73FE0FDFD311}"/>
                </a:ext>
              </a:extLst>
            </p:cNvPr>
            <p:cNvSpPr/>
            <p:nvPr/>
          </p:nvSpPr>
          <p:spPr>
            <a:xfrm>
              <a:off x="3528703" y="3487203"/>
              <a:ext cx="1543492" cy="5542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/>
                <a:t>이전 </a:t>
              </a:r>
              <a:r>
                <a:rPr lang="ko-KR" altLang="en-US" b="1" dirty="0" err="1"/>
                <a:t>해쉬</a:t>
              </a:r>
              <a:r>
                <a:rPr lang="ko-KR" altLang="en-US" b="1" dirty="0"/>
                <a:t> 값 </a:t>
              </a:r>
            </a:p>
            <a:p>
              <a:r>
                <a:rPr lang="en-US" altLang="ko-KR" b="1" dirty="0"/>
                <a:t>(Previous Hash Value)</a:t>
              </a:r>
            </a:p>
          </p:txBody>
        </p:sp>
        <p:sp>
          <p:nvSpPr>
            <p:cNvPr id="14" name="자유형: 도형 61">
              <a:extLst>
                <a:ext uri="{FF2B5EF4-FFF2-40B4-BE49-F238E27FC236}">
                  <a16:creationId xmlns:a16="http://schemas.microsoft.com/office/drawing/2014/main" id="{29C1683C-C063-4B8F-B548-610FCCC63DF5}"/>
                </a:ext>
              </a:extLst>
            </p:cNvPr>
            <p:cNvSpPr/>
            <p:nvPr/>
          </p:nvSpPr>
          <p:spPr>
            <a:xfrm>
              <a:off x="6635931" y="3840480"/>
              <a:ext cx="0" cy="609600"/>
            </a:xfrm>
            <a:custGeom>
              <a:avLst/>
              <a:gdLst>
                <a:gd name="connsiteX0" fmla="*/ 0 w 0"/>
                <a:gd name="connsiteY0" fmla="*/ 0 h 609600"/>
                <a:gd name="connsiteX1" fmla="*/ 0 w 0"/>
                <a:gd name="connsiteY1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BBC0F81-A230-42CD-9CC6-254F20136978}"/>
                </a:ext>
              </a:extLst>
            </p:cNvPr>
            <p:cNvSpPr/>
            <p:nvPr/>
          </p:nvSpPr>
          <p:spPr>
            <a:xfrm>
              <a:off x="6935163" y="3931339"/>
              <a:ext cx="1436591" cy="3167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b="1" dirty="0"/>
                <a:t>패리티 체크 행렬 </a:t>
              </a:r>
              <a:r>
                <a:rPr lang="en-US" altLang="ko-KR" b="1" dirty="0"/>
                <a:t>H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4D9033D-EB86-4E51-992B-CE199F2E7062}"/>
                </a:ext>
              </a:extLst>
            </p:cNvPr>
            <p:cNvSpPr/>
            <p:nvPr/>
          </p:nvSpPr>
          <p:spPr>
            <a:xfrm>
              <a:off x="7912307" y="3059777"/>
              <a:ext cx="598616" cy="3167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b="1"/>
                <a:t>난이도</a:t>
              </a:r>
              <a:endParaRPr lang="en-US" altLang="ko-KR" b="1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433384" y="6021860"/>
            <a:ext cx="9827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블록 생성 주기 제어 방법이 결합 된 모습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9195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33974BC1-1E3C-4569-A55A-3052DD2D3858}"/>
              </a:ext>
            </a:extLst>
          </p:cNvPr>
          <p:cNvGrpSpPr/>
          <p:nvPr/>
        </p:nvGrpSpPr>
        <p:grpSpPr>
          <a:xfrm>
            <a:off x="0" y="4081110"/>
            <a:ext cx="8608744" cy="1380809"/>
            <a:chOff x="1560496" y="3526972"/>
            <a:chExt cx="8958531" cy="143691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201890C-5D31-402B-BE33-70328041F883}"/>
                </a:ext>
              </a:extLst>
            </p:cNvPr>
            <p:cNvSpPr/>
            <p:nvPr/>
          </p:nvSpPr>
          <p:spPr>
            <a:xfrm>
              <a:off x="2666358" y="3526972"/>
              <a:ext cx="6477642" cy="14369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A56943A-FD78-4374-8700-9F89C472F09D}"/>
                </a:ext>
              </a:extLst>
            </p:cNvPr>
            <p:cNvSpPr/>
            <p:nvPr/>
          </p:nvSpPr>
          <p:spPr>
            <a:xfrm>
              <a:off x="6741751" y="3884023"/>
              <a:ext cx="2178595" cy="770864"/>
            </a:xfrm>
            <a:prstGeom prst="rect">
              <a:avLst/>
            </a:prstGeom>
            <a:solidFill>
              <a:srgbClr val="0255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</a:rPr>
                <a:t>오류 정정 부호 </a:t>
              </a:r>
              <a:r>
                <a:rPr lang="ko-KR" altLang="en-US" sz="1200" dirty="0" err="1">
                  <a:solidFill>
                    <a:schemeClr val="bg1"/>
                  </a:solidFill>
                </a:rPr>
                <a:t>디코더</a:t>
              </a:r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bg1"/>
                  </a:solidFill>
                </a:rPr>
                <a:t>e.g. LDPC </a:t>
              </a:r>
              <a:r>
                <a:rPr lang="ko-KR" altLang="en-US" sz="1200" dirty="0" err="1">
                  <a:solidFill>
                    <a:schemeClr val="bg1"/>
                  </a:solidFill>
                </a:rPr>
                <a:t>디코더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6B1140E-209C-428D-AE1B-7A5BBA6AF3F2}"/>
                </a:ext>
              </a:extLst>
            </p:cNvPr>
            <p:cNvSpPr/>
            <p:nvPr/>
          </p:nvSpPr>
          <p:spPr>
            <a:xfrm>
              <a:off x="2890014" y="3884023"/>
              <a:ext cx="2178595" cy="770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bg1"/>
                  </a:solidFill>
                </a:rPr>
                <a:t>해쉬</a:t>
              </a:r>
              <a:r>
                <a:rPr lang="ko-KR" altLang="en-US" sz="1200" dirty="0">
                  <a:solidFill>
                    <a:schemeClr val="bg1"/>
                  </a:solidFill>
                </a:rPr>
                <a:t> 함수</a:t>
              </a:r>
              <a:endParaRPr lang="en-US" altLang="ko-KR" sz="1200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bg1"/>
                  </a:solidFill>
                </a:rPr>
                <a:t>e.g., SHA256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22C58FE1-9E0B-4DCB-881C-8BEB351992FF}"/>
                </a:ext>
              </a:extLst>
            </p:cNvPr>
            <p:cNvCxnSpPr>
              <a:stCxn id="7" idx="3"/>
              <a:endCxn id="6" idx="1"/>
            </p:cNvCxnSpPr>
            <p:nvPr/>
          </p:nvCxnSpPr>
          <p:spPr>
            <a:xfrm>
              <a:off x="5068609" y="4269455"/>
              <a:ext cx="1673142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2A88CD0-ECD7-44BF-933B-55852EA25310}"/>
                </a:ext>
              </a:extLst>
            </p:cNvPr>
            <p:cNvCxnSpPr/>
            <p:nvPr/>
          </p:nvCxnSpPr>
          <p:spPr>
            <a:xfrm>
              <a:off x="2060925" y="4269455"/>
              <a:ext cx="829089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E4A7403F-B7B7-497C-9A38-5B4A4BA5F8A2}"/>
                </a:ext>
              </a:extLst>
            </p:cNvPr>
            <p:cNvCxnSpPr>
              <a:stCxn id="6" idx="3"/>
              <a:endCxn id="29" idx="1"/>
            </p:cNvCxnSpPr>
            <p:nvPr/>
          </p:nvCxnSpPr>
          <p:spPr>
            <a:xfrm flipV="1">
              <a:off x="8920345" y="4269455"/>
              <a:ext cx="1462951" cy="1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A766913-B7C0-4C7A-8BC5-03A9F858BAB7}"/>
                </a:ext>
              </a:extLst>
            </p:cNvPr>
            <p:cNvSpPr/>
            <p:nvPr/>
          </p:nvSpPr>
          <p:spPr>
            <a:xfrm>
              <a:off x="1560496" y="3957174"/>
              <a:ext cx="889450" cy="2882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200" b="1" err="1" smtClean="0"/>
                <a:t>논스</a:t>
              </a:r>
              <a:r>
                <a:rPr lang="ko-KR" altLang="en-US" sz="1200" b="1" dirty="0" smtClean="0"/>
                <a:t> 생성</a:t>
              </a:r>
              <a:endParaRPr lang="ko-KR" altLang="en-US" sz="1200" b="1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D47D50D-3C3F-463F-AD2D-065AFA463A01}"/>
                </a:ext>
              </a:extLst>
            </p:cNvPr>
            <p:cNvSpPr/>
            <p:nvPr/>
          </p:nvSpPr>
          <p:spPr>
            <a:xfrm>
              <a:off x="5480474" y="4347110"/>
              <a:ext cx="849414" cy="2882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b="1" dirty="0" err="1"/>
                <a:t>해쉬</a:t>
              </a:r>
              <a:r>
                <a:rPr lang="ko-KR" altLang="en-US" sz="1200" b="1" dirty="0"/>
                <a:t> 값 </a:t>
              </a:r>
              <a:r>
                <a:rPr lang="en-US" altLang="ko-KR" sz="1200" b="1" dirty="0"/>
                <a:t>r</a:t>
              </a:r>
              <a:endParaRPr lang="ko-KR" altLang="en-US" sz="1200" b="1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B40D734-5F42-42BE-BCBA-765E68BDB7DA}"/>
                </a:ext>
              </a:extLst>
            </p:cNvPr>
            <p:cNvSpPr/>
            <p:nvPr/>
          </p:nvSpPr>
          <p:spPr>
            <a:xfrm>
              <a:off x="9117459" y="3875196"/>
              <a:ext cx="1401568" cy="2882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b="1" dirty="0" err="1"/>
                <a:t>디코더</a:t>
              </a:r>
              <a:r>
                <a:rPr lang="ko-KR" altLang="en-US" sz="1200" b="1" dirty="0"/>
                <a:t> 출력 값 </a:t>
              </a:r>
              <a:r>
                <a:rPr lang="en-US" altLang="ko-KR" sz="1200" b="1" dirty="0"/>
                <a:t>c</a:t>
              </a:r>
              <a:endParaRPr lang="ko-KR" altLang="en-US" sz="1200" b="1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068A905-8A86-48B3-9133-10FD2BFEACC3}"/>
                </a:ext>
              </a:extLst>
            </p:cNvPr>
            <p:cNvSpPr/>
            <p:nvPr/>
          </p:nvSpPr>
          <p:spPr>
            <a:xfrm>
              <a:off x="5460456" y="3598173"/>
              <a:ext cx="889450" cy="2882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b="1" dirty="0"/>
                <a:t>합성 함수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35E5D17-7C7F-4EF3-9020-1EA392396CB2}"/>
              </a:ext>
            </a:extLst>
          </p:cNvPr>
          <p:cNvGrpSpPr/>
          <p:nvPr/>
        </p:nvGrpSpPr>
        <p:grpSpPr>
          <a:xfrm>
            <a:off x="172995" y="652152"/>
            <a:ext cx="10241064" cy="3734757"/>
            <a:chOff x="2991512" y="1924594"/>
            <a:chExt cx="7313705" cy="3202798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A78DA76-EC29-434C-AA9F-BAF72F50AE31}"/>
                </a:ext>
              </a:extLst>
            </p:cNvPr>
            <p:cNvSpPr/>
            <p:nvPr/>
          </p:nvSpPr>
          <p:spPr>
            <a:xfrm>
              <a:off x="2991512" y="1924594"/>
              <a:ext cx="1580488" cy="813310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rgbClr val="0255B8"/>
                  </a:solidFill>
                </a:rPr>
                <a:t>블록 헤더</a:t>
              </a:r>
            </a:p>
            <a:p>
              <a:pPr algn="ctr"/>
              <a:r>
                <a:rPr lang="en-US" altLang="ko-KR" sz="1200" dirty="0">
                  <a:solidFill>
                    <a:srgbClr val="0255B8"/>
                  </a:solidFill>
                </a:rPr>
                <a:t>(version, previous hash value, </a:t>
              </a:r>
              <a:r>
                <a:rPr lang="en-US" altLang="ko-KR" sz="1200" dirty="0" err="1">
                  <a:solidFill>
                    <a:srgbClr val="0255B8"/>
                  </a:solidFill>
                </a:rPr>
                <a:t>merkle</a:t>
              </a:r>
              <a:r>
                <a:rPr lang="en-US" altLang="ko-KR" sz="1200" dirty="0">
                  <a:solidFill>
                    <a:srgbClr val="0255B8"/>
                  </a:solidFill>
                </a:rPr>
                <a:t> tree value ...)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03CFEA0-E25D-40F2-A1A9-3E2D713A89F0}"/>
                </a:ext>
              </a:extLst>
            </p:cNvPr>
            <p:cNvSpPr/>
            <p:nvPr/>
          </p:nvSpPr>
          <p:spPr>
            <a:xfrm>
              <a:off x="5535687" y="2987040"/>
              <a:ext cx="2194086" cy="813310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</a:rPr>
                <a:t>패리티 체크 행렬 생성 부분</a:t>
              </a:r>
            </a:p>
            <a:p>
              <a:pPr algn="ctr"/>
              <a:r>
                <a:rPr lang="ko-KR" altLang="en-US" sz="1200" dirty="0">
                  <a:solidFill>
                    <a:schemeClr val="bg1"/>
                  </a:solidFill>
                </a:rPr>
                <a:t>입력 </a:t>
              </a:r>
              <a:r>
                <a:rPr lang="en-US" altLang="ko-KR" sz="1200" dirty="0">
                  <a:solidFill>
                    <a:schemeClr val="bg1"/>
                  </a:solidFill>
                </a:rPr>
                <a:t>: </a:t>
              </a:r>
              <a:r>
                <a:rPr lang="ko-KR" altLang="en-US" sz="1200" dirty="0">
                  <a:solidFill>
                    <a:schemeClr val="bg1"/>
                  </a:solidFill>
                </a:rPr>
                <a:t>이전 </a:t>
              </a:r>
              <a:r>
                <a:rPr lang="ko-KR" altLang="en-US" sz="1200" dirty="0" err="1">
                  <a:solidFill>
                    <a:schemeClr val="bg1"/>
                  </a:solidFill>
                </a:rPr>
                <a:t>해쉬</a:t>
              </a:r>
              <a:r>
                <a:rPr lang="ko-KR" altLang="en-US" sz="1200" dirty="0">
                  <a:solidFill>
                    <a:schemeClr val="bg1"/>
                  </a:solidFill>
                </a:rPr>
                <a:t> 값</a:t>
              </a:r>
              <a:r>
                <a:rPr lang="en-US" altLang="ko-KR" sz="1200" dirty="0">
                  <a:solidFill>
                    <a:schemeClr val="bg1"/>
                  </a:solidFill>
                </a:rPr>
                <a:t>, </a:t>
              </a:r>
              <a:r>
                <a:rPr lang="ko-KR" altLang="en-US" sz="1200" dirty="0">
                  <a:solidFill>
                    <a:schemeClr val="bg1"/>
                  </a:solidFill>
                </a:rPr>
                <a:t>난이도</a:t>
              </a:r>
            </a:p>
            <a:p>
              <a:pPr algn="ctr"/>
              <a:r>
                <a:rPr lang="ko-KR" altLang="en-US" sz="1200" dirty="0">
                  <a:solidFill>
                    <a:schemeClr val="bg1"/>
                  </a:solidFill>
                </a:rPr>
                <a:t>출력 </a:t>
              </a:r>
              <a:r>
                <a:rPr lang="en-US" altLang="ko-KR" sz="1200" dirty="0">
                  <a:solidFill>
                    <a:schemeClr val="bg1"/>
                  </a:solidFill>
                </a:rPr>
                <a:t>: </a:t>
              </a:r>
              <a:r>
                <a:rPr lang="ko-KR" altLang="en-US" sz="1200" dirty="0" err="1">
                  <a:solidFill>
                    <a:schemeClr val="bg1"/>
                  </a:solidFill>
                </a:rPr>
                <a:t>패리치</a:t>
              </a:r>
              <a:r>
                <a:rPr lang="ko-KR" altLang="en-US" sz="1200" dirty="0">
                  <a:solidFill>
                    <a:schemeClr val="bg1"/>
                  </a:solidFill>
                </a:rPr>
                <a:t> 체크 행렬 </a:t>
              </a:r>
              <a:r>
                <a:rPr lang="en-US" altLang="ko-KR" sz="1200" dirty="0">
                  <a:solidFill>
                    <a:schemeClr val="bg1"/>
                  </a:solidFill>
                </a:rPr>
                <a:t>H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D1A8B28-23E4-4783-9517-CF97EE7B9051}"/>
                </a:ext>
              </a:extLst>
            </p:cNvPr>
            <p:cNvSpPr/>
            <p:nvPr/>
          </p:nvSpPr>
          <p:spPr>
            <a:xfrm>
              <a:off x="9140573" y="2987040"/>
              <a:ext cx="1164644" cy="813310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</a:rPr>
                <a:t>난이도</a:t>
              </a:r>
              <a:endParaRPr lang="en-US" altLang="ko-KR" sz="1200" b="1" dirty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sz="1200" b="1" dirty="0">
                  <a:solidFill>
                    <a:schemeClr val="bg1"/>
                  </a:solidFill>
                </a:rPr>
                <a:t>조절 장치</a:t>
              </a:r>
              <a:endParaRPr lang="en-US" altLang="ko-KR" sz="12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1" name="연결선: 꺾임 3">
              <a:extLst>
                <a:ext uri="{FF2B5EF4-FFF2-40B4-BE49-F238E27FC236}">
                  <a16:creationId xmlns:a16="http://schemas.microsoft.com/office/drawing/2014/main" id="{FE5D0B6F-FDAA-459D-8DC6-A8C702A89D00}"/>
                </a:ext>
              </a:extLst>
            </p:cNvPr>
            <p:cNvCxnSpPr>
              <a:cxnSpLocks/>
              <a:stCxn id="18" idx="2"/>
              <a:endCxn id="19" idx="1"/>
            </p:cNvCxnSpPr>
            <p:nvPr/>
          </p:nvCxnSpPr>
          <p:spPr>
            <a:xfrm rot="16200000" flipH="1">
              <a:off x="4330826" y="2188833"/>
              <a:ext cx="655791" cy="1753931"/>
            </a:xfrm>
            <a:prstGeom prst="bentConnector2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411B497-CF5D-4093-97D7-5BBC68175A2C}"/>
                </a:ext>
              </a:extLst>
            </p:cNvPr>
            <p:cNvCxnSpPr>
              <a:cxnSpLocks/>
              <a:stCxn id="20" idx="1"/>
              <a:endCxn id="19" idx="3"/>
            </p:cNvCxnSpPr>
            <p:nvPr/>
          </p:nvCxnSpPr>
          <p:spPr>
            <a:xfrm flipH="1">
              <a:off x="7729773" y="3393695"/>
              <a:ext cx="1410801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연결선: 꺾임 52">
              <a:extLst>
                <a:ext uri="{FF2B5EF4-FFF2-40B4-BE49-F238E27FC236}">
                  <a16:creationId xmlns:a16="http://schemas.microsoft.com/office/drawing/2014/main" id="{A86BF4BC-43BB-410F-A363-B1A9542EB347}"/>
                </a:ext>
              </a:extLst>
            </p:cNvPr>
            <p:cNvCxnSpPr>
              <a:cxnSpLocks/>
              <a:stCxn id="18" idx="3"/>
              <a:endCxn id="20" idx="0"/>
            </p:cNvCxnSpPr>
            <p:nvPr/>
          </p:nvCxnSpPr>
          <p:spPr>
            <a:xfrm>
              <a:off x="4572000" y="2331249"/>
              <a:ext cx="5150895" cy="655791"/>
            </a:xfrm>
            <a:prstGeom prst="bentConnector2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FAAC7F4-2C26-4305-B65C-20E25D90AF9B}"/>
                </a:ext>
              </a:extLst>
            </p:cNvPr>
            <p:cNvSpPr/>
            <p:nvPr/>
          </p:nvSpPr>
          <p:spPr>
            <a:xfrm>
              <a:off x="7705499" y="1954494"/>
              <a:ext cx="1659033" cy="237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sz="1200" b="1" dirty="0"/>
                <a:t>현재 블록 높이 </a:t>
              </a:r>
              <a:r>
                <a:rPr lang="en-US" altLang="ko-KR" sz="1200" b="1" dirty="0"/>
                <a:t>(Block Height)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8B35063-D71B-4EA7-99D6-73FE0FDFD311}"/>
                </a:ext>
              </a:extLst>
            </p:cNvPr>
            <p:cNvSpPr/>
            <p:nvPr/>
          </p:nvSpPr>
          <p:spPr>
            <a:xfrm>
              <a:off x="3528703" y="3487203"/>
              <a:ext cx="1274154" cy="3959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200" b="1" dirty="0"/>
                <a:t>이전 </a:t>
              </a:r>
              <a:r>
                <a:rPr lang="ko-KR" altLang="en-US" sz="1200" b="1" dirty="0" err="1"/>
                <a:t>해쉬</a:t>
              </a:r>
              <a:r>
                <a:rPr lang="ko-KR" altLang="en-US" sz="1200" b="1" dirty="0"/>
                <a:t> 값 </a:t>
              </a:r>
            </a:p>
            <a:p>
              <a:r>
                <a:rPr lang="en-US" altLang="ko-KR" sz="1200" b="1" dirty="0"/>
                <a:t>(Previous Hash Value)</a:t>
              </a:r>
            </a:p>
          </p:txBody>
        </p:sp>
        <p:sp>
          <p:nvSpPr>
            <p:cNvPr id="26" name="자유형: 도형 61">
              <a:extLst>
                <a:ext uri="{FF2B5EF4-FFF2-40B4-BE49-F238E27FC236}">
                  <a16:creationId xmlns:a16="http://schemas.microsoft.com/office/drawing/2014/main" id="{29C1683C-C063-4B8F-B548-610FCCC63DF5}"/>
                </a:ext>
              </a:extLst>
            </p:cNvPr>
            <p:cNvSpPr/>
            <p:nvPr/>
          </p:nvSpPr>
          <p:spPr>
            <a:xfrm flipH="1">
              <a:off x="6603280" y="3840479"/>
              <a:ext cx="32650" cy="1286913"/>
            </a:xfrm>
            <a:custGeom>
              <a:avLst/>
              <a:gdLst>
                <a:gd name="connsiteX0" fmla="*/ 0 w 0"/>
                <a:gd name="connsiteY0" fmla="*/ 0 h 609600"/>
                <a:gd name="connsiteX1" fmla="*/ 0 w 0"/>
                <a:gd name="connsiteY1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9BBC0F81-A230-42CD-9CC6-254F20136978}"/>
                </a:ext>
              </a:extLst>
            </p:cNvPr>
            <p:cNvSpPr/>
            <p:nvPr/>
          </p:nvSpPr>
          <p:spPr>
            <a:xfrm>
              <a:off x="7269091" y="3931339"/>
              <a:ext cx="1102664" cy="237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sz="1200" b="1" dirty="0"/>
                <a:t>패리티 체크 행렬 </a:t>
              </a:r>
              <a:r>
                <a:rPr lang="en-US" altLang="ko-KR" sz="1200" b="1" dirty="0"/>
                <a:t>H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4D9033D-EB86-4E51-992B-CE199F2E7062}"/>
                </a:ext>
              </a:extLst>
            </p:cNvPr>
            <p:cNvSpPr/>
            <p:nvPr/>
          </p:nvSpPr>
          <p:spPr>
            <a:xfrm>
              <a:off x="8140820" y="3059777"/>
              <a:ext cx="461580" cy="237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b="1" dirty="0"/>
                <a:t>난이도</a:t>
              </a:r>
              <a:endParaRPr lang="en-US" altLang="ko-KR" sz="1200" b="1" dirty="0"/>
            </a:p>
          </p:txBody>
        </p:sp>
      </p:grpSp>
      <p:sp>
        <p:nvSpPr>
          <p:cNvPr id="29" name="순서도: 판단 28"/>
          <p:cNvSpPr/>
          <p:nvPr/>
        </p:nvSpPr>
        <p:spPr>
          <a:xfrm>
            <a:off x="8478313" y="4183806"/>
            <a:ext cx="2240692" cy="1221592"/>
          </a:xfrm>
          <a:prstGeom prst="flowChartDecision">
            <a:avLst/>
          </a:prstGeom>
          <a:solidFill>
            <a:srgbClr val="0255B8"/>
          </a:solidFill>
          <a:ln w="6350"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 smtClean="0">
                <a:solidFill>
                  <a:schemeClr val="bg1"/>
                </a:solidFill>
              </a:rPr>
              <a:t>디코딩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 성공</a:t>
            </a:r>
            <a:endParaRPr lang="en-US" altLang="ko-KR" sz="1200" b="1" dirty="0" smtClean="0">
              <a:solidFill>
                <a:schemeClr val="bg1"/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4A7403F-B7B7-497C-9A38-5B4A4BA5F8A2}"/>
              </a:ext>
            </a:extLst>
          </p:cNvPr>
          <p:cNvCxnSpPr>
            <a:stCxn id="29" idx="3"/>
          </p:cNvCxnSpPr>
          <p:nvPr/>
        </p:nvCxnSpPr>
        <p:spPr>
          <a:xfrm>
            <a:off x="10719005" y="4794602"/>
            <a:ext cx="772779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B40D734-5F42-42BE-BCBA-765E68BDB7DA}"/>
              </a:ext>
            </a:extLst>
          </p:cNvPr>
          <p:cNvSpPr/>
          <p:nvPr/>
        </p:nvSpPr>
        <p:spPr>
          <a:xfrm>
            <a:off x="10839446" y="4494515"/>
            <a:ext cx="4181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 smtClean="0"/>
              <a:t>Yes</a:t>
            </a:r>
            <a:endParaRPr lang="ko-KR" altLang="en-US" sz="1200" b="1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B40D734-5F42-42BE-BCBA-765E68BDB7DA}"/>
              </a:ext>
            </a:extLst>
          </p:cNvPr>
          <p:cNvSpPr/>
          <p:nvPr/>
        </p:nvSpPr>
        <p:spPr>
          <a:xfrm>
            <a:off x="11482551" y="4656102"/>
            <a:ext cx="8547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/>
              <a:t>블록 생성</a:t>
            </a:r>
            <a:endParaRPr lang="ko-KR" altLang="en-US" sz="1200" b="1" dirty="0"/>
          </a:p>
        </p:txBody>
      </p:sp>
      <p:cxnSp>
        <p:nvCxnSpPr>
          <p:cNvPr id="53" name="꺾인 연결선 52"/>
          <p:cNvCxnSpPr>
            <a:stCxn id="29" idx="2"/>
          </p:cNvCxnSpPr>
          <p:nvPr/>
        </p:nvCxnSpPr>
        <p:spPr>
          <a:xfrm rot="5400000">
            <a:off x="6764743" y="3492742"/>
            <a:ext cx="921261" cy="4746573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꺾인 연결선 54"/>
          <p:cNvCxnSpPr>
            <a:endCxn id="11" idx="2"/>
          </p:cNvCxnSpPr>
          <p:nvPr/>
        </p:nvCxnSpPr>
        <p:spPr>
          <a:xfrm rot="10800000">
            <a:off x="427361" y="4771514"/>
            <a:ext cx="4424726" cy="155514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B40D734-5F42-42BE-BCBA-765E68BDB7DA}"/>
              </a:ext>
            </a:extLst>
          </p:cNvPr>
          <p:cNvSpPr/>
          <p:nvPr/>
        </p:nvSpPr>
        <p:spPr>
          <a:xfrm>
            <a:off x="9075477" y="5549087"/>
            <a:ext cx="4026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 smtClean="0"/>
              <a:t>No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746864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13733"/>
            <a:ext cx="10515600" cy="513921"/>
          </a:xfrm>
        </p:spPr>
        <p:txBody>
          <a:bodyPr>
            <a:noAutofit/>
          </a:bodyPr>
          <a:lstStyle/>
          <a:p>
            <a:r>
              <a:rPr lang="en-US" altLang="ko-KR" sz="1800" dirty="0" smtClean="0"/>
              <a:t>3</a:t>
            </a:r>
            <a:r>
              <a:rPr lang="ko-KR" altLang="en-US" sz="1800" dirty="0" smtClean="0"/>
              <a:t>차년도에 첨부된 그림은 </a:t>
            </a:r>
            <a:r>
              <a:rPr lang="en-US" altLang="ko-KR" sz="1800" dirty="0" smtClean="0"/>
              <a:t>ECCPoW</a:t>
            </a:r>
            <a:r>
              <a:rPr lang="ko-KR" altLang="en-US" sz="1800" dirty="0" smtClean="0"/>
              <a:t>의 컨셉 증명을 위해 실험을 통해 얻은 데이터 값입니다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838200" y="250799"/>
            <a:ext cx="10515600" cy="7734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/>
              <a:t>3</a:t>
            </a:r>
            <a:r>
              <a:rPr lang="ko-KR" altLang="en-US" sz="3200" dirty="0" smtClean="0"/>
              <a:t>차년도</a:t>
            </a:r>
            <a:endParaRPr lang="ko-KR" altLang="en-US" sz="3200" dirty="0"/>
          </a:p>
        </p:txBody>
      </p:sp>
      <p:pic>
        <p:nvPicPr>
          <p:cNvPr id="1025" name="_x504211112" descr="EMB0000702021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655" y="2236574"/>
            <a:ext cx="4572000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403653" y="5652870"/>
            <a:ext cx="11640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난이도 </a:t>
            </a:r>
            <a:r>
              <a:rPr lang="ko-KR" altLang="en-US" dirty="0" err="1" smtClean="0"/>
              <a:t>레벨별로</a:t>
            </a:r>
            <a:r>
              <a:rPr lang="ko-KR" altLang="en-US" dirty="0" smtClean="0"/>
              <a:t> 사전 정의된 조건 </a:t>
            </a:r>
            <a:r>
              <a:rPr lang="en-US" altLang="ko-KR" dirty="0" smtClean="0"/>
              <a:t>2-1</a:t>
            </a:r>
            <a:r>
              <a:rPr lang="ko-KR" altLang="en-US" dirty="0" smtClean="0"/>
              <a:t>의 세부 설정과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이론적 </a:t>
            </a:r>
            <a:r>
              <a:rPr lang="ko-KR" altLang="en-US" dirty="0" err="1" smtClean="0"/>
              <a:t>블록생성</a:t>
            </a:r>
            <a:r>
              <a:rPr lang="ko-KR" altLang="en-US" dirty="0" smtClean="0"/>
              <a:t> 확률 </a:t>
            </a:r>
            <a:r>
              <a:rPr lang="en-US" altLang="ko-KR" dirty="0" smtClean="0"/>
              <a:t>(Prob. Calculated), </a:t>
            </a:r>
            <a:r>
              <a:rPr lang="ko-KR" altLang="en-US" dirty="0" smtClean="0"/>
              <a:t>실험적 평균 </a:t>
            </a:r>
            <a:r>
              <a:rPr lang="ko-KR" altLang="en-US" dirty="0" err="1" smtClean="0"/>
              <a:t>블록생성</a:t>
            </a:r>
            <a:r>
              <a:rPr lang="ko-KR" altLang="en-US" dirty="0" smtClean="0"/>
              <a:t> 시도 횟수 </a:t>
            </a:r>
            <a:r>
              <a:rPr lang="en-US" altLang="ko-KR" dirty="0" smtClean="0"/>
              <a:t>(Average Nonce Measured)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8489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838200" y="250799"/>
            <a:ext cx="10515600" cy="7734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/>
              <a:t>4</a:t>
            </a:r>
            <a:r>
              <a:rPr lang="ko-KR" altLang="en-US" sz="3200" dirty="0" smtClean="0"/>
              <a:t>차년도</a:t>
            </a:r>
            <a:endParaRPr lang="ko-KR" altLang="en-US" sz="3200" dirty="0"/>
          </a:p>
        </p:txBody>
      </p:sp>
      <p:sp>
        <p:nvSpPr>
          <p:cNvPr id="6" name="직사각형 5"/>
          <p:cNvSpPr/>
          <p:nvPr/>
        </p:nvSpPr>
        <p:spPr>
          <a:xfrm>
            <a:off x="1512696" y="1978987"/>
            <a:ext cx="8897568" cy="3122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528904" y="1887561"/>
            <a:ext cx="9134192" cy="3288561"/>
            <a:chOff x="145767" y="2348880"/>
            <a:chExt cx="9134192" cy="3288561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CD571DF0-F49E-2E4C-AC19-1C82085B2348}"/>
                </a:ext>
              </a:extLst>
            </p:cNvPr>
            <p:cNvGrpSpPr/>
            <p:nvPr/>
          </p:nvGrpSpPr>
          <p:grpSpPr>
            <a:xfrm>
              <a:off x="1331640" y="2463413"/>
              <a:ext cx="6214514" cy="3060374"/>
              <a:chOff x="540133" y="2251633"/>
              <a:chExt cx="8037977" cy="3958351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4028251" y="2251633"/>
                <a:ext cx="1188972" cy="437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Chain 0</a:t>
                </a:r>
                <a:endParaRPr lang="ko-KR" altLang="en-US" sz="1600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288308" y="5321967"/>
                <a:ext cx="1188972" cy="756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Chain 2-3</a:t>
                </a:r>
                <a:endParaRPr lang="ko-KR" altLang="en-US" sz="1600" dirty="0"/>
              </a:p>
            </p:txBody>
          </p:sp>
          <p:pic>
            <p:nvPicPr>
              <p:cNvPr id="15" name="Picture 2" descr="C:\Users\haeung\AppData\Local\Microsoft\Windows\Temporary Internet Files\Content.IE5\7T3DNZQ1\Recycle[1].png"/>
              <p:cNvPicPr>
                <a:picLocks noChangeArrowheads="1"/>
              </p:cNvPicPr>
              <p:nvPr/>
            </p:nvPicPr>
            <p:blipFill>
              <a:blip r:embed="rId2" cstate="print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68965" y="3138596"/>
                <a:ext cx="2014857" cy="9817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C:\Users\haeung\AppData\Local\Microsoft\Windows\Temporary Internet Files\Content.IE5\7T3DNZQ1\Recycle[1].png"/>
              <p:cNvPicPr>
                <a:picLocks noChangeArrowheads="1"/>
              </p:cNvPicPr>
              <p:nvPr/>
            </p:nvPicPr>
            <p:blipFill>
              <a:blip r:embed="rId2" cstate="print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25690" y="4560765"/>
                <a:ext cx="2014857" cy="9817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Picture 2" descr="C:\Users\haeung\AppData\Local\Microsoft\Windows\Temporary Internet Files\Content.IE5\7T3DNZQ1\Recycle[1].png"/>
              <p:cNvPicPr>
                <a:picLocks noChangeArrowheads="1"/>
              </p:cNvPicPr>
              <p:nvPr/>
            </p:nvPicPr>
            <p:blipFill>
              <a:blip r:embed="rId2" cstate="print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42398" y="4567687"/>
                <a:ext cx="2014857" cy="9817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TextBox 17"/>
              <p:cNvSpPr txBox="1"/>
              <p:nvPr/>
            </p:nvSpPr>
            <p:spPr>
              <a:xfrm>
                <a:off x="3305062" y="4203579"/>
                <a:ext cx="2441123" cy="915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b="1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Value Exchange</a:t>
                </a:r>
              </a:p>
              <a:p>
                <a:pPr algn="ctr"/>
                <a:r>
                  <a:rPr lang="en-US" altLang="ko-KR" sz="2000" b="1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Block Chain</a:t>
                </a:r>
                <a:endParaRPr lang="ko-KR" altLang="en-US" sz="2000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0547" y="2620965"/>
                <a:ext cx="1299987" cy="4126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0" name="Picture 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12383" y="5680282"/>
                <a:ext cx="1299987" cy="4126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1" name="모서리가 둥근 직사각형 20"/>
              <p:cNvSpPr/>
              <p:nvPr/>
            </p:nvSpPr>
            <p:spPr>
              <a:xfrm>
                <a:off x="3745734" y="2295699"/>
                <a:ext cx="1471489" cy="809845"/>
              </a:xfrm>
              <a:prstGeom prst="roundRect">
                <a:avLst>
                  <a:gd name="adj" fmla="val 28910"/>
                </a:avLst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2" name="모서리가 둥근 직사각형 21"/>
              <p:cNvSpPr/>
              <p:nvPr/>
            </p:nvSpPr>
            <p:spPr>
              <a:xfrm>
                <a:off x="7106621" y="5356169"/>
                <a:ext cx="1471489" cy="809845"/>
              </a:xfrm>
              <a:prstGeom prst="roundRect">
                <a:avLst>
                  <a:gd name="adj" fmla="val 28910"/>
                </a:avLst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4022234" y="5365936"/>
                <a:ext cx="1188972" cy="756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Chain 2-2</a:t>
                </a:r>
                <a:endParaRPr lang="ko-KR" altLang="en-US" sz="1600" dirty="0"/>
              </a:p>
            </p:txBody>
          </p:sp>
          <p:pic>
            <p:nvPicPr>
              <p:cNvPr id="24" name="Picture 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46309" y="5724252"/>
                <a:ext cx="1299987" cy="4126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5" name="모서리가 둥근 직사각형 24"/>
              <p:cNvSpPr/>
              <p:nvPr/>
            </p:nvSpPr>
            <p:spPr>
              <a:xfrm>
                <a:off x="3840547" y="5400139"/>
                <a:ext cx="1471489" cy="809845"/>
              </a:xfrm>
              <a:prstGeom prst="roundRect">
                <a:avLst>
                  <a:gd name="adj" fmla="val 28910"/>
                </a:avLst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721820" y="5365936"/>
                <a:ext cx="1188972" cy="756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Chain 2-1</a:t>
                </a:r>
                <a:endParaRPr lang="ko-KR" altLang="en-US" sz="1600" dirty="0"/>
              </a:p>
            </p:txBody>
          </p:sp>
          <p:pic>
            <p:nvPicPr>
              <p:cNvPr id="27" name="Picture 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5895" y="5724252"/>
                <a:ext cx="1299987" cy="4126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8" name="모서리가 둥근 직사각형 27"/>
              <p:cNvSpPr/>
              <p:nvPr/>
            </p:nvSpPr>
            <p:spPr>
              <a:xfrm>
                <a:off x="540133" y="5400139"/>
                <a:ext cx="1471489" cy="809845"/>
              </a:xfrm>
              <a:prstGeom prst="roundRect">
                <a:avLst>
                  <a:gd name="adj" fmla="val 28910"/>
                </a:avLst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2179163" y="3679638"/>
                <a:ext cx="1188972" cy="756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Chain 1-1</a:t>
                </a:r>
                <a:endParaRPr lang="ko-KR" altLang="en-US" sz="1600" dirty="0"/>
              </a:p>
            </p:txBody>
          </p:sp>
          <p:pic>
            <p:nvPicPr>
              <p:cNvPr id="30" name="Picture 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03238" y="4037953"/>
                <a:ext cx="1299987" cy="4126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1" name="모서리가 둥근 직사각형 30"/>
              <p:cNvSpPr/>
              <p:nvPr/>
            </p:nvSpPr>
            <p:spPr>
              <a:xfrm>
                <a:off x="1997476" y="3713840"/>
                <a:ext cx="1471489" cy="809845"/>
              </a:xfrm>
              <a:prstGeom prst="roundRect">
                <a:avLst>
                  <a:gd name="adj" fmla="val 28910"/>
                </a:avLst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695767" y="3647463"/>
                <a:ext cx="1188972" cy="756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Chain 1-2</a:t>
                </a:r>
                <a:endParaRPr lang="ko-KR" altLang="en-US" sz="1600" dirty="0"/>
              </a:p>
            </p:txBody>
          </p:sp>
          <p:pic>
            <p:nvPicPr>
              <p:cNvPr id="33" name="Picture 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19843" y="4005778"/>
                <a:ext cx="1299987" cy="4126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4" name="모서리가 둥근 직사각형 33"/>
              <p:cNvSpPr/>
              <p:nvPr/>
            </p:nvSpPr>
            <p:spPr>
              <a:xfrm>
                <a:off x="5514081" y="3681665"/>
                <a:ext cx="1471489" cy="809845"/>
              </a:xfrm>
              <a:prstGeom prst="roundRect">
                <a:avLst>
                  <a:gd name="adj" fmla="val 28910"/>
                </a:avLst>
              </a:prstGeom>
              <a:noFill/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sp>
          <p:nvSpPr>
            <p:cNvPr id="9" name="TextBox 3"/>
            <p:cNvSpPr txBox="1"/>
            <p:nvPr/>
          </p:nvSpPr>
          <p:spPr>
            <a:xfrm>
              <a:off x="145767" y="2348880"/>
              <a:ext cx="212197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Low TPS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Global Nets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High Delay</a:t>
              </a:r>
            </a:p>
          </p:txBody>
        </p:sp>
        <p:sp>
          <p:nvSpPr>
            <p:cNvPr id="10" name="TextBox 3"/>
            <p:cNvSpPr txBox="1"/>
            <p:nvPr/>
          </p:nvSpPr>
          <p:spPr>
            <a:xfrm>
              <a:off x="163167" y="4437112"/>
              <a:ext cx="15285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High TPS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Local Nets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Low Delay</a:t>
              </a:r>
            </a:p>
          </p:txBody>
        </p:sp>
        <p:sp>
          <p:nvSpPr>
            <p:cNvPr id="11" name="TextBox 3"/>
            <p:cNvSpPr txBox="1"/>
            <p:nvPr/>
          </p:nvSpPr>
          <p:spPr>
            <a:xfrm>
              <a:off x="7236296" y="2488502"/>
              <a:ext cx="20436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Large </a:t>
              </a:r>
              <a:r>
                <a:rPr lang="en-US" altLang="ko-KR" sz="1600" b="1" dirty="0" err="1">
                  <a:latin typeface="+mn-ea"/>
                </a:rPr>
                <a:t>Tx</a:t>
              </a:r>
              <a:r>
                <a:rPr lang="en-US" altLang="ko-KR" sz="1600" b="1" dirty="0">
                  <a:latin typeface="+mn-ea"/>
                </a:rPr>
                <a:t> (Assets)</a:t>
              </a:r>
            </a:p>
          </p:txBody>
        </p:sp>
        <p:sp>
          <p:nvSpPr>
            <p:cNvPr id="12" name="TextBox 3"/>
            <p:cNvSpPr txBox="1"/>
            <p:nvPr/>
          </p:nvSpPr>
          <p:spPr>
            <a:xfrm>
              <a:off x="7596336" y="4769399"/>
              <a:ext cx="1534723" cy="819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Small </a:t>
              </a:r>
              <a:r>
                <a:rPr lang="en-US" altLang="ko-KR" sz="1600" b="1" dirty="0" err="1">
                  <a:latin typeface="+mn-ea"/>
                </a:rPr>
                <a:t>Tx</a:t>
              </a:r>
              <a:endParaRPr lang="en-US" altLang="ko-KR" sz="1600" b="1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</a:rPr>
                <a:t>(Utility Coins)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1546304" y="5289778"/>
            <a:ext cx="848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용도에 따라 세분화된 다중 </a:t>
            </a:r>
            <a:r>
              <a:rPr lang="ko-KR" altLang="en-US" dirty="0" err="1" smtClean="0"/>
              <a:t>복합구조</a:t>
            </a:r>
            <a:r>
              <a:rPr lang="ko-KR" altLang="en-US" dirty="0" smtClean="0"/>
              <a:t> 블록체인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3528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65452"/>
            <a:ext cx="10515600" cy="868148"/>
          </a:xfrm>
        </p:spPr>
        <p:txBody>
          <a:bodyPr>
            <a:normAutofit/>
          </a:bodyPr>
          <a:lstStyle/>
          <a:p>
            <a:r>
              <a:rPr lang="ko-KR" altLang="en-US" sz="1800" dirty="0" smtClean="0"/>
              <a:t>현재 </a:t>
            </a:r>
            <a:r>
              <a:rPr lang="en-US" altLang="ko-KR" sz="1800" dirty="0" smtClean="0"/>
              <a:t>5</a:t>
            </a:r>
            <a:r>
              <a:rPr lang="ko-KR" altLang="en-US" sz="1800" dirty="0" err="1" smtClean="0"/>
              <a:t>년차에</a:t>
            </a:r>
            <a:r>
              <a:rPr lang="ko-KR" altLang="en-US" sz="1800" dirty="0" smtClean="0"/>
              <a:t> 그림이 </a:t>
            </a:r>
            <a:r>
              <a:rPr lang="en-US" altLang="ko-KR" sz="1800" dirty="0" smtClean="0"/>
              <a:t>2</a:t>
            </a:r>
            <a:r>
              <a:rPr lang="ko-KR" altLang="en-US" sz="1800" dirty="0" smtClean="0"/>
              <a:t>개 들어가 있는데</a:t>
            </a:r>
            <a:r>
              <a:rPr lang="en-US" altLang="ko-KR" sz="1800" dirty="0"/>
              <a:t> </a:t>
            </a:r>
            <a:r>
              <a:rPr lang="en-US" altLang="ko-KR" sz="1800" dirty="0" smtClean="0"/>
              <a:t>&lt;</a:t>
            </a:r>
            <a:r>
              <a:rPr lang="ko-KR" altLang="en-US" sz="1800" dirty="0" smtClean="0"/>
              <a:t>검증 횟수 최적화 알고리즘</a:t>
            </a:r>
            <a:r>
              <a:rPr lang="en-US" altLang="ko-KR" sz="1800" dirty="0" smtClean="0"/>
              <a:t>&gt;</a:t>
            </a:r>
            <a:r>
              <a:rPr lang="ko-KR" altLang="en-US" sz="1800" dirty="0" smtClean="0"/>
              <a:t>은 제거해주세요</a:t>
            </a:r>
            <a:endParaRPr lang="ko-KR" altLang="en-US" sz="1800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838200" y="250799"/>
            <a:ext cx="10515600" cy="7734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/>
              <a:t>5</a:t>
            </a:r>
            <a:r>
              <a:rPr lang="ko-KR" altLang="en-US" sz="3200" dirty="0" smtClean="0"/>
              <a:t>차년도</a:t>
            </a:r>
            <a:endParaRPr lang="ko-KR" altLang="en-US" sz="3200" dirty="0"/>
          </a:p>
        </p:txBody>
      </p:sp>
      <p:grpSp>
        <p:nvGrpSpPr>
          <p:cNvPr id="5" name="그룹 4"/>
          <p:cNvGrpSpPr/>
          <p:nvPr/>
        </p:nvGrpSpPr>
        <p:grpSpPr>
          <a:xfrm>
            <a:off x="3457761" y="2133600"/>
            <a:ext cx="3816422" cy="3374295"/>
            <a:chOff x="1043608" y="1806732"/>
            <a:chExt cx="3698594" cy="3144255"/>
          </a:xfrm>
        </p:grpSpPr>
        <p:grpSp>
          <p:nvGrpSpPr>
            <p:cNvPr id="6" name="그룹 5"/>
            <p:cNvGrpSpPr/>
            <p:nvPr/>
          </p:nvGrpSpPr>
          <p:grpSpPr>
            <a:xfrm>
              <a:off x="1240663" y="2309998"/>
              <a:ext cx="2720153" cy="1895116"/>
              <a:chOff x="146549" y="2618806"/>
              <a:chExt cx="2378345" cy="1712217"/>
            </a:xfrm>
          </p:grpSpPr>
          <p:sp>
            <p:nvSpPr>
              <p:cNvPr id="18" name="직각 삼각형 17"/>
              <p:cNvSpPr/>
              <p:nvPr/>
            </p:nvSpPr>
            <p:spPr>
              <a:xfrm flipV="1">
                <a:off x="146549" y="2988062"/>
                <a:ext cx="2378345" cy="1342961"/>
              </a:xfrm>
              <a:prstGeom prst="rtTriangle">
                <a:avLst/>
              </a:prstGeom>
              <a:solidFill>
                <a:srgbClr val="FF000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146549" y="2618806"/>
                <a:ext cx="2377365" cy="369259"/>
              </a:xfrm>
              <a:prstGeom prst="rect">
                <a:avLst/>
              </a:prstGeom>
              <a:solidFill>
                <a:srgbClr val="FF000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1217866" y="2677526"/>
              <a:ext cx="2742950" cy="1752874"/>
              <a:chOff x="123752" y="3006170"/>
              <a:chExt cx="2401138" cy="1567314"/>
            </a:xfrm>
          </p:grpSpPr>
          <p:sp>
            <p:nvSpPr>
              <p:cNvPr id="16" name="직각 삼각형 15"/>
              <p:cNvSpPr/>
              <p:nvPr/>
            </p:nvSpPr>
            <p:spPr>
              <a:xfrm flipH="1">
                <a:off x="123752" y="3006170"/>
                <a:ext cx="2401138" cy="1367987"/>
              </a:xfrm>
              <a:prstGeom prst="rtTriangle">
                <a:avLst/>
              </a:prstGeom>
              <a:solidFill>
                <a:srgbClr val="00B05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/>
              <p:cNvSpPr/>
              <p:nvPr/>
            </p:nvSpPr>
            <p:spPr>
              <a:xfrm flipH="1">
                <a:off x="134662" y="4378893"/>
                <a:ext cx="2390227" cy="194591"/>
              </a:xfrm>
              <a:prstGeom prst="rect">
                <a:avLst/>
              </a:prstGeom>
              <a:solidFill>
                <a:srgbClr val="00B05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8" name="직선 연결선 7"/>
            <p:cNvCxnSpPr/>
            <p:nvPr/>
          </p:nvCxnSpPr>
          <p:spPr>
            <a:xfrm flipV="1">
              <a:off x="1192565" y="2677526"/>
              <a:ext cx="2793553" cy="155261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230034" y="4581655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 smtClean="0"/>
                <a:t>블록컨펌</a:t>
              </a:r>
              <a:r>
                <a:rPr lang="ko-KR" altLang="en-US" dirty="0" smtClean="0"/>
                <a:t> </a:t>
              </a:r>
              <a:r>
                <a:rPr lang="ko-KR" altLang="en-US" dirty="0"/>
                <a:t>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60165" y="1806732"/>
              <a:ext cx="11553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 smtClean="0"/>
                <a:t>거래크기</a:t>
              </a:r>
              <a:endParaRPr lang="en-US" altLang="ko-KR" dirty="0"/>
            </a:p>
          </p:txBody>
        </p:sp>
        <p:cxnSp>
          <p:nvCxnSpPr>
            <p:cNvPr id="11" name="직선 화살표 연결선 10"/>
            <p:cNvCxnSpPr/>
            <p:nvPr/>
          </p:nvCxnSpPr>
          <p:spPr>
            <a:xfrm>
              <a:off x="1043608" y="4423983"/>
              <a:ext cx="3338554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/>
            <p:cNvCxnSpPr/>
            <p:nvPr/>
          </p:nvCxnSpPr>
          <p:spPr>
            <a:xfrm flipV="1">
              <a:off x="1217867" y="2060848"/>
              <a:ext cx="0" cy="2618473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123237" y="2363202"/>
              <a:ext cx="1751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C00000"/>
                  </a:solidFill>
                </a:rPr>
                <a:t>DS </a:t>
              </a:r>
              <a:r>
                <a:rPr lang="ko-KR" altLang="en-US" b="1" dirty="0">
                  <a:solidFill>
                    <a:srgbClr val="C00000"/>
                  </a:solidFill>
                </a:rPr>
                <a:t>공격 위험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930882" y="4005064"/>
              <a:ext cx="1944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009900"/>
                  </a:solidFill>
                </a:rPr>
                <a:t>DS </a:t>
              </a:r>
              <a:r>
                <a:rPr lang="ko-KR" altLang="en-US" b="1" dirty="0">
                  <a:solidFill>
                    <a:srgbClr val="009900"/>
                  </a:solidFill>
                </a:rPr>
                <a:t>공격 안전</a:t>
              </a:r>
            </a:p>
          </p:txBody>
        </p:sp>
      </p:grpSp>
      <p:sp>
        <p:nvSpPr>
          <p:cNvPr id="20" name="곱셈 기호 19"/>
          <p:cNvSpPr/>
          <p:nvPr/>
        </p:nvSpPr>
        <p:spPr>
          <a:xfrm>
            <a:off x="5545992" y="3467286"/>
            <a:ext cx="288032" cy="232587"/>
          </a:xfrm>
          <a:prstGeom prst="mathMultiply">
            <a:avLst>
              <a:gd name="adj1" fmla="val 23818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665230" y="2673686"/>
            <a:ext cx="1341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위험거래</a:t>
            </a:r>
            <a:endParaRPr lang="en-US" altLang="ko-KR" sz="1600" dirty="0" smtClean="0"/>
          </a:p>
          <a:p>
            <a:r>
              <a:rPr lang="ko-KR" altLang="en-US" sz="1600" smtClean="0"/>
              <a:t>크기 선</a:t>
            </a:r>
            <a:endParaRPr lang="ko-KR" altLang="en-US" sz="1600" dirty="0"/>
          </a:p>
        </p:txBody>
      </p:sp>
      <p:sp>
        <p:nvSpPr>
          <p:cNvPr id="22" name="곱셈 기호 21"/>
          <p:cNvSpPr/>
          <p:nvPr/>
        </p:nvSpPr>
        <p:spPr>
          <a:xfrm>
            <a:off x="4897920" y="3491670"/>
            <a:ext cx="288032" cy="232587"/>
          </a:xfrm>
          <a:prstGeom prst="mathMultiply">
            <a:avLst>
              <a:gd name="adj1" fmla="val 2381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/>
          <p:cNvCxnSpPr/>
          <p:nvPr/>
        </p:nvCxnSpPr>
        <p:spPr>
          <a:xfrm flipV="1">
            <a:off x="3611462" y="3583579"/>
            <a:ext cx="3053768" cy="23947"/>
          </a:xfrm>
          <a:prstGeom prst="line">
            <a:avLst/>
          </a:prstGeom>
          <a:ln w="25400" cmpd="sng">
            <a:prstDash val="lgDash"/>
            <a:headEnd type="stealt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5690008" y="2267534"/>
            <a:ext cx="23834" cy="2674800"/>
          </a:xfrm>
          <a:prstGeom prst="line">
            <a:avLst/>
          </a:prstGeom>
          <a:ln w="25400"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07974" y="5710843"/>
            <a:ext cx="5099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보안성</a:t>
            </a:r>
            <a:r>
              <a:rPr lang="ko-KR" altLang="en-US" dirty="0" smtClean="0"/>
              <a:t> 판단 알고리즘을 이용한 </a:t>
            </a:r>
            <a:r>
              <a:rPr lang="ko-KR" altLang="en-US" dirty="0" err="1" smtClean="0"/>
              <a:t>위험거래</a:t>
            </a:r>
            <a:r>
              <a:rPr lang="ko-KR" altLang="en-US" dirty="0" smtClean="0"/>
              <a:t> 식별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7593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357</Words>
  <Application>Microsoft Office PowerPoint</Application>
  <PresentationFormat>와이드스크린</PresentationFormat>
  <Paragraphs>88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IITP 67번 과제 그림</vt:lpstr>
      <vt:lpstr>1차년도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IITP 67번 과제 그림</dc:title>
  <dc:creator>Kim HyoungSung</dc:creator>
  <cp:lastModifiedBy>Kim HyoungSung</cp:lastModifiedBy>
  <cp:revision>7</cp:revision>
  <dcterms:created xsi:type="dcterms:W3CDTF">2021-01-28T06:32:34Z</dcterms:created>
  <dcterms:modified xsi:type="dcterms:W3CDTF">2021-02-05T05:42:44Z</dcterms:modified>
</cp:coreProperties>
</file>