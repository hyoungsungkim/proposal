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1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rts/chart2.xml" ContentType="application/vnd.openxmlformats-officedocument.drawingml.chart+xml"/>
  <Override PartName="/ppt/theme/themeOverride1.xml" ContentType="application/vnd.openxmlformats-officedocument.themeOverr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688" r:id="rId3"/>
  </p:sldMasterIdLst>
  <p:notesMasterIdLst>
    <p:notesMasterId r:id="rId58"/>
  </p:notesMasterIdLst>
  <p:sldIdLst>
    <p:sldId id="257" r:id="rId4"/>
    <p:sldId id="259" r:id="rId5"/>
    <p:sldId id="333" r:id="rId6"/>
    <p:sldId id="320" r:id="rId7"/>
    <p:sldId id="258" r:id="rId8"/>
    <p:sldId id="354" r:id="rId9"/>
    <p:sldId id="352" r:id="rId10"/>
    <p:sldId id="355" r:id="rId11"/>
    <p:sldId id="356" r:id="rId12"/>
    <p:sldId id="357" r:id="rId13"/>
    <p:sldId id="358" r:id="rId14"/>
    <p:sldId id="359" r:id="rId15"/>
    <p:sldId id="360" r:id="rId16"/>
    <p:sldId id="334" r:id="rId17"/>
    <p:sldId id="261" r:id="rId18"/>
    <p:sldId id="262" r:id="rId19"/>
    <p:sldId id="361" r:id="rId20"/>
    <p:sldId id="362" r:id="rId21"/>
    <p:sldId id="363" r:id="rId22"/>
    <p:sldId id="263" r:id="rId23"/>
    <p:sldId id="260" r:id="rId24"/>
    <p:sldId id="364" r:id="rId25"/>
    <p:sldId id="322" r:id="rId26"/>
    <p:sldId id="293" r:id="rId27"/>
    <p:sldId id="301" r:id="rId28"/>
    <p:sldId id="264" r:id="rId29"/>
    <p:sldId id="295" r:id="rId30"/>
    <p:sldId id="312" r:id="rId31"/>
    <p:sldId id="313" r:id="rId32"/>
    <p:sldId id="298" r:id="rId33"/>
    <p:sldId id="299" r:id="rId34"/>
    <p:sldId id="323" r:id="rId35"/>
    <p:sldId id="325" r:id="rId36"/>
    <p:sldId id="365" r:id="rId37"/>
    <p:sldId id="327" r:id="rId38"/>
    <p:sldId id="324" r:id="rId39"/>
    <p:sldId id="306" r:id="rId40"/>
    <p:sldId id="318" r:id="rId41"/>
    <p:sldId id="329" r:id="rId42"/>
    <p:sldId id="330" r:id="rId43"/>
    <p:sldId id="331" r:id="rId44"/>
    <p:sldId id="332" r:id="rId45"/>
    <p:sldId id="316" r:id="rId46"/>
    <p:sldId id="315" r:id="rId47"/>
    <p:sldId id="267" r:id="rId48"/>
    <p:sldId id="268" r:id="rId49"/>
    <p:sldId id="272" r:id="rId50"/>
    <p:sldId id="269" r:id="rId51"/>
    <p:sldId id="270" r:id="rId52"/>
    <p:sldId id="276" r:id="rId53"/>
    <p:sldId id="277" r:id="rId54"/>
    <p:sldId id="275" r:id="rId55"/>
    <p:sldId id="273" r:id="rId56"/>
    <p:sldId id="274" r:id="rId5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47" autoAdjust="0"/>
    <p:restoredTop sz="94660"/>
  </p:normalViewPr>
  <p:slideViewPr>
    <p:cSldViewPr>
      <p:cViewPr>
        <p:scale>
          <a:sx n="100" d="100"/>
          <a:sy n="100" d="100"/>
        </p:scale>
        <p:origin x="-2484" y="-3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61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hong\Dropbox\1_WORKING\2019_IITP&#52572;&#51333;&#48156;&#54364;&#51088;&#47308;\&#48660;&#47197;&#49373;&#49457;&#49884;&#44036;&#54364;_v2.xlsx" TargetMode="External"/><Relationship Id="rId1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</c:v>
                </c:pt>
              </c:strCache>
            </c:strRef>
          </c:tx>
          <c:spPr>
            <a:ln w="3175"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rgbClr val="7CB5EC"/>
              </a:solidFill>
              <a:ln w="3175">
                <a:solidFill>
                  <a:schemeClr val="bg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6105-42ED-8A81-93D22B8C8FDC}"/>
              </c:ext>
            </c:extLst>
          </c:dPt>
          <c:dPt>
            <c:idx val="1"/>
            <c:bubble3D val="0"/>
            <c:spPr>
              <a:solidFill>
                <a:srgbClr val="434348"/>
              </a:solidFill>
              <a:ln w="3175">
                <a:solidFill>
                  <a:schemeClr val="bg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2-6105-42ED-8A81-93D22B8C8FDC}"/>
              </c:ext>
            </c:extLst>
          </c:dPt>
          <c:dPt>
            <c:idx val="2"/>
            <c:bubble3D val="0"/>
            <c:spPr>
              <a:solidFill>
                <a:srgbClr val="90ED7D"/>
              </a:solidFill>
              <a:ln w="3175">
                <a:solidFill>
                  <a:schemeClr val="bg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6105-42ED-8A81-93D22B8C8FDC}"/>
              </c:ext>
            </c:extLst>
          </c:dPt>
          <c:dPt>
            <c:idx val="3"/>
            <c:bubble3D val="0"/>
            <c:spPr>
              <a:solidFill>
                <a:srgbClr val="F7A35C"/>
              </a:solidFill>
              <a:ln w="3175">
                <a:solidFill>
                  <a:schemeClr val="bg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4-6105-42ED-8A81-93D22B8C8FDC}"/>
              </c:ext>
            </c:extLst>
          </c:dPt>
          <c:dPt>
            <c:idx val="4"/>
            <c:bubble3D val="0"/>
            <c:spPr>
              <a:solidFill>
                <a:srgbClr val="8085E9"/>
              </a:solidFill>
              <a:ln w="3175">
                <a:solidFill>
                  <a:schemeClr val="bg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6105-42ED-8A81-93D22B8C8FDC}"/>
              </c:ext>
            </c:extLst>
          </c:dPt>
          <c:dPt>
            <c:idx val="5"/>
            <c:bubble3D val="0"/>
            <c:spPr>
              <a:solidFill>
                <a:srgbClr val="F15C80"/>
              </a:solidFill>
              <a:ln w="3175">
                <a:solidFill>
                  <a:schemeClr val="bg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6-6105-42ED-8A81-93D22B8C8FDC}"/>
              </c:ext>
            </c:extLst>
          </c:dPt>
          <c:dPt>
            <c:idx val="6"/>
            <c:bubble3D val="0"/>
            <c:spPr>
              <a:solidFill>
                <a:srgbClr val="E4D354"/>
              </a:solidFill>
              <a:ln w="3175">
                <a:solidFill>
                  <a:schemeClr val="bg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6105-42ED-8A81-93D22B8C8FDC}"/>
              </c:ext>
            </c:extLst>
          </c:dPt>
          <c:dPt>
            <c:idx val="7"/>
            <c:bubble3D val="0"/>
            <c:spPr>
              <a:solidFill>
                <a:srgbClr val="2B908F"/>
              </a:solidFill>
              <a:ln w="3175">
                <a:solidFill>
                  <a:schemeClr val="bg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8-6105-42ED-8A81-93D22B8C8FDC}"/>
              </c:ext>
            </c:extLst>
          </c:dPt>
          <c:dPt>
            <c:idx val="8"/>
            <c:bubble3D val="0"/>
            <c:spPr>
              <a:solidFill>
                <a:srgbClr val="F45B5B"/>
              </a:solidFill>
              <a:ln w="3175">
                <a:solidFill>
                  <a:schemeClr val="bg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6105-42ED-8A81-93D22B8C8FDC}"/>
              </c:ext>
            </c:extLst>
          </c:dPt>
          <c:dPt>
            <c:idx val="9"/>
            <c:bubble3D val="0"/>
            <c:spPr>
              <a:solidFill>
                <a:srgbClr val="8DE7E0"/>
              </a:solidFill>
              <a:ln w="3175">
                <a:solidFill>
                  <a:schemeClr val="bg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A-6105-42ED-8A81-93D22B8C8FDC}"/>
              </c:ext>
            </c:extLst>
          </c:dPt>
          <c:dPt>
            <c:idx val="10"/>
            <c:bubble3D val="0"/>
            <c:spPr>
              <a:solidFill>
                <a:srgbClr val="7CB5EC"/>
              </a:solidFill>
              <a:ln w="3175">
                <a:solidFill>
                  <a:schemeClr val="bg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B-6105-42ED-8A81-93D22B8C8FDC}"/>
              </c:ext>
            </c:extLst>
          </c:dPt>
          <c:dPt>
            <c:idx val="11"/>
            <c:bubble3D val="0"/>
            <c:spPr>
              <a:solidFill>
                <a:srgbClr val="434348"/>
              </a:solidFill>
              <a:ln w="3175">
                <a:solidFill>
                  <a:schemeClr val="bg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C-6105-42ED-8A81-93D22B8C8FDC}"/>
              </c:ext>
            </c:extLst>
          </c:dPt>
          <c:dPt>
            <c:idx val="12"/>
            <c:bubble3D val="0"/>
            <c:spPr>
              <a:solidFill>
                <a:schemeClr val="accent2"/>
              </a:solidFill>
              <a:ln w="3175">
                <a:solidFill>
                  <a:schemeClr val="bg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D-6105-42ED-8A81-93D22B8C8FDC}"/>
              </c:ext>
            </c:extLst>
          </c:dPt>
          <c:dPt>
            <c:idx val="13"/>
            <c:bubble3D val="0"/>
            <c:spPr>
              <a:solidFill>
                <a:schemeClr val="accent6"/>
              </a:solidFill>
              <a:ln w="3175">
                <a:solidFill>
                  <a:schemeClr val="bg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E-6105-42ED-8A81-93D22B8C8FDC}"/>
              </c:ext>
            </c:extLst>
          </c:dPt>
          <c:cat>
            <c:strRef>
              <c:f>Sheet1!$A$2:$A$15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  <c:pt idx="5">
                  <c:v>20</c:v>
                </c:pt>
                <c:pt idx="6">
                  <c:v>20</c:v>
                </c:pt>
                <c:pt idx="7">
                  <c:v>20</c:v>
                </c:pt>
                <c:pt idx="8">
                  <c:v>20</c:v>
                </c:pt>
                <c:pt idx="9">
                  <c:v>20</c:v>
                </c:pt>
                <c:pt idx="10">
                  <c:v>20</c:v>
                </c:pt>
                <c:pt idx="11">
                  <c:v>20</c:v>
                </c:pt>
                <c:pt idx="12">
                  <c:v>20</c:v>
                </c:pt>
                <c:pt idx="13">
                  <c:v>20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6105-42ED-8A81-93D22B8C8F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6.5490186316483623E-2"/>
          <c:y val="9.2476528429835669E-2"/>
          <c:w val="0.90327278328781602"/>
          <c:h val="0.62009456668888896"/>
        </c:manualLayout>
      </c:layout>
      <c:lineChart>
        <c:grouping val="standard"/>
        <c:varyColors val="0"/>
        <c:ser>
          <c:idx val="0"/>
          <c:order val="0"/>
          <c:tx>
            <c:v>블록생성시간</c:v>
          </c:tx>
          <c:spPr>
            <a:ln w="28575" cap="rnd">
              <a:solidFill>
                <a:srgbClr val="0255B8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9525">
                <a:solidFill>
                  <a:srgbClr val="0255B8"/>
                </a:solidFill>
              </a:ln>
              <a:effectLst/>
            </c:spPr>
          </c:marker>
          <c:val>
            <c:numRef>
              <c:f>Sheet1!$C$3:$C$551</c:f>
              <c:numCache>
                <c:formatCode>h:mm:ss;@</c:formatCode>
                <c:ptCount val="549"/>
                <c:pt idx="0">
                  <c:v>5.7870370370360913E-5</c:v>
                </c:pt>
                <c:pt idx="1">
                  <c:v>5.0925925925926485E-4</c:v>
                </c:pt>
                <c:pt idx="2">
                  <c:v>3.4722222222199894E-5</c:v>
                </c:pt>
                <c:pt idx="3">
                  <c:v>1.5046296296297723E-4</c:v>
                </c:pt>
                <c:pt idx="4">
                  <c:v>1.5046296296294948E-4</c:v>
                </c:pt>
                <c:pt idx="5">
                  <c:v>1.2731481481484397E-4</c:v>
                </c:pt>
                <c:pt idx="6">
                  <c:v>2.3148148148147141E-4</c:v>
                </c:pt>
                <c:pt idx="7">
                  <c:v>2.3148148148161019E-5</c:v>
                </c:pt>
                <c:pt idx="8">
                  <c:v>2.0833333333333814E-4</c:v>
                </c:pt>
                <c:pt idx="9">
                  <c:v>1.0416666666662744E-4</c:v>
                </c:pt>
                <c:pt idx="10">
                  <c:v>1.0416666666668295E-4</c:v>
                </c:pt>
                <c:pt idx="11">
                  <c:v>1.0416666666668295E-4</c:v>
                </c:pt>
                <c:pt idx="12">
                  <c:v>5.7870370370360913E-5</c:v>
                </c:pt>
                <c:pt idx="13">
                  <c:v>1.5046296296294948E-4</c:v>
                </c:pt>
                <c:pt idx="14">
                  <c:v>2.083333333333659E-4</c:v>
                </c:pt>
                <c:pt idx="15">
                  <c:v>1.1574074074072183E-4</c:v>
                </c:pt>
                <c:pt idx="16">
                  <c:v>1.1574074074074958E-4</c:v>
                </c:pt>
                <c:pt idx="17">
                  <c:v>1.2731481481478846E-4</c:v>
                </c:pt>
                <c:pt idx="18">
                  <c:v>1.1574074074094387E-5</c:v>
                </c:pt>
                <c:pt idx="19">
                  <c:v>2.3148148148133263E-5</c:v>
                </c:pt>
                <c:pt idx="20">
                  <c:v>6.94444444444553E-5</c:v>
                </c:pt>
                <c:pt idx="21">
                  <c:v>8.1018518518494176E-5</c:v>
                </c:pt>
                <c:pt idx="22">
                  <c:v>1.5046296296300499E-4</c:v>
                </c:pt>
                <c:pt idx="23">
                  <c:v>8.1018518518521931E-5</c:v>
                </c:pt>
                <c:pt idx="24">
                  <c:v>1.0416666666665519E-4</c:v>
                </c:pt>
                <c:pt idx="25">
                  <c:v>1.0416666666662744E-4</c:v>
                </c:pt>
                <c:pt idx="26">
                  <c:v>3.4722222222283161E-5</c:v>
                </c:pt>
                <c:pt idx="27">
                  <c:v>1.1574074074038876E-5</c:v>
                </c:pt>
                <c:pt idx="28">
                  <c:v>2.1990740740740478E-4</c:v>
                </c:pt>
                <c:pt idx="29">
                  <c:v>8.1018518518521931E-5</c:v>
                </c:pt>
                <c:pt idx="30">
                  <c:v>5.7870370370388668E-5</c:v>
                </c:pt>
                <c:pt idx="31">
                  <c:v>5.7870370370360913E-5</c:v>
                </c:pt>
                <c:pt idx="32">
                  <c:v>1.6203703703704386E-4</c:v>
                </c:pt>
                <c:pt idx="33">
                  <c:v>8.1018518518494176E-5</c:v>
                </c:pt>
                <c:pt idx="34">
                  <c:v>1.7361111111113825E-4</c:v>
                </c:pt>
                <c:pt idx="35">
                  <c:v>4.6296296296294281E-5</c:v>
                </c:pt>
                <c:pt idx="36">
                  <c:v>3.5879629629628762E-4</c:v>
                </c:pt>
                <c:pt idx="37">
                  <c:v>4.6296296296294281E-5</c:v>
                </c:pt>
                <c:pt idx="38">
                  <c:v>9.2592592592616318E-5</c:v>
                </c:pt>
                <c:pt idx="39">
                  <c:v>9.2592592592560807E-5</c:v>
                </c:pt>
                <c:pt idx="40">
                  <c:v>6.94444444444553E-5</c:v>
                </c:pt>
                <c:pt idx="41">
                  <c:v>1.1574074074066631E-5</c:v>
                </c:pt>
                <c:pt idx="42">
                  <c:v>1.8518518518517713E-4</c:v>
                </c:pt>
                <c:pt idx="43">
                  <c:v>5.7870370370388668E-5</c:v>
                </c:pt>
                <c:pt idx="44">
                  <c:v>1.1574074074072183E-4</c:v>
                </c:pt>
                <c:pt idx="45">
                  <c:v>2.3148148148161019E-5</c:v>
                </c:pt>
                <c:pt idx="46">
                  <c:v>6.94444444444553E-5</c:v>
                </c:pt>
                <c:pt idx="47">
                  <c:v>5.7870370370360913E-5</c:v>
                </c:pt>
                <c:pt idx="48">
                  <c:v>1.6203703703704386E-4</c:v>
                </c:pt>
                <c:pt idx="49">
                  <c:v>6.94444444444553E-5</c:v>
                </c:pt>
                <c:pt idx="50">
                  <c:v>9.2592592592560807E-5</c:v>
                </c:pt>
                <c:pt idx="51">
                  <c:v>1.0416666666668295E-4</c:v>
                </c:pt>
                <c:pt idx="52">
                  <c:v>3.472222222222765E-5</c:v>
                </c:pt>
                <c:pt idx="53">
                  <c:v>1.5046296296294948E-4</c:v>
                </c:pt>
                <c:pt idx="54">
                  <c:v>8.1018518518521931E-5</c:v>
                </c:pt>
                <c:pt idx="55">
                  <c:v>2.1990740740740478E-4</c:v>
                </c:pt>
                <c:pt idx="56">
                  <c:v>6.9444444444427544E-5</c:v>
                </c:pt>
                <c:pt idx="57">
                  <c:v>1.0416666666668295E-4</c:v>
                </c:pt>
                <c:pt idx="58">
                  <c:v>9.2592592592616318E-5</c:v>
                </c:pt>
                <c:pt idx="59">
                  <c:v>3.472222222222765E-5</c:v>
                </c:pt>
                <c:pt idx="60">
                  <c:v>2.1990740740740478E-4</c:v>
                </c:pt>
                <c:pt idx="61">
                  <c:v>2.3148148148147141E-4</c:v>
                </c:pt>
                <c:pt idx="62">
                  <c:v>6.9444444444427544E-5</c:v>
                </c:pt>
                <c:pt idx="63">
                  <c:v>5.7870370370360913E-5</c:v>
                </c:pt>
                <c:pt idx="64">
                  <c:v>5.7870370370388668E-5</c:v>
                </c:pt>
                <c:pt idx="65">
                  <c:v>1.2731481481478846E-4</c:v>
                </c:pt>
                <c:pt idx="66">
                  <c:v>0</c:v>
                </c:pt>
                <c:pt idx="67">
                  <c:v>4.6296296296322037E-5</c:v>
                </c:pt>
                <c:pt idx="68">
                  <c:v>1.8518518518517713E-4</c:v>
                </c:pt>
                <c:pt idx="69">
                  <c:v>1.5046296296297723E-4</c:v>
                </c:pt>
                <c:pt idx="70">
                  <c:v>9.2592592592560807E-5</c:v>
                </c:pt>
                <c:pt idx="71">
                  <c:v>2.0833333333333814E-4</c:v>
                </c:pt>
                <c:pt idx="72">
                  <c:v>2.7777777777779344E-4</c:v>
                </c:pt>
                <c:pt idx="73">
                  <c:v>4.6296296296294281E-5</c:v>
                </c:pt>
                <c:pt idx="74">
                  <c:v>5.7870370370388668E-5</c:v>
                </c:pt>
                <c:pt idx="75">
                  <c:v>1.1574074074072183E-4</c:v>
                </c:pt>
                <c:pt idx="76">
                  <c:v>1.7361111111113825E-4</c:v>
                </c:pt>
                <c:pt idx="77">
                  <c:v>3.4722222222172139E-5</c:v>
                </c:pt>
                <c:pt idx="78">
                  <c:v>1.388888888889106E-4</c:v>
                </c:pt>
                <c:pt idx="79">
                  <c:v>1.6203703703704386E-4</c:v>
                </c:pt>
                <c:pt idx="80">
                  <c:v>2.3148148148133263E-5</c:v>
                </c:pt>
                <c:pt idx="81">
                  <c:v>8.1018518518549687E-5</c:v>
                </c:pt>
                <c:pt idx="82">
                  <c:v>1.3888888888885509E-4</c:v>
                </c:pt>
                <c:pt idx="83">
                  <c:v>5.7870370370388668E-5</c:v>
                </c:pt>
                <c:pt idx="84">
                  <c:v>4.6296296296294281E-5</c:v>
                </c:pt>
                <c:pt idx="85">
                  <c:v>1.8518518518517713E-4</c:v>
                </c:pt>
                <c:pt idx="86">
                  <c:v>8.1018518518549687E-5</c:v>
                </c:pt>
                <c:pt idx="87">
                  <c:v>1.3888888888885509E-4</c:v>
                </c:pt>
                <c:pt idx="88">
                  <c:v>1.1574074074094387E-5</c:v>
                </c:pt>
                <c:pt idx="89">
                  <c:v>8.1018518518494176E-5</c:v>
                </c:pt>
                <c:pt idx="90">
                  <c:v>1.2731481481481621E-4</c:v>
                </c:pt>
                <c:pt idx="91">
                  <c:v>4.6296296296322037E-5</c:v>
                </c:pt>
                <c:pt idx="92">
                  <c:v>2.3148148148147141E-4</c:v>
                </c:pt>
                <c:pt idx="93">
                  <c:v>1.9675925925924376E-4</c:v>
                </c:pt>
                <c:pt idx="94">
                  <c:v>3.472222222222765E-5</c:v>
                </c:pt>
                <c:pt idx="95">
                  <c:v>1.7361111111111049E-4</c:v>
                </c:pt>
                <c:pt idx="96">
                  <c:v>1.2731481481484397E-4</c:v>
                </c:pt>
                <c:pt idx="97">
                  <c:v>3.4722222222172139E-5</c:v>
                </c:pt>
                <c:pt idx="98">
                  <c:v>4.6296296296322037E-5</c:v>
                </c:pt>
                <c:pt idx="99">
                  <c:v>2.3148148148133263E-5</c:v>
                </c:pt>
                <c:pt idx="100">
                  <c:v>5.7870370370388668E-5</c:v>
                </c:pt>
                <c:pt idx="101">
                  <c:v>1.1574074074066631E-5</c:v>
                </c:pt>
                <c:pt idx="102">
                  <c:v>3.472222222222765E-5</c:v>
                </c:pt>
                <c:pt idx="103">
                  <c:v>1.1574074074094387E-5</c:v>
                </c:pt>
                <c:pt idx="104">
                  <c:v>3.4722222222172139E-5</c:v>
                </c:pt>
                <c:pt idx="105">
                  <c:v>6.94444444444553E-5</c:v>
                </c:pt>
                <c:pt idx="106">
                  <c:v>2.3148148148161019E-5</c:v>
                </c:pt>
                <c:pt idx="107">
                  <c:v>2.3148148148161019E-5</c:v>
                </c:pt>
                <c:pt idx="108">
                  <c:v>4.6296296296294281E-5</c:v>
                </c:pt>
                <c:pt idx="109">
                  <c:v>3.472222222222765E-5</c:v>
                </c:pt>
                <c:pt idx="110">
                  <c:v>5.7870370370388668E-5</c:v>
                </c:pt>
                <c:pt idx="111">
                  <c:v>5.7870370370333157E-5</c:v>
                </c:pt>
                <c:pt idx="112">
                  <c:v>3.472222222222765E-5</c:v>
                </c:pt>
                <c:pt idx="113">
                  <c:v>2.3148148148161019E-5</c:v>
                </c:pt>
                <c:pt idx="114">
                  <c:v>3.472222222222765E-5</c:v>
                </c:pt>
                <c:pt idx="115">
                  <c:v>5.7870370370360913E-5</c:v>
                </c:pt>
                <c:pt idx="116">
                  <c:v>6.9444444444427544E-5</c:v>
                </c:pt>
                <c:pt idx="117">
                  <c:v>2.3148148148161019E-5</c:v>
                </c:pt>
                <c:pt idx="118">
                  <c:v>6.94444444444553E-5</c:v>
                </c:pt>
                <c:pt idx="119">
                  <c:v>2.3148148148133263E-5</c:v>
                </c:pt>
                <c:pt idx="120">
                  <c:v>3.472222222222765E-5</c:v>
                </c:pt>
                <c:pt idx="121">
                  <c:v>2.3148148148133263E-5</c:v>
                </c:pt>
                <c:pt idx="122">
                  <c:v>4.6296296296294281E-5</c:v>
                </c:pt>
                <c:pt idx="123">
                  <c:v>8.1018518518521931E-5</c:v>
                </c:pt>
                <c:pt idx="124">
                  <c:v>2.3148148148161019E-5</c:v>
                </c:pt>
                <c:pt idx="125">
                  <c:v>6.94444444444553E-5</c:v>
                </c:pt>
                <c:pt idx="126">
                  <c:v>3.472222222222765E-5</c:v>
                </c:pt>
                <c:pt idx="127">
                  <c:v>1.1574074074038876E-5</c:v>
                </c:pt>
                <c:pt idx="128">
                  <c:v>3.472222222222765E-5</c:v>
                </c:pt>
                <c:pt idx="129">
                  <c:v>2.3148148148161019E-5</c:v>
                </c:pt>
                <c:pt idx="130">
                  <c:v>1.1574074074066631E-5</c:v>
                </c:pt>
                <c:pt idx="131">
                  <c:v>1.1574074074066631E-5</c:v>
                </c:pt>
                <c:pt idx="132">
                  <c:v>4.6296296296322037E-5</c:v>
                </c:pt>
                <c:pt idx="133">
                  <c:v>4.6296296296294281E-5</c:v>
                </c:pt>
                <c:pt idx="134">
                  <c:v>0</c:v>
                </c:pt>
                <c:pt idx="135">
                  <c:v>3.472222222222765E-5</c:v>
                </c:pt>
                <c:pt idx="136">
                  <c:v>3.4722222222199894E-5</c:v>
                </c:pt>
                <c:pt idx="137">
                  <c:v>0</c:v>
                </c:pt>
                <c:pt idx="138">
                  <c:v>6.94444444444553E-5</c:v>
                </c:pt>
                <c:pt idx="139">
                  <c:v>5.7870370370360913E-5</c:v>
                </c:pt>
                <c:pt idx="140">
                  <c:v>1.1574074074094387E-5</c:v>
                </c:pt>
                <c:pt idx="141">
                  <c:v>1.1574074074066631E-5</c:v>
                </c:pt>
                <c:pt idx="142">
                  <c:v>1.1574074074066631E-5</c:v>
                </c:pt>
                <c:pt idx="143">
                  <c:v>8.1018518518494176E-5</c:v>
                </c:pt>
                <c:pt idx="144">
                  <c:v>2.3148148148161019E-5</c:v>
                </c:pt>
                <c:pt idx="145">
                  <c:v>1.1574074074066631E-5</c:v>
                </c:pt>
                <c:pt idx="146">
                  <c:v>5.7870370370388668E-5</c:v>
                </c:pt>
                <c:pt idx="147">
                  <c:v>2.3148148148161019E-5</c:v>
                </c:pt>
                <c:pt idx="148">
                  <c:v>1.1574074074066631E-5</c:v>
                </c:pt>
                <c:pt idx="149">
                  <c:v>3.472222222222765E-5</c:v>
                </c:pt>
                <c:pt idx="150">
                  <c:v>4.6296296296294281E-5</c:v>
                </c:pt>
                <c:pt idx="151">
                  <c:v>2.3148148148161019E-5</c:v>
                </c:pt>
                <c:pt idx="152">
                  <c:v>5.7870370370333157E-5</c:v>
                </c:pt>
                <c:pt idx="153">
                  <c:v>1.1574074074094387E-5</c:v>
                </c:pt>
                <c:pt idx="154">
                  <c:v>4.6296296296294281E-5</c:v>
                </c:pt>
                <c:pt idx="155">
                  <c:v>3.472222222222765E-5</c:v>
                </c:pt>
                <c:pt idx="156">
                  <c:v>3.472222222222765E-5</c:v>
                </c:pt>
                <c:pt idx="157">
                  <c:v>3.472222222222765E-5</c:v>
                </c:pt>
                <c:pt idx="158">
                  <c:v>2.3148148148105507E-5</c:v>
                </c:pt>
                <c:pt idx="159">
                  <c:v>5.7870370370388668E-5</c:v>
                </c:pt>
                <c:pt idx="160">
                  <c:v>0</c:v>
                </c:pt>
                <c:pt idx="161">
                  <c:v>6.94444444444553E-5</c:v>
                </c:pt>
                <c:pt idx="162">
                  <c:v>4.6296296296294281E-5</c:v>
                </c:pt>
                <c:pt idx="163">
                  <c:v>4.6296296296322037E-5</c:v>
                </c:pt>
                <c:pt idx="164">
                  <c:v>1.1574074074038876E-5</c:v>
                </c:pt>
                <c:pt idx="165">
                  <c:v>0</c:v>
                </c:pt>
                <c:pt idx="166">
                  <c:v>2.3148148148133263E-5</c:v>
                </c:pt>
                <c:pt idx="167">
                  <c:v>3.472222222222765E-5</c:v>
                </c:pt>
                <c:pt idx="168">
                  <c:v>3.472222222222765E-5</c:v>
                </c:pt>
                <c:pt idx="169">
                  <c:v>1.1574074074094387E-5</c:v>
                </c:pt>
                <c:pt idx="170">
                  <c:v>3.472222222222765E-5</c:v>
                </c:pt>
                <c:pt idx="171">
                  <c:v>5.7870370370333157E-5</c:v>
                </c:pt>
                <c:pt idx="172">
                  <c:v>4.6296296296294281E-5</c:v>
                </c:pt>
                <c:pt idx="173">
                  <c:v>8.1018518518549687E-5</c:v>
                </c:pt>
                <c:pt idx="174">
                  <c:v>8.1018518518521931E-5</c:v>
                </c:pt>
                <c:pt idx="175">
                  <c:v>1.1574074074066631E-5</c:v>
                </c:pt>
                <c:pt idx="176">
                  <c:v>2.3148148148133263E-5</c:v>
                </c:pt>
                <c:pt idx="177">
                  <c:v>1.1574074074094387E-5</c:v>
                </c:pt>
                <c:pt idx="178">
                  <c:v>9.2592592592588563E-5</c:v>
                </c:pt>
                <c:pt idx="179">
                  <c:v>3.472222222222765E-5</c:v>
                </c:pt>
                <c:pt idx="180">
                  <c:v>2.3148148148133263E-5</c:v>
                </c:pt>
                <c:pt idx="181">
                  <c:v>2.3148148148161019E-5</c:v>
                </c:pt>
                <c:pt idx="182">
                  <c:v>9.2592592592560807E-5</c:v>
                </c:pt>
                <c:pt idx="183">
                  <c:v>3.472222222222765E-5</c:v>
                </c:pt>
                <c:pt idx="184">
                  <c:v>2.3148148148161019E-5</c:v>
                </c:pt>
                <c:pt idx="185">
                  <c:v>4.6296296296294281E-5</c:v>
                </c:pt>
                <c:pt idx="186">
                  <c:v>3.472222222222765E-5</c:v>
                </c:pt>
                <c:pt idx="187">
                  <c:v>4.6296296296322037E-5</c:v>
                </c:pt>
                <c:pt idx="188">
                  <c:v>1.1574074074066631E-5</c:v>
                </c:pt>
                <c:pt idx="189">
                  <c:v>4.6296296296266526E-5</c:v>
                </c:pt>
                <c:pt idx="190">
                  <c:v>4.6296296296294281E-5</c:v>
                </c:pt>
                <c:pt idx="191">
                  <c:v>3.472222222222765E-5</c:v>
                </c:pt>
                <c:pt idx="192">
                  <c:v>6.94444444444553E-5</c:v>
                </c:pt>
                <c:pt idx="193">
                  <c:v>3.4722222222199894E-5</c:v>
                </c:pt>
                <c:pt idx="194">
                  <c:v>1.1574074074122143E-5</c:v>
                </c:pt>
                <c:pt idx="195">
                  <c:v>3.4722222222172139E-5</c:v>
                </c:pt>
                <c:pt idx="196">
                  <c:v>6.94444444444553E-5</c:v>
                </c:pt>
                <c:pt idx="197">
                  <c:v>3.472222222222765E-5</c:v>
                </c:pt>
                <c:pt idx="198">
                  <c:v>4.6296296296322037E-5</c:v>
                </c:pt>
                <c:pt idx="199">
                  <c:v>3.472222222222765E-5</c:v>
                </c:pt>
                <c:pt idx="200">
                  <c:v>1.1574074074072183E-4</c:v>
                </c:pt>
                <c:pt idx="201">
                  <c:v>9.2592592592588563E-5</c:v>
                </c:pt>
                <c:pt idx="202">
                  <c:v>1.3888888888888284E-4</c:v>
                </c:pt>
                <c:pt idx="203">
                  <c:v>5.7870370370388668E-5</c:v>
                </c:pt>
                <c:pt idx="204">
                  <c:v>6.9444444444399789E-5</c:v>
                </c:pt>
                <c:pt idx="205">
                  <c:v>4.6296296296322037E-5</c:v>
                </c:pt>
                <c:pt idx="206">
                  <c:v>2.5462962962963243E-4</c:v>
                </c:pt>
                <c:pt idx="207">
                  <c:v>9.2592592592588563E-5</c:v>
                </c:pt>
                <c:pt idx="208">
                  <c:v>9.2592592592588563E-5</c:v>
                </c:pt>
                <c:pt idx="209">
                  <c:v>5.7870370370360913E-5</c:v>
                </c:pt>
                <c:pt idx="210">
                  <c:v>1.5046296296300499E-4</c:v>
                </c:pt>
                <c:pt idx="211">
                  <c:v>9.2592592592560807E-5</c:v>
                </c:pt>
                <c:pt idx="212">
                  <c:v>1.0416666666668295E-4</c:v>
                </c:pt>
                <c:pt idx="213">
                  <c:v>1.0416666666665519E-4</c:v>
                </c:pt>
                <c:pt idx="214">
                  <c:v>1.5046296296297723E-4</c:v>
                </c:pt>
                <c:pt idx="215">
                  <c:v>5.7870370370388668E-5</c:v>
                </c:pt>
                <c:pt idx="216">
                  <c:v>4.6296296296266526E-5</c:v>
                </c:pt>
                <c:pt idx="217">
                  <c:v>2.3148148148133263E-5</c:v>
                </c:pt>
                <c:pt idx="218">
                  <c:v>2.3148148148161019E-5</c:v>
                </c:pt>
                <c:pt idx="219">
                  <c:v>1.1574074074066631E-5</c:v>
                </c:pt>
                <c:pt idx="220">
                  <c:v>5.7870370370388668E-5</c:v>
                </c:pt>
                <c:pt idx="221">
                  <c:v>6.9444444444427544E-5</c:v>
                </c:pt>
                <c:pt idx="222">
                  <c:v>1.9675925925927151E-4</c:v>
                </c:pt>
                <c:pt idx="223">
                  <c:v>8.1018518518494176E-5</c:v>
                </c:pt>
                <c:pt idx="224">
                  <c:v>9.2592592592616318E-5</c:v>
                </c:pt>
                <c:pt idx="225">
                  <c:v>2.0833333333333814E-4</c:v>
                </c:pt>
                <c:pt idx="226">
                  <c:v>2.3148148148133263E-5</c:v>
                </c:pt>
                <c:pt idx="227">
                  <c:v>2.4305555555556579E-4</c:v>
                </c:pt>
                <c:pt idx="228">
                  <c:v>1.3888888888888284E-4</c:v>
                </c:pt>
                <c:pt idx="229">
                  <c:v>1.6203703703704386E-4</c:v>
                </c:pt>
                <c:pt idx="230">
                  <c:v>2.3148148148133263E-5</c:v>
                </c:pt>
                <c:pt idx="231">
                  <c:v>1.1574074074074958E-4</c:v>
                </c:pt>
                <c:pt idx="232">
                  <c:v>4.6296296296294281E-5</c:v>
                </c:pt>
                <c:pt idx="233">
                  <c:v>2.0833333333333814E-4</c:v>
                </c:pt>
                <c:pt idx="234">
                  <c:v>6.94444444444553E-5</c:v>
                </c:pt>
                <c:pt idx="235">
                  <c:v>2.3148148148161019E-5</c:v>
                </c:pt>
                <c:pt idx="236">
                  <c:v>1.6203703703701611E-4</c:v>
                </c:pt>
                <c:pt idx="237">
                  <c:v>1.9675925925924376E-4</c:v>
                </c:pt>
                <c:pt idx="238">
                  <c:v>1.5046296296294948E-4</c:v>
                </c:pt>
                <c:pt idx="239">
                  <c:v>4.6296296296322037E-5</c:v>
                </c:pt>
                <c:pt idx="240">
                  <c:v>9.2592592592588563E-5</c:v>
                </c:pt>
                <c:pt idx="241">
                  <c:v>6.94444444444553E-5</c:v>
                </c:pt>
                <c:pt idx="242">
                  <c:v>1.1574074074072183E-4</c:v>
                </c:pt>
                <c:pt idx="243">
                  <c:v>3.3564814814818211E-4</c:v>
                </c:pt>
                <c:pt idx="244">
                  <c:v>3.472222222222765E-5</c:v>
                </c:pt>
                <c:pt idx="245">
                  <c:v>1.2731481481478846E-4</c:v>
                </c:pt>
                <c:pt idx="246">
                  <c:v>6.94444444444553E-5</c:v>
                </c:pt>
                <c:pt idx="247">
                  <c:v>8.1018518518494176E-5</c:v>
                </c:pt>
                <c:pt idx="248">
                  <c:v>1.0416666666668295E-4</c:v>
                </c:pt>
                <c:pt idx="249">
                  <c:v>5.7870370370388668E-5</c:v>
                </c:pt>
                <c:pt idx="250">
                  <c:v>4.6296296296294281E-5</c:v>
                </c:pt>
                <c:pt idx="251">
                  <c:v>2.3148148148161019E-5</c:v>
                </c:pt>
                <c:pt idx="252">
                  <c:v>3.4722222222172139E-5</c:v>
                </c:pt>
                <c:pt idx="253">
                  <c:v>5.7870370370388668E-5</c:v>
                </c:pt>
                <c:pt idx="254">
                  <c:v>2.0833333333333814E-4</c:v>
                </c:pt>
                <c:pt idx="255">
                  <c:v>5.7870370370360913E-5</c:v>
                </c:pt>
                <c:pt idx="256">
                  <c:v>3.472222222222765E-5</c:v>
                </c:pt>
                <c:pt idx="257">
                  <c:v>2.4305555555556579E-4</c:v>
                </c:pt>
                <c:pt idx="258">
                  <c:v>1.1574074074072183E-4</c:v>
                </c:pt>
                <c:pt idx="259">
                  <c:v>3.472222222222765E-5</c:v>
                </c:pt>
                <c:pt idx="260">
                  <c:v>8.1018518518521931E-5</c:v>
                </c:pt>
                <c:pt idx="261">
                  <c:v>6.9444444444427544E-5</c:v>
                </c:pt>
                <c:pt idx="262">
                  <c:v>1.2731481481484397E-4</c:v>
                </c:pt>
                <c:pt idx="263">
                  <c:v>1.2731481481478846E-4</c:v>
                </c:pt>
                <c:pt idx="264">
                  <c:v>9.2592592592616318E-5</c:v>
                </c:pt>
                <c:pt idx="265">
                  <c:v>9.2592592592560807E-5</c:v>
                </c:pt>
                <c:pt idx="266">
                  <c:v>1.0416666666668295E-4</c:v>
                </c:pt>
                <c:pt idx="267">
                  <c:v>6.94444444444553E-5</c:v>
                </c:pt>
                <c:pt idx="268">
                  <c:v>1.6203703703704386E-4</c:v>
                </c:pt>
                <c:pt idx="269">
                  <c:v>5.7870370370360913E-5</c:v>
                </c:pt>
                <c:pt idx="270">
                  <c:v>1.7361111111108274E-4</c:v>
                </c:pt>
                <c:pt idx="271">
                  <c:v>3.472222222222765E-5</c:v>
                </c:pt>
                <c:pt idx="272">
                  <c:v>1.388888888889106E-4</c:v>
                </c:pt>
                <c:pt idx="273">
                  <c:v>3.0092592592589895E-4</c:v>
                </c:pt>
                <c:pt idx="274">
                  <c:v>3.3564814814818211E-4</c:v>
                </c:pt>
                <c:pt idx="275">
                  <c:v>2.3148148148133263E-5</c:v>
                </c:pt>
                <c:pt idx="276">
                  <c:v>1.6203703703704386E-4</c:v>
                </c:pt>
                <c:pt idx="277">
                  <c:v>8.1018518518549687E-5</c:v>
                </c:pt>
                <c:pt idx="278">
                  <c:v>2.7777777777771018E-4</c:v>
                </c:pt>
                <c:pt idx="279">
                  <c:v>8.1018518518549687E-5</c:v>
                </c:pt>
                <c:pt idx="280">
                  <c:v>2.3148148148133263E-5</c:v>
                </c:pt>
                <c:pt idx="281">
                  <c:v>1.388888888889106E-4</c:v>
                </c:pt>
                <c:pt idx="282">
                  <c:v>1.388888888889106E-4</c:v>
                </c:pt>
                <c:pt idx="283">
                  <c:v>8.1018518518494176E-5</c:v>
                </c:pt>
                <c:pt idx="284">
                  <c:v>8.1018518518494176E-5</c:v>
                </c:pt>
                <c:pt idx="285">
                  <c:v>2.1990740740740478E-4</c:v>
                </c:pt>
                <c:pt idx="286">
                  <c:v>2.8935185185186008E-4</c:v>
                </c:pt>
                <c:pt idx="287">
                  <c:v>2.083333333333659E-4</c:v>
                </c:pt>
                <c:pt idx="288">
                  <c:v>2.3148148148133263E-5</c:v>
                </c:pt>
                <c:pt idx="289">
                  <c:v>6.94444444444553E-5</c:v>
                </c:pt>
                <c:pt idx="290">
                  <c:v>6.9444444444399789E-5</c:v>
                </c:pt>
                <c:pt idx="291">
                  <c:v>2.3148148148188774E-5</c:v>
                </c:pt>
                <c:pt idx="292">
                  <c:v>1.1574074074038876E-5</c:v>
                </c:pt>
                <c:pt idx="293">
                  <c:v>1.2731481481487172E-4</c:v>
                </c:pt>
                <c:pt idx="294">
                  <c:v>1.1574074074072183E-4</c:v>
                </c:pt>
                <c:pt idx="295">
                  <c:v>1.8518518518517713E-4</c:v>
                </c:pt>
                <c:pt idx="296">
                  <c:v>3.472222222222765E-5</c:v>
                </c:pt>
                <c:pt idx="297">
                  <c:v>3.472222222222765E-5</c:v>
                </c:pt>
                <c:pt idx="298">
                  <c:v>1.7361111111108274E-4</c:v>
                </c:pt>
                <c:pt idx="299">
                  <c:v>1.7361111111113825E-4</c:v>
                </c:pt>
                <c:pt idx="300">
                  <c:v>3.2407407407403221E-4</c:v>
                </c:pt>
                <c:pt idx="301">
                  <c:v>5.2083333333335924E-4</c:v>
                </c:pt>
                <c:pt idx="302">
                  <c:v>3.4722222222222099E-4</c:v>
                </c:pt>
                <c:pt idx="303">
                  <c:v>4.8611111111113159E-4</c:v>
                </c:pt>
                <c:pt idx="304">
                  <c:v>4.5138888888890394E-4</c:v>
                </c:pt>
                <c:pt idx="305">
                  <c:v>5.2083333333330373E-4</c:v>
                </c:pt>
                <c:pt idx="306">
                  <c:v>1.2731481481481621E-4</c:v>
                </c:pt>
                <c:pt idx="307">
                  <c:v>4.050925925925819E-4</c:v>
                </c:pt>
                <c:pt idx="308">
                  <c:v>8.1018518518549687E-5</c:v>
                </c:pt>
                <c:pt idx="309">
                  <c:v>8.1018518518494176E-5</c:v>
                </c:pt>
                <c:pt idx="310">
                  <c:v>3.4722222222222099E-4</c:v>
                </c:pt>
                <c:pt idx="311">
                  <c:v>6.4814814814811994E-4</c:v>
                </c:pt>
                <c:pt idx="312">
                  <c:v>1.388888888889106E-4</c:v>
                </c:pt>
                <c:pt idx="313">
                  <c:v>2.777777777778212E-4</c:v>
                </c:pt>
                <c:pt idx="314">
                  <c:v>2.7777777777771018E-4</c:v>
                </c:pt>
                <c:pt idx="315">
                  <c:v>3.472222222222765E-4</c:v>
                </c:pt>
                <c:pt idx="316">
                  <c:v>1.0416666666668295E-4</c:v>
                </c:pt>
                <c:pt idx="317">
                  <c:v>3.0092592592589895E-4</c:v>
                </c:pt>
                <c:pt idx="318">
                  <c:v>1.2731481481481621E-4</c:v>
                </c:pt>
                <c:pt idx="319">
                  <c:v>1.9675925925927151E-4</c:v>
                </c:pt>
                <c:pt idx="320">
                  <c:v>2.662037037036713E-4</c:v>
                </c:pt>
                <c:pt idx="321">
                  <c:v>1.388888888889106E-4</c:v>
                </c:pt>
                <c:pt idx="322">
                  <c:v>1.96759259259216E-4</c:v>
                </c:pt>
                <c:pt idx="323">
                  <c:v>3.2407407407408773E-4</c:v>
                </c:pt>
                <c:pt idx="324">
                  <c:v>1.7361111111113825E-4</c:v>
                </c:pt>
                <c:pt idx="325">
                  <c:v>2.3148148148144365E-4</c:v>
                </c:pt>
                <c:pt idx="326">
                  <c:v>3.0092592592595446E-4</c:v>
                </c:pt>
                <c:pt idx="327">
                  <c:v>2.5462962962963243E-4</c:v>
                </c:pt>
                <c:pt idx="328">
                  <c:v>1.0416666666668295E-4</c:v>
                </c:pt>
                <c:pt idx="329">
                  <c:v>1.6203703703704386E-4</c:v>
                </c:pt>
                <c:pt idx="330">
                  <c:v>3.8194444444439313E-4</c:v>
                </c:pt>
                <c:pt idx="331">
                  <c:v>2.1990740740740478E-4</c:v>
                </c:pt>
                <c:pt idx="332">
                  <c:v>8.1018518518549687E-5</c:v>
                </c:pt>
                <c:pt idx="333">
                  <c:v>2.3148148148149916E-4</c:v>
                </c:pt>
                <c:pt idx="334">
                  <c:v>4.5138888888884843E-4</c:v>
                </c:pt>
                <c:pt idx="335">
                  <c:v>1.6203703703704386E-4</c:v>
                </c:pt>
                <c:pt idx="336">
                  <c:v>1.6203703703704386E-4</c:v>
                </c:pt>
                <c:pt idx="337">
                  <c:v>2.4305555555559355E-4</c:v>
                </c:pt>
                <c:pt idx="338">
                  <c:v>1.1574074074072183E-4</c:v>
                </c:pt>
                <c:pt idx="339">
                  <c:v>3.5879629629631538E-4</c:v>
                </c:pt>
                <c:pt idx="340">
                  <c:v>3.1249999999993783E-4</c:v>
                </c:pt>
                <c:pt idx="341">
                  <c:v>2.083333333333659E-4</c:v>
                </c:pt>
                <c:pt idx="342">
                  <c:v>1.1574074074072183E-4</c:v>
                </c:pt>
                <c:pt idx="343">
                  <c:v>1.8518518518517713E-4</c:v>
                </c:pt>
                <c:pt idx="344">
                  <c:v>1.1574074074077734E-4</c:v>
                </c:pt>
                <c:pt idx="345">
                  <c:v>2.4305555555553804E-4</c:v>
                </c:pt>
                <c:pt idx="346">
                  <c:v>3.2407407407408773E-4</c:v>
                </c:pt>
                <c:pt idx="347">
                  <c:v>1.7361111111113825E-4</c:v>
                </c:pt>
                <c:pt idx="348">
                  <c:v>1.7361111111108274E-4</c:v>
                </c:pt>
                <c:pt idx="349">
                  <c:v>2.8935185185186008E-4</c:v>
                </c:pt>
                <c:pt idx="350">
                  <c:v>8.1018518518494176E-5</c:v>
                </c:pt>
                <c:pt idx="351">
                  <c:v>8.1018518518549687E-5</c:v>
                </c:pt>
                <c:pt idx="352">
                  <c:v>2.0833333333331039E-4</c:v>
                </c:pt>
                <c:pt idx="353">
                  <c:v>1.7361111111108274E-4</c:v>
                </c:pt>
                <c:pt idx="354">
                  <c:v>1.5046296296300499E-4</c:v>
                </c:pt>
                <c:pt idx="355">
                  <c:v>3.7037037037035425E-4</c:v>
                </c:pt>
                <c:pt idx="356">
                  <c:v>3.472222222222765E-5</c:v>
                </c:pt>
                <c:pt idx="357">
                  <c:v>2.4305555555553804E-4</c:v>
                </c:pt>
                <c:pt idx="358">
                  <c:v>5.7870370370416424E-5</c:v>
                </c:pt>
                <c:pt idx="359">
                  <c:v>1.96759259259216E-4</c:v>
                </c:pt>
                <c:pt idx="360">
                  <c:v>5.2083333333335924E-4</c:v>
                </c:pt>
                <c:pt idx="361">
                  <c:v>2.4305555555553804E-4</c:v>
                </c:pt>
                <c:pt idx="362">
                  <c:v>2.4305555555559355E-4</c:v>
                </c:pt>
                <c:pt idx="363">
                  <c:v>1.273148148147607E-4</c:v>
                </c:pt>
                <c:pt idx="364">
                  <c:v>3.8194444444444864E-4</c:v>
                </c:pt>
                <c:pt idx="365">
                  <c:v>1.6203703703704386E-4</c:v>
                </c:pt>
                <c:pt idx="366">
                  <c:v>0</c:v>
                </c:pt>
                <c:pt idx="367">
                  <c:v>2.1990740740740478E-4</c:v>
                </c:pt>
                <c:pt idx="368">
                  <c:v>1.0416666666668295E-4</c:v>
                </c:pt>
                <c:pt idx="369">
                  <c:v>4.6296296296266526E-5</c:v>
                </c:pt>
                <c:pt idx="370">
                  <c:v>5.7870370370416424E-5</c:v>
                </c:pt>
                <c:pt idx="371">
                  <c:v>9.2592592592588563E-5</c:v>
                </c:pt>
                <c:pt idx="372">
                  <c:v>1.7361111111108274E-4</c:v>
                </c:pt>
                <c:pt idx="373">
                  <c:v>2.1990740740740478E-4</c:v>
                </c:pt>
                <c:pt idx="374">
                  <c:v>2.777777777778212E-4</c:v>
                </c:pt>
                <c:pt idx="375">
                  <c:v>3.7037037037035425E-4</c:v>
                </c:pt>
                <c:pt idx="376">
                  <c:v>4.3981481481480955E-4</c:v>
                </c:pt>
                <c:pt idx="377">
                  <c:v>2.083333333333659E-4</c:v>
                </c:pt>
                <c:pt idx="378">
                  <c:v>3.9351851851848751E-4</c:v>
                </c:pt>
                <c:pt idx="379">
                  <c:v>2.7777777777776569E-4</c:v>
                </c:pt>
                <c:pt idx="380">
                  <c:v>1.0416666666668295E-4</c:v>
                </c:pt>
                <c:pt idx="381">
                  <c:v>3.356481481481266E-4</c:v>
                </c:pt>
                <c:pt idx="382">
                  <c:v>8.1018518518549687E-5</c:v>
                </c:pt>
                <c:pt idx="383">
                  <c:v>4.6296296296294281E-4</c:v>
                </c:pt>
                <c:pt idx="384">
                  <c:v>1.1574074074038876E-5</c:v>
                </c:pt>
                <c:pt idx="385">
                  <c:v>9.2592592592644074E-5</c:v>
                </c:pt>
                <c:pt idx="386">
                  <c:v>3.8194444444444864E-4</c:v>
                </c:pt>
                <c:pt idx="387">
                  <c:v>1.2731481481481621E-4</c:v>
                </c:pt>
                <c:pt idx="388">
                  <c:v>8.1018518518494176E-5</c:v>
                </c:pt>
                <c:pt idx="389">
                  <c:v>2.662037037036713E-4</c:v>
                </c:pt>
                <c:pt idx="390">
                  <c:v>1.7361111111113825E-4</c:v>
                </c:pt>
                <c:pt idx="391">
                  <c:v>2.3148148148149916E-4</c:v>
                </c:pt>
                <c:pt idx="392">
                  <c:v>1.3888888888885509E-4</c:v>
                </c:pt>
                <c:pt idx="393">
                  <c:v>5.7870370370416424E-5</c:v>
                </c:pt>
                <c:pt idx="394">
                  <c:v>4.2824074074071516E-4</c:v>
                </c:pt>
                <c:pt idx="395">
                  <c:v>1.2731481481481621E-4</c:v>
                </c:pt>
                <c:pt idx="396">
                  <c:v>1.0416666666668295E-4</c:v>
                </c:pt>
                <c:pt idx="397">
                  <c:v>3.7037037037035425E-4</c:v>
                </c:pt>
                <c:pt idx="398">
                  <c:v>3.0092592592589895E-4</c:v>
                </c:pt>
                <c:pt idx="399">
                  <c:v>5.7870370370372015E-4</c:v>
                </c:pt>
                <c:pt idx="400">
                  <c:v>1.9675925925927151E-4</c:v>
                </c:pt>
                <c:pt idx="401">
                  <c:v>5.9027777777781454E-4</c:v>
                </c:pt>
                <c:pt idx="402">
                  <c:v>4.050925925925819E-4</c:v>
                </c:pt>
                <c:pt idx="403">
                  <c:v>6.2499999999998668E-4</c:v>
                </c:pt>
                <c:pt idx="404">
                  <c:v>4.8611111111107608E-4</c:v>
                </c:pt>
                <c:pt idx="405">
                  <c:v>4.8611111111113159E-4</c:v>
                </c:pt>
                <c:pt idx="406">
                  <c:v>1.388888888889106E-4</c:v>
                </c:pt>
                <c:pt idx="407">
                  <c:v>4.8611111111107608E-4</c:v>
                </c:pt>
                <c:pt idx="408">
                  <c:v>4.745370370370372E-4</c:v>
                </c:pt>
                <c:pt idx="409">
                  <c:v>3.5879629629631538E-4</c:v>
                </c:pt>
                <c:pt idx="410">
                  <c:v>7.5231481481480289E-4</c:v>
                </c:pt>
                <c:pt idx="411">
                  <c:v>4.2824074074077068E-4</c:v>
                </c:pt>
                <c:pt idx="412">
                  <c:v>3.8194444444439313E-4</c:v>
                </c:pt>
                <c:pt idx="413">
                  <c:v>3.0092592592595446E-4</c:v>
                </c:pt>
                <c:pt idx="414">
                  <c:v>6.2499999999998668E-4</c:v>
                </c:pt>
                <c:pt idx="415">
                  <c:v>2.4305555555553804E-4</c:v>
                </c:pt>
                <c:pt idx="416">
                  <c:v>2.5462962962963243E-4</c:v>
                </c:pt>
                <c:pt idx="417">
                  <c:v>8.3333333333335258E-4</c:v>
                </c:pt>
                <c:pt idx="418">
                  <c:v>3.0092592592589895E-4</c:v>
                </c:pt>
                <c:pt idx="419">
                  <c:v>3.7037037037040976E-4</c:v>
                </c:pt>
                <c:pt idx="420">
                  <c:v>6.8287037037034759E-4</c:v>
                </c:pt>
                <c:pt idx="421">
                  <c:v>2.3148148148149916E-4</c:v>
                </c:pt>
                <c:pt idx="422">
                  <c:v>3.5879629629631538E-4</c:v>
                </c:pt>
                <c:pt idx="423">
                  <c:v>5.9027777777775903E-4</c:v>
                </c:pt>
                <c:pt idx="424">
                  <c:v>6.3657407407408106E-4</c:v>
                </c:pt>
                <c:pt idx="425">
                  <c:v>1.0532407407407574E-3</c:v>
                </c:pt>
                <c:pt idx="426">
                  <c:v>3.5879629629625986E-4</c:v>
                </c:pt>
                <c:pt idx="427">
                  <c:v>9.6064814814816879E-4</c:v>
                </c:pt>
                <c:pt idx="428">
                  <c:v>2.8935185185186008E-4</c:v>
                </c:pt>
                <c:pt idx="429">
                  <c:v>9.490740740740744E-4</c:v>
                </c:pt>
                <c:pt idx="430">
                  <c:v>9.2592592592588563E-5</c:v>
                </c:pt>
                <c:pt idx="431">
                  <c:v>5.0925925925926485E-4</c:v>
                </c:pt>
                <c:pt idx="432">
                  <c:v>7.1759259259257524E-4</c:v>
                </c:pt>
                <c:pt idx="433">
                  <c:v>3.1249999999999334E-4</c:v>
                </c:pt>
                <c:pt idx="434">
                  <c:v>1.0416666666668295E-4</c:v>
                </c:pt>
                <c:pt idx="435">
                  <c:v>6.4814814814811994E-4</c:v>
                </c:pt>
                <c:pt idx="436">
                  <c:v>1.8518518518517713E-4</c:v>
                </c:pt>
                <c:pt idx="437">
                  <c:v>1.2731481481487172E-4</c:v>
                </c:pt>
                <c:pt idx="438">
                  <c:v>1.0532407407407018E-3</c:v>
                </c:pt>
                <c:pt idx="439">
                  <c:v>8.5648148148148584E-4</c:v>
                </c:pt>
                <c:pt idx="440">
                  <c:v>1.388888888889106E-4</c:v>
                </c:pt>
                <c:pt idx="441">
                  <c:v>3.0092592592589895E-4</c:v>
                </c:pt>
                <c:pt idx="442">
                  <c:v>6.0185185185185341E-4</c:v>
                </c:pt>
                <c:pt idx="443">
                  <c:v>5.7870370370360913E-5</c:v>
                </c:pt>
                <c:pt idx="444">
                  <c:v>2.777777777778212E-4</c:v>
                </c:pt>
                <c:pt idx="445">
                  <c:v>4.2824074074071516E-4</c:v>
                </c:pt>
                <c:pt idx="446">
                  <c:v>5.3240740740739811E-4</c:v>
                </c:pt>
                <c:pt idx="447">
                  <c:v>1.8518518518517713E-4</c:v>
                </c:pt>
                <c:pt idx="448">
                  <c:v>1.7361111111113825E-4</c:v>
                </c:pt>
                <c:pt idx="449">
                  <c:v>7.1759259259257524E-4</c:v>
                </c:pt>
                <c:pt idx="450">
                  <c:v>4.3981481481480955E-4</c:v>
                </c:pt>
                <c:pt idx="451">
                  <c:v>9.2592592592588563E-5</c:v>
                </c:pt>
                <c:pt idx="452">
                  <c:v>8.5648148148148584E-4</c:v>
                </c:pt>
                <c:pt idx="453">
                  <c:v>3.4722222222222099E-4</c:v>
                </c:pt>
                <c:pt idx="454">
                  <c:v>2.3148148148149916E-4</c:v>
                </c:pt>
                <c:pt idx="455">
                  <c:v>2.7777777777776569E-4</c:v>
                </c:pt>
                <c:pt idx="456">
                  <c:v>1.9675925925927151E-4</c:v>
                </c:pt>
                <c:pt idx="457">
                  <c:v>2.1990740740740478E-4</c:v>
                </c:pt>
                <c:pt idx="458">
                  <c:v>6.7129629629630871E-4</c:v>
                </c:pt>
                <c:pt idx="459">
                  <c:v>5.2083333333330373E-4</c:v>
                </c:pt>
                <c:pt idx="460">
                  <c:v>3.8194444444444864E-4</c:v>
                </c:pt>
                <c:pt idx="461">
                  <c:v>4.745370370370372E-4</c:v>
                </c:pt>
                <c:pt idx="462">
                  <c:v>8.1018518518549687E-5</c:v>
                </c:pt>
                <c:pt idx="463">
                  <c:v>2.3148148148144365E-4</c:v>
                </c:pt>
                <c:pt idx="464">
                  <c:v>3.3564814814818211E-4</c:v>
                </c:pt>
                <c:pt idx="465">
                  <c:v>1.0416666666662744E-4</c:v>
                </c:pt>
                <c:pt idx="466">
                  <c:v>5.7870370370372015E-4</c:v>
                </c:pt>
                <c:pt idx="467">
                  <c:v>6.3657407407408106E-4</c:v>
                </c:pt>
                <c:pt idx="468">
                  <c:v>4.9768518518517046E-4</c:v>
                </c:pt>
                <c:pt idx="469">
                  <c:v>1.388888888889106E-4</c:v>
                </c:pt>
                <c:pt idx="470">
                  <c:v>7.9861111111112493E-4</c:v>
                </c:pt>
                <c:pt idx="471">
                  <c:v>1.1574074074072183E-4</c:v>
                </c:pt>
                <c:pt idx="472">
                  <c:v>2.7777777777776569E-4</c:v>
                </c:pt>
                <c:pt idx="473">
                  <c:v>1.8518518518517713E-4</c:v>
                </c:pt>
                <c:pt idx="474">
                  <c:v>7.5231481481480289E-4</c:v>
                </c:pt>
                <c:pt idx="475">
                  <c:v>1.7361111111113825E-4</c:v>
                </c:pt>
                <c:pt idx="476">
                  <c:v>4.745370370370372E-4</c:v>
                </c:pt>
                <c:pt idx="477">
                  <c:v>3.4722222222222099E-4</c:v>
                </c:pt>
                <c:pt idx="478">
                  <c:v>3.8194444444444864E-4</c:v>
                </c:pt>
                <c:pt idx="479">
                  <c:v>5.0925925925926485E-4</c:v>
                </c:pt>
                <c:pt idx="480">
                  <c:v>3.8194444444444864E-4</c:v>
                </c:pt>
                <c:pt idx="481">
                  <c:v>3.1249999999999334E-4</c:v>
                </c:pt>
                <c:pt idx="482">
                  <c:v>2.4305555555553804E-4</c:v>
                </c:pt>
                <c:pt idx="483">
                  <c:v>3.4722222222222099E-4</c:v>
                </c:pt>
                <c:pt idx="484">
                  <c:v>6.828703703704031E-4</c:v>
                </c:pt>
                <c:pt idx="485">
                  <c:v>4.8611111111107608E-4</c:v>
                </c:pt>
                <c:pt idx="486">
                  <c:v>2.5462962962963243E-4</c:v>
                </c:pt>
                <c:pt idx="487">
                  <c:v>2.3148148148149916E-4</c:v>
                </c:pt>
                <c:pt idx="488">
                  <c:v>2.6620370370372681E-4</c:v>
                </c:pt>
                <c:pt idx="489">
                  <c:v>4.3981481481480955E-4</c:v>
                </c:pt>
                <c:pt idx="490">
                  <c:v>4.9768518518517046E-4</c:v>
                </c:pt>
                <c:pt idx="491">
                  <c:v>4.9768518518517046E-4</c:v>
                </c:pt>
                <c:pt idx="492">
                  <c:v>4.050925925925819E-4</c:v>
                </c:pt>
                <c:pt idx="493">
                  <c:v>1.0416666666668295E-4</c:v>
                </c:pt>
                <c:pt idx="494">
                  <c:v>3.2407407407408773E-4</c:v>
                </c:pt>
                <c:pt idx="495">
                  <c:v>1.0416666666668295E-4</c:v>
                </c:pt>
                <c:pt idx="496">
                  <c:v>2.5462962962963243E-4</c:v>
                </c:pt>
                <c:pt idx="497">
                  <c:v>7.5231481481474738E-4</c:v>
                </c:pt>
                <c:pt idx="498">
                  <c:v>1.5162037037037557E-3</c:v>
                </c:pt>
                <c:pt idx="499">
                  <c:v>6.134259259259478E-4</c:v>
                </c:pt>
                <c:pt idx="500">
                  <c:v>8.796296296296191E-4</c:v>
                </c:pt>
                <c:pt idx="501">
                  <c:v>6.94444444444553E-5</c:v>
                </c:pt>
                <c:pt idx="502">
                  <c:v>1.0300925925925686E-3</c:v>
                </c:pt>
                <c:pt idx="503">
                  <c:v>3.356481481481266E-4</c:v>
                </c:pt>
                <c:pt idx="504">
                  <c:v>6.2499999999998668E-4</c:v>
                </c:pt>
                <c:pt idx="505">
                  <c:v>5.2083333333335924E-4</c:v>
                </c:pt>
                <c:pt idx="506">
                  <c:v>7.5231481481480289E-4</c:v>
                </c:pt>
                <c:pt idx="507">
                  <c:v>1.5162037037037002E-3</c:v>
                </c:pt>
                <c:pt idx="508">
                  <c:v>3.9351851851854303E-4</c:v>
                </c:pt>
                <c:pt idx="509">
                  <c:v>8.5648148148148584E-4</c:v>
                </c:pt>
                <c:pt idx="510">
                  <c:v>4.1666666666662078E-4</c:v>
                </c:pt>
                <c:pt idx="511">
                  <c:v>3.2407407407408773E-4</c:v>
                </c:pt>
                <c:pt idx="512">
                  <c:v>7.6388888888889728E-4</c:v>
                </c:pt>
                <c:pt idx="513">
                  <c:v>1.1111111111111183E-3</c:v>
                </c:pt>
                <c:pt idx="514">
                  <c:v>1.6666666666666496E-3</c:v>
                </c:pt>
                <c:pt idx="515">
                  <c:v>1.7361111111113825E-4</c:v>
                </c:pt>
                <c:pt idx="516">
                  <c:v>2.3148148148144365E-4</c:v>
                </c:pt>
                <c:pt idx="517">
                  <c:v>1.7361111111113825E-4</c:v>
                </c:pt>
                <c:pt idx="518">
                  <c:v>7.7546296296293615E-4</c:v>
                </c:pt>
                <c:pt idx="519">
                  <c:v>2.083333333333659E-4</c:v>
                </c:pt>
                <c:pt idx="520">
                  <c:v>1.4930555555555669E-3</c:v>
                </c:pt>
                <c:pt idx="521">
                  <c:v>8.796296296296191E-4</c:v>
                </c:pt>
                <c:pt idx="522">
                  <c:v>5.9027777777775903E-4</c:v>
                </c:pt>
                <c:pt idx="523">
                  <c:v>2.1990740740740478E-4</c:v>
                </c:pt>
                <c:pt idx="524">
                  <c:v>1.1226851851852127E-3</c:v>
                </c:pt>
                <c:pt idx="525">
                  <c:v>1.0532407407407574E-3</c:v>
                </c:pt>
                <c:pt idx="526">
                  <c:v>3.5879629629631538E-4</c:v>
                </c:pt>
                <c:pt idx="527">
                  <c:v>3.8194444444439313E-4</c:v>
                </c:pt>
                <c:pt idx="528">
                  <c:v>5.0925925925926485E-4</c:v>
                </c:pt>
                <c:pt idx="529">
                  <c:v>4.2824074074077068E-4</c:v>
                </c:pt>
                <c:pt idx="530">
                  <c:v>6.712962962962532E-4</c:v>
                </c:pt>
                <c:pt idx="531">
                  <c:v>1.8865740740741099E-3</c:v>
                </c:pt>
                <c:pt idx="532">
                  <c:v>1.1226851851851571E-3</c:v>
                </c:pt>
                <c:pt idx="533">
                  <c:v>8.2175925925925819E-4</c:v>
                </c:pt>
                <c:pt idx="534">
                  <c:v>5.7870370370372015E-4</c:v>
                </c:pt>
                <c:pt idx="535">
                  <c:v>4.050925925925819E-4</c:v>
                </c:pt>
                <c:pt idx="536">
                  <c:v>2.8935185185186008E-4</c:v>
                </c:pt>
                <c:pt idx="537">
                  <c:v>1.6898148148148384E-3</c:v>
                </c:pt>
                <c:pt idx="538">
                  <c:v>8.796296296296191E-4</c:v>
                </c:pt>
                <c:pt idx="539">
                  <c:v>8.101851851851638E-4</c:v>
                </c:pt>
                <c:pt idx="540">
                  <c:v>1.8865740740740544E-3</c:v>
                </c:pt>
                <c:pt idx="541">
                  <c:v>1.1921296296296124E-3</c:v>
                </c:pt>
                <c:pt idx="542">
                  <c:v>6.5972222222226984E-4</c:v>
                </c:pt>
                <c:pt idx="543">
                  <c:v>1.2152777777778012E-3</c:v>
                </c:pt>
                <c:pt idx="544">
                  <c:v>7.9861111111106942E-4</c:v>
                </c:pt>
                <c:pt idx="545">
                  <c:v>7.1759259259263075E-4</c:v>
                </c:pt>
                <c:pt idx="546">
                  <c:v>7.8703703703697503E-4</c:v>
                </c:pt>
                <c:pt idx="547">
                  <c:v>1.5740740740741166E-3</c:v>
                </c:pt>
                <c:pt idx="548">
                  <c:v>1.4004629629629228E-3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298E-4B0E-970D-30EE7ADA0F10}"/>
            </c:ext>
          </c:extLst>
        </c:ser>
        <c:ser>
          <c:idx val="1"/>
          <c:order val="1"/>
          <c:tx>
            <c:v>목표시간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val>
            <c:numRef>
              <c:f>Sheet1!$D$3:$D$551</c:f>
              <c:numCache>
                <c:formatCode>h:mm:ss;@</c:formatCode>
                <c:ptCount val="549"/>
                <c:pt idx="0">
                  <c:v>1.3888888888888889E-3</c:v>
                </c:pt>
                <c:pt idx="1">
                  <c:v>1.3888888888888889E-3</c:v>
                </c:pt>
                <c:pt idx="2">
                  <c:v>1.3888888888888889E-3</c:v>
                </c:pt>
                <c:pt idx="3">
                  <c:v>1.3888888888888889E-3</c:v>
                </c:pt>
                <c:pt idx="4">
                  <c:v>1.3888888888888889E-3</c:v>
                </c:pt>
                <c:pt idx="5">
                  <c:v>1.3888888888888889E-3</c:v>
                </c:pt>
                <c:pt idx="6">
                  <c:v>1.3888888888888889E-3</c:v>
                </c:pt>
                <c:pt idx="7">
                  <c:v>1.3888888888888889E-3</c:v>
                </c:pt>
                <c:pt idx="8">
                  <c:v>1.3888888888888889E-3</c:v>
                </c:pt>
                <c:pt idx="9">
                  <c:v>1.3888888888888889E-3</c:v>
                </c:pt>
                <c:pt idx="10">
                  <c:v>1.3888888888888889E-3</c:v>
                </c:pt>
                <c:pt idx="11">
                  <c:v>1.3888888888888889E-3</c:v>
                </c:pt>
                <c:pt idx="12">
                  <c:v>1.3888888888888889E-3</c:v>
                </c:pt>
                <c:pt idx="13">
                  <c:v>1.3888888888888889E-3</c:v>
                </c:pt>
                <c:pt idx="14">
                  <c:v>1.3888888888888889E-3</c:v>
                </c:pt>
                <c:pt idx="15">
                  <c:v>1.3888888888888889E-3</c:v>
                </c:pt>
                <c:pt idx="16">
                  <c:v>1.3888888888888889E-3</c:v>
                </c:pt>
                <c:pt idx="17">
                  <c:v>1.3888888888888889E-3</c:v>
                </c:pt>
                <c:pt idx="18">
                  <c:v>1.3888888888888889E-3</c:v>
                </c:pt>
                <c:pt idx="19">
                  <c:v>1.3888888888888889E-3</c:v>
                </c:pt>
                <c:pt idx="20">
                  <c:v>1.3888888888888889E-3</c:v>
                </c:pt>
                <c:pt idx="21">
                  <c:v>1.3888888888888889E-3</c:v>
                </c:pt>
                <c:pt idx="22">
                  <c:v>1.3888888888888889E-3</c:v>
                </c:pt>
                <c:pt idx="23">
                  <c:v>1.3888888888888889E-3</c:v>
                </c:pt>
                <c:pt idx="24">
                  <c:v>1.3888888888888889E-3</c:v>
                </c:pt>
                <c:pt idx="25">
                  <c:v>1.3888888888888889E-3</c:v>
                </c:pt>
                <c:pt idx="26">
                  <c:v>1.3888888888888889E-3</c:v>
                </c:pt>
                <c:pt idx="27">
                  <c:v>1.3888888888888889E-3</c:v>
                </c:pt>
                <c:pt idx="28">
                  <c:v>1.3888888888888889E-3</c:v>
                </c:pt>
                <c:pt idx="29">
                  <c:v>1.3888888888888889E-3</c:v>
                </c:pt>
                <c:pt idx="30">
                  <c:v>1.3888888888888889E-3</c:v>
                </c:pt>
                <c:pt idx="31">
                  <c:v>1.3888888888888889E-3</c:v>
                </c:pt>
                <c:pt idx="32">
                  <c:v>1.3888888888888889E-3</c:v>
                </c:pt>
                <c:pt idx="33">
                  <c:v>1.3888888888888889E-3</c:v>
                </c:pt>
                <c:pt idx="34">
                  <c:v>1.3888888888888889E-3</c:v>
                </c:pt>
                <c:pt idx="35">
                  <c:v>1.3888888888888889E-3</c:v>
                </c:pt>
                <c:pt idx="36">
                  <c:v>1.3888888888888889E-3</c:v>
                </c:pt>
                <c:pt idx="37">
                  <c:v>1.3888888888888889E-3</c:v>
                </c:pt>
                <c:pt idx="38">
                  <c:v>1.3888888888888889E-3</c:v>
                </c:pt>
                <c:pt idx="39">
                  <c:v>1.3888888888888889E-3</c:v>
                </c:pt>
                <c:pt idx="40">
                  <c:v>1.3888888888888889E-3</c:v>
                </c:pt>
                <c:pt idx="41">
                  <c:v>1.3888888888888889E-3</c:v>
                </c:pt>
                <c:pt idx="42">
                  <c:v>1.3888888888888889E-3</c:v>
                </c:pt>
                <c:pt idx="43">
                  <c:v>1.3888888888888889E-3</c:v>
                </c:pt>
                <c:pt idx="44">
                  <c:v>1.3888888888888889E-3</c:v>
                </c:pt>
                <c:pt idx="45">
                  <c:v>1.3888888888888889E-3</c:v>
                </c:pt>
                <c:pt idx="46">
                  <c:v>1.3888888888888889E-3</c:v>
                </c:pt>
                <c:pt idx="47">
                  <c:v>1.3888888888888889E-3</c:v>
                </c:pt>
                <c:pt idx="48">
                  <c:v>1.3888888888888889E-3</c:v>
                </c:pt>
                <c:pt idx="49">
                  <c:v>1.3888888888888889E-3</c:v>
                </c:pt>
                <c:pt idx="50">
                  <c:v>1.3888888888888889E-3</c:v>
                </c:pt>
                <c:pt idx="51">
                  <c:v>1.3888888888888889E-3</c:v>
                </c:pt>
                <c:pt idx="52">
                  <c:v>1.3888888888888889E-3</c:v>
                </c:pt>
                <c:pt idx="53">
                  <c:v>1.3888888888888889E-3</c:v>
                </c:pt>
                <c:pt idx="54">
                  <c:v>1.3888888888888889E-3</c:v>
                </c:pt>
                <c:pt idx="55">
                  <c:v>1.3888888888888889E-3</c:v>
                </c:pt>
                <c:pt idx="56">
                  <c:v>1.3888888888888889E-3</c:v>
                </c:pt>
                <c:pt idx="57">
                  <c:v>1.3888888888888889E-3</c:v>
                </c:pt>
                <c:pt idx="58">
                  <c:v>1.3888888888888889E-3</c:v>
                </c:pt>
                <c:pt idx="59">
                  <c:v>1.3888888888888889E-3</c:v>
                </c:pt>
                <c:pt idx="60">
                  <c:v>1.3888888888888889E-3</c:v>
                </c:pt>
                <c:pt idx="61">
                  <c:v>1.3888888888888889E-3</c:v>
                </c:pt>
                <c:pt idx="62">
                  <c:v>1.3888888888888889E-3</c:v>
                </c:pt>
                <c:pt idx="63">
                  <c:v>1.3888888888888889E-3</c:v>
                </c:pt>
                <c:pt idx="64">
                  <c:v>1.3888888888888889E-3</c:v>
                </c:pt>
                <c:pt idx="65">
                  <c:v>1.3888888888888889E-3</c:v>
                </c:pt>
                <c:pt idx="66">
                  <c:v>1.3888888888888889E-3</c:v>
                </c:pt>
                <c:pt idx="67">
                  <c:v>1.3888888888888889E-3</c:v>
                </c:pt>
                <c:pt idx="68">
                  <c:v>1.3888888888888889E-3</c:v>
                </c:pt>
                <c:pt idx="69">
                  <c:v>1.3888888888888889E-3</c:v>
                </c:pt>
                <c:pt idx="70">
                  <c:v>1.3888888888888889E-3</c:v>
                </c:pt>
                <c:pt idx="71">
                  <c:v>1.3888888888888889E-3</c:v>
                </c:pt>
                <c:pt idx="72">
                  <c:v>1.3888888888888889E-3</c:v>
                </c:pt>
                <c:pt idx="73">
                  <c:v>1.3888888888888889E-3</c:v>
                </c:pt>
                <c:pt idx="74">
                  <c:v>1.3888888888888889E-3</c:v>
                </c:pt>
                <c:pt idx="75">
                  <c:v>1.3888888888888889E-3</c:v>
                </c:pt>
                <c:pt idx="76">
                  <c:v>1.3888888888888889E-3</c:v>
                </c:pt>
                <c:pt idx="77">
                  <c:v>1.3888888888888889E-3</c:v>
                </c:pt>
                <c:pt idx="78">
                  <c:v>1.3888888888888889E-3</c:v>
                </c:pt>
                <c:pt idx="79">
                  <c:v>1.3888888888888889E-3</c:v>
                </c:pt>
                <c:pt idx="80">
                  <c:v>1.3888888888888889E-3</c:v>
                </c:pt>
                <c:pt idx="81">
                  <c:v>1.3888888888888889E-3</c:v>
                </c:pt>
                <c:pt idx="82">
                  <c:v>1.3888888888888889E-3</c:v>
                </c:pt>
                <c:pt idx="83">
                  <c:v>1.3888888888888889E-3</c:v>
                </c:pt>
                <c:pt idx="84">
                  <c:v>1.3888888888888889E-3</c:v>
                </c:pt>
                <c:pt idx="85">
                  <c:v>1.3888888888888889E-3</c:v>
                </c:pt>
                <c:pt idx="86">
                  <c:v>1.3888888888888889E-3</c:v>
                </c:pt>
                <c:pt idx="87">
                  <c:v>1.3888888888888889E-3</c:v>
                </c:pt>
                <c:pt idx="88">
                  <c:v>1.3888888888888889E-3</c:v>
                </c:pt>
                <c:pt idx="89">
                  <c:v>1.3888888888888889E-3</c:v>
                </c:pt>
                <c:pt idx="90">
                  <c:v>1.3888888888888889E-3</c:v>
                </c:pt>
                <c:pt idx="91">
                  <c:v>1.3888888888888889E-3</c:v>
                </c:pt>
                <c:pt idx="92">
                  <c:v>1.3888888888888889E-3</c:v>
                </c:pt>
                <c:pt idx="93">
                  <c:v>1.3888888888888889E-3</c:v>
                </c:pt>
                <c:pt idx="94">
                  <c:v>1.3888888888888889E-3</c:v>
                </c:pt>
                <c:pt idx="95">
                  <c:v>1.3888888888888889E-3</c:v>
                </c:pt>
                <c:pt idx="96">
                  <c:v>1.3888888888888889E-3</c:v>
                </c:pt>
                <c:pt idx="97">
                  <c:v>1.3888888888888889E-3</c:v>
                </c:pt>
                <c:pt idx="98">
                  <c:v>1.3888888888888889E-3</c:v>
                </c:pt>
                <c:pt idx="99">
                  <c:v>1.3888888888888889E-3</c:v>
                </c:pt>
                <c:pt idx="100">
                  <c:v>1.3888888888888889E-3</c:v>
                </c:pt>
                <c:pt idx="101">
                  <c:v>1.3888888888888889E-3</c:v>
                </c:pt>
                <c:pt idx="102">
                  <c:v>1.3888888888888889E-3</c:v>
                </c:pt>
                <c:pt idx="103">
                  <c:v>1.3888888888888889E-3</c:v>
                </c:pt>
                <c:pt idx="104">
                  <c:v>1.3888888888888889E-3</c:v>
                </c:pt>
                <c:pt idx="105">
                  <c:v>1.3888888888888889E-3</c:v>
                </c:pt>
                <c:pt idx="106">
                  <c:v>1.3888888888888889E-3</c:v>
                </c:pt>
                <c:pt idx="107">
                  <c:v>1.3888888888888889E-3</c:v>
                </c:pt>
                <c:pt idx="108">
                  <c:v>1.3888888888888889E-3</c:v>
                </c:pt>
                <c:pt idx="109">
                  <c:v>1.3888888888888889E-3</c:v>
                </c:pt>
                <c:pt idx="110">
                  <c:v>1.3888888888888889E-3</c:v>
                </c:pt>
                <c:pt idx="111">
                  <c:v>1.3888888888888889E-3</c:v>
                </c:pt>
                <c:pt idx="112">
                  <c:v>1.3888888888888889E-3</c:v>
                </c:pt>
                <c:pt idx="113">
                  <c:v>1.3888888888888889E-3</c:v>
                </c:pt>
                <c:pt idx="114">
                  <c:v>1.3888888888888889E-3</c:v>
                </c:pt>
                <c:pt idx="115">
                  <c:v>1.3888888888888889E-3</c:v>
                </c:pt>
                <c:pt idx="116">
                  <c:v>1.3888888888888889E-3</c:v>
                </c:pt>
                <c:pt idx="117">
                  <c:v>1.3888888888888889E-3</c:v>
                </c:pt>
                <c:pt idx="118">
                  <c:v>1.3888888888888889E-3</c:v>
                </c:pt>
                <c:pt idx="119">
                  <c:v>1.3888888888888889E-3</c:v>
                </c:pt>
                <c:pt idx="120">
                  <c:v>1.3888888888888889E-3</c:v>
                </c:pt>
                <c:pt idx="121">
                  <c:v>1.3888888888888889E-3</c:v>
                </c:pt>
                <c:pt idx="122">
                  <c:v>1.3888888888888889E-3</c:v>
                </c:pt>
                <c:pt idx="123">
                  <c:v>1.3888888888888889E-3</c:v>
                </c:pt>
                <c:pt idx="124">
                  <c:v>1.3888888888888889E-3</c:v>
                </c:pt>
                <c:pt idx="125">
                  <c:v>1.3888888888888889E-3</c:v>
                </c:pt>
                <c:pt idx="126">
                  <c:v>1.3888888888888889E-3</c:v>
                </c:pt>
                <c:pt idx="127">
                  <c:v>1.3888888888888889E-3</c:v>
                </c:pt>
                <c:pt idx="128">
                  <c:v>1.3888888888888889E-3</c:v>
                </c:pt>
                <c:pt idx="129">
                  <c:v>1.3888888888888889E-3</c:v>
                </c:pt>
                <c:pt idx="130">
                  <c:v>1.3888888888888889E-3</c:v>
                </c:pt>
                <c:pt idx="131">
                  <c:v>1.3888888888888889E-3</c:v>
                </c:pt>
                <c:pt idx="132">
                  <c:v>1.3888888888888889E-3</c:v>
                </c:pt>
                <c:pt idx="133">
                  <c:v>1.3888888888888889E-3</c:v>
                </c:pt>
                <c:pt idx="134">
                  <c:v>1.3888888888888889E-3</c:v>
                </c:pt>
                <c:pt idx="135">
                  <c:v>1.3888888888888889E-3</c:v>
                </c:pt>
                <c:pt idx="136">
                  <c:v>1.3888888888888889E-3</c:v>
                </c:pt>
                <c:pt idx="137">
                  <c:v>1.3888888888888889E-3</c:v>
                </c:pt>
                <c:pt idx="138">
                  <c:v>1.3888888888888889E-3</c:v>
                </c:pt>
                <c:pt idx="139">
                  <c:v>1.3888888888888889E-3</c:v>
                </c:pt>
                <c:pt idx="140">
                  <c:v>1.3888888888888889E-3</c:v>
                </c:pt>
                <c:pt idx="141">
                  <c:v>1.3888888888888889E-3</c:v>
                </c:pt>
                <c:pt idx="142">
                  <c:v>1.3888888888888889E-3</c:v>
                </c:pt>
                <c:pt idx="143">
                  <c:v>1.3888888888888889E-3</c:v>
                </c:pt>
                <c:pt idx="144">
                  <c:v>1.3888888888888889E-3</c:v>
                </c:pt>
                <c:pt idx="145">
                  <c:v>1.3888888888888889E-3</c:v>
                </c:pt>
                <c:pt idx="146">
                  <c:v>1.3888888888888889E-3</c:v>
                </c:pt>
                <c:pt idx="147">
                  <c:v>1.3888888888888889E-3</c:v>
                </c:pt>
                <c:pt idx="148">
                  <c:v>1.3888888888888889E-3</c:v>
                </c:pt>
                <c:pt idx="149">
                  <c:v>1.3888888888888889E-3</c:v>
                </c:pt>
                <c:pt idx="150">
                  <c:v>1.3888888888888889E-3</c:v>
                </c:pt>
                <c:pt idx="151">
                  <c:v>1.3888888888888889E-3</c:v>
                </c:pt>
                <c:pt idx="152">
                  <c:v>1.3888888888888889E-3</c:v>
                </c:pt>
                <c:pt idx="153">
                  <c:v>1.3888888888888889E-3</c:v>
                </c:pt>
                <c:pt idx="154">
                  <c:v>1.3888888888888889E-3</c:v>
                </c:pt>
                <c:pt idx="155">
                  <c:v>1.3888888888888889E-3</c:v>
                </c:pt>
                <c:pt idx="156">
                  <c:v>1.3888888888888889E-3</c:v>
                </c:pt>
                <c:pt idx="157">
                  <c:v>1.3888888888888889E-3</c:v>
                </c:pt>
                <c:pt idx="158">
                  <c:v>1.3888888888888889E-3</c:v>
                </c:pt>
                <c:pt idx="159">
                  <c:v>1.3888888888888889E-3</c:v>
                </c:pt>
                <c:pt idx="160">
                  <c:v>1.3888888888888889E-3</c:v>
                </c:pt>
                <c:pt idx="161">
                  <c:v>1.3888888888888889E-3</c:v>
                </c:pt>
                <c:pt idx="162">
                  <c:v>1.3888888888888889E-3</c:v>
                </c:pt>
                <c:pt idx="163">
                  <c:v>1.3888888888888889E-3</c:v>
                </c:pt>
                <c:pt idx="164">
                  <c:v>1.3888888888888889E-3</c:v>
                </c:pt>
                <c:pt idx="165">
                  <c:v>1.3888888888888889E-3</c:v>
                </c:pt>
                <c:pt idx="166">
                  <c:v>1.3888888888888889E-3</c:v>
                </c:pt>
                <c:pt idx="167">
                  <c:v>1.3888888888888889E-3</c:v>
                </c:pt>
                <c:pt idx="168">
                  <c:v>1.3888888888888889E-3</c:v>
                </c:pt>
                <c:pt idx="169">
                  <c:v>1.3888888888888889E-3</c:v>
                </c:pt>
                <c:pt idx="170">
                  <c:v>1.3888888888888889E-3</c:v>
                </c:pt>
                <c:pt idx="171">
                  <c:v>1.3888888888888889E-3</c:v>
                </c:pt>
                <c:pt idx="172">
                  <c:v>1.3888888888888889E-3</c:v>
                </c:pt>
                <c:pt idx="173">
                  <c:v>1.3888888888888889E-3</c:v>
                </c:pt>
                <c:pt idx="174">
                  <c:v>1.3888888888888889E-3</c:v>
                </c:pt>
                <c:pt idx="175">
                  <c:v>1.3888888888888889E-3</c:v>
                </c:pt>
                <c:pt idx="176">
                  <c:v>1.3888888888888889E-3</c:v>
                </c:pt>
                <c:pt idx="177">
                  <c:v>1.3888888888888889E-3</c:v>
                </c:pt>
                <c:pt idx="178">
                  <c:v>1.3888888888888889E-3</c:v>
                </c:pt>
                <c:pt idx="179">
                  <c:v>1.3888888888888889E-3</c:v>
                </c:pt>
                <c:pt idx="180">
                  <c:v>1.3888888888888889E-3</c:v>
                </c:pt>
                <c:pt idx="181">
                  <c:v>1.3888888888888889E-3</c:v>
                </c:pt>
                <c:pt idx="182">
                  <c:v>1.3888888888888889E-3</c:v>
                </c:pt>
                <c:pt idx="183">
                  <c:v>1.3888888888888889E-3</c:v>
                </c:pt>
                <c:pt idx="184">
                  <c:v>1.3888888888888889E-3</c:v>
                </c:pt>
                <c:pt idx="185">
                  <c:v>1.3888888888888889E-3</c:v>
                </c:pt>
                <c:pt idx="186">
                  <c:v>1.3888888888888889E-3</c:v>
                </c:pt>
                <c:pt idx="187">
                  <c:v>1.3888888888888889E-3</c:v>
                </c:pt>
                <c:pt idx="188">
                  <c:v>1.3888888888888889E-3</c:v>
                </c:pt>
                <c:pt idx="189">
                  <c:v>1.3888888888888889E-3</c:v>
                </c:pt>
                <c:pt idx="190">
                  <c:v>1.3888888888888889E-3</c:v>
                </c:pt>
                <c:pt idx="191">
                  <c:v>1.3888888888888889E-3</c:v>
                </c:pt>
                <c:pt idx="192">
                  <c:v>1.3888888888888889E-3</c:v>
                </c:pt>
                <c:pt idx="193">
                  <c:v>1.3888888888888889E-3</c:v>
                </c:pt>
                <c:pt idx="194">
                  <c:v>1.3888888888888889E-3</c:v>
                </c:pt>
                <c:pt idx="195">
                  <c:v>1.3888888888888889E-3</c:v>
                </c:pt>
                <c:pt idx="196">
                  <c:v>1.3888888888888889E-3</c:v>
                </c:pt>
                <c:pt idx="197">
                  <c:v>1.3888888888888889E-3</c:v>
                </c:pt>
                <c:pt idx="198">
                  <c:v>1.3888888888888889E-3</c:v>
                </c:pt>
                <c:pt idx="199">
                  <c:v>1.3888888888888889E-3</c:v>
                </c:pt>
                <c:pt idx="200">
                  <c:v>1.3888888888888889E-3</c:v>
                </c:pt>
                <c:pt idx="201">
                  <c:v>1.3888888888888889E-3</c:v>
                </c:pt>
                <c:pt idx="202">
                  <c:v>1.3888888888888889E-3</c:v>
                </c:pt>
                <c:pt idx="203">
                  <c:v>1.3888888888888889E-3</c:v>
                </c:pt>
                <c:pt idx="204">
                  <c:v>1.3888888888888889E-3</c:v>
                </c:pt>
                <c:pt idx="205">
                  <c:v>1.3888888888888889E-3</c:v>
                </c:pt>
                <c:pt idx="206">
                  <c:v>1.3888888888888889E-3</c:v>
                </c:pt>
                <c:pt idx="207">
                  <c:v>1.3888888888888889E-3</c:v>
                </c:pt>
                <c:pt idx="208">
                  <c:v>1.3888888888888889E-3</c:v>
                </c:pt>
                <c:pt idx="209">
                  <c:v>1.3888888888888889E-3</c:v>
                </c:pt>
                <c:pt idx="210">
                  <c:v>1.3888888888888889E-3</c:v>
                </c:pt>
                <c:pt idx="211">
                  <c:v>1.3888888888888889E-3</c:v>
                </c:pt>
                <c:pt idx="212">
                  <c:v>1.3888888888888889E-3</c:v>
                </c:pt>
                <c:pt idx="213">
                  <c:v>1.3888888888888889E-3</c:v>
                </c:pt>
                <c:pt idx="214">
                  <c:v>1.3888888888888889E-3</c:v>
                </c:pt>
                <c:pt idx="215">
                  <c:v>1.3888888888888889E-3</c:v>
                </c:pt>
                <c:pt idx="216">
                  <c:v>1.3888888888888889E-3</c:v>
                </c:pt>
                <c:pt idx="217">
                  <c:v>1.3888888888888889E-3</c:v>
                </c:pt>
                <c:pt idx="218">
                  <c:v>1.3888888888888889E-3</c:v>
                </c:pt>
                <c:pt idx="219">
                  <c:v>1.3888888888888889E-3</c:v>
                </c:pt>
                <c:pt idx="220">
                  <c:v>1.3888888888888889E-3</c:v>
                </c:pt>
                <c:pt idx="221">
                  <c:v>1.3888888888888889E-3</c:v>
                </c:pt>
                <c:pt idx="222">
                  <c:v>1.3888888888888889E-3</c:v>
                </c:pt>
                <c:pt idx="223">
                  <c:v>1.3888888888888889E-3</c:v>
                </c:pt>
                <c:pt idx="224">
                  <c:v>1.3888888888888889E-3</c:v>
                </c:pt>
                <c:pt idx="225">
                  <c:v>1.3888888888888889E-3</c:v>
                </c:pt>
                <c:pt idx="226">
                  <c:v>1.3888888888888889E-3</c:v>
                </c:pt>
                <c:pt idx="227">
                  <c:v>1.3888888888888889E-3</c:v>
                </c:pt>
                <c:pt idx="228">
                  <c:v>1.3888888888888889E-3</c:v>
                </c:pt>
                <c:pt idx="229">
                  <c:v>1.3888888888888889E-3</c:v>
                </c:pt>
                <c:pt idx="230">
                  <c:v>1.3888888888888889E-3</c:v>
                </c:pt>
                <c:pt idx="231">
                  <c:v>1.3888888888888889E-3</c:v>
                </c:pt>
                <c:pt idx="232">
                  <c:v>1.3888888888888889E-3</c:v>
                </c:pt>
                <c:pt idx="233">
                  <c:v>1.3888888888888889E-3</c:v>
                </c:pt>
                <c:pt idx="234">
                  <c:v>1.3888888888888889E-3</c:v>
                </c:pt>
                <c:pt idx="235">
                  <c:v>1.3888888888888889E-3</c:v>
                </c:pt>
                <c:pt idx="236">
                  <c:v>1.3888888888888889E-3</c:v>
                </c:pt>
                <c:pt idx="237">
                  <c:v>1.3888888888888889E-3</c:v>
                </c:pt>
                <c:pt idx="238">
                  <c:v>1.3888888888888889E-3</c:v>
                </c:pt>
                <c:pt idx="239">
                  <c:v>1.3888888888888889E-3</c:v>
                </c:pt>
                <c:pt idx="240">
                  <c:v>1.3888888888888889E-3</c:v>
                </c:pt>
                <c:pt idx="241">
                  <c:v>1.3888888888888889E-3</c:v>
                </c:pt>
                <c:pt idx="242">
                  <c:v>1.3888888888888889E-3</c:v>
                </c:pt>
                <c:pt idx="243">
                  <c:v>1.3888888888888889E-3</c:v>
                </c:pt>
                <c:pt idx="244">
                  <c:v>1.3888888888888889E-3</c:v>
                </c:pt>
                <c:pt idx="245">
                  <c:v>1.3888888888888889E-3</c:v>
                </c:pt>
                <c:pt idx="246">
                  <c:v>1.3888888888888889E-3</c:v>
                </c:pt>
                <c:pt idx="247">
                  <c:v>1.3888888888888889E-3</c:v>
                </c:pt>
                <c:pt idx="248">
                  <c:v>1.3888888888888889E-3</c:v>
                </c:pt>
                <c:pt idx="249">
                  <c:v>1.3888888888888889E-3</c:v>
                </c:pt>
                <c:pt idx="250">
                  <c:v>1.3888888888888889E-3</c:v>
                </c:pt>
                <c:pt idx="251">
                  <c:v>1.3888888888888889E-3</c:v>
                </c:pt>
                <c:pt idx="252">
                  <c:v>1.3888888888888889E-3</c:v>
                </c:pt>
                <c:pt idx="253">
                  <c:v>1.3888888888888889E-3</c:v>
                </c:pt>
                <c:pt idx="254">
                  <c:v>1.3888888888888889E-3</c:v>
                </c:pt>
                <c:pt idx="255">
                  <c:v>1.3888888888888889E-3</c:v>
                </c:pt>
                <c:pt idx="256">
                  <c:v>1.3888888888888889E-3</c:v>
                </c:pt>
                <c:pt idx="257">
                  <c:v>1.3888888888888889E-3</c:v>
                </c:pt>
                <c:pt idx="258">
                  <c:v>1.3888888888888889E-3</c:v>
                </c:pt>
                <c:pt idx="259">
                  <c:v>1.3888888888888889E-3</c:v>
                </c:pt>
                <c:pt idx="260">
                  <c:v>1.3888888888888889E-3</c:v>
                </c:pt>
                <c:pt idx="261">
                  <c:v>1.3888888888888889E-3</c:v>
                </c:pt>
                <c:pt idx="262">
                  <c:v>1.3888888888888889E-3</c:v>
                </c:pt>
                <c:pt idx="263">
                  <c:v>1.3888888888888889E-3</c:v>
                </c:pt>
                <c:pt idx="264">
                  <c:v>1.3888888888888889E-3</c:v>
                </c:pt>
                <c:pt idx="265">
                  <c:v>1.3888888888888889E-3</c:v>
                </c:pt>
                <c:pt idx="266">
                  <c:v>1.3888888888888889E-3</c:v>
                </c:pt>
                <c:pt idx="267">
                  <c:v>1.3888888888888889E-3</c:v>
                </c:pt>
                <c:pt idx="268">
                  <c:v>1.3888888888888889E-3</c:v>
                </c:pt>
                <c:pt idx="269">
                  <c:v>1.3888888888888889E-3</c:v>
                </c:pt>
                <c:pt idx="270">
                  <c:v>1.3888888888888889E-3</c:v>
                </c:pt>
                <c:pt idx="271">
                  <c:v>1.3888888888888889E-3</c:v>
                </c:pt>
                <c:pt idx="272">
                  <c:v>1.3888888888888889E-3</c:v>
                </c:pt>
                <c:pt idx="273">
                  <c:v>1.3888888888888889E-3</c:v>
                </c:pt>
                <c:pt idx="274">
                  <c:v>1.3888888888888889E-3</c:v>
                </c:pt>
                <c:pt idx="275">
                  <c:v>1.3888888888888889E-3</c:v>
                </c:pt>
                <c:pt idx="276">
                  <c:v>1.3888888888888889E-3</c:v>
                </c:pt>
                <c:pt idx="277">
                  <c:v>1.3888888888888889E-3</c:v>
                </c:pt>
                <c:pt idx="278">
                  <c:v>1.3888888888888889E-3</c:v>
                </c:pt>
                <c:pt idx="279">
                  <c:v>1.3888888888888889E-3</c:v>
                </c:pt>
                <c:pt idx="280">
                  <c:v>1.3888888888888889E-3</c:v>
                </c:pt>
                <c:pt idx="281">
                  <c:v>1.3888888888888889E-3</c:v>
                </c:pt>
                <c:pt idx="282">
                  <c:v>1.3888888888888889E-3</c:v>
                </c:pt>
                <c:pt idx="283">
                  <c:v>1.3888888888888889E-3</c:v>
                </c:pt>
                <c:pt idx="284">
                  <c:v>1.3888888888888889E-3</c:v>
                </c:pt>
                <c:pt idx="285">
                  <c:v>1.3888888888888889E-3</c:v>
                </c:pt>
                <c:pt idx="286">
                  <c:v>1.3888888888888889E-3</c:v>
                </c:pt>
                <c:pt idx="287">
                  <c:v>1.3888888888888889E-3</c:v>
                </c:pt>
                <c:pt idx="288">
                  <c:v>1.3888888888888889E-3</c:v>
                </c:pt>
                <c:pt idx="289">
                  <c:v>1.3888888888888889E-3</c:v>
                </c:pt>
                <c:pt idx="290">
                  <c:v>1.3888888888888889E-3</c:v>
                </c:pt>
                <c:pt idx="291">
                  <c:v>1.3888888888888889E-3</c:v>
                </c:pt>
                <c:pt idx="292">
                  <c:v>1.3888888888888889E-3</c:v>
                </c:pt>
                <c:pt idx="293">
                  <c:v>1.3888888888888889E-3</c:v>
                </c:pt>
                <c:pt idx="294">
                  <c:v>1.3888888888888889E-3</c:v>
                </c:pt>
                <c:pt idx="295">
                  <c:v>1.3888888888888889E-3</c:v>
                </c:pt>
                <c:pt idx="296">
                  <c:v>1.3888888888888889E-3</c:v>
                </c:pt>
                <c:pt idx="297">
                  <c:v>1.3888888888888889E-3</c:v>
                </c:pt>
                <c:pt idx="298">
                  <c:v>1.3888888888888889E-3</c:v>
                </c:pt>
                <c:pt idx="299">
                  <c:v>1.3888888888888889E-3</c:v>
                </c:pt>
                <c:pt idx="300">
                  <c:v>1.3888888888888889E-3</c:v>
                </c:pt>
                <c:pt idx="301">
                  <c:v>1.3888888888888889E-3</c:v>
                </c:pt>
                <c:pt idx="302">
                  <c:v>1.3888888888888889E-3</c:v>
                </c:pt>
                <c:pt idx="303">
                  <c:v>1.3888888888888889E-3</c:v>
                </c:pt>
                <c:pt idx="304">
                  <c:v>1.3888888888888889E-3</c:v>
                </c:pt>
                <c:pt idx="305">
                  <c:v>1.3888888888888889E-3</c:v>
                </c:pt>
                <c:pt idx="306">
                  <c:v>1.3888888888888889E-3</c:v>
                </c:pt>
                <c:pt idx="307">
                  <c:v>1.3888888888888889E-3</c:v>
                </c:pt>
                <c:pt idx="308">
                  <c:v>1.3888888888888889E-3</c:v>
                </c:pt>
                <c:pt idx="309">
                  <c:v>1.3888888888888889E-3</c:v>
                </c:pt>
                <c:pt idx="310">
                  <c:v>1.3888888888888889E-3</c:v>
                </c:pt>
                <c:pt idx="311">
                  <c:v>1.3888888888888889E-3</c:v>
                </c:pt>
                <c:pt idx="312">
                  <c:v>1.3888888888888889E-3</c:v>
                </c:pt>
                <c:pt idx="313">
                  <c:v>1.3888888888888889E-3</c:v>
                </c:pt>
                <c:pt idx="314">
                  <c:v>1.3888888888888889E-3</c:v>
                </c:pt>
                <c:pt idx="315">
                  <c:v>1.3888888888888889E-3</c:v>
                </c:pt>
                <c:pt idx="316">
                  <c:v>1.3888888888888889E-3</c:v>
                </c:pt>
                <c:pt idx="317">
                  <c:v>1.3888888888888889E-3</c:v>
                </c:pt>
                <c:pt idx="318">
                  <c:v>1.3888888888888889E-3</c:v>
                </c:pt>
                <c:pt idx="319">
                  <c:v>1.3888888888888889E-3</c:v>
                </c:pt>
                <c:pt idx="320">
                  <c:v>1.3888888888888889E-3</c:v>
                </c:pt>
                <c:pt idx="321">
                  <c:v>1.3888888888888889E-3</c:v>
                </c:pt>
                <c:pt idx="322">
                  <c:v>1.3888888888888889E-3</c:v>
                </c:pt>
                <c:pt idx="323">
                  <c:v>1.3888888888888889E-3</c:v>
                </c:pt>
                <c:pt idx="324">
                  <c:v>1.3888888888888889E-3</c:v>
                </c:pt>
                <c:pt idx="325">
                  <c:v>1.3888888888888889E-3</c:v>
                </c:pt>
                <c:pt idx="326">
                  <c:v>1.3888888888888889E-3</c:v>
                </c:pt>
                <c:pt idx="327">
                  <c:v>1.3888888888888889E-3</c:v>
                </c:pt>
                <c:pt idx="328">
                  <c:v>1.3888888888888889E-3</c:v>
                </c:pt>
                <c:pt idx="329">
                  <c:v>1.3888888888888889E-3</c:v>
                </c:pt>
                <c:pt idx="330">
                  <c:v>1.3888888888888889E-3</c:v>
                </c:pt>
                <c:pt idx="331">
                  <c:v>1.3888888888888889E-3</c:v>
                </c:pt>
                <c:pt idx="332">
                  <c:v>1.3888888888888889E-3</c:v>
                </c:pt>
                <c:pt idx="333">
                  <c:v>1.3888888888888889E-3</c:v>
                </c:pt>
                <c:pt idx="334">
                  <c:v>1.3888888888888889E-3</c:v>
                </c:pt>
                <c:pt idx="335">
                  <c:v>1.3888888888888889E-3</c:v>
                </c:pt>
                <c:pt idx="336">
                  <c:v>1.3888888888888889E-3</c:v>
                </c:pt>
                <c:pt idx="337">
                  <c:v>1.3888888888888889E-3</c:v>
                </c:pt>
                <c:pt idx="338">
                  <c:v>1.3888888888888889E-3</c:v>
                </c:pt>
                <c:pt idx="339">
                  <c:v>1.3888888888888889E-3</c:v>
                </c:pt>
                <c:pt idx="340">
                  <c:v>1.3888888888888889E-3</c:v>
                </c:pt>
                <c:pt idx="341">
                  <c:v>1.3888888888888889E-3</c:v>
                </c:pt>
                <c:pt idx="342">
                  <c:v>1.3888888888888889E-3</c:v>
                </c:pt>
                <c:pt idx="343">
                  <c:v>1.3888888888888889E-3</c:v>
                </c:pt>
                <c:pt idx="344">
                  <c:v>1.3888888888888889E-3</c:v>
                </c:pt>
                <c:pt idx="345">
                  <c:v>1.3888888888888889E-3</c:v>
                </c:pt>
                <c:pt idx="346">
                  <c:v>1.3888888888888889E-3</c:v>
                </c:pt>
                <c:pt idx="347">
                  <c:v>1.3888888888888889E-3</c:v>
                </c:pt>
                <c:pt idx="348">
                  <c:v>1.3888888888888889E-3</c:v>
                </c:pt>
                <c:pt idx="349">
                  <c:v>1.3888888888888889E-3</c:v>
                </c:pt>
                <c:pt idx="350">
                  <c:v>1.3888888888888889E-3</c:v>
                </c:pt>
                <c:pt idx="351">
                  <c:v>1.3888888888888889E-3</c:v>
                </c:pt>
                <c:pt idx="352">
                  <c:v>1.3888888888888889E-3</c:v>
                </c:pt>
                <c:pt idx="353">
                  <c:v>1.3888888888888889E-3</c:v>
                </c:pt>
                <c:pt idx="354">
                  <c:v>1.3888888888888889E-3</c:v>
                </c:pt>
                <c:pt idx="355">
                  <c:v>1.3888888888888889E-3</c:v>
                </c:pt>
                <c:pt idx="356">
                  <c:v>1.3888888888888889E-3</c:v>
                </c:pt>
                <c:pt idx="357">
                  <c:v>1.3888888888888889E-3</c:v>
                </c:pt>
                <c:pt idx="358">
                  <c:v>1.3888888888888889E-3</c:v>
                </c:pt>
                <c:pt idx="359">
                  <c:v>1.3888888888888889E-3</c:v>
                </c:pt>
                <c:pt idx="360">
                  <c:v>1.3888888888888889E-3</c:v>
                </c:pt>
                <c:pt idx="361">
                  <c:v>1.3888888888888889E-3</c:v>
                </c:pt>
                <c:pt idx="362">
                  <c:v>1.3888888888888889E-3</c:v>
                </c:pt>
                <c:pt idx="363">
                  <c:v>1.3888888888888889E-3</c:v>
                </c:pt>
                <c:pt idx="364">
                  <c:v>1.3888888888888889E-3</c:v>
                </c:pt>
                <c:pt idx="365">
                  <c:v>1.3888888888888889E-3</c:v>
                </c:pt>
                <c:pt idx="366">
                  <c:v>1.3888888888888889E-3</c:v>
                </c:pt>
                <c:pt idx="367">
                  <c:v>1.3888888888888889E-3</c:v>
                </c:pt>
                <c:pt idx="368">
                  <c:v>1.3888888888888889E-3</c:v>
                </c:pt>
                <c:pt idx="369">
                  <c:v>1.3888888888888889E-3</c:v>
                </c:pt>
                <c:pt idx="370">
                  <c:v>1.3888888888888889E-3</c:v>
                </c:pt>
                <c:pt idx="371">
                  <c:v>1.3888888888888889E-3</c:v>
                </c:pt>
                <c:pt idx="372">
                  <c:v>1.3888888888888889E-3</c:v>
                </c:pt>
                <c:pt idx="373">
                  <c:v>1.3888888888888889E-3</c:v>
                </c:pt>
                <c:pt idx="374">
                  <c:v>1.3888888888888889E-3</c:v>
                </c:pt>
                <c:pt idx="375">
                  <c:v>1.3888888888888889E-3</c:v>
                </c:pt>
                <c:pt idx="376">
                  <c:v>1.3888888888888889E-3</c:v>
                </c:pt>
                <c:pt idx="377">
                  <c:v>1.3888888888888889E-3</c:v>
                </c:pt>
                <c:pt idx="378">
                  <c:v>1.3888888888888889E-3</c:v>
                </c:pt>
                <c:pt idx="379">
                  <c:v>1.3888888888888889E-3</c:v>
                </c:pt>
                <c:pt idx="380">
                  <c:v>1.3888888888888889E-3</c:v>
                </c:pt>
                <c:pt idx="381">
                  <c:v>1.3888888888888889E-3</c:v>
                </c:pt>
                <c:pt idx="382">
                  <c:v>1.3888888888888889E-3</c:v>
                </c:pt>
                <c:pt idx="383">
                  <c:v>1.3888888888888889E-3</c:v>
                </c:pt>
                <c:pt idx="384">
                  <c:v>1.3888888888888889E-3</c:v>
                </c:pt>
                <c:pt idx="385">
                  <c:v>1.3888888888888889E-3</c:v>
                </c:pt>
                <c:pt idx="386">
                  <c:v>1.3888888888888889E-3</c:v>
                </c:pt>
                <c:pt idx="387">
                  <c:v>1.3888888888888889E-3</c:v>
                </c:pt>
                <c:pt idx="388">
                  <c:v>1.3888888888888889E-3</c:v>
                </c:pt>
                <c:pt idx="389">
                  <c:v>1.3888888888888889E-3</c:v>
                </c:pt>
                <c:pt idx="390">
                  <c:v>1.3888888888888889E-3</c:v>
                </c:pt>
                <c:pt idx="391">
                  <c:v>1.3888888888888889E-3</c:v>
                </c:pt>
                <c:pt idx="392">
                  <c:v>1.3888888888888889E-3</c:v>
                </c:pt>
                <c:pt idx="393">
                  <c:v>1.3888888888888889E-3</c:v>
                </c:pt>
                <c:pt idx="394">
                  <c:v>1.3888888888888889E-3</c:v>
                </c:pt>
                <c:pt idx="395">
                  <c:v>1.3888888888888889E-3</c:v>
                </c:pt>
                <c:pt idx="396">
                  <c:v>1.3888888888888889E-3</c:v>
                </c:pt>
                <c:pt idx="397">
                  <c:v>1.3888888888888889E-3</c:v>
                </c:pt>
                <c:pt idx="398">
                  <c:v>1.3888888888888889E-3</c:v>
                </c:pt>
                <c:pt idx="399">
                  <c:v>1.3888888888888889E-3</c:v>
                </c:pt>
                <c:pt idx="400">
                  <c:v>1.3888888888888889E-3</c:v>
                </c:pt>
                <c:pt idx="401">
                  <c:v>1.3888888888888889E-3</c:v>
                </c:pt>
                <c:pt idx="402">
                  <c:v>1.3888888888888889E-3</c:v>
                </c:pt>
                <c:pt idx="403">
                  <c:v>1.3888888888888889E-3</c:v>
                </c:pt>
                <c:pt idx="404">
                  <c:v>1.3888888888888889E-3</c:v>
                </c:pt>
                <c:pt idx="405">
                  <c:v>1.3888888888888889E-3</c:v>
                </c:pt>
                <c:pt idx="406">
                  <c:v>1.3888888888888889E-3</c:v>
                </c:pt>
                <c:pt idx="407">
                  <c:v>1.3888888888888889E-3</c:v>
                </c:pt>
                <c:pt idx="408">
                  <c:v>1.3888888888888889E-3</c:v>
                </c:pt>
                <c:pt idx="409">
                  <c:v>1.3888888888888889E-3</c:v>
                </c:pt>
                <c:pt idx="410">
                  <c:v>1.3888888888888889E-3</c:v>
                </c:pt>
                <c:pt idx="411">
                  <c:v>1.3888888888888889E-3</c:v>
                </c:pt>
                <c:pt idx="412">
                  <c:v>1.3888888888888889E-3</c:v>
                </c:pt>
                <c:pt idx="413">
                  <c:v>1.3888888888888889E-3</c:v>
                </c:pt>
                <c:pt idx="414">
                  <c:v>1.3888888888888889E-3</c:v>
                </c:pt>
                <c:pt idx="415">
                  <c:v>1.3888888888888889E-3</c:v>
                </c:pt>
                <c:pt idx="416">
                  <c:v>1.3888888888888889E-3</c:v>
                </c:pt>
                <c:pt idx="417">
                  <c:v>1.3888888888888889E-3</c:v>
                </c:pt>
                <c:pt idx="418">
                  <c:v>1.3888888888888889E-3</c:v>
                </c:pt>
                <c:pt idx="419">
                  <c:v>1.3888888888888889E-3</c:v>
                </c:pt>
                <c:pt idx="420">
                  <c:v>1.3888888888888889E-3</c:v>
                </c:pt>
                <c:pt idx="421">
                  <c:v>1.3888888888888889E-3</c:v>
                </c:pt>
                <c:pt idx="422">
                  <c:v>1.3888888888888889E-3</c:v>
                </c:pt>
                <c:pt idx="423">
                  <c:v>1.3888888888888889E-3</c:v>
                </c:pt>
                <c:pt idx="424">
                  <c:v>1.3888888888888889E-3</c:v>
                </c:pt>
                <c:pt idx="425">
                  <c:v>1.3888888888888889E-3</c:v>
                </c:pt>
                <c:pt idx="426">
                  <c:v>1.3888888888888889E-3</c:v>
                </c:pt>
                <c:pt idx="427">
                  <c:v>1.3888888888888889E-3</c:v>
                </c:pt>
                <c:pt idx="428">
                  <c:v>1.3888888888888889E-3</c:v>
                </c:pt>
                <c:pt idx="429">
                  <c:v>1.3888888888888889E-3</c:v>
                </c:pt>
                <c:pt idx="430">
                  <c:v>1.3888888888888889E-3</c:v>
                </c:pt>
                <c:pt idx="431">
                  <c:v>1.3888888888888889E-3</c:v>
                </c:pt>
                <c:pt idx="432">
                  <c:v>1.3888888888888889E-3</c:v>
                </c:pt>
                <c:pt idx="433">
                  <c:v>1.3888888888888889E-3</c:v>
                </c:pt>
                <c:pt idx="434">
                  <c:v>1.3888888888888889E-3</c:v>
                </c:pt>
                <c:pt idx="435">
                  <c:v>1.3888888888888889E-3</c:v>
                </c:pt>
                <c:pt idx="436">
                  <c:v>1.3888888888888889E-3</c:v>
                </c:pt>
                <c:pt idx="437">
                  <c:v>1.3888888888888889E-3</c:v>
                </c:pt>
                <c:pt idx="438">
                  <c:v>1.3888888888888889E-3</c:v>
                </c:pt>
                <c:pt idx="439">
                  <c:v>1.3888888888888889E-3</c:v>
                </c:pt>
                <c:pt idx="440">
                  <c:v>1.3888888888888889E-3</c:v>
                </c:pt>
                <c:pt idx="441">
                  <c:v>1.3888888888888889E-3</c:v>
                </c:pt>
                <c:pt idx="442">
                  <c:v>1.3888888888888889E-3</c:v>
                </c:pt>
                <c:pt idx="443">
                  <c:v>1.3888888888888889E-3</c:v>
                </c:pt>
                <c:pt idx="444">
                  <c:v>1.3888888888888889E-3</c:v>
                </c:pt>
                <c:pt idx="445">
                  <c:v>1.3888888888888889E-3</c:v>
                </c:pt>
                <c:pt idx="446">
                  <c:v>1.3888888888888889E-3</c:v>
                </c:pt>
                <c:pt idx="447">
                  <c:v>1.3888888888888889E-3</c:v>
                </c:pt>
                <c:pt idx="448">
                  <c:v>1.3888888888888889E-3</c:v>
                </c:pt>
                <c:pt idx="449">
                  <c:v>1.3888888888888889E-3</c:v>
                </c:pt>
                <c:pt idx="450">
                  <c:v>1.3888888888888889E-3</c:v>
                </c:pt>
                <c:pt idx="451">
                  <c:v>1.3888888888888889E-3</c:v>
                </c:pt>
                <c:pt idx="452">
                  <c:v>1.3888888888888889E-3</c:v>
                </c:pt>
                <c:pt idx="453">
                  <c:v>1.3888888888888889E-3</c:v>
                </c:pt>
                <c:pt idx="454">
                  <c:v>1.3888888888888889E-3</c:v>
                </c:pt>
                <c:pt idx="455">
                  <c:v>1.3888888888888889E-3</c:v>
                </c:pt>
                <c:pt idx="456">
                  <c:v>1.3888888888888889E-3</c:v>
                </c:pt>
                <c:pt idx="457">
                  <c:v>1.3888888888888889E-3</c:v>
                </c:pt>
                <c:pt idx="458">
                  <c:v>1.3888888888888889E-3</c:v>
                </c:pt>
                <c:pt idx="459">
                  <c:v>1.3888888888888889E-3</c:v>
                </c:pt>
                <c:pt idx="460">
                  <c:v>1.3888888888888889E-3</c:v>
                </c:pt>
                <c:pt idx="461">
                  <c:v>1.3888888888888889E-3</c:v>
                </c:pt>
                <c:pt idx="462">
                  <c:v>1.3888888888888889E-3</c:v>
                </c:pt>
                <c:pt idx="463">
                  <c:v>1.3888888888888889E-3</c:v>
                </c:pt>
                <c:pt idx="464">
                  <c:v>1.3888888888888889E-3</c:v>
                </c:pt>
                <c:pt idx="465">
                  <c:v>1.3888888888888889E-3</c:v>
                </c:pt>
                <c:pt idx="466">
                  <c:v>1.3888888888888889E-3</c:v>
                </c:pt>
                <c:pt idx="467">
                  <c:v>1.3888888888888889E-3</c:v>
                </c:pt>
                <c:pt idx="468">
                  <c:v>1.3888888888888889E-3</c:v>
                </c:pt>
                <c:pt idx="469">
                  <c:v>1.3888888888888889E-3</c:v>
                </c:pt>
                <c:pt idx="470">
                  <c:v>1.3888888888888889E-3</c:v>
                </c:pt>
                <c:pt idx="471">
                  <c:v>1.3888888888888889E-3</c:v>
                </c:pt>
                <c:pt idx="472">
                  <c:v>1.3888888888888889E-3</c:v>
                </c:pt>
                <c:pt idx="473">
                  <c:v>1.3888888888888889E-3</c:v>
                </c:pt>
                <c:pt idx="474">
                  <c:v>1.3888888888888889E-3</c:v>
                </c:pt>
                <c:pt idx="475">
                  <c:v>1.3888888888888889E-3</c:v>
                </c:pt>
                <c:pt idx="476">
                  <c:v>1.3888888888888889E-3</c:v>
                </c:pt>
                <c:pt idx="477">
                  <c:v>1.3888888888888889E-3</c:v>
                </c:pt>
                <c:pt idx="478">
                  <c:v>1.3888888888888889E-3</c:v>
                </c:pt>
                <c:pt idx="479">
                  <c:v>1.3888888888888889E-3</c:v>
                </c:pt>
                <c:pt idx="480">
                  <c:v>1.3888888888888889E-3</c:v>
                </c:pt>
                <c:pt idx="481">
                  <c:v>1.3888888888888889E-3</c:v>
                </c:pt>
                <c:pt idx="482">
                  <c:v>1.3888888888888889E-3</c:v>
                </c:pt>
                <c:pt idx="483">
                  <c:v>1.3888888888888889E-3</c:v>
                </c:pt>
                <c:pt idx="484">
                  <c:v>1.3888888888888889E-3</c:v>
                </c:pt>
                <c:pt idx="485">
                  <c:v>1.3888888888888889E-3</c:v>
                </c:pt>
                <c:pt idx="486">
                  <c:v>1.3888888888888889E-3</c:v>
                </c:pt>
                <c:pt idx="487">
                  <c:v>1.3888888888888889E-3</c:v>
                </c:pt>
                <c:pt idx="488">
                  <c:v>1.3888888888888889E-3</c:v>
                </c:pt>
                <c:pt idx="489">
                  <c:v>1.3888888888888889E-3</c:v>
                </c:pt>
                <c:pt idx="490">
                  <c:v>1.3888888888888889E-3</c:v>
                </c:pt>
                <c:pt idx="491">
                  <c:v>1.3888888888888889E-3</c:v>
                </c:pt>
                <c:pt idx="492">
                  <c:v>1.3888888888888889E-3</c:v>
                </c:pt>
                <c:pt idx="493">
                  <c:v>1.3888888888888889E-3</c:v>
                </c:pt>
                <c:pt idx="494">
                  <c:v>1.3888888888888889E-3</c:v>
                </c:pt>
                <c:pt idx="495">
                  <c:v>1.3888888888888889E-3</c:v>
                </c:pt>
                <c:pt idx="496">
                  <c:v>1.3888888888888889E-3</c:v>
                </c:pt>
                <c:pt idx="497">
                  <c:v>1.3888888888888889E-3</c:v>
                </c:pt>
                <c:pt idx="498">
                  <c:v>1.3888888888888889E-3</c:v>
                </c:pt>
                <c:pt idx="499">
                  <c:v>1.3888888888888889E-3</c:v>
                </c:pt>
                <c:pt idx="500">
                  <c:v>1.3888888888888889E-3</c:v>
                </c:pt>
                <c:pt idx="501">
                  <c:v>1.3888888888888889E-3</c:v>
                </c:pt>
                <c:pt idx="502">
                  <c:v>1.3888888888888889E-3</c:v>
                </c:pt>
                <c:pt idx="503">
                  <c:v>1.3888888888888889E-3</c:v>
                </c:pt>
                <c:pt idx="504">
                  <c:v>1.3888888888888889E-3</c:v>
                </c:pt>
                <c:pt idx="505">
                  <c:v>1.3888888888888889E-3</c:v>
                </c:pt>
                <c:pt idx="506">
                  <c:v>1.3888888888888889E-3</c:v>
                </c:pt>
                <c:pt idx="507">
                  <c:v>1.3888888888888889E-3</c:v>
                </c:pt>
                <c:pt idx="508">
                  <c:v>1.3888888888888889E-3</c:v>
                </c:pt>
                <c:pt idx="509">
                  <c:v>1.3888888888888889E-3</c:v>
                </c:pt>
                <c:pt idx="510">
                  <c:v>1.3888888888888889E-3</c:v>
                </c:pt>
                <c:pt idx="511">
                  <c:v>1.3888888888888889E-3</c:v>
                </c:pt>
                <c:pt idx="512">
                  <c:v>1.3888888888888889E-3</c:v>
                </c:pt>
                <c:pt idx="513">
                  <c:v>1.3888888888888889E-3</c:v>
                </c:pt>
                <c:pt idx="514">
                  <c:v>1.3888888888888889E-3</c:v>
                </c:pt>
                <c:pt idx="515">
                  <c:v>1.3888888888888889E-3</c:v>
                </c:pt>
                <c:pt idx="516">
                  <c:v>1.3888888888888889E-3</c:v>
                </c:pt>
                <c:pt idx="517">
                  <c:v>1.3888888888888889E-3</c:v>
                </c:pt>
                <c:pt idx="518">
                  <c:v>1.3888888888888889E-3</c:v>
                </c:pt>
                <c:pt idx="519">
                  <c:v>1.3888888888888889E-3</c:v>
                </c:pt>
                <c:pt idx="520">
                  <c:v>1.3888888888888889E-3</c:v>
                </c:pt>
                <c:pt idx="521">
                  <c:v>1.3888888888888889E-3</c:v>
                </c:pt>
                <c:pt idx="522">
                  <c:v>1.3888888888888889E-3</c:v>
                </c:pt>
                <c:pt idx="523">
                  <c:v>1.3888888888888889E-3</c:v>
                </c:pt>
                <c:pt idx="524">
                  <c:v>1.3888888888888889E-3</c:v>
                </c:pt>
                <c:pt idx="525">
                  <c:v>1.3888888888888889E-3</c:v>
                </c:pt>
                <c:pt idx="526">
                  <c:v>1.3888888888888889E-3</c:v>
                </c:pt>
                <c:pt idx="527">
                  <c:v>1.3888888888888889E-3</c:v>
                </c:pt>
                <c:pt idx="528">
                  <c:v>1.3888888888888889E-3</c:v>
                </c:pt>
                <c:pt idx="529">
                  <c:v>1.3888888888888889E-3</c:v>
                </c:pt>
                <c:pt idx="530">
                  <c:v>1.3888888888888889E-3</c:v>
                </c:pt>
                <c:pt idx="531">
                  <c:v>1.3888888888888889E-3</c:v>
                </c:pt>
                <c:pt idx="532">
                  <c:v>1.3888888888888889E-3</c:v>
                </c:pt>
                <c:pt idx="533">
                  <c:v>1.3888888888888889E-3</c:v>
                </c:pt>
                <c:pt idx="534">
                  <c:v>1.3888888888888889E-3</c:v>
                </c:pt>
                <c:pt idx="535">
                  <c:v>1.3888888888888889E-3</c:v>
                </c:pt>
                <c:pt idx="536">
                  <c:v>1.3888888888888889E-3</c:v>
                </c:pt>
                <c:pt idx="537">
                  <c:v>1.3888888888888889E-3</c:v>
                </c:pt>
                <c:pt idx="538">
                  <c:v>1.3888888888888889E-3</c:v>
                </c:pt>
                <c:pt idx="539">
                  <c:v>1.3888888888888889E-3</c:v>
                </c:pt>
                <c:pt idx="540">
                  <c:v>1.3888888888888889E-3</c:v>
                </c:pt>
                <c:pt idx="541">
                  <c:v>1.3888888888888889E-3</c:v>
                </c:pt>
                <c:pt idx="542">
                  <c:v>1.3888888888888889E-3</c:v>
                </c:pt>
                <c:pt idx="543">
                  <c:v>1.3888888888888889E-3</c:v>
                </c:pt>
                <c:pt idx="544">
                  <c:v>1.3888888888888889E-3</c:v>
                </c:pt>
                <c:pt idx="545">
                  <c:v>1.3888888888888889E-3</c:v>
                </c:pt>
                <c:pt idx="546">
                  <c:v>1.3888888888888889E-3</c:v>
                </c:pt>
                <c:pt idx="547">
                  <c:v>1.3888888888888889E-3</c:v>
                </c:pt>
                <c:pt idx="548">
                  <c:v>1.3888888888888889E-3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1-298E-4B0E-970D-30EE7ADA0F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6567168"/>
        <c:axId val="216970752"/>
      </c:lineChart>
      <c:catAx>
        <c:axId val="21656716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vert="horz"/>
          <a:lstStyle/>
          <a:p>
            <a:pPr>
              <a:defRPr>
                <a:latin typeface="+mj-lt"/>
              </a:defRPr>
            </a:pPr>
            <a:endParaRPr lang="ko-KR"/>
          </a:p>
        </c:txPr>
        <c:crossAx val="216970752"/>
        <c:crosses val="autoZero"/>
        <c:auto val="1"/>
        <c:lblAlgn val="ctr"/>
        <c:lblOffset val="100"/>
        <c:noMultiLvlLbl val="0"/>
      </c:catAx>
      <c:valAx>
        <c:axId val="216970752"/>
        <c:scaling>
          <c:orientation val="minMax"/>
        </c:scaling>
        <c:delete val="0"/>
        <c:axPos val="l"/>
        <c:numFmt formatCode="h:mm:ss;@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>
                <a:latin typeface="+mj-lt"/>
              </a:defRPr>
            </a:pPr>
            <a:endParaRPr lang="ko-KR"/>
          </a:p>
        </c:txPr>
        <c:crossAx val="2165671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83539521401055961"/>
          <c:y val="0"/>
          <c:w val="0.16337332138355282"/>
          <c:h val="9.7560149931137999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1000">
              <a:latin typeface="+mj-lt"/>
            </a:defRPr>
          </a:pPr>
          <a:endParaRPr lang="ko-KR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latin typeface="휴먼명조" panose="02010504000101010101" pitchFamily="2" charset="-127"/>
          <a:ea typeface="휴먼명조" panose="02010504000101010101" pitchFamily="2" charset="-127"/>
        </a:defRPr>
      </a:pPr>
      <a:endParaRPr lang="ko-KR"/>
    </a:p>
  </c:txPr>
  <c:externalData r:id="rId2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4C93F-7516-4E52-A29D-E06D58E3DB6A}" type="datetimeFigureOut">
              <a:rPr lang="ko-KR" altLang="en-US" smtClean="0"/>
              <a:t>2020-02-10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79BAE-30D7-4090-90D8-6F1FAF740B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1012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60880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5934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5934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5934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31504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31504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31504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31504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31504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31504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31504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31504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31504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5934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5934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5934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5934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5934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5934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5934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5934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5934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5934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5934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5934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5934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59340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59340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59340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59340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59340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59340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659340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59340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59340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59340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608800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59340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59340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59340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59340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59340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59340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59340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59340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59340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59340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593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61D2A-CC77-431A-9C18-4BC25EC42BA8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2020-02-10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4C294-1E23-4778-AC4B-B6C3ED440A7A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0570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61D2A-CC77-431A-9C18-4BC25EC42BA8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2020-02-10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4C294-1E23-4778-AC4B-B6C3ED440A7A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3560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61D2A-CC77-431A-9C18-4BC25EC42BA8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2020-02-10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4C294-1E23-4778-AC4B-B6C3ED440A7A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6569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61D2A-CC77-431A-9C18-4BC25EC42BA8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2020-02-10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4C294-1E23-4778-AC4B-B6C3ED440A7A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5765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61D2A-CC77-431A-9C18-4BC25EC42BA8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2020-02-10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4C294-1E23-4778-AC4B-B6C3ED440A7A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2708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61D2A-CC77-431A-9C18-4BC25EC42BA8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2020-02-10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4C294-1E23-4778-AC4B-B6C3ED440A7A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1363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61D2A-CC77-431A-9C18-4BC25EC42BA8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2020-02-10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4C294-1E23-4778-AC4B-B6C3ED440A7A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285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61D2A-CC77-431A-9C18-4BC25EC42BA8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2020-02-10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4C294-1E23-4778-AC4B-B6C3ED440A7A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0556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61D2A-CC77-431A-9C18-4BC25EC42BA8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2020-02-10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4C294-1E23-4778-AC4B-B6C3ED440A7A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5630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61D2A-CC77-431A-9C18-4BC25EC42BA8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2020-02-10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4C294-1E23-4778-AC4B-B6C3ED440A7A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3413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61D2A-CC77-431A-9C18-4BC25EC42BA8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2020-02-10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4C294-1E23-4778-AC4B-B6C3ED440A7A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41512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543300" y="6419396"/>
            <a:ext cx="2057400" cy="365125"/>
          </a:xfrm>
        </p:spPr>
        <p:txBody>
          <a:bodyPr/>
          <a:lstStyle>
            <a:lvl1pPr algn="ctr">
              <a:defRPr/>
            </a:lvl1pPr>
          </a:lstStyle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Rectangle 36"/>
          <p:cNvSpPr>
            <a:spLocks noChangeArrowheads="1"/>
          </p:cNvSpPr>
          <p:nvPr userDrawn="1"/>
        </p:nvSpPr>
        <p:spPr bwMode="ltGray">
          <a:xfrm>
            <a:off x="3743325" y="6189662"/>
            <a:ext cx="5400675" cy="109537"/>
          </a:xfrm>
          <a:prstGeom prst="rect">
            <a:avLst/>
          </a:prstGeom>
          <a:gradFill rotWithShape="1">
            <a:gsLst>
              <a:gs pos="0">
                <a:schemeClr val="accent1">
                  <a:gamma/>
                  <a:tint val="0"/>
                  <a:invGamma/>
                </a:schemeClr>
              </a:gs>
              <a:gs pos="100000">
                <a:srgbClr val="C0000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>
              <a:solidFill>
                <a:prstClr val="black"/>
              </a:solidFill>
              <a:ea typeface="굴림" pitchFamily="50" charset="-127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085" b="94"/>
          <a:stretch/>
        </p:blipFill>
        <p:spPr>
          <a:xfrm>
            <a:off x="0" y="564502"/>
            <a:ext cx="2735385" cy="4671801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15" t="61156"/>
          <a:stretch/>
        </p:blipFill>
        <p:spPr>
          <a:xfrm>
            <a:off x="6822830" y="4001477"/>
            <a:ext cx="2321170" cy="1902624"/>
          </a:xfrm>
          <a:prstGeom prst="rect">
            <a:avLst/>
          </a:prstGeom>
        </p:spPr>
      </p:pic>
      <p:sp>
        <p:nvSpPr>
          <p:cNvPr id="13" name="직사각형 12"/>
          <p:cNvSpPr/>
          <p:nvPr userDrawn="1"/>
        </p:nvSpPr>
        <p:spPr>
          <a:xfrm>
            <a:off x="0" y="664308"/>
            <a:ext cx="5267569" cy="125046"/>
          </a:xfrm>
          <a:prstGeom prst="rect">
            <a:avLst/>
          </a:prstGeom>
          <a:gradFill>
            <a:gsLst>
              <a:gs pos="0">
                <a:srgbClr val="C00000"/>
              </a:gs>
              <a:gs pos="100000">
                <a:schemeClr val="bg1"/>
              </a:gs>
            </a:gsLst>
            <a:lin ang="2700000" scaled="1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01030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543300" y="6419396"/>
            <a:ext cx="2057400" cy="365125"/>
          </a:xfrm>
        </p:spPr>
        <p:txBody>
          <a:bodyPr/>
          <a:lstStyle>
            <a:lvl1pPr algn="ctr">
              <a:defRPr/>
            </a:lvl1pPr>
          </a:lstStyle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Rectangle 36"/>
          <p:cNvSpPr>
            <a:spLocks noChangeArrowheads="1"/>
          </p:cNvSpPr>
          <p:nvPr userDrawn="1"/>
        </p:nvSpPr>
        <p:spPr bwMode="ltGray">
          <a:xfrm>
            <a:off x="3743325" y="6189662"/>
            <a:ext cx="5400675" cy="109537"/>
          </a:xfrm>
          <a:prstGeom prst="rect">
            <a:avLst/>
          </a:prstGeom>
          <a:gradFill rotWithShape="1">
            <a:gsLst>
              <a:gs pos="0">
                <a:schemeClr val="accent1">
                  <a:gamma/>
                  <a:tint val="0"/>
                  <a:invGamma/>
                </a:schemeClr>
              </a:gs>
              <a:gs pos="100000">
                <a:srgbClr val="C0000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>
              <a:solidFill>
                <a:prstClr val="black"/>
              </a:solidFill>
              <a:latin typeface="Calibri Light" panose="020F0302020204030204"/>
              <a:ea typeface="굴림" pitchFamily="50" charset="-127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085" b="94"/>
          <a:stretch/>
        </p:blipFill>
        <p:spPr>
          <a:xfrm>
            <a:off x="0" y="564502"/>
            <a:ext cx="2735385" cy="4671801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15" t="61156"/>
          <a:stretch/>
        </p:blipFill>
        <p:spPr>
          <a:xfrm>
            <a:off x="6822830" y="4001477"/>
            <a:ext cx="2321170" cy="1902624"/>
          </a:xfrm>
          <a:prstGeom prst="rect">
            <a:avLst/>
          </a:prstGeom>
        </p:spPr>
      </p:pic>
      <p:sp>
        <p:nvSpPr>
          <p:cNvPr id="13" name="직사각형 12"/>
          <p:cNvSpPr/>
          <p:nvPr userDrawn="1"/>
        </p:nvSpPr>
        <p:spPr>
          <a:xfrm>
            <a:off x="0" y="664308"/>
            <a:ext cx="5267569" cy="125046"/>
          </a:xfrm>
          <a:prstGeom prst="rect">
            <a:avLst/>
          </a:prstGeom>
          <a:gradFill>
            <a:gsLst>
              <a:gs pos="0">
                <a:srgbClr val="C00000"/>
              </a:gs>
              <a:gs pos="100000">
                <a:schemeClr val="bg1"/>
              </a:gs>
            </a:gsLst>
            <a:lin ang="2700000" scaled="1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65007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bg>
      <p:bgPr>
        <a:gradFill>
          <a:gsLst>
            <a:gs pos="0">
              <a:schemeClr val="bg1">
                <a:gamma/>
                <a:tint val="0"/>
                <a:invGamma/>
              </a:schemeClr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02" r="171" b="7737"/>
          <a:stretch/>
        </p:blipFill>
        <p:spPr>
          <a:xfrm>
            <a:off x="7815" y="0"/>
            <a:ext cx="9128369" cy="6080307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384EBA0-D845-42F0-AE8F-FEF9FFA19A08}" type="datetime1">
              <a:rPr lang="ko-KR" altLang="en-US">
                <a:solidFill>
                  <a:prstClr val="black"/>
                </a:solidFill>
              </a:rPr>
              <a:pPr/>
              <a:t>2020-02-10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5D9309-1050-42EE-80F8-1B488A1FFC18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36"/>
          <p:cNvSpPr>
            <a:spLocks noChangeArrowheads="1"/>
          </p:cNvSpPr>
          <p:nvPr userDrawn="1"/>
        </p:nvSpPr>
        <p:spPr bwMode="ltGray">
          <a:xfrm>
            <a:off x="3743325" y="6189662"/>
            <a:ext cx="5400675" cy="109537"/>
          </a:xfrm>
          <a:prstGeom prst="rect">
            <a:avLst/>
          </a:prstGeom>
          <a:gradFill rotWithShape="1">
            <a:gsLst>
              <a:gs pos="0">
                <a:schemeClr val="accent1">
                  <a:gamma/>
                  <a:tint val="0"/>
                  <a:invGamma/>
                </a:schemeClr>
              </a:gs>
              <a:gs pos="100000">
                <a:srgbClr val="C0000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>
              <a:solidFill>
                <a:prstClr val="black"/>
              </a:solidFill>
              <a:latin typeface="Calibri Light" panose="020F0302020204030204"/>
              <a:ea typeface="굴림" pitchFamily="50" charset="-127"/>
            </a:endParaRPr>
          </a:p>
        </p:txBody>
      </p:sp>
      <p:sp>
        <p:nvSpPr>
          <p:cNvPr id="10" name="Rectangle 36"/>
          <p:cNvSpPr>
            <a:spLocks noChangeArrowheads="1"/>
          </p:cNvSpPr>
          <p:nvPr userDrawn="1"/>
        </p:nvSpPr>
        <p:spPr bwMode="ltGray">
          <a:xfrm>
            <a:off x="3743325" y="6189662"/>
            <a:ext cx="5400675" cy="109537"/>
          </a:xfrm>
          <a:prstGeom prst="rect">
            <a:avLst/>
          </a:prstGeom>
          <a:gradFill rotWithShape="1">
            <a:gsLst>
              <a:gs pos="0">
                <a:schemeClr val="accent1">
                  <a:gamma/>
                  <a:tint val="0"/>
                  <a:invGamma/>
                </a:schemeClr>
              </a:gs>
              <a:gs pos="100000">
                <a:srgbClr val="C0000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>
              <a:solidFill>
                <a:prstClr val="black"/>
              </a:solidFill>
              <a:latin typeface="Calibri Light" panose="020F0302020204030204"/>
              <a:ea typeface="굴림" pitchFamily="50" charset="-127"/>
            </a:endParaRPr>
          </a:p>
        </p:txBody>
      </p:sp>
      <p:sp>
        <p:nvSpPr>
          <p:cNvPr id="14" name="직사각형 13"/>
          <p:cNvSpPr/>
          <p:nvPr userDrawn="1"/>
        </p:nvSpPr>
        <p:spPr>
          <a:xfrm>
            <a:off x="-1" y="0"/>
            <a:ext cx="703385" cy="6327321"/>
          </a:xfrm>
          <a:prstGeom prst="rect">
            <a:avLst/>
          </a:prstGeom>
          <a:gradFill flip="none" rotWithShape="1">
            <a:gsLst>
              <a:gs pos="0">
                <a:srgbClr val="C00000"/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74200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02" r="171" b="7737"/>
          <a:stretch/>
        </p:blipFill>
        <p:spPr>
          <a:xfrm>
            <a:off x="7815" y="0"/>
            <a:ext cx="9128369" cy="608030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15" name="그룹 14"/>
          <p:cNvGrpSpPr/>
          <p:nvPr userDrawn="1"/>
        </p:nvGrpSpPr>
        <p:grpSpPr>
          <a:xfrm>
            <a:off x="0" y="0"/>
            <a:ext cx="9144000" cy="6299199"/>
            <a:chOff x="0" y="0"/>
            <a:chExt cx="9144000" cy="6299199"/>
          </a:xfrm>
        </p:grpSpPr>
        <p:grpSp>
          <p:nvGrpSpPr>
            <p:cNvPr id="13" name="그룹 12"/>
            <p:cNvGrpSpPr/>
            <p:nvPr userDrawn="1"/>
          </p:nvGrpSpPr>
          <p:grpSpPr>
            <a:xfrm>
              <a:off x="0" y="0"/>
              <a:ext cx="773723" cy="1391138"/>
              <a:chOff x="0" y="0"/>
              <a:chExt cx="773723" cy="1391138"/>
            </a:xfrm>
          </p:grpSpPr>
          <p:sp>
            <p:nvSpPr>
              <p:cNvPr id="11" name="직사각형 10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2" name="순서도: 대체 처리 11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4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  <a:latin typeface="Calibri Light" panose="020F0302020204030204"/>
                <a:ea typeface="굴림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05463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15" name="그룹 14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13" name="그룹 12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7" name="그림 6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1" name="직사각형 10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2" name="순서도: 대체 처리 11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4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  <a:latin typeface="Calibri Light" panose="020F0302020204030204"/>
                <a:ea typeface="굴림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849063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15" name="그룹 14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13" name="그룹 12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7" name="그림 6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1" name="직사각형 10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2" name="순서도: 대체 처리 11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4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  <a:latin typeface="Calibri Light" panose="020F0302020204030204"/>
                <a:ea typeface="굴림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04433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0ECB9303-23DD-4DAD-82E5-BE5FA8AD479D}" type="datetime1">
              <a:rPr lang="ko-KR" altLang="en-US">
                <a:solidFill>
                  <a:prstClr val="black"/>
                </a:solidFill>
              </a:rPr>
              <a:pPr/>
              <a:t>2020-02-10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8" name="그룹 7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9" name="그룹 8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11" name="그림 10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2" name="직사각형 11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3" name="순서도: 대체 처리 12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0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  <a:latin typeface="Calibri Light" panose="020F0302020204030204"/>
                <a:ea typeface="굴림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167130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0B2E7680-79CB-4044-96A0-D85FB8684ABF}" type="datetime1">
              <a:rPr lang="ko-KR" altLang="en-US">
                <a:solidFill>
                  <a:prstClr val="black"/>
                </a:solidFill>
              </a:rPr>
              <a:pPr/>
              <a:t>2020-02-10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11" name="그룹 10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13" name="그림 12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4" name="직사각형 13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5" name="순서도: 대체 처리 14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2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  <a:latin typeface="Calibri Light" panose="020F0302020204030204"/>
                <a:ea typeface="굴림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20922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798CB09-95B7-4DB1-AC73-92207A92B004}" type="datetime1">
              <a:rPr lang="ko-KR" altLang="en-US">
                <a:solidFill>
                  <a:prstClr val="black"/>
                </a:solidFill>
              </a:rPr>
              <a:pPr/>
              <a:t>2020-02-10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6" name="그룹 5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7" name="그룹 6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9" name="그림 8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0" name="직사각형 9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1" name="순서도: 대체 처리 10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8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  <a:latin typeface="Calibri Light" panose="020F0302020204030204"/>
                <a:ea typeface="굴림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68246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0E638BD-D3BC-49D7-9D7E-DD9B3D9505D6}" type="datetime1">
              <a:rPr lang="ko-KR" altLang="en-US">
                <a:solidFill>
                  <a:prstClr val="black"/>
                </a:solidFill>
              </a:rPr>
              <a:pPr/>
              <a:t>2020-02-10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5" name="그룹 4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6" name="그룹 5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8" name="그림 7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9" name="직사각형 8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" name="순서도: 대체 처리 9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7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  <a:latin typeface="Calibri Light" panose="020F0302020204030204"/>
                <a:ea typeface="굴림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741253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CD89AC1-201F-414C-B5CA-EE2DC68C7E36}" type="datetime1">
              <a:rPr lang="ko-KR" altLang="en-US">
                <a:solidFill>
                  <a:prstClr val="black"/>
                </a:solidFill>
              </a:rPr>
              <a:pPr/>
              <a:t>2020-02-10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8" name="그룹 7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9" name="그룹 8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11" name="그림 10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2" name="직사각형 11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3" name="순서도: 대체 처리 12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0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  <a:latin typeface="Calibri Light" panose="020F0302020204030204"/>
                <a:ea typeface="굴림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772978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9099664-DD0E-48E1-8209-9915005B27D0}" type="datetime1">
              <a:rPr lang="ko-KR" altLang="en-US">
                <a:solidFill>
                  <a:prstClr val="black"/>
                </a:solidFill>
              </a:rPr>
              <a:pPr/>
              <a:t>2020-02-10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8" name="그룹 7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9" name="그룹 8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11" name="그림 10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2" name="직사각형 11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3" name="순서도: 대체 처리 12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0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  <a:latin typeface="Calibri Light" panose="020F0302020204030204"/>
                <a:ea typeface="굴림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42028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582A2DBF-BD4F-4B18-9E0C-A4C5757A249A}" type="datetime1">
              <a:rPr lang="ko-KR" altLang="en-US">
                <a:solidFill>
                  <a:prstClr val="black"/>
                </a:solidFill>
              </a:rPr>
              <a:pPr/>
              <a:t>2020-02-10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그룹 6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8" name="그룹 7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10" name="그림 9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1" name="직사각형 10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2" name="순서도: 대체 처리 11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9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  <a:latin typeface="Calibri Light" panose="020F0302020204030204"/>
                <a:ea typeface="굴림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2911486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ED522DE-6D31-4807-A3A0-101F480AEB99}" type="datetime1">
              <a:rPr lang="ko-KR" altLang="en-US">
                <a:solidFill>
                  <a:prstClr val="black"/>
                </a:solidFill>
              </a:rPr>
              <a:pPr/>
              <a:t>2020-02-10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그룹 6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8" name="그룹 7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10" name="그림 9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1" name="직사각형 10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2" name="순서도: 대체 처리 11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9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  <a:latin typeface="Calibri Light" panose="020F0302020204030204"/>
                <a:ea typeface="굴림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105478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5209B86F-81A0-4D8A-9939-B043AE8FD06C}" type="datetime1">
              <a:rPr lang="en-US" altLang="ko-KR">
                <a:solidFill>
                  <a:prstClr val="black"/>
                </a:solidFill>
              </a:rPr>
              <a:pPr/>
              <a:t>2/10/2020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ko-KR">
                <a:solidFill>
                  <a:prstClr val="black"/>
                </a:solidFill>
              </a:rPr>
              <a:t>Lecture by Heung-No Lee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16A20-09B9-42ED-997C-B9DB3F55464B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17298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543300" y="6419396"/>
            <a:ext cx="2057400" cy="365125"/>
          </a:xfrm>
        </p:spPr>
        <p:txBody>
          <a:bodyPr/>
          <a:lstStyle>
            <a:lvl1pPr algn="ctr">
              <a:defRPr/>
            </a:lvl1pPr>
          </a:lstStyle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Rectangle 36"/>
          <p:cNvSpPr>
            <a:spLocks noChangeArrowheads="1"/>
          </p:cNvSpPr>
          <p:nvPr userDrawn="1"/>
        </p:nvSpPr>
        <p:spPr bwMode="ltGray">
          <a:xfrm>
            <a:off x="3743325" y="6189662"/>
            <a:ext cx="5400675" cy="109537"/>
          </a:xfrm>
          <a:prstGeom prst="rect">
            <a:avLst/>
          </a:prstGeom>
          <a:gradFill rotWithShape="1">
            <a:gsLst>
              <a:gs pos="0">
                <a:schemeClr val="accent1">
                  <a:gamma/>
                  <a:tint val="0"/>
                  <a:invGamma/>
                </a:schemeClr>
              </a:gs>
              <a:gs pos="100000">
                <a:srgbClr val="C0000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>
              <a:solidFill>
                <a:prstClr val="black"/>
              </a:solidFill>
              <a:latin typeface="Calibri Light" panose="020F0302020204030204"/>
              <a:ea typeface="굴림" pitchFamily="50" charset="-127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085" b="94"/>
          <a:stretch/>
        </p:blipFill>
        <p:spPr>
          <a:xfrm>
            <a:off x="0" y="564502"/>
            <a:ext cx="2735385" cy="4671801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15" t="61156"/>
          <a:stretch/>
        </p:blipFill>
        <p:spPr>
          <a:xfrm>
            <a:off x="6822830" y="4001477"/>
            <a:ext cx="2321170" cy="1902624"/>
          </a:xfrm>
          <a:prstGeom prst="rect">
            <a:avLst/>
          </a:prstGeom>
        </p:spPr>
      </p:pic>
      <p:sp>
        <p:nvSpPr>
          <p:cNvPr id="13" name="직사각형 12"/>
          <p:cNvSpPr/>
          <p:nvPr userDrawn="1"/>
        </p:nvSpPr>
        <p:spPr>
          <a:xfrm>
            <a:off x="0" y="664308"/>
            <a:ext cx="5267569" cy="125046"/>
          </a:xfrm>
          <a:prstGeom prst="rect">
            <a:avLst/>
          </a:prstGeom>
          <a:gradFill>
            <a:gsLst>
              <a:gs pos="0">
                <a:srgbClr val="C00000"/>
              </a:gs>
              <a:gs pos="100000">
                <a:schemeClr val="bg1"/>
              </a:gs>
            </a:gsLst>
            <a:lin ang="2700000" scaled="1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193592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bg>
      <p:bgPr>
        <a:gradFill>
          <a:gsLst>
            <a:gs pos="0">
              <a:schemeClr val="bg1">
                <a:gamma/>
                <a:tint val="0"/>
                <a:invGamma/>
              </a:schemeClr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02" r="171" b="7737"/>
          <a:stretch/>
        </p:blipFill>
        <p:spPr>
          <a:xfrm>
            <a:off x="7815" y="0"/>
            <a:ext cx="9128369" cy="6080307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384EBA0-D845-42F0-AE8F-FEF9FFA19A08}" type="datetime1">
              <a:rPr lang="ko-KR" altLang="en-US">
                <a:solidFill>
                  <a:prstClr val="black"/>
                </a:solidFill>
              </a:rPr>
              <a:pPr/>
              <a:t>2020-02-10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5D9309-1050-42EE-80F8-1B488A1FFC18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36"/>
          <p:cNvSpPr>
            <a:spLocks noChangeArrowheads="1"/>
          </p:cNvSpPr>
          <p:nvPr userDrawn="1"/>
        </p:nvSpPr>
        <p:spPr bwMode="ltGray">
          <a:xfrm>
            <a:off x="3743325" y="6189662"/>
            <a:ext cx="5400675" cy="109537"/>
          </a:xfrm>
          <a:prstGeom prst="rect">
            <a:avLst/>
          </a:prstGeom>
          <a:gradFill rotWithShape="1">
            <a:gsLst>
              <a:gs pos="0">
                <a:schemeClr val="accent1">
                  <a:gamma/>
                  <a:tint val="0"/>
                  <a:invGamma/>
                </a:schemeClr>
              </a:gs>
              <a:gs pos="100000">
                <a:srgbClr val="C0000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>
              <a:solidFill>
                <a:prstClr val="black"/>
              </a:solidFill>
              <a:latin typeface="Calibri Light" panose="020F0302020204030204"/>
              <a:ea typeface="굴림" pitchFamily="50" charset="-127"/>
            </a:endParaRPr>
          </a:p>
        </p:txBody>
      </p:sp>
      <p:sp>
        <p:nvSpPr>
          <p:cNvPr id="10" name="Rectangle 36"/>
          <p:cNvSpPr>
            <a:spLocks noChangeArrowheads="1"/>
          </p:cNvSpPr>
          <p:nvPr userDrawn="1"/>
        </p:nvSpPr>
        <p:spPr bwMode="ltGray">
          <a:xfrm>
            <a:off x="3743325" y="6189662"/>
            <a:ext cx="5400675" cy="109537"/>
          </a:xfrm>
          <a:prstGeom prst="rect">
            <a:avLst/>
          </a:prstGeom>
          <a:gradFill rotWithShape="1">
            <a:gsLst>
              <a:gs pos="0">
                <a:schemeClr val="accent1">
                  <a:gamma/>
                  <a:tint val="0"/>
                  <a:invGamma/>
                </a:schemeClr>
              </a:gs>
              <a:gs pos="100000">
                <a:srgbClr val="C0000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>
              <a:solidFill>
                <a:prstClr val="black"/>
              </a:solidFill>
              <a:latin typeface="Calibri Light" panose="020F0302020204030204"/>
              <a:ea typeface="굴림" pitchFamily="50" charset="-127"/>
            </a:endParaRPr>
          </a:p>
        </p:txBody>
      </p:sp>
      <p:sp>
        <p:nvSpPr>
          <p:cNvPr id="14" name="직사각형 13"/>
          <p:cNvSpPr/>
          <p:nvPr userDrawn="1"/>
        </p:nvSpPr>
        <p:spPr>
          <a:xfrm>
            <a:off x="-1" y="0"/>
            <a:ext cx="703385" cy="6327321"/>
          </a:xfrm>
          <a:prstGeom prst="rect">
            <a:avLst/>
          </a:prstGeom>
          <a:gradFill flip="none" rotWithShape="1">
            <a:gsLst>
              <a:gs pos="0">
                <a:srgbClr val="C00000"/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9195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02" r="171" b="7737"/>
          <a:stretch/>
        </p:blipFill>
        <p:spPr>
          <a:xfrm>
            <a:off x="7815" y="0"/>
            <a:ext cx="9128369" cy="608030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15" name="그룹 14"/>
          <p:cNvGrpSpPr/>
          <p:nvPr userDrawn="1"/>
        </p:nvGrpSpPr>
        <p:grpSpPr>
          <a:xfrm>
            <a:off x="0" y="0"/>
            <a:ext cx="9144000" cy="6299199"/>
            <a:chOff x="0" y="0"/>
            <a:chExt cx="9144000" cy="6299199"/>
          </a:xfrm>
        </p:grpSpPr>
        <p:grpSp>
          <p:nvGrpSpPr>
            <p:cNvPr id="13" name="그룹 12"/>
            <p:cNvGrpSpPr/>
            <p:nvPr userDrawn="1"/>
          </p:nvGrpSpPr>
          <p:grpSpPr>
            <a:xfrm>
              <a:off x="0" y="0"/>
              <a:ext cx="773723" cy="1391138"/>
              <a:chOff x="0" y="0"/>
              <a:chExt cx="773723" cy="1391138"/>
            </a:xfrm>
          </p:grpSpPr>
          <p:sp>
            <p:nvSpPr>
              <p:cNvPr id="11" name="직사각형 10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2" name="순서도: 대체 처리 11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4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  <a:latin typeface="Calibri Light" panose="020F0302020204030204"/>
                <a:ea typeface="굴림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67780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15" name="그룹 14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13" name="그룹 12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7" name="그림 6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1" name="직사각형 10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2" name="순서도: 대체 처리 11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4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  <a:latin typeface="Calibri Light" panose="020F0302020204030204"/>
                <a:ea typeface="굴림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7119778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15" name="그룹 14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13" name="그룹 12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7" name="그림 6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1" name="직사각형 10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2" name="순서도: 대체 처리 11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4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  <a:latin typeface="Calibri Light" panose="020F0302020204030204"/>
                <a:ea typeface="굴림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194358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0ECB9303-23DD-4DAD-82E5-BE5FA8AD479D}" type="datetime1">
              <a:rPr lang="ko-KR" altLang="en-US">
                <a:solidFill>
                  <a:prstClr val="black"/>
                </a:solidFill>
              </a:rPr>
              <a:pPr/>
              <a:t>2020-02-10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8" name="그룹 7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9" name="그룹 8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11" name="그림 10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2" name="직사각형 11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3" name="순서도: 대체 처리 12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0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  <a:latin typeface="Calibri Light" panose="020F0302020204030204"/>
                <a:ea typeface="굴림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8713419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0B2E7680-79CB-4044-96A0-D85FB8684ABF}" type="datetime1">
              <a:rPr lang="ko-KR" altLang="en-US">
                <a:solidFill>
                  <a:prstClr val="black"/>
                </a:solidFill>
              </a:rPr>
              <a:pPr/>
              <a:t>2020-02-10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11" name="그룹 10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13" name="그림 12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4" name="직사각형 13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5" name="순서도: 대체 처리 14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2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  <a:latin typeface="Calibri Light" panose="020F0302020204030204"/>
                <a:ea typeface="굴림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418244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798CB09-95B7-4DB1-AC73-92207A92B004}" type="datetime1">
              <a:rPr lang="ko-KR" altLang="en-US">
                <a:solidFill>
                  <a:prstClr val="black"/>
                </a:solidFill>
              </a:rPr>
              <a:pPr/>
              <a:t>2020-02-10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6" name="그룹 5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7" name="그룹 6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9" name="그림 8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0" name="직사각형 9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1" name="순서도: 대체 처리 10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8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  <a:latin typeface="Calibri Light" panose="020F0302020204030204"/>
                <a:ea typeface="굴림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876719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0E638BD-D3BC-49D7-9D7E-DD9B3D9505D6}" type="datetime1">
              <a:rPr lang="ko-KR" altLang="en-US">
                <a:solidFill>
                  <a:prstClr val="black"/>
                </a:solidFill>
              </a:rPr>
              <a:pPr/>
              <a:t>2020-02-10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5" name="그룹 4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6" name="그룹 5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8" name="그림 7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9" name="직사각형 8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" name="순서도: 대체 처리 9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7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  <a:latin typeface="Calibri Light" panose="020F0302020204030204"/>
                <a:ea typeface="굴림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230033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CD89AC1-201F-414C-B5CA-EE2DC68C7E36}" type="datetime1">
              <a:rPr lang="ko-KR" altLang="en-US">
                <a:solidFill>
                  <a:prstClr val="black"/>
                </a:solidFill>
              </a:rPr>
              <a:pPr/>
              <a:t>2020-02-10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8" name="그룹 7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9" name="그룹 8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11" name="그림 10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2" name="직사각형 11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3" name="순서도: 대체 처리 12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0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  <a:latin typeface="Calibri Light" panose="020F0302020204030204"/>
                <a:ea typeface="굴림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553829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9099664-DD0E-48E1-8209-9915005B27D0}" type="datetime1">
              <a:rPr lang="ko-KR" altLang="en-US">
                <a:solidFill>
                  <a:prstClr val="black"/>
                </a:solidFill>
              </a:rPr>
              <a:pPr/>
              <a:t>2020-02-10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8" name="그룹 7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9" name="그룹 8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11" name="그림 10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2" name="직사각형 11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3" name="순서도: 대체 처리 12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0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  <a:latin typeface="Calibri Light" panose="020F0302020204030204"/>
                <a:ea typeface="굴림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2033583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582A2DBF-BD4F-4B18-9E0C-A4C5757A249A}" type="datetime1">
              <a:rPr lang="ko-KR" altLang="en-US">
                <a:solidFill>
                  <a:prstClr val="black"/>
                </a:solidFill>
              </a:rPr>
              <a:pPr/>
              <a:t>2020-02-10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그룹 6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8" name="그룹 7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10" name="그림 9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1" name="직사각형 10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2" name="순서도: 대체 처리 11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9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  <a:latin typeface="Calibri Light" panose="020F0302020204030204"/>
                <a:ea typeface="굴림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368112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ED522DE-6D31-4807-A3A0-101F480AEB99}" type="datetime1">
              <a:rPr lang="ko-KR" altLang="en-US">
                <a:solidFill>
                  <a:prstClr val="black"/>
                </a:solidFill>
              </a:rPr>
              <a:pPr/>
              <a:t>2020-02-10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그룹 6"/>
          <p:cNvGrpSpPr/>
          <p:nvPr userDrawn="1"/>
        </p:nvGrpSpPr>
        <p:grpSpPr>
          <a:xfrm>
            <a:off x="0" y="0"/>
            <a:ext cx="9144000" cy="6327321"/>
            <a:chOff x="0" y="0"/>
            <a:chExt cx="9144000" cy="6327321"/>
          </a:xfrm>
        </p:grpSpPr>
        <p:grpSp>
          <p:nvGrpSpPr>
            <p:cNvPr id="8" name="그룹 7"/>
            <p:cNvGrpSpPr/>
            <p:nvPr userDrawn="1"/>
          </p:nvGrpSpPr>
          <p:grpSpPr>
            <a:xfrm>
              <a:off x="0" y="0"/>
              <a:ext cx="9144000" cy="6327321"/>
              <a:chOff x="0" y="0"/>
              <a:chExt cx="9144000" cy="6327321"/>
            </a:xfrm>
          </p:grpSpPr>
          <p:pic>
            <p:nvPicPr>
              <p:cNvPr id="10" name="그림 9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737"/>
              <a:stretch/>
            </p:blipFill>
            <p:spPr>
              <a:xfrm>
                <a:off x="0" y="0"/>
                <a:ext cx="9144000" cy="6327321"/>
              </a:xfrm>
              <a:prstGeom prst="rect">
                <a:avLst/>
              </a:prstGeom>
            </p:spPr>
          </p:pic>
          <p:sp>
            <p:nvSpPr>
              <p:cNvPr id="11" name="직사각형 10"/>
              <p:cNvSpPr/>
              <p:nvPr userDrawn="1"/>
            </p:nvSpPr>
            <p:spPr>
              <a:xfrm>
                <a:off x="0" y="0"/>
                <a:ext cx="554892" cy="1101969"/>
              </a:xfrm>
              <a:prstGeom prst="rect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2" name="순서도: 대체 처리 11"/>
              <p:cNvSpPr/>
              <p:nvPr userDrawn="1"/>
            </p:nvSpPr>
            <p:spPr>
              <a:xfrm>
                <a:off x="277446" y="476738"/>
                <a:ext cx="496277" cy="914400"/>
              </a:xfrm>
              <a:prstGeom prst="flowChartAlternateProcess">
                <a:avLst/>
              </a:prstGeom>
              <a:gradFill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9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9" name="Rectangle 36"/>
            <p:cNvSpPr>
              <a:spLocks noChangeArrowheads="1"/>
            </p:cNvSpPr>
            <p:nvPr userDrawn="1"/>
          </p:nvSpPr>
          <p:spPr bwMode="ltGray">
            <a:xfrm>
              <a:off x="3743325" y="6189662"/>
              <a:ext cx="5400675" cy="10953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rgbClr val="C0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  <a:latin typeface="Calibri Light" panose="020F0302020204030204"/>
                <a:ea typeface="굴림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8193494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5209B86F-81A0-4D8A-9939-B043AE8FD06C}" type="datetime1">
              <a:rPr lang="en-US" altLang="ko-KR">
                <a:solidFill>
                  <a:prstClr val="black"/>
                </a:solidFill>
              </a:rPr>
              <a:pPr/>
              <a:t>2/10/2020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ko-KR">
                <a:solidFill>
                  <a:prstClr val="black"/>
                </a:solidFill>
              </a:rPr>
              <a:t>Lecture by Heung-No Lee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16A20-09B9-42ED-997C-B9DB3F55464B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06262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543300" y="6419396"/>
            <a:ext cx="2057400" cy="365125"/>
          </a:xfrm>
        </p:spPr>
        <p:txBody>
          <a:bodyPr/>
          <a:lstStyle>
            <a:lvl1pPr algn="ctr">
              <a:defRPr/>
            </a:lvl1pPr>
          </a:lstStyle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Rectangle 36"/>
          <p:cNvSpPr>
            <a:spLocks noChangeArrowheads="1"/>
          </p:cNvSpPr>
          <p:nvPr userDrawn="1"/>
        </p:nvSpPr>
        <p:spPr bwMode="ltGray">
          <a:xfrm>
            <a:off x="3743325" y="6189662"/>
            <a:ext cx="5400675" cy="109537"/>
          </a:xfrm>
          <a:prstGeom prst="rect">
            <a:avLst/>
          </a:prstGeom>
          <a:gradFill rotWithShape="1">
            <a:gsLst>
              <a:gs pos="0">
                <a:schemeClr val="accent1">
                  <a:gamma/>
                  <a:tint val="0"/>
                  <a:invGamma/>
                </a:schemeClr>
              </a:gs>
              <a:gs pos="100000">
                <a:srgbClr val="C0000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>
              <a:solidFill>
                <a:prstClr val="black"/>
              </a:solidFill>
              <a:ea typeface="굴림" pitchFamily="50" charset="-127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085" b="94"/>
          <a:stretch/>
        </p:blipFill>
        <p:spPr>
          <a:xfrm>
            <a:off x="0" y="564502"/>
            <a:ext cx="2735385" cy="4671801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15" t="61156"/>
          <a:stretch/>
        </p:blipFill>
        <p:spPr>
          <a:xfrm>
            <a:off x="6822830" y="4001477"/>
            <a:ext cx="2321170" cy="1902624"/>
          </a:xfrm>
          <a:prstGeom prst="rect">
            <a:avLst/>
          </a:prstGeom>
        </p:spPr>
      </p:pic>
      <p:sp>
        <p:nvSpPr>
          <p:cNvPr id="13" name="직사각형 12"/>
          <p:cNvSpPr/>
          <p:nvPr userDrawn="1"/>
        </p:nvSpPr>
        <p:spPr>
          <a:xfrm>
            <a:off x="0" y="664308"/>
            <a:ext cx="5267569" cy="125046"/>
          </a:xfrm>
          <a:prstGeom prst="rect">
            <a:avLst/>
          </a:prstGeom>
          <a:gradFill>
            <a:gsLst>
              <a:gs pos="0">
                <a:srgbClr val="C00000"/>
              </a:gs>
              <a:gs pos="100000">
                <a:schemeClr val="bg1"/>
              </a:gs>
            </a:gsLst>
            <a:lin ang="2700000" scaled="1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7572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8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161D2A-CC77-431A-9C18-4BC25EC42BA8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2020-02-10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B4C294-1E23-4778-AC4B-B6C3ED440A7A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2149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3900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16" name="그룹 15"/>
          <p:cNvGrpSpPr/>
          <p:nvPr/>
        </p:nvGrpSpPr>
        <p:grpSpPr>
          <a:xfrm>
            <a:off x="6643077" y="6351654"/>
            <a:ext cx="2680678" cy="421016"/>
            <a:chOff x="6643077" y="6351654"/>
            <a:chExt cx="2680678" cy="421016"/>
          </a:xfrm>
        </p:grpSpPr>
        <p:sp>
          <p:nvSpPr>
            <p:cNvPr id="9" name="TextBox 8"/>
            <p:cNvSpPr txBox="1"/>
            <p:nvPr userDrawn="1"/>
          </p:nvSpPr>
          <p:spPr>
            <a:xfrm>
              <a:off x="6643077" y="6572615"/>
              <a:ext cx="268067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err="1">
                  <a:solidFill>
                    <a:prstClr val="black"/>
                  </a:solidFill>
                </a:rPr>
                <a:t>INFOrmation</a:t>
              </a:r>
              <a:r>
                <a:rPr lang="en-US" altLang="ko-KR" sz="700">
                  <a:solidFill>
                    <a:prstClr val="black"/>
                  </a:solidFill>
                </a:rPr>
                <a:t> sensing, processing, controlling, and </a:t>
              </a:r>
              <a:r>
                <a:rPr lang="en-US" altLang="ko-KR" sz="700" err="1">
                  <a:solidFill>
                    <a:prstClr val="black"/>
                  </a:solidFill>
                </a:rPr>
                <a:t>NETworking</a:t>
              </a:r>
              <a:endParaRPr lang="ko-KR" altLang="en-US" sz="700">
                <a:solidFill>
                  <a:prstClr val="black"/>
                </a:solidFill>
              </a:endParaRPr>
            </a:p>
          </p:txBody>
        </p:sp>
        <p:sp>
          <p:nvSpPr>
            <p:cNvPr id="10" name="TextBox 9"/>
            <p:cNvSpPr txBox="1"/>
            <p:nvPr userDrawn="1"/>
          </p:nvSpPr>
          <p:spPr>
            <a:xfrm>
              <a:off x="6760308" y="6351654"/>
              <a:ext cx="23836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>
                  <a:solidFill>
                    <a:prstClr val="black"/>
                  </a:solidFill>
                </a:rPr>
                <a:t>INFONET Lab</a:t>
              </a:r>
              <a:endParaRPr lang="ko-KR" altLang="en-US" b="1">
                <a:solidFill>
                  <a:prstClr val="black"/>
                </a:solidFill>
              </a:endParaRPr>
            </a:p>
          </p:txBody>
        </p:sp>
      </p:grpSp>
      <p:pic>
        <p:nvPicPr>
          <p:cNvPr id="11" name="그림 1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41526" y="6364536"/>
            <a:ext cx="774247" cy="41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763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3900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16" name="그룹 15"/>
          <p:cNvGrpSpPr/>
          <p:nvPr/>
        </p:nvGrpSpPr>
        <p:grpSpPr>
          <a:xfrm>
            <a:off x="6643077" y="6351654"/>
            <a:ext cx="2680678" cy="421016"/>
            <a:chOff x="6643077" y="6351654"/>
            <a:chExt cx="2680678" cy="421016"/>
          </a:xfrm>
        </p:grpSpPr>
        <p:sp>
          <p:nvSpPr>
            <p:cNvPr id="9" name="TextBox 8"/>
            <p:cNvSpPr txBox="1"/>
            <p:nvPr userDrawn="1"/>
          </p:nvSpPr>
          <p:spPr>
            <a:xfrm>
              <a:off x="6643077" y="6572615"/>
              <a:ext cx="268067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err="1">
                  <a:solidFill>
                    <a:prstClr val="black"/>
                  </a:solidFill>
                </a:rPr>
                <a:t>INFOrmation</a:t>
              </a:r>
              <a:r>
                <a:rPr lang="en-US" altLang="ko-KR" sz="700">
                  <a:solidFill>
                    <a:prstClr val="black"/>
                  </a:solidFill>
                </a:rPr>
                <a:t> sensing, processing, controlling, and </a:t>
              </a:r>
              <a:r>
                <a:rPr lang="en-US" altLang="ko-KR" sz="700" err="1">
                  <a:solidFill>
                    <a:prstClr val="black"/>
                  </a:solidFill>
                </a:rPr>
                <a:t>NETworking</a:t>
              </a:r>
              <a:endParaRPr lang="ko-KR" altLang="en-US" sz="700">
                <a:solidFill>
                  <a:prstClr val="black"/>
                </a:solidFill>
              </a:endParaRPr>
            </a:p>
          </p:txBody>
        </p:sp>
        <p:sp>
          <p:nvSpPr>
            <p:cNvPr id="10" name="TextBox 9"/>
            <p:cNvSpPr txBox="1"/>
            <p:nvPr userDrawn="1"/>
          </p:nvSpPr>
          <p:spPr>
            <a:xfrm>
              <a:off x="6760308" y="6351654"/>
              <a:ext cx="23836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>
                  <a:solidFill>
                    <a:prstClr val="black"/>
                  </a:solidFill>
                </a:rPr>
                <a:t>INFONET Lab</a:t>
              </a:r>
              <a:endParaRPr lang="ko-KR" altLang="en-US" b="1">
                <a:solidFill>
                  <a:prstClr val="black"/>
                </a:solidFill>
              </a:endParaRPr>
            </a:p>
          </p:txBody>
        </p:sp>
      </p:grpSp>
      <p:pic>
        <p:nvPicPr>
          <p:cNvPr id="11" name="그림 1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1526" y="6364536"/>
            <a:ext cx="774247" cy="41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486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4" r:id="rId15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9.xml"/><Relationship Id="rId5" Type="http://schemas.openxmlformats.org/officeDocument/2006/relationships/hyperlink" Target="https://trendw.kr/2019-11185592.t1m" TargetMode="External"/><Relationship Id="rId4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1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9.xml"/><Relationship Id="rId5" Type="http://schemas.openxmlformats.org/officeDocument/2006/relationships/hyperlink" Target="https://btc.com/stats/pool" TargetMode="External"/><Relationship Id="rId4" Type="http://schemas.openxmlformats.org/officeDocument/2006/relationships/image" Target="../media/image8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9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9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30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9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43.xml"/><Relationship Id="rId7" Type="http://schemas.openxmlformats.org/officeDocument/2006/relationships/image" Target="../media/image32.wmf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1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33.w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notesSlide" Target="../notesSlides/notesSlide44.xml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4.wmf"/><Relationship Id="rId11" Type="http://schemas.openxmlformats.org/officeDocument/2006/relationships/image" Target="../media/image37.png"/><Relationship Id="rId5" Type="http://schemas.openxmlformats.org/officeDocument/2006/relationships/oleObject" Target="../embeddings/oleObject4.bin"/><Relationship Id="rId10" Type="http://schemas.openxmlformats.org/officeDocument/2006/relationships/image" Target="../media/image36.wmf"/><Relationship Id="rId4" Type="http://schemas.openxmlformats.org/officeDocument/2006/relationships/image" Target="../media/image280.png"/><Relationship Id="rId9" Type="http://schemas.openxmlformats.org/officeDocument/2006/relationships/oleObject" Target="../embeddings/oleObject6.bin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9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9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9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9956" y="274320"/>
            <a:ext cx="4954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prstClr val="black"/>
                </a:solidFill>
              </a:rPr>
              <a:t>2019</a:t>
            </a:r>
            <a:r>
              <a:rPr lang="ko-KR" altLang="en-US" b="1" dirty="0">
                <a:solidFill>
                  <a:prstClr val="black"/>
                </a:solidFill>
              </a:rPr>
              <a:t> 혁신 실용화 과제 보고 발표자료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52500" y="3416157"/>
            <a:ext cx="4705003" cy="240065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endParaRPr lang="en-US" altLang="ko-KR" dirty="0">
              <a:solidFill>
                <a:prstClr val="black"/>
              </a:solidFill>
            </a:endParaRPr>
          </a:p>
          <a:p>
            <a:pPr algn="ctr"/>
            <a:r>
              <a:rPr lang="ko-KR" altLang="en-US" sz="2000" b="1" dirty="0">
                <a:solidFill>
                  <a:prstClr val="black"/>
                </a:solidFill>
              </a:rPr>
              <a:t>이 흥 노</a:t>
            </a:r>
            <a:r>
              <a:rPr lang="ko-KR" altLang="en-US" b="1" dirty="0">
                <a:solidFill>
                  <a:prstClr val="black"/>
                </a:solidFill>
              </a:rPr>
              <a:t> 교수</a:t>
            </a:r>
            <a:endParaRPr lang="en-US" altLang="ko-KR" b="1" dirty="0">
              <a:solidFill>
                <a:prstClr val="black"/>
              </a:solidFill>
            </a:endParaRPr>
          </a:p>
          <a:p>
            <a:pPr algn="ctr"/>
            <a:endParaRPr lang="en-US" altLang="ko-KR" b="1" dirty="0">
              <a:solidFill>
                <a:prstClr val="black"/>
              </a:solidFill>
            </a:endParaRPr>
          </a:p>
          <a:p>
            <a:pPr algn="ctr"/>
            <a:r>
              <a:rPr lang="ko-KR" altLang="en-US" b="1" dirty="0">
                <a:solidFill>
                  <a:prstClr val="black"/>
                </a:solidFill>
              </a:rPr>
              <a:t>전기전자컴퓨터공학부</a:t>
            </a:r>
            <a:endParaRPr lang="en-US" altLang="ko-KR" b="1" dirty="0">
              <a:solidFill>
                <a:prstClr val="black"/>
              </a:solidFill>
            </a:endParaRPr>
          </a:p>
          <a:p>
            <a:pPr algn="ctr"/>
            <a:endParaRPr lang="en-US" altLang="ko-KR" b="1" dirty="0">
              <a:solidFill>
                <a:prstClr val="black"/>
              </a:solidFill>
            </a:endParaRPr>
          </a:p>
          <a:p>
            <a:pPr algn="ctr"/>
            <a:r>
              <a:rPr lang="ko-KR" altLang="en-US" b="1" dirty="0">
                <a:solidFill>
                  <a:prstClr val="black"/>
                </a:solidFill>
              </a:rPr>
              <a:t>광주과학기술원</a:t>
            </a:r>
            <a:endParaRPr lang="en-US" altLang="ko-KR" b="1" dirty="0">
              <a:solidFill>
                <a:prstClr val="black"/>
              </a:solidFill>
            </a:endParaRPr>
          </a:p>
          <a:p>
            <a:pPr algn="ctr"/>
            <a:endParaRPr lang="en-US" altLang="ko-KR" b="1" dirty="0">
              <a:solidFill>
                <a:prstClr val="black"/>
              </a:solidFill>
            </a:endParaRPr>
          </a:p>
          <a:p>
            <a:pPr algn="ctr"/>
            <a:r>
              <a:rPr lang="en-US" altLang="ko-KR" b="1" dirty="0">
                <a:solidFill>
                  <a:prstClr val="black"/>
                </a:solidFill>
              </a:rPr>
              <a:t>2020. 2. 11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4210" y="1734128"/>
            <a:ext cx="6421584" cy="1314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lnSpc>
                <a:spcPct val="150000"/>
              </a:lnSpc>
            </a:pPr>
            <a:r>
              <a:rPr lang="ko-KR" altLang="en-US" sz="2800" b="1" dirty="0">
                <a:solidFill>
                  <a:prstClr val="black"/>
                </a:solidFill>
              </a:rPr>
              <a:t>암호</a:t>
            </a:r>
            <a:r>
              <a:rPr lang="en-US" altLang="ko-KR" sz="2800" b="1" dirty="0">
                <a:solidFill>
                  <a:prstClr val="black"/>
                </a:solidFill>
              </a:rPr>
              <a:t>-</a:t>
            </a:r>
            <a:r>
              <a:rPr lang="ko-KR" altLang="en-US" sz="2800" b="1" dirty="0">
                <a:solidFill>
                  <a:prstClr val="black"/>
                </a:solidFill>
              </a:rPr>
              <a:t>부호 작업증명 </a:t>
            </a:r>
            <a:r>
              <a:rPr lang="en-US" altLang="ko-KR" sz="2800" b="1" dirty="0">
                <a:solidFill>
                  <a:prstClr val="black"/>
                </a:solidFill>
              </a:rPr>
              <a:t>(</a:t>
            </a:r>
            <a:r>
              <a:rPr lang="en-US" altLang="ko-KR" sz="2800" b="1" dirty="0" err="1">
                <a:solidFill>
                  <a:prstClr val="black"/>
                </a:solidFill>
              </a:rPr>
              <a:t>PoW</a:t>
            </a:r>
            <a:r>
              <a:rPr lang="en-US" altLang="ko-KR" sz="2800" b="1" dirty="0">
                <a:solidFill>
                  <a:prstClr val="black"/>
                </a:solidFill>
              </a:rPr>
              <a:t>) </a:t>
            </a:r>
            <a:br>
              <a:rPr lang="en-US" altLang="ko-KR" sz="2800" b="1" dirty="0">
                <a:solidFill>
                  <a:prstClr val="black"/>
                </a:solidFill>
              </a:rPr>
            </a:br>
            <a:r>
              <a:rPr lang="ko-KR" altLang="en-US" sz="2800" b="1" dirty="0">
                <a:solidFill>
                  <a:prstClr val="black"/>
                </a:solidFill>
              </a:rPr>
              <a:t>비트코인</a:t>
            </a:r>
            <a:r>
              <a:rPr lang="en-US" altLang="ko-KR" sz="2800" b="1" dirty="0">
                <a:solidFill>
                  <a:prstClr val="black"/>
                </a:solidFill>
              </a:rPr>
              <a:t>/</a:t>
            </a:r>
            <a:r>
              <a:rPr lang="ko-KR" altLang="en-US" sz="2800" b="1" dirty="0" err="1">
                <a:solidFill>
                  <a:prstClr val="black"/>
                </a:solidFill>
              </a:rPr>
              <a:t>이더리움</a:t>
            </a:r>
            <a:r>
              <a:rPr lang="ko-KR" altLang="en-US" sz="2800" b="1" dirty="0">
                <a:solidFill>
                  <a:prstClr val="black"/>
                </a:solidFill>
              </a:rPr>
              <a:t> 하드포크 </a:t>
            </a:r>
            <a:r>
              <a:rPr lang="en-US" altLang="ko-KR" sz="2800" b="1" dirty="0">
                <a:solidFill>
                  <a:prstClr val="black"/>
                </a:solidFill>
              </a:rPr>
              <a:t>1.0 </a:t>
            </a:r>
            <a:r>
              <a:rPr lang="ko-KR" altLang="en-US" sz="2800" b="1" dirty="0">
                <a:solidFill>
                  <a:prstClr val="black"/>
                </a:solidFill>
              </a:rPr>
              <a:t>개발</a:t>
            </a:r>
          </a:p>
        </p:txBody>
      </p:sp>
    </p:spTree>
    <p:extLst>
      <p:ext uri="{BB962C8B-B14F-4D97-AF65-F5344CB8AC3E}">
        <p14:creationId xmlns:p14="http://schemas.microsoft.com/office/powerpoint/2010/main" val="670232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28650" y="74814"/>
            <a:ext cx="50624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prstClr val="black"/>
                </a:solidFill>
              </a:rPr>
              <a:t>연구 개요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2248943"/>
              </p:ext>
            </p:extLst>
          </p:nvPr>
        </p:nvGraphicFramePr>
        <p:xfrm>
          <a:off x="880190" y="1924939"/>
          <a:ext cx="7812397" cy="3202659"/>
        </p:xfrm>
        <a:graphic>
          <a:graphicData uri="http://schemas.openxmlformats.org/drawingml/2006/table">
            <a:tbl>
              <a:tblPr/>
              <a:tblGrid>
                <a:gridCol w="84462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79471">
                  <a:extLst>
                    <a:ext uri="{9D8B030D-6E8A-4147-A177-3AD203B41FA5}">
                      <a16:colId xmlns="" xmlns:a16="http://schemas.microsoft.com/office/drawing/2014/main" val="1769153520"/>
                    </a:ext>
                  </a:extLst>
                </a:gridCol>
                <a:gridCol w="598829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503567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사 업 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혁신 실용화 과제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57098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과제명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국문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암호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부호 작업증명 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altLang="ko-KR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PoW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비트코인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이더리움</a:t>
                      </a: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하드포크 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 </a:t>
                      </a: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</a:t>
                      </a:r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155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영문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Development of Error </a:t>
                      </a:r>
                      <a:r>
                        <a:rPr lang="en-US" altLang="ko-KR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Correction Codes </a:t>
                      </a:r>
                      <a:r>
                        <a:rPr lang="en-US" altLang="ko-KR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PoW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and Bitcoin/</a:t>
                      </a:r>
                      <a:r>
                        <a:rPr lang="en-US" altLang="ko-KR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Ethereum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Hardfork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1.0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553451381"/>
                  </a:ext>
                </a:extLst>
              </a:tr>
              <a:tr h="552240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주관기관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광주과학기술원 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책임자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이흥노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58800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연구기간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2019. 02. 01 ~ 2019. 12.31 (11 </a:t>
                      </a: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개월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515388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연구비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총 연구비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100,000,000 </a:t>
                      </a: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</a:t>
                      </a:r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547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827584" y="1412776"/>
            <a:ext cx="7632848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 smtClean="0">
                <a:solidFill>
                  <a:sysClr val="windowText" lastClr="000000"/>
                </a:solidFill>
                <a:latin typeface="+mn-ea"/>
              </a:rPr>
              <a:t>Section I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b="1" dirty="0" smtClean="0">
                <a:solidFill>
                  <a:sysClr val="windowText" lastClr="000000"/>
                </a:solidFill>
                <a:latin typeface="+mn-ea"/>
              </a:rPr>
              <a:t>연구 책임자</a:t>
            </a:r>
            <a:r>
              <a:rPr lang="en-US" altLang="ko-KR" b="1" dirty="0" smtClean="0">
                <a:solidFill>
                  <a:sysClr val="windowText" lastClr="000000"/>
                </a:solidFill>
                <a:latin typeface="+mn-ea"/>
              </a:rPr>
              <a:t>,</a:t>
            </a:r>
            <a:r>
              <a:rPr lang="ko-KR" altLang="en-US" b="1" dirty="0" smtClean="0">
                <a:solidFill>
                  <a:sysClr val="windowText" lastClr="000000"/>
                </a:solidFill>
                <a:latin typeface="+mn-ea"/>
              </a:rPr>
              <a:t>연구 배경 및 필요성</a:t>
            </a:r>
            <a:r>
              <a:rPr lang="en-US" altLang="ko-KR" b="1" dirty="0" smtClean="0">
                <a:solidFill>
                  <a:sysClr val="windowText" lastClr="000000"/>
                </a:solidFill>
                <a:latin typeface="+mn-ea"/>
              </a:rPr>
              <a:t>, </a:t>
            </a:r>
            <a:r>
              <a:rPr lang="ko-KR" altLang="en-US" b="1" dirty="0" smtClean="0">
                <a:solidFill>
                  <a:sysClr val="windowText" lastClr="000000"/>
                </a:solidFill>
                <a:latin typeface="+mn-ea"/>
              </a:rPr>
              <a:t>연구 목표</a:t>
            </a:r>
            <a:endParaRPr lang="en-US" altLang="ko-KR" b="1" dirty="0" smtClean="0">
              <a:solidFill>
                <a:sysClr val="windowText" lastClr="000000"/>
              </a:solidFill>
              <a:latin typeface="+mn-ea"/>
            </a:endParaRPr>
          </a:p>
          <a:p>
            <a:pPr marL="457200" indent="-457200">
              <a:buFont typeface="+mj-lt"/>
              <a:buAutoNum type="arabicPeriod"/>
            </a:pPr>
            <a:endParaRPr lang="en-US" altLang="ko-KR" b="1" dirty="0" smtClean="0">
              <a:solidFill>
                <a:sysClr val="windowText" lastClr="000000"/>
              </a:solidFill>
              <a:latin typeface="+mn-ea"/>
            </a:endParaRPr>
          </a:p>
          <a:p>
            <a:r>
              <a:rPr lang="en-US" altLang="ko-KR" b="1" dirty="0" smtClean="0">
                <a:solidFill>
                  <a:prstClr val="black"/>
                </a:solidFill>
                <a:latin typeface="+mn-ea"/>
              </a:rPr>
              <a:t>Section II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b="1" dirty="0">
                <a:solidFill>
                  <a:sysClr val="windowText" lastClr="000000"/>
                </a:solidFill>
                <a:latin typeface="+mn-ea"/>
              </a:rPr>
              <a:t>연구 </a:t>
            </a:r>
            <a:r>
              <a:rPr lang="ko-KR" altLang="en-US" b="1" dirty="0" smtClean="0">
                <a:solidFill>
                  <a:sysClr val="windowText" lastClr="000000"/>
                </a:solidFill>
                <a:latin typeface="+mn-ea"/>
              </a:rPr>
              <a:t>수행 요약</a:t>
            </a:r>
            <a:r>
              <a:rPr lang="en-US" altLang="ko-KR" b="1" dirty="0" smtClean="0">
                <a:solidFill>
                  <a:sysClr val="windowText" lastClr="000000"/>
                </a:solidFill>
                <a:latin typeface="+mn-ea"/>
              </a:rPr>
              <a:t>, </a:t>
            </a:r>
            <a:r>
              <a:rPr lang="ko-KR" altLang="en-US" b="1" dirty="0" smtClean="0">
                <a:solidFill>
                  <a:sysClr val="windowText" lastClr="000000"/>
                </a:solidFill>
                <a:latin typeface="+mn-ea"/>
              </a:rPr>
              <a:t>연구 실적 요약</a:t>
            </a:r>
            <a:r>
              <a:rPr lang="en-US" altLang="ko-KR" b="1" dirty="0" smtClean="0">
                <a:solidFill>
                  <a:sysClr val="windowText" lastClr="000000"/>
                </a:solidFill>
                <a:latin typeface="+mn-ea"/>
              </a:rPr>
              <a:t>, </a:t>
            </a:r>
            <a:r>
              <a:rPr lang="ko-KR" altLang="en-US" b="1" dirty="0" smtClean="0">
                <a:solidFill>
                  <a:sysClr val="windowText" lastClr="000000"/>
                </a:solidFill>
                <a:latin typeface="+mn-ea"/>
              </a:rPr>
              <a:t>연구 예산 요약</a:t>
            </a:r>
            <a:endParaRPr lang="en-US" altLang="ko-KR" b="1" dirty="0">
              <a:solidFill>
                <a:sysClr val="windowText" lastClr="000000"/>
              </a:solidFill>
              <a:latin typeface="+mn-ea"/>
            </a:endParaRPr>
          </a:p>
          <a:p>
            <a:endParaRPr lang="en-US" altLang="ko-KR" b="1" dirty="0" smtClean="0">
              <a:solidFill>
                <a:prstClr val="black"/>
              </a:solidFill>
              <a:latin typeface="+mn-ea"/>
            </a:endParaRPr>
          </a:p>
          <a:p>
            <a:r>
              <a:rPr lang="en-US" altLang="ko-KR" b="1" dirty="0" smtClean="0">
                <a:solidFill>
                  <a:prstClr val="black"/>
                </a:solidFill>
                <a:latin typeface="+mn-ea"/>
              </a:rPr>
              <a:t>Section III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b="1" dirty="0" smtClean="0">
                <a:solidFill>
                  <a:sysClr val="windowText" lastClr="000000"/>
                </a:solidFill>
                <a:latin typeface="+mn-ea"/>
              </a:rPr>
              <a:t>탐색기 모습</a:t>
            </a:r>
            <a:r>
              <a:rPr lang="en-US" altLang="ko-KR" b="1" dirty="0" smtClean="0">
                <a:solidFill>
                  <a:sysClr val="windowText" lastClr="000000"/>
                </a:solidFill>
                <a:latin typeface="+mn-ea"/>
              </a:rPr>
              <a:t>, </a:t>
            </a:r>
            <a:r>
              <a:rPr lang="ko-KR" altLang="en-US" b="1" dirty="0" smtClean="0">
                <a:solidFill>
                  <a:sysClr val="windowText" lastClr="000000"/>
                </a:solidFill>
                <a:latin typeface="+mn-ea"/>
              </a:rPr>
              <a:t>평가 방안 설명</a:t>
            </a:r>
            <a:r>
              <a:rPr lang="en-US" altLang="ko-KR" b="1" dirty="0" smtClean="0">
                <a:solidFill>
                  <a:sysClr val="windowText" lastClr="000000"/>
                </a:solidFill>
                <a:latin typeface="+mn-ea"/>
              </a:rPr>
              <a:t>, </a:t>
            </a:r>
            <a:r>
              <a:rPr lang="ko-KR" altLang="en-US" b="1" dirty="0" smtClean="0">
                <a:solidFill>
                  <a:prstClr val="black"/>
                </a:solidFill>
                <a:latin typeface="+mn-ea"/>
              </a:rPr>
              <a:t>평가 결과 </a:t>
            </a:r>
            <a:endParaRPr lang="en-US" altLang="ko-KR" b="1" dirty="0" smtClean="0">
              <a:solidFill>
                <a:prstClr val="black"/>
              </a:solidFill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b="1" dirty="0" smtClean="0">
              <a:solidFill>
                <a:prstClr val="black"/>
              </a:solidFill>
              <a:latin typeface="+mn-ea"/>
            </a:endParaRPr>
          </a:p>
          <a:p>
            <a:r>
              <a:rPr lang="en-US" altLang="ko-KR" b="1" dirty="0" smtClean="0">
                <a:solidFill>
                  <a:prstClr val="black"/>
                </a:solidFill>
                <a:latin typeface="+mn-ea"/>
              </a:rPr>
              <a:t>Section IV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b="1" dirty="0">
                <a:solidFill>
                  <a:sysClr val="windowText" lastClr="000000"/>
                </a:solidFill>
                <a:latin typeface="+mn-ea"/>
              </a:rPr>
              <a:t>기대 </a:t>
            </a:r>
            <a:r>
              <a:rPr lang="ko-KR" altLang="en-US" b="1" dirty="0" smtClean="0">
                <a:solidFill>
                  <a:sysClr val="windowText" lastClr="000000"/>
                </a:solidFill>
                <a:latin typeface="+mn-ea"/>
              </a:rPr>
              <a:t>효과</a:t>
            </a:r>
            <a:r>
              <a:rPr lang="en-US" altLang="ko-KR" b="1" dirty="0" smtClean="0">
                <a:solidFill>
                  <a:sysClr val="windowText" lastClr="000000"/>
                </a:solidFill>
                <a:latin typeface="+mn-ea"/>
              </a:rPr>
              <a:t>, </a:t>
            </a:r>
            <a:r>
              <a:rPr lang="ko-KR" altLang="en-US" b="1" dirty="0" smtClean="0">
                <a:solidFill>
                  <a:sysClr val="windowText" lastClr="000000"/>
                </a:solidFill>
                <a:latin typeface="+mn-ea"/>
              </a:rPr>
              <a:t>사업화 전략</a:t>
            </a:r>
            <a:endParaRPr lang="en-US" altLang="ko-KR" b="1" dirty="0" smtClean="0">
              <a:solidFill>
                <a:sysClr val="windowText" lastClr="000000"/>
              </a:solidFill>
              <a:latin typeface="+mn-ea"/>
            </a:endParaRPr>
          </a:p>
          <a:p>
            <a:endParaRPr lang="en-US" altLang="ko-KR" b="1" dirty="0" smtClean="0">
              <a:solidFill>
                <a:prstClr val="black"/>
              </a:solidFill>
              <a:latin typeface="+mn-ea"/>
            </a:endParaRPr>
          </a:p>
          <a:p>
            <a:r>
              <a:rPr lang="ko-KR" altLang="en-US" b="1" dirty="0" smtClean="0">
                <a:solidFill>
                  <a:prstClr val="black"/>
                </a:solidFill>
                <a:latin typeface="+mn-ea"/>
              </a:rPr>
              <a:t>별첨 자료</a:t>
            </a:r>
            <a:endParaRPr lang="en-US" altLang="ko-KR" b="1" dirty="0">
              <a:solidFill>
                <a:prstClr val="black"/>
              </a:solidFill>
              <a:latin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b="1" dirty="0" smtClean="0">
                <a:solidFill>
                  <a:prstClr val="black"/>
                </a:solidFill>
                <a:latin typeface="+mn-ea"/>
              </a:rPr>
              <a:t>세부 연구 내역 상세 설명</a:t>
            </a:r>
            <a:endParaRPr lang="en-US" altLang="ko-KR" b="1" dirty="0">
              <a:solidFill>
                <a:prstClr val="black"/>
              </a:solidFill>
              <a:latin typeface="+mn-ea"/>
            </a:endParaRPr>
          </a:p>
          <a:p>
            <a:endParaRPr lang="en-US" altLang="ko-KR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6" name="TextBox 18"/>
          <p:cNvSpPr txBox="1"/>
          <p:nvPr/>
        </p:nvSpPr>
        <p:spPr>
          <a:xfrm>
            <a:off x="628650" y="74814"/>
            <a:ext cx="75374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smtClean="0">
                <a:solidFill>
                  <a:prstClr val="black"/>
                </a:solidFill>
                <a:latin typeface="+mn-ea"/>
              </a:rPr>
              <a:t>전체 목차</a:t>
            </a:r>
            <a:endParaRPr lang="ko-KR" altLang="en-US" sz="3200" b="1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95695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827584" y="1412776"/>
            <a:ext cx="763284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ko-KR" altLang="en-US" b="1" dirty="0" smtClean="0">
                <a:solidFill>
                  <a:sysClr val="windowText" lastClr="000000"/>
                </a:solidFill>
                <a:latin typeface="+mn-ea"/>
              </a:rPr>
              <a:t>연구 책임자 소개</a:t>
            </a:r>
            <a:endParaRPr lang="en-US" altLang="ko-KR" b="1" dirty="0" smtClean="0">
              <a:solidFill>
                <a:sysClr val="windowText" lastClr="000000"/>
              </a:solidFill>
              <a:latin typeface="+mn-ea"/>
            </a:endParaRPr>
          </a:p>
          <a:p>
            <a:pPr marL="457200" indent="-457200">
              <a:buFont typeface="+mj-lt"/>
              <a:buAutoNum type="arabicPeriod"/>
            </a:pPr>
            <a:endParaRPr lang="en-US" altLang="ko-KR" b="1" dirty="0" smtClean="0">
              <a:solidFill>
                <a:sysClr val="windowText" lastClr="000000"/>
              </a:solidFill>
              <a:latin typeface="+mn-ea"/>
            </a:endParaRPr>
          </a:p>
          <a:p>
            <a:pPr marL="457200" indent="-457200">
              <a:buFont typeface="+mj-lt"/>
              <a:buAutoNum type="arabicPeriod"/>
            </a:pPr>
            <a:r>
              <a:rPr lang="ko-KR" altLang="en-US" b="1" dirty="0" smtClean="0">
                <a:solidFill>
                  <a:prstClr val="black"/>
                </a:solidFill>
                <a:latin typeface="+mn-ea"/>
              </a:rPr>
              <a:t>블록체인 소개</a:t>
            </a:r>
            <a:endParaRPr lang="en-US" altLang="ko-KR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6" name="TextBox 18"/>
          <p:cNvSpPr txBox="1"/>
          <p:nvPr/>
        </p:nvSpPr>
        <p:spPr>
          <a:xfrm>
            <a:off x="628650" y="74814"/>
            <a:ext cx="75374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>
                <a:solidFill>
                  <a:prstClr val="black"/>
                </a:solidFill>
                <a:latin typeface="+mn-ea"/>
              </a:rPr>
              <a:t>Section I</a:t>
            </a:r>
            <a:endParaRPr lang="ko-KR" altLang="en-US" sz="3200" b="1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79135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8"/>
          <p:cNvSpPr txBox="1"/>
          <p:nvPr/>
        </p:nvSpPr>
        <p:spPr>
          <a:xfrm>
            <a:off x="628650" y="74814"/>
            <a:ext cx="75374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prstClr val="black"/>
                </a:solidFill>
              </a:rPr>
              <a:t>연구 </a:t>
            </a:r>
            <a:r>
              <a:rPr lang="ko-KR" altLang="en-US" sz="3200" b="1" dirty="0" smtClean="0">
                <a:solidFill>
                  <a:prstClr val="black"/>
                </a:solidFill>
              </a:rPr>
              <a:t>책임자 소개</a:t>
            </a:r>
            <a:endParaRPr lang="ko-KR" altLang="en-US" sz="3200" b="1" dirty="0">
              <a:solidFill>
                <a:prstClr val="black"/>
              </a:solidFill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196281" y="2484816"/>
            <a:ext cx="3018519" cy="2043332"/>
            <a:chOff x="150421" y="2319588"/>
            <a:chExt cx="3018519" cy="1870534"/>
          </a:xfrm>
        </p:grpSpPr>
        <p:sp>
          <p:nvSpPr>
            <p:cNvPr id="37" name="모서리가 둥근 직사각형 36"/>
            <p:cNvSpPr/>
            <p:nvPr/>
          </p:nvSpPr>
          <p:spPr bwMode="auto">
            <a:xfrm>
              <a:off x="150421" y="2457982"/>
              <a:ext cx="3018519" cy="1732140"/>
            </a:xfrm>
            <a:prstGeom prst="round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anchor="ctr" anchorCtr="0"/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100" b="1" dirty="0" smtClean="0"/>
                <a:t>국제 </a:t>
              </a:r>
              <a:r>
                <a:rPr lang="ko-KR" altLang="en-US" sz="1100" b="1" dirty="0"/>
                <a:t>논문 </a:t>
              </a:r>
              <a:r>
                <a:rPr lang="en-US" altLang="ko-KR" sz="1100" b="1" dirty="0"/>
                <a:t>(SCI) : 200+</a:t>
              </a:r>
              <a:r>
                <a:rPr lang="ko-KR" altLang="en-US" sz="1100" b="1" dirty="0"/>
                <a:t>편</a:t>
              </a:r>
              <a:r>
                <a:rPr lang="en-US" altLang="ko-KR" sz="1100" b="1" dirty="0"/>
                <a:t>(71+</a:t>
              </a:r>
              <a:r>
                <a:rPr lang="ko-KR" altLang="en-US" sz="1100" b="1" dirty="0"/>
                <a:t>편</a:t>
              </a:r>
              <a:r>
                <a:rPr lang="en-US" altLang="ko-KR" sz="1100" b="1" dirty="0"/>
                <a:t>) </a:t>
              </a: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100" b="1" kern="0" dirty="0" smtClean="0">
                  <a:solidFill>
                    <a:prstClr val="black"/>
                  </a:solidFill>
                  <a:latin typeface="맑은 고딕" panose="020B0503020000020004" pitchFamily="50" charset="-127"/>
                </a:rPr>
                <a:t>국제 </a:t>
              </a:r>
              <a:r>
                <a:rPr lang="ko-KR" altLang="en-US" sz="1100" b="1" kern="0" dirty="0">
                  <a:solidFill>
                    <a:prstClr val="black"/>
                  </a:solidFill>
                  <a:latin typeface="맑은 고딕" panose="020B0503020000020004" pitchFamily="50" charset="-127"/>
                </a:rPr>
                <a:t>특허 </a:t>
              </a:r>
              <a:r>
                <a:rPr lang="en-US" altLang="ko-KR" sz="1100" b="1" kern="0" dirty="0">
                  <a:solidFill>
                    <a:prstClr val="black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1100" b="1" kern="0" dirty="0">
                  <a:solidFill>
                    <a:prstClr val="black"/>
                  </a:solidFill>
                  <a:latin typeface="맑은 고딕" panose="020B0503020000020004" pitchFamily="50" charset="-127"/>
                </a:rPr>
                <a:t>출원 </a:t>
              </a:r>
              <a:r>
                <a:rPr lang="en-US" altLang="ko-KR" sz="1100" b="1" kern="0" dirty="0">
                  <a:solidFill>
                    <a:prstClr val="black"/>
                  </a:solidFill>
                  <a:latin typeface="맑은 고딕" panose="020B0503020000020004" pitchFamily="50" charset="-127"/>
                </a:rPr>
                <a:t>9</a:t>
              </a:r>
              <a:r>
                <a:rPr lang="ko-KR" altLang="en-US" sz="1100" b="1" kern="0" dirty="0">
                  <a:solidFill>
                    <a:prstClr val="black"/>
                  </a:solidFill>
                  <a:latin typeface="맑은 고딕" panose="020B0503020000020004" pitchFamily="50" charset="-127"/>
                </a:rPr>
                <a:t>건</a:t>
              </a:r>
              <a:r>
                <a:rPr lang="en-US" altLang="ko-KR" sz="1100" b="1" kern="0" dirty="0">
                  <a:solidFill>
                    <a:prstClr val="black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100" b="1" kern="0" dirty="0">
                  <a:solidFill>
                    <a:prstClr val="black"/>
                  </a:solidFill>
                  <a:latin typeface="맑은 고딕" panose="020B0503020000020004" pitchFamily="50" charset="-127"/>
                </a:rPr>
                <a:t>등록 </a:t>
              </a:r>
              <a:r>
                <a:rPr lang="en-US" altLang="ko-KR" sz="1100" b="1" kern="0" dirty="0">
                  <a:solidFill>
                    <a:prstClr val="black"/>
                  </a:solidFill>
                  <a:latin typeface="맑은 고딕" panose="020B0503020000020004" pitchFamily="50" charset="-127"/>
                </a:rPr>
                <a:t>7</a:t>
              </a:r>
              <a:r>
                <a:rPr lang="ko-KR" altLang="en-US" sz="1100" b="1" kern="0" dirty="0">
                  <a:solidFill>
                    <a:prstClr val="black"/>
                  </a:solidFill>
                  <a:latin typeface="맑은 고딕" panose="020B0503020000020004" pitchFamily="50" charset="-127"/>
                </a:rPr>
                <a:t>건</a:t>
              </a:r>
              <a:endParaRPr lang="en-US" altLang="ko-KR" sz="1100" b="1" kern="0" dirty="0">
                <a:solidFill>
                  <a:prstClr val="black"/>
                </a:solidFill>
                <a:latin typeface="맑은 고딕" panose="020B0503020000020004" pitchFamily="50" charset="-127"/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100" b="1" kern="0" dirty="0">
                  <a:solidFill>
                    <a:prstClr val="black"/>
                  </a:solidFill>
                  <a:latin typeface="맑은 고딕" panose="020B0503020000020004" pitchFamily="50" charset="-127"/>
                </a:rPr>
                <a:t>국내 특허 </a:t>
              </a:r>
              <a:r>
                <a:rPr lang="en-US" altLang="ko-KR" sz="1100" b="1" kern="0" dirty="0">
                  <a:solidFill>
                    <a:prstClr val="black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1100" b="1" kern="0" dirty="0">
                  <a:solidFill>
                    <a:prstClr val="black"/>
                  </a:solidFill>
                  <a:latin typeface="맑은 고딕" panose="020B0503020000020004" pitchFamily="50" charset="-127"/>
                </a:rPr>
                <a:t>출원 </a:t>
              </a:r>
              <a:r>
                <a:rPr lang="en-US" altLang="ko-KR" sz="1100" b="1" kern="0" dirty="0">
                  <a:solidFill>
                    <a:prstClr val="black"/>
                  </a:solidFill>
                  <a:latin typeface="맑은 고딕" panose="020B0503020000020004" pitchFamily="50" charset="-127"/>
                </a:rPr>
                <a:t>7</a:t>
              </a:r>
              <a:r>
                <a:rPr lang="ko-KR" altLang="en-US" sz="1100" b="1" kern="0" dirty="0">
                  <a:solidFill>
                    <a:prstClr val="black"/>
                  </a:solidFill>
                  <a:latin typeface="맑은 고딕" panose="020B0503020000020004" pitchFamily="50" charset="-127"/>
                </a:rPr>
                <a:t>건</a:t>
              </a:r>
              <a:r>
                <a:rPr lang="en-US" altLang="ko-KR" sz="1100" b="1" kern="0" dirty="0">
                  <a:solidFill>
                    <a:prstClr val="black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100" b="1" kern="0" dirty="0">
                  <a:solidFill>
                    <a:prstClr val="black"/>
                  </a:solidFill>
                  <a:latin typeface="맑은 고딕" panose="020B0503020000020004" pitchFamily="50" charset="-127"/>
                </a:rPr>
                <a:t>등록 </a:t>
              </a:r>
              <a:r>
                <a:rPr lang="en-US" altLang="ko-KR" sz="1100" b="1" kern="0" dirty="0" smtClean="0">
                  <a:solidFill>
                    <a:prstClr val="black"/>
                  </a:solidFill>
                  <a:latin typeface="맑은 고딕" panose="020B0503020000020004" pitchFamily="50" charset="-127"/>
                </a:rPr>
                <a:t>22</a:t>
              </a:r>
              <a:r>
                <a:rPr lang="ko-KR" altLang="en-US" sz="1100" b="1" kern="0" dirty="0" smtClean="0">
                  <a:solidFill>
                    <a:prstClr val="black"/>
                  </a:solidFill>
                  <a:latin typeface="맑은 고딕" panose="020B0503020000020004" pitchFamily="50" charset="-127"/>
                </a:rPr>
                <a:t>건</a:t>
              </a:r>
              <a:endParaRPr lang="en-US" altLang="ko-KR" sz="1100" b="1" kern="0" dirty="0">
                <a:solidFill>
                  <a:prstClr val="black"/>
                </a:solidFill>
                <a:latin typeface="맑은 고딕" panose="020B0503020000020004" pitchFamily="50" charset="-127"/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100" b="1" dirty="0" smtClean="0"/>
                <a:t>기술이전 </a:t>
              </a:r>
              <a:r>
                <a:rPr lang="en-US" altLang="ko-KR" sz="1100" b="1" dirty="0"/>
                <a:t>: 2</a:t>
              </a:r>
              <a:r>
                <a:rPr lang="ko-KR" altLang="en-US" sz="1100" b="1" dirty="0"/>
                <a:t>건 </a:t>
              </a:r>
              <a:r>
                <a:rPr lang="en-US" altLang="ko-KR" sz="1100" b="1" dirty="0"/>
                <a:t>(2</a:t>
              </a:r>
              <a:r>
                <a:rPr lang="ko-KR" altLang="en-US" sz="1100" b="1" dirty="0"/>
                <a:t>억 </a:t>
              </a:r>
              <a:r>
                <a:rPr lang="en-US" altLang="ko-KR" sz="1100" b="1" dirty="0"/>
                <a:t>1</a:t>
              </a:r>
              <a:r>
                <a:rPr lang="ko-KR" altLang="en-US" sz="1100" b="1" dirty="0" err="1"/>
                <a:t>천만원</a:t>
              </a:r>
              <a:r>
                <a:rPr lang="en-US" altLang="ko-KR" sz="1100" b="1" dirty="0"/>
                <a:t>)</a:t>
              </a: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100" b="1" kern="0" dirty="0" smtClean="0">
                  <a:solidFill>
                    <a:prstClr val="black"/>
                  </a:solidFill>
                  <a:latin typeface="맑은 고딕" panose="020B0503020000020004" pitchFamily="50" charset="-127"/>
                </a:rPr>
                <a:t>저술</a:t>
              </a:r>
              <a:r>
                <a:rPr lang="en-US" altLang="ko-KR" sz="1100" b="1" kern="0" dirty="0">
                  <a:solidFill>
                    <a:prstClr val="black"/>
                  </a:solidFill>
                  <a:latin typeface="맑은 고딕" panose="020B0503020000020004" pitchFamily="50" charset="-127"/>
                </a:rPr>
                <a:t>: 8</a:t>
              </a:r>
              <a:r>
                <a:rPr lang="ko-KR" altLang="en-US" sz="1100" b="1" kern="0" dirty="0">
                  <a:solidFill>
                    <a:prstClr val="black"/>
                  </a:solidFill>
                  <a:latin typeface="맑은 고딕" panose="020B0503020000020004" pitchFamily="50" charset="-127"/>
                </a:rPr>
                <a:t>건</a:t>
              </a:r>
              <a:endParaRPr lang="en-US" altLang="ko-KR" sz="1100" b="1" kern="0" dirty="0">
                <a:solidFill>
                  <a:prstClr val="black"/>
                </a:solidFill>
                <a:latin typeface="맑은 고딕" panose="020B0503020000020004" pitchFamily="50" charset="-127"/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100" b="1" kern="0" dirty="0">
                  <a:solidFill>
                    <a:prstClr val="black"/>
                  </a:solidFill>
                  <a:latin typeface="맑은 고딕" panose="020B0503020000020004" pitchFamily="50" charset="-127"/>
                </a:rPr>
                <a:t>기술가치평가</a:t>
              </a:r>
              <a:r>
                <a:rPr lang="en-US" altLang="ko-KR" sz="1100" b="1" kern="0" dirty="0">
                  <a:solidFill>
                    <a:prstClr val="black"/>
                  </a:solidFill>
                  <a:latin typeface="맑은 고딕" panose="020B0503020000020004" pitchFamily="50" charset="-127"/>
                </a:rPr>
                <a:t>: 1</a:t>
              </a:r>
              <a:r>
                <a:rPr lang="ko-KR" altLang="en-US" sz="1100" b="1" kern="0" dirty="0">
                  <a:solidFill>
                    <a:prstClr val="black"/>
                  </a:solidFill>
                  <a:latin typeface="맑은 고딕" panose="020B0503020000020004" pitchFamily="50" charset="-127"/>
                </a:rPr>
                <a:t>건</a:t>
              </a:r>
              <a:r>
                <a:rPr lang="en-US" altLang="ko-KR" sz="1100" b="1" kern="0" dirty="0">
                  <a:solidFill>
                    <a:prstClr val="black"/>
                  </a:solidFill>
                  <a:latin typeface="맑은 고딕" panose="020B0503020000020004" pitchFamily="50" charset="-127"/>
                </a:rPr>
                <a:t>(</a:t>
              </a:r>
              <a:r>
                <a:rPr lang="ko-KR" altLang="en-US" sz="1100" b="1" kern="0" dirty="0">
                  <a:solidFill>
                    <a:prstClr val="black"/>
                  </a:solidFill>
                  <a:latin typeface="맑은 고딕" panose="020B0503020000020004" pitchFamily="50" charset="-127"/>
                </a:rPr>
                <a:t>중앙기술평가원</a:t>
              </a:r>
              <a:r>
                <a:rPr lang="en-US" altLang="ko-KR" sz="1100" b="1" kern="0" dirty="0">
                  <a:solidFill>
                    <a:prstClr val="black"/>
                  </a:solidFill>
                  <a:latin typeface="맑은 고딕" panose="020B0503020000020004" pitchFamily="50" charset="-127"/>
                </a:rPr>
                <a:t>)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83653" y="2319588"/>
              <a:ext cx="897716" cy="276999"/>
            </a:xfrm>
            <a:prstGeom prst="rect">
              <a:avLst/>
            </a:prstGeom>
            <a:solidFill>
              <a:srgbClr val="C00000"/>
            </a:solidFill>
          </p:spPr>
          <p:txBody>
            <a:bodyPr wrap="square">
              <a:spAutoFit/>
            </a:bodyPr>
            <a:lstStyle>
              <a:defPPr>
                <a:defRPr lang="ko-KR"/>
              </a:defPPr>
              <a:lvl1pPr lvl="0">
                <a:defRPr sz="1000" b="1">
                  <a:solidFill>
                    <a:schemeClr val="bg1"/>
                  </a:solidFill>
                  <a:latin typeface="맑은 고딕"/>
                </a:defRPr>
              </a:lvl1pPr>
            </a:lstStyle>
            <a:p>
              <a:pPr algn="ctr"/>
              <a:r>
                <a:rPr lang="ko-KR" altLang="en-US" sz="1200" dirty="0">
                  <a:solidFill>
                    <a:prstClr val="white"/>
                  </a:solidFill>
                </a:rPr>
                <a:t>연구실적</a:t>
              </a:r>
              <a:endParaRPr lang="en-US" altLang="ko-KR" sz="12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44" name="그룹 43"/>
          <p:cNvGrpSpPr/>
          <p:nvPr/>
        </p:nvGrpSpPr>
        <p:grpSpPr>
          <a:xfrm>
            <a:off x="196280" y="4679327"/>
            <a:ext cx="3018519" cy="1319968"/>
            <a:chOff x="-2047841" y="3686598"/>
            <a:chExt cx="3018519" cy="1319968"/>
          </a:xfrm>
        </p:grpSpPr>
        <p:sp>
          <p:nvSpPr>
            <p:cNvPr id="42" name="모서리가 둥근 직사각형 41"/>
            <p:cNvSpPr/>
            <p:nvPr/>
          </p:nvSpPr>
          <p:spPr bwMode="auto">
            <a:xfrm>
              <a:off x="-2047841" y="3855598"/>
              <a:ext cx="3018519" cy="1150968"/>
            </a:xfrm>
            <a:prstGeom prst="round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anchor="ctr" anchorCtr="0"/>
            <a:lstStyle/>
            <a:p>
              <a:pPr marL="85725" indent="-85725">
                <a:lnSpc>
                  <a:spcPct val="150000"/>
                </a:lnSpc>
                <a:buFont typeface="Arial" pitchFamily="34" charset="0"/>
                <a:buChar char="•"/>
                <a:defRPr/>
              </a:pPr>
              <a:r>
                <a:rPr kumimoji="1" lang="ko-KR" altLang="en-US" sz="1100" b="1" dirty="0">
                  <a:solidFill>
                    <a:prstClr val="black"/>
                  </a:solidFill>
                  <a:latin typeface="맑은 고딕" panose="020B0503020000020004" pitchFamily="50" charset="-127"/>
                </a:rPr>
                <a:t>정보부호이론</a:t>
              </a:r>
              <a:r>
                <a:rPr kumimoji="1" lang="en-US" altLang="ko-KR" sz="1100" b="1" dirty="0">
                  <a:solidFill>
                    <a:prstClr val="black"/>
                  </a:solidFill>
                  <a:latin typeface="맑은 고딕" panose="020B0503020000020004" pitchFamily="50" charset="-127"/>
                </a:rPr>
                <a:t>, </a:t>
              </a:r>
              <a:r>
                <a:rPr kumimoji="1" lang="ko-KR" altLang="en-US" sz="1100" b="1" dirty="0">
                  <a:solidFill>
                    <a:prstClr val="black"/>
                  </a:solidFill>
                  <a:latin typeface="맑은 고딕" panose="020B0503020000020004" pitchFamily="50" charset="-127"/>
                </a:rPr>
                <a:t>디지털통신</a:t>
              </a:r>
              <a:r>
                <a:rPr kumimoji="1" lang="en-US" altLang="ko-KR" sz="1100" b="1" dirty="0">
                  <a:solidFill>
                    <a:prstClr val="black"/>
                  </a:solidFill>
                  <a:latin typeface="맑은 고딕" panose="020B0503020000020004" pitchFamily="50" charset="-127"/>
                </a:rPr>
                <a:t>, </a:t>
              </a:r>
              <a:r>
                <a:rPr kumimoji="1" lang="ko-KR" altLang="en-US" sz="1100" b="1" dirty="0">
                  <a:solidFill>
                    <a:prstClr val="black"/>
                  </a:solidFill>
                  <a:latin typeface="맑은 고딕" panose="020B0503020000020004" pitchFamily="50" charset="-127"/>
                </a:rPr>
                <a:t>압축센싱</a:t>
              </a:r>
              <a:r>
                <a:rPr kumimoji="1" lang="en-US" altLang="ko-KR" sz="1100" b="1" dirty="0">
                  <a:solidFill>
                    <a:prstClr val="black"/>
                  </a:solidFill>
                  <a:latin typeface="맑은 고딕" panose="020B0503020000020004" pitchFamily="50" charset="-127"/>
                </a:rPr>
                <a:t/>
              </a:r>
              <a:br>
                <a:rPr kumimoji="1" lang="en-US" altLang="ko-KR" sz="1100" b="1" dirty="0">
                  <a:solidFill>
                    <a:prstClr val="black"/>
                  </a:solidFill>
                  <a:latin typeface="맑은 고딕" panose="020B0503020000020004" pitchFamily="50" charset="-127"/>
                </a:rPr>
              </a:br>
              <a:r>
                <a:rPr kumimoji="1" lang="ko-KR" altLang="en-US" sz="1100" b="1" dirty="0">
                  <a:solidFill>
                    <a:prstClr val="black"/>
                  </a:solidFill>
                  <a:latin typeface="맑은 고딕" panose="020B0503020000020004" pitchFamily="50" charset="-127"/>
                </a:rPr>
                <a:t>디지털신호처리</a:t>
              </a:r>
              <a:r>
                <a:rPr kumimoji="1" lang="en-US" altLang="ko-KR" sz="1100" b="1" dirty="0">
                  <a:solidFill>
                    <a:prstClr val="black"/>
                  </a:solidFill>
                  <a:latin typeface="맑은 고딕" panose="020B0503020000020004" pitchFamily="50" charset="-127"/>
                </a:rPr>
                <a:t>, </a:t>
              </a:r>
              <a:r>
                <a:rPr kumimoji="1" lang="ko-KR" altLang="en-US" sz="1100" b="1" dirty="0">
                  <a:solidFill>
                    <a:prstClr val="black"/>
                  </a:solidFill>
                  <a:latin typeface="맑은 고딕" panose="020B0503020000020004" pitchFamily="50" charset="-127"/>
                </a:rPr>
                <a:t>광학신호처리</a:t>
              </a:r>
              <a:endParaRPr kumimoji="1" lang="en-US" altLang="ko-KR" sz="1100" b="1" dirty="0">
                <a:solidFill>
                  <a:prstClr val="black"/>
                </a:solidFill>
                <a:latin typeface="맑은 고딕" panose="020B0503020000020004" pitchFamily="50" charset="-127"/>
              </a:endParaRPr>
            </a:p>
            <a:p>
              <a:pPr marL="85725" indent="-85725">
                <a:lnSpc>
                  <a:spcPct val="150000"/>
                </a:lnSpc>
                <a:buFont typeface="Arial" pitchFamily="34" charset="0"/>
                <a:buChar char="•"/>
                <a:defRPr/>
              </a:pPr>
              <a:r>
                <a:rPr kumimoji="1" lang="ko-KR" altLang="en-US" sz="1100" b="1" dirty="0" smtClean="0">
                  <a:solidFill>
                    <a:prstClr val="black"/>
                  </a:solidFill>
                  <a:latin typeface="맑은 고딕" panose="020B0503020000020004" pitchFamily="50" charset="-127"/>
                </a:rPr>
                <a:t>블록체인경제</a:t>
              </a:r>
              <a:endParaRPr kumimoji="1" lang="en-US" altLang="ko-KR" sz="1100" b="1" dirty="0">
                <a:solidFill>
                  <a:prstClr val="black"/>
                </a:solidFill>
                <a:latin typeface="맑은 고딕" panose="020B0503020000020004" pitchFamily="50" charset="-127"/>
              </a:endParaRPr>
            </a:p>
            <a:p>
              <a:pPr marL="85725" indent="-85725">
                <a:lnSpc>
                  <a:spcPct val="150000"/>
                </a:lnSpc>
                <a:buFont typeface="Arial" pitchFamily="34" charset="0"/>
                <a:buChar char="•"/>
                <a:defRPr/>
              </a:pPr>
              <a:r>
                <a:rPr kumimoji="1" lang="ko-KR" altLang="en-US" sz="1100" b="1" kern="0" dirty="0">
                  <a:solidFill>
                    <a:prstClr val="black"/>
                  </a:solidFill>
                  <a:latin typeface="맑은 고딕" panose="020B0503020000020004" pitchFamily="50" charset="-127"/>
                </a:rPr>
                <a:t>지능형 </a:t>
              </a:r>
              <a:r>
                <a:rPr kumimoji="1" lang="ko-KR" altLang="en-US" sz="1100" b="1" kern="0" dirty="0" smtClean="0">
                  <a:solidFill>
                    <a:prstClr val="black"/>
                  </a:solidFill>
                  <a:latin typeface="맑은 고딕" panose="020B0503020000020004" pitchFamily="50" charset="-127"/>
                </a:rPr>
                <a:t>네트워크</a:t>
              </a:r>
              <a:r>
                <a:rPr kumimoji="1" lang="en-US" altLang="ko-KR" sz="1100" b="1" kern="0" dirty="0" smtClean="0">
                  <a:solidFill>
                    <a:prstClr val="black"/>
                  </a:solidFill>
                  <a:latin typeface="맑은 고딕" panose="020B0503020000020004" pitchFamily="50" charset="-127"/>
                </a:rPr>
                <a:t>, </a:t>
              </a:r>
              <a:r>
                <a:rPr kumimoji="1" lang="ko-KR" altLang="en-US" sz="1100" b="1" kern="0" dirty="0" smtClean="0">
                  <a:solidFill>
                    <a:prstClr val="black"/>
                  </a:solidFill>
                  <a:latin typeface="맑은 고딕" panose="020B0503020000020004" pitchFamily="50" charset="-127"/>
                </a:rPr>
                <a:t>센서 지능화</a:t>
              </a:r>
              <a:endParaRPr lang="ko-KR" altLang="en-US" sz="1100" b="1" kern="0" dirty="0">
                <a:solidFill>
                  <a:prstClr val="black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-1814608" y="3686598"/>
              <a:ext cx="897716" cy="276999"/>
            </a:xfrm>
            <a:prstGeom prst="rect">
              <a:avLst/>
            </a:prstGeom>
            <a:solidFill>
              <a:srgbClr val="C00000"/>
            </a:solidFill>
          </p:spPr>
          <p:txBody>
            <a:bodyPr wrap="square">
              <a:spAutoFit/>
            </a:bodyPr>
            <a:lstStyle>
              <a:defPPr>
                <a:defRPr lang="ko-KR"/>
              </a:defPPr>
              <a:lvl1pPr lvl="0">
                <a:defRPr sz="1000" b="1">
                  <a:solidFill>
                    <a:schemeClr val="bg1"/>
                  </a:solidFill>
                  <a:latin typeface="맑은 고딕"/>
                </a:defRPr>
              </a:lvl1pPr>
            </a:lstStyle>
            <a:p>
              <a:pPr algn="ctr"/>
              <a:r>
                <a:rPr lang="ko-KR" altLang="en-US" sz="1200" dirty="0">
                  <a:solidFill>
                    <a:prstClr val="white"/>
                  </a:solidFill>
                </a:rPr>
                <a:t>연구분야</a:t>
              </a:r>
              <a:endParaRPr lang="en-US" altLang="ko-KR" sz="12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47" name="그룹 46"/>
          <p:cNvGrpSpPr/>
          <p:nvPr/>
        </p:nvGrpSpPr>
        <p:grpSpPr>
          <a:xfrm>
            <a:off x="3328473" y="4129371"/>
            <a:ext cx="3338658" cy="2013947"/>
            <a:chOff x="827652" y="945913"/>
            <a:chExt cx="2889478" cy="2013947"/>
          </a:xfrm>
        </p:grpSpPr>
        <p:sp>
          <p:nvSpPr>
            <p:cNvPr id="43" name="모서리가 둥근 직사각형 42"/>
            <p:cNvSpPr/>
            <p:nvPr/>
          </p:nvSpPr>
          <p:spPr bwMode="auto">
            <a:xfrm>
              <a:off x="827652" y="1052315"/>
              <a:ext cx="2889478" cy="1907545"/>
            </a:xfrm>
            <a:prstGeom prst="round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anchor="ctr" anchorCtr="0"/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100" b="1" kern="0" dirty="0" smtClean="0">
                  <a:solidFill>
                    <a:prstClr val="black"/>
                  </a:solidFill>
                  <a:latin typeface="맑은 고딕" panose="020B0503020000020004" pitchFamily="50" charset="-127"/>
                </a:rPr>
                <a:t>2019</a:t>
              </a:r>
              <a:r>
                <a:rPr lang="ko-KR" altLang="en-US" sz="1100" b="1" kern="0" dirty="0" smtClean="0">
                  <a:solidFill>
                    <a:prstClr val="black"/>
                  </a:solidFill>
                  <a:latin typeface="맑은 고딕" panose="020B0503020000020004" pitchFamily="50" charset="-127"/>
                </a:rPr>
                <a:t>년 </a:t>
              </a:r>
              <a:r>
                <a:rPr lang="ko-KR" altLang="en-US" sz="1100" b="1" kern="0" dirty="0" err="1" smtClean="0">
                  <a:solidFill>
                    <a:prstClr val="black"/>
                  </a:solidFill>
                  <a:latin typeface="맑은 고딕" panose="020B0503020000020004" pitchFamily="50" charset="-127"/>
                </a:rPr>
                <a:t>대한전자공학회</a:t>
              </a:r>
              <a:r>
                <a:rPr lang="ko-KR" altLang="en-US" sz="1100" b="1" kern="0" dirty="0" smtClean="0">
                  <a:solidFill>
                    <a:prstClr val="black"/>
                  </a:solidFill>
                  <a:latin typeface="맑은 고딕" panose="020B0503020000020004" pitchFamily="50" charset="-127"/>
                </a:rPr>
                <a:t> 해동학술상 수상</a:t>
              </a:r>
              <a:endParaRPr lang="en-US" altLang="ko-KR" sz="1100" b="1" kern="0" dirty="0" smtClean="0">
                <a:solidFill>
                  <a:prstClr val="black"/>
                </a:solidFill>
                <a:latin typeface="맑은 고딕" panose="020B0503020000020004" pitchFamily="50" charset="-127"/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100" b="1" kern="0" dirty="0" smtClean="0">
                  <a:solidFill>
                    <a:prstClr val="black"/>
                  </a:solidFill>
                  <a:latin typeface="맑은 고딕" panose="020B0503020000020004" pitchFamily="50" charset="-127"/>
                </a:rPr>
                <a:t>2016</a:t>
              </a:r>
              <a:r>
                <a:rPr lang="ko-KR" altLang="en-US" sz="1100" b="1" kern="0" dirty="0">
                  <a:solidFill>
                    <a:prstClr val="black"/>
                  </a:solidFill>
                  <a:latin typeface="맑은 고딕" panose="020B0503020000020004" pitchFamily="50" charset="-127"/>
                </a:rPr>
                <a:t>년 </a:t>
              </a:r>
              <a:r>
                <a:rPr lang="en-US" altLang="ko-KR" sz="1100" b="1" kern="0" dirty="0">
                  <a:solidFill>
                    <a:prstClr val="black"/>
                  </a:solidFill>
                  <a:latin typeface="맑은 고딕" panose="020B0503020000020004" pitchFamily="50" charset="-127"/>
                </a:rPr>
                <a:t>GIST </a:t>
              </a:r>
              <a:r>
                <a:rPr lang="ko-KR" altLang="en-US" sz="1100" b="1" kern="0" dirty="0">
                  <a:solidFill>
                    <a:prstClr val="black"/>
                  </a:solidFill>
                  <a:latin typeface="맑은 고딕" panose="020B0503020000020004" pitchFamily="50" charset="-127"/>
                </a:rPr>
                <a:t>연구상</a:t>
              </a:r>
              <a:endParaRPr lang="en-US" altLang="ko-KR" sz="1100" b="1" kern="0" dirty="0">
                <a:solidFill>
                  <a:prstClr val="black"/>
                </a:solidFill>
                <a:latin typeface="맑은 고딕" panose="020B0503020000020004" pitchFamily="50" charset="-127"/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100" b="1" kern="0" dirty="0">
                  <a:solidFill>
                    <a:prstClr val="black"/>
                  </a:solidFill>
                  <a:latin typeface="맑은 고딕" panose="020B0503020000020004" pitchFamily="50" charset="-127"/>
                </a:rPr>
                <a:t>2016</a:t>
              </a:r>
              <a:r>
                <a:rPr lang="ko-KR" altLang="en-US" sz="1100" b="1" kern="0" dirty="0">
                  <a:solidFill>
                    <a:prstClr val="black"/>
                  </a:solidFill>
                  <a:latin typeface="맑은 고딕" panose="020B0503020000020004" pitchFamily="50" charset="-127"/>
                </a:rPr>
                <a:t>년 </a:t>
              </a:r>
              <a:r>
                <a:rPr lang="en-US" altLang="ko-KR" sz="1100" b="1" kern="0" dirty="0">
                  <a:solidFill>
                    <a:prstClr val="black"/>
                  </a:solidFill>
                  <a:latin typeface="맑은 고딕" panose="020B0503020000020004" pitchFamily="50" charset="-127"/>
                </a:rPr>
                <a:t>GIST 10</a:t>
              </a:r>
              <a:r>
                <a:rPr lang="ko-KR" altLang="en-US" sz="1100" b="1" kern="0" dirty="0">
                  <a:solidFill>
                    <a:prstClr val="black"/>
                  </a:solidFill>
                  <a:latin typeface="맑은 고딕" panose="020B0503020000020004" pitchFamily="50" charset="-127"/>
                </a:rPr>
                <a:t>대 기술상</a:t>
              </a:r>
              <a:endParaRPr lang="en-US" altLang="ko-KR" sz="1100" b="1" kern="0" dirty="0">
                <a:solidFill>
                  <a:prstClr val="black"/>
                </a:solidFill>
                <a:latin typeface="맑은 고딕" panose="020B0503020000020004" pitchFamily="50" charset="-127"/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100" b="1" kern="0" dirty="0">
                  <a:solidFill>
                    <a:prstClr val="black"/>
                  </a:solidFill>
                  <a:latin typeface="맑은 고딕" panose="020B0503020000020004" pitchFamily="50" charset="-127"/>
                </a:rPr>
                <a:t>2014</a:t>
              </a:r>
              <a:r>
                <a:rPr lang="ko-KR" altLang="en-US" sz="1100" b="1" kern="0" dirty="0">
                  <a:solidFill>
                    <a:prstClr val="black"/>
                  </a:solidFill>
                  <a:latin typeface="맑은 고딕" panose="020B0503020000020004" pitchFamily="50" charset="-127"/>
                </a:rPr>
                <a:t>년 </a:t>
              </a:r>
              <a:r>
                <a:rPr lang="en-US" altLang="ko-KR" sz="1100" b="1" kern="0" dirty="0">
                  <a:solidFill>
                    <a:prstClr val="black"/>
                  </a:solidFill>
                  <a:latin typeface="맑은 고딕" panose="020B0503020000020004" pitchFamily="50" charset="-127"/>
                </a:rPr>
                <a:t>1</a:t>
              </a:r>
              <a:r>
                <a:rPr lang="ko-KR" altLang="en-US" sz="1100" b="1" kern="0" dirty="0">
                  <a:solidFill>
                    <a:prstClr val="black"/>
                  </a:solidFill>
                  <a:latin typeface="맑은 고딕" panose="020B0503020000020004" pitchFamily="50" charset="-127"/>
                </a:rPr>
                <a:t>월 이달의 과학기술자상</a:t>
              </a:r>
              <a:r>
                <a:rPr lang="en-US" altLang="ko-KR" sz="1100" b="1" kern="0" dirty="0">
                  <a:solidFill>
                    <a:prstClr val="black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100" b="1" kern="0" dirty="0" err="1">
                  <a:solidFill>
                    <a:prstClr val="black"/>
                  </a:solidFill>
                  <a:latin typeface="맑은 고딕" panose="020B0503020000020004" pitchFamily="50" charset="-127"/>
                </a:rPr>
                <a:t>미창부</a:t>
              </a:r>
              <a:endParaRPr lang="en-US" altLang="ko-KR" sz="1100" b="1" kern="0" dirty="0">
                <a:solidFill>
                  <a:prstClr val="black"/>
                </a:solidFill>
                <a:latin typeface="맑은 고딕" panose="020B0503020000020004" pitchFamily="50" charset="-127"/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100" b="1" kern="0" dirty="0">
                  <a:solidFill>
                    <a:prstClr val="black"/>
                  </a:solidFill>
                  <a:latin typeface="맑은 고딕" panose="020B0503020000020004" pitchFamily="50" charset="-127"/>
                </a:rPr>
                <a:t>2013</a:t>
              </a:r>
              <a:r>
                <a:rPr lang="ko-KR" altLang="en-US" sz="1100" b="1" kern="0" dirty="0">
                  <a:solidFill>
                    <a:prstClr val="black"/>
                  </a:solidFill>
                  <a:latin typeface="맑은 고딕" panose="020B0503020000020004" pitchFamily="50" charset="-127"/>
                </a:rPr>
                <a:t>년 기초연구 우수성과 </a:t>
              </a:r>
              <a:r>
                <a:rPr lang="en-US" altLang="ko-KR" sz="1100" b="1" kern="0" dirty="0">
                  <a:solidFill>
                    <a:prstClr val="black"/>
                  </a:solidFill>
                  <a:latin typeface="맑은 고딕" panose="020B0503020000020004" pitchFamily="50" charset="-127"/>
                </a:rPr>
                <a:t>50</a:t>
              </a:r>
              <a:r>
                <a:rPr lang="ko-KR" altLang="en-US" sz="1100" b="1" kern="0" dirty="0">
                  <a:solidFill>
                    <a:prstClr val="black"/>
                  </a:solidFill>
                  <a:latin typeface="맑은 고딕" panose="020B0503020000020004" pitchFamily="50" charset="-127"/>
                </a:rPr>
                <a:t>선</a:t>
              </a:r>
              <a:r>
                <a:rPr lang="en-US" altLang="ko-KR" sz="1100" b="1" kern="0" dirty="0">
                  <a:solidFill>
                    <a:prstClr val="black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100" b="1" kern="0" dirty="0" err="1">
                  <a:solidFill>
                    <a:prstClr val="black"/>
                  </a:solidFill>
                  <a:latin typeface="맑은 고딕" panose="020B0503020000020004" pitchFamily="50" charset="-127"/>
                </a:rPr>
                <a:t>미창부</a:t>
              </a:r>
              <a:endParaRPr lang="en-US" altLang="ko-KR" sz="1100" b="1" kern="0" dirty="0">
                <a:solidFill>
                  <a:prstClr val="black"/>
                </a:solidFill>
                <a:latin typeface="맑은 고딕" panose="020B0503020000020004" pitchFamily="50" charset="-127"/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100" b="1" kern="0" dirty="0" smtClean="0">
                  <a:solidFill>
                    <a:prstClr val="black"/>
                  </a:solidFill>
                  <a:latin typeface="맑은 고딕" panose="020B0503020000020004" pitchFamily="50" charset="-127"/>
                </a:rPr>
                <a:t>2012</a:t>
              </a:r>
              <a:r>
                <a:rPr lang="ko-KR" altLang="en-US" sz="1100" b="1" kern="0" dirty="0">
                  <a:solidFill>
                    <a:prstClr val="black"/>
                  </a:solidFill>
                  <a:latin typeface="맑은 고딕" panose="020B0503020000020004" pitchFamily="50" charset="-127"/>
                </a:rPr>
                <a:t>년 국가연구개발 우수성과 </a:t>
              </a:r>
              <a:r>
                <a:rPr lang="en-US" altLang="ko-KR" sz="1100" b="1" kern="0" dirty="0">
                  <a:solidFill>
                    <a:prstClr val="black"/>
                  </a:solidFill>
                  <a:latin typeface="맑은 고딕" panose="020B0503020000020004" pitchFamily="50" charset="-127"/>
                </a:rPr>
                <a:t>100, </a:t>
              </a:r>
              <a:r>
                <a:rPr lang="ko-KR" altLang="en-US" sz="1100" b="1" kern="0" dirty="0" err="1" smtClean="0">
                  <a:solidFill>
                    <a:prstClr val="black"/>
                  </a:solidFill>
                  <a:latin typeface="맑은 고딕" panose="020B0503020000020004" pitchFamily="50" charset="-127"/>
                </a:rPr>
                <a:t>미창부</a:t>
              </a:r>
              <a:endParaRPr lang="ko-KR" altLang="en-US" sz="1100" b="1" kern="0" dirty="0">
                <a:solidFill>
                  <a:prstClr val="black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9" name="TextBox 29"/>
            <p:cNvSpPr txBox="1"/>
            <p:nvPr/>
          </p:nvSpPr>
          <p:spPr>
            <a:xfrm>
              <a:off x="1181746" y="945913"/>
              <a:ext cx="1044473" cy="276999"/>
            </a:xfrm>
            <a:prstGeom prst="rect">
              <a:avLst/>
            </a:prstGeom>
            <a:solidFill>
              <a:srgbClr val="C00000"/>
            </a:solidFill>
          </p:spPr>
          <p:txBody>
            <a:bodyPr wrap="square">
              <a:spAutoFit/>
            </a:bodyPr>
            <a:lstStyle>
              <a:defPPr>
                <a:defRPr lang="ko-KR"/>
              </a:defPPr>
              <a:lvl1pPr lvl="0" algn="ctr">
                <a:defRPr sz="1200" b="1">
                  <a:solidFill>
                    <a:schemeClr val="bg1"/>
                  </a:solidFill>
                  <a:latin typeface="맑은 고딕"/>
                </a:defRPr>
              </a:lvl1pPr>
            </a:lstStyle>
            <a:p>
              <a:r>
                <a:rPr lang="ko-KR" altLang="en-US" dirty="0">
                  <a:solidFill>
                    <a:prstClr val="white"/>
                  </a:solidFill>
                </a:rPr>
                <a:t>관련수상이력</a:t>
              </a:r>
              <a:endParaRPr lang="en-US" altLang="ko-KR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51" name="그룹 50"/>
          <p:cNvGrpSpPr/>
          <p:nvPr/>
        </p:nvGrpSpPr>
        <p:grpSpPr>
          <a:xfrm>
            <a:off x="3332279" y="2484816"/>
            <a:ext cx="5572359" cy="1551883"/>
            <a:chOff x="3332279" y="2578682"/>
            <a:chExt cx="5572359" cy="1551883"/>
          </a:xfrm>
        </p:grpSpPr>
        <p:sp>
          <p:nvSpPr>
            <p:cNvPr id="41" name="모서리가 둥근 직사각형 40"/>
            <p:cNvSpPr/>
            <p:nvPr/>
          </p:nvSpPr>
          <p:spPr bwMode="auto">
            <a:xfrm>
              <a:off x="3332279" y="2697228"/>
              <a:ext cx="5572359" cy="1433337"/>
            </a:xfrm>
            <a:prstGeom prst="round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anchor="ctr" anchorCtr="0"/>
            <a:lstStyle/>
            <a:p>
              <a:pPr marL="171450" indent="-171450">
                <a:spcBef>
                  <a:spcPts val="300"/>
                </a:spcBef>
                <a:buFont typeface="Wingdings" panose="05000000000000000000" pitchFamily="2" charset="2"/>
                <a:buChar char="§"/>
              </a:pPr>
              <a:r>
                <a:rPr lang="ko-KR" altLang="en-US" sz="1100" dirty="0" err="1"/>
                <a:t>프레시안</a:t>
              </a:r>
              <a:r>
                <a:rPr lang="en-US" altLang="ko-KR" sz="1100" dirty="0"/>
                <a:t>, “GIST, </a:t>
              </a:r>
              <a:r>
                <a:rPr lang="ko-KR" altLang="en-US" sz="1100" dirty="0"/>
                <a:t>글로벌 블록체인 개발회사 ‘</a:t>
              </a:r>
              <a:r>
                <a:rPr lang="ko-KR" altLang="en-US" sz="1100" dirty="0" err="1"/>
                <a:t>컨센시스</a:t>
              </a:r>
              <a:r>
                <a:rPr lang="ko-KR" altLang="en-US" sz="1100" dirty="0"/>
                <a:t>’ 와 </a:t>
              </a:r>
              <a:r>
                <a:rPr lang="en-US" altLang="ko-KR" sz="1100" dirty="0"/>
                <a:t>MOU” (2019.07.21)</a:t>
              </a:r>
            </a:p>
            <a:p>
              <a:pPr marL="171450" indent="-171450">
                <a:spcBef>
                  <a:spcPts val="300"/>
                </a:spcBef>
                <a:buFont typeface="Wingdings" panose="05000000000000000000" pitchFamily="2" charset="2"/>
                <a:buChar char="§"/>
              </a:pPr>
              <a:r>
                <a:rPr lang="ko-KR" altLang="en-US" sz="1100" dirty="0" err="1"/>
                <a:t>스마트시티랩</a:t>
              </a:r>
              <a:r>
                <a:rPr lang="en-US" altLang="ko-KR" sz="1100" dirty="0"/>
                <a:t>, “</a:t>
              </a:r>
              <a:r>
                <a:rPr lang="ko-KR" altLang="en-US" sz="1100" dirty="0"/>
                <a:t>블록체인 스마트시티의 유기적 연결의 중추 역할 할 것” </a:t>
              </a:r>
              <a:r>
                <a:rPr lang="en-US" altLang="ko-KR" sz="1100" dirty="0"/>
                <a:t>(2018.08.24)</a:t>
              </a:r>
            </a:p>
            <a:p>
              <a:pPr marL="171450" indent="-171450">
                <a:spcBef>
                  <a:spcPts val="300"/>
                </a:spcBef>
                <a:buFont typeface="Wingdings" panose="05000000000000000000" pitchFamily="2" charset="2"/>
                <a:buChar char="§"/>
              </a:pPr>
              <a:r>
                <a:rPr lang="ko-KR" altLang="en-US" sz="1100" dirty="0"/>
                <a:t>전자신문</a:t>
              </a:r>
              <a:r>
                <a:rPr lang="en-US" altLang="ko-KR" sz="1100" dirty="0"/>
                <a:t>, “</a:t>
              </a:r>
              <a:r>
                <a:rPr lang="ko-KR" altLang="en-US" sz="1100" dirty="0" err="1"/>
                <a:t>대한전자공학회</a:t>
              </a:r>
              <a:r>
                <a:rPr lang="ko-KR" altLang="en-US" sz="1100" dirty="0"/>
                <a:t> </a:t>
              </a:r>
              <a:r>
                <a:rPr lang="ko-KR" altLang="en-US" sz="1100" dirty="0" err="1"/>
                <a:t>통신소사이어티</a:t>
              </a:r>
              <a:r>
                <a:rPr lang="en-US" altLang="ko-KR" sz="1100" dirty="0"/>
                <a:t>(</a:t>
              </a:r>
              <a:r>
                <a:rPr lang="ko-KR" altLang="en-US" sz="1100" dirty="0"/>
                <a:t>회장 </a:t>
              </a:r>
              <a:r>
                <a:rPr lang="ko-KR" altLang="en-US" sz="1100" dirty="0" err="1"/>
                <a:t>이흥노</a:t>
              </a:r>
              <a:r>
                <a:rPr lang="en-US" altLang="ko-KR" sz="1100" dirty="0"/>
                <a:t>), 19</a:t>
              </a:r>
              <a:r>
                <a:rPr lang="ko-KR" altLang="en-US" sz="1100" dirty="0"/>
                <a:t>일 블록체인으로 여는 미래’</a:t>
              </a:r>
              <a:r>
                <a:rPr lang="en-US" altLang="ko-KR" sz="1100" dirty="0"/>
                <a:t/>
              </a:r>
              <a:br>
                <a:rPr lang="en-US" altLang="ko-KR" sz="1100" dirty="0"/>
              </a:br>
              <a:r>
                <a:rPr lang="ko-KR" altLang="en-US" sz="1100" dirty="0"/>
                <a:t>워크숍 개최” </a:t>
              </a:r>
              <a:r>
                <a:rPr lang="en-US" altLang="ko-KR" sz="1100" dirty="0"/>
                <a:t>(2018/04/16)</a:t>
              </a:r>
            </a:p>
            <a:p>
              <a:pPr marL="171450" indent="-171450">
                <a:spcBef>
                  <a:spcPts val="300"/>
                </a:spcBef>
                <a:buFont typeface="Wingdings" panose="05000000000000000000" pitchFamily="2" charset="2"/>
                <a:buChar char="§"/>
              </a:pPr>
              <a:r>
                <a:rPr lang="ko-KR" altLang="en-US" sz="1100" dirty="0"/>
                <a:t>블록체인허브</a:t>
              </a:r>
              <a:r>
                <a:rPr lang="en-US" altLang="ko-KR" sz="1100" dirty="0"/>
                <a:t>, “</a:t>
              </a:r>
              <a:r>
                <a:rPr lang="ko-KR" altLang="en-US" sz="1100" dirty="0"/>
                <a:t>블록체인〮</a:t>
              </a:r>
              <a:r>
                <a:rPr lang="en-US" altLang="ko-KR" sz="1100" dirty="0"/>
                <a:t>AI〮</a:t>
              </a:r>
              <a:r>
                <a:rPr lang="ko-KR" altLang="en-US" sz="1100" dirty="0" err="1"/>
                <a:t>빅데이터</a:t>
              </a:r>
              <a:r>
                <a:rPr lang="ko-KR" altLang="en-US" sz="1100" dirty="0"/>
                <a:t> 융합산업 육성 정책토론회”</a:t>
              </a:r>
              <a:r>
                <a:rPr lang="en-US" altLang="ko-KR" sz="1100" dirty="0"/>
                <a:t>, (2018/12/06</a:t>
              </a:r>
              <a:r>
                <a:rPr lang="en-US" altLang="ko-KR" sz="1100" dirty="0" smtClean="0"/>
                <a:t>)</a:t>
              </a:r>
              <a:endParaRPr lang="en-US" altLang="ko-KR" sz="1100" b="1" kern="0" dirty="0">
                <a:solidFill>
                  <a:prstClr val="black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0" name="TextBox 45"/>
            <p:cNvSpPr txBox="1"/>
            <p:nvPr/>
          </p:nvSpPr>
          <p:spPr>
            <a:xfrm>
              <a:off x="3682567" y="2578682"/>
              <a:ext cx="1261884" cy="276999"/>
            </a:xfrm>
            <a:prstGeom prst="rect">
              <a:avLst/>
            </a:prstGeom>
            <a:solidFill>
              <a:srgbClr val="C00000"/>
            </a:solidFill>
          </p:spPr>
          <p:txBody>
            <a:bodyPr wrap="square">
              <a:spAutoFit/>
            </a:bodyPr>
            <a:lstStyle>
              <a:defPPr>
                <a:defRPr lang="ko-KR"/>
              </a:defPPr>
              <a:lvl1pPr lvl="0" algn="ctr">
                <a:defRPr sz="1200" b="1">
                  <a:solidFill>
                    <a:schemeClr val="bg1"/>
                  </a:solidFill>
                  <a:latin typeface="맑은 고딕"/>
                </a:defRPr>
              </a:lvl1pPr>
            </a:lstStyle>
            <a:p>
              <a:r>
                <a:rPr lang="ko-KR" altLang="en-US" dirty="0">
                  <a:solidFill>
                    <a:prstClr val="white"/>
                  </a:solidFill>
                </a:rPr>
                <a:t>대표언론보도</a:t>
              </a:r>
              <a:endParaRPr lang="en-US" altLang="ko-KR" dirty="0">
                <a:solidFill>
                  <a:prstClr val="white"/>
                </a:solidFill>
              </a:endParaRPr>
            </a:p>
          </p:txBody>
        </p:sp>
      </p:grpSp>
      <p:sp>
        <p:nvSpPr>
          <p:cNvPr id="48" name="직사각형 47"/>
          <p:cNvSpPr/>
          <p:nvPr/>
        </p:nvSpPr>
        <p:spPr>
          <a:xfrm>
            <a:off x="2214062" y="726721"/>
            <a:ext cx="5838809" cy="454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b="1" dirty="0">
                <a:solidFill>
                  <a:srgbClr val="0033CC"/>
                </a:solidFill>
                <a:latin typeface="맑은 고딕" panose="020B0503020000020004" pitchFamily="50" charset="-127"/>
              </a:rPr>
              <a:t>전기전자컴퓨터공학부 </a:t>
            </a:r>
            <a:r>
              <a:rPr kumimoji="1" lang="en-US" altLang="ko-KR" b="1" dirty="0">
                <a:solidFill>
                  <a:srgbClr val="0033CC"/>
                </a:solidFill>
                <a:latin typeface="맑은 고딕" panose="020B0503020000020004" pitchFamily="50" charset="-127"/>
              </a:rPr>
              <a:t>–</a:t>
            </a:r>
            <a:r>
              <a:rPr kumimoji="1" lang="ko-KR" altLang="en-US" b="1" dirty="0">
                <a:solidFill>
                  <a:srgbClr val="0033CC"/>
                </a:solidFill>
                <a:latin typeface="맑은 고딕" panose="020B0503020000020004" pitchFamily="50" charset="-127"/>
              </a:rPr>
              <a:t> 인포넷 연구실</a:t>
            </a:r>
            <a:endParaRPr kumimoji="1" lang="en-US" altLang="ko-KR" b="1" dirty="0">
              <a:solidFill>
                <a:srgbClr val="0033CC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2216295" y="1118602"/>
            <a:ext cx="6927705" cy="138499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marL="285750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1" lang="ko-KR" altLang="en-US" sz="14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연구 책임자</a:t>
            </a:r>
            <a:r>
              <a:rPr kumimoji="1" lang="en-US" altLang="ko-KR" sz="14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: </a:t>
            </a:r>
            <a:r>
              <a:rPr kumimoji="1" lang="ko-KR" altLang="en-US" sz="1400" b="1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이흥노</a:t>
            </a:r>
            <a:r>
              <a:rPr kumimoji="1" lang="ko-KR" altLang="en-US" sz="14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 교수 </a:t>
            </a:r>
            <a:r>
              <a:rPr kumimoji="1" lang="en-US" altLang="ko-KR" sz="14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(</a:t>
            </a:r>
            <a:r>
              <a:rPr kumimoji="1" lang="ko-KR" altLang="en-US" sz="14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광주과학기술원 정보통신공학부</a:t>
            </a:r>
            <a:r>
              <a:rPr kumimoji="1" lang="en-US" altLang="ko-KR" sz="14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)</a:t>
            </a:r>
          </a:p>
          <a:p>
            <a:pPr marL="742950" lvl="1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1" lang="ko-KR" altLang="en-US" sz="14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광주과학기술원 블록체인인터넷경제 </a:t>
            </a:r>
            <a:r>
              <a:rPr kumimoji="1" lang="ko-KR" altLang="en-US" sz="1400" b="1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연구센터장</a:t>
            </a:r>
            <a:r>
              <a:rPr kumimoji="1" lang="en-US" altLang="ko-KR" sz="14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, </a:t>
            </a:r>
            <a:r>
              <a:rPr kumimoji="1" lang="ko-KR" altLang="en-US" sz="1400" b="1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센서지능화</a:t>
            </a:r>
            <a:r>
              <a:rPr kumimoji="1" lang="ko-KR" altLang="en-US" sz="14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 </a:t>
            </a:r>
            <a:r>
              <a:rPr kumimoji="1" lang="ko-KR" altLang="en-US" sz="1400" b="1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연구센터장</a:t>
            </a:r>
            <a:endParaRPr kumimoji="1" lang="en-US" altLang="ko-KR" sz="14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742950" lvl="1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1" lang="ko-KR" altLang="en-US" sz="14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국가스마트도시위원회 민간위원</a:t>
            </a:r>
            <a:r>
              <a:rPr kumimoji="1" lang="en-US" altLang="ko-KR" sz="14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, (</a:t>
            </a:r>
            <a:r>
              <a:rPr kumimoji="1" lang="ko-KR" altLang="en-US" sz="14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사</a:t>
            </a:r>
            <a:r>
              <a:rPr kumimoji="1" lang="en-US" altLang="ko-KR" sz="14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)</a:t>
            </a:r>
            <a:r>
              <a:rPr kumimoji="1" lang="ko-KR" altLang="en-US" sz="14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대한전자공학회 통신소사이어티 회장</a:t>
            </a:r>
            <a:endParaRPr kumimoji="1" lang="en-US" altLang="ko-KR" sz="14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742950" lvl="1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1" lang="ko-KR" altLang="en-US" sz="1400" b="1" dirty="0" smtClean="0">
                <a:solidFill>
                  <a:prstClr val="black"/>
                </a:solidFill>
                <a:latin typeface="맑은 고딕" panose="020B0503020000020004" pitchFamily="50" charset="-127"/>
              </a:rPr>
              <a:t>우정사업본부 블록체인이니셔티브 민간위원</a:t>
            </a:r>
            <a:endParaRPr kumimoji="1" lang="en-US" altLang="ko-KR" sz="14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pic>
        <p:nvPicPr>
          <p:cNvPr id="52" name="_x218500128" descr="EMB00001b002fc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5907" y="4308986"/>
            <a:ext cx="2099927" cy="111482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4" descr="담아간 이미지 고유 주소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3" t="16076" r="3229" b="138"/>
          <a:stretch/>
        </p:blipFill>
        <p:spPr bwMode="auto">
          <a:xfrm>
            <a:off x="1001780" y="872619"/>
            <a:ext cx="999036" cy="1461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6790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8"/>
          <p:cNvSpPr txBox="1"/>
          <p:nvPr/>
        </p:nvSpPr>
        <p:spPr>
          <a:xfrm>
            <a:off x="628650" y="74814"/>
            <a:ext cx="75374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smtClean="0">
                <a:solidFill>
                  <a:prstClr val="black"/>
                </a:solidFill>
              </a:rPr>
              <a:t>블록과 블록 헤더</a:t>
            </a:r>
            <a:endParaRPr lang="ko-KR" altLang="en-US" sz="3200" b="1" dirty="0">
              <a:solidFill>
                <a:prstClr val="black"/>
              </a:solidFill>
            </a:endParaRPr>
          </a:p>
        </p:txBody>
      </p:sp>
      <p:sp>
        <p:nvSpPr>
          <p:cNvPr id="35" name="모서리가 둥근 직사각형 34"/>
          <p:cNvSpPr/>
          <p:nvPr/>
        </p:nvSpPr>
        <p:spPr>
          <a:xfrm>
            <a:off x="1049461" y="2670113"/>
            <a:ext cx="1275976" cy="241507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575" tIns="65288" rIns="130575" bIns="65288" rtlCol="0" anchor="ctr"/>
          <a:lstStyle/>
          <a:p>
            <a:pPr algn="ctr"/>
            <a:endParaRPr lang="ko-KR" altLang="en-US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5" name="모서리가 둥근 직사각형 44"/>
          <p:cNvSpPr/>
          <p:nvPr/>
        </p:nvSpPr>
        <p:spPr>
          <a:xfrm>
            <a:off x="1145039" y="3534734"/>
            <a:ext cx="1081200" cy="1487725"/>
          </a:xfrm>
          <a:prstGeom prst="roundRect">
            <a:avLst>
              <a:gd name="adj" fmla="val 8274"/>
            </a:avLst>
          </a:prstGeom>
          <a:solidFill>
            <a:schemeClr val="bg1"/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0575" tIns="65288" rIns="130575" bIns="652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200230" y="2219933"/>
            <a:ext cx="561859" cy="378072"/>
          </a:xfrm>
          <a:prstGeom prst="rect">
            <a:avLst/>
          </a:prstGeom>
          <a:noFill/>
        </p:spPr>
        <p:txBody>
          <a:bodyPr wrap="none" lIns="130575" tIns="65288" rIns="130575" bIns="65288" rtlCol="0">
            <a:spAutoFit/>
          </a:bodyPr>
          <a:lstStyle/>
          <a:p>
            <a:pPr marL="0" lvl="1" defTabSz="1038977" latinLnBrk="0">
              <a:spcAft>
                <a:spcPts val="133"/>
              </a:spcAft>
              <a:defRPr/>
            </a:pPr>
            <a:r>
              <a:rPr lang="en-US" altLang="ko-KR" sz="16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#1</a:t>
            </a:r>
            <a:endParaRPr lang="ko-KR" altLang="en-US" sz="1600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1222198" y="3673941"/>
            <a:ext cx="932992" cy="34961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1222198" y="4102025"/>
            <a:ext cx="932992" cy="34961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1222198" y="4536446"/>
            <a:ext cx="932992" cy="349615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</a:t>
            </a:r>
            <a:r>
              <a:rPr lang="en-US" altLang="ko-KR" sz="1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B 2BTC</a:t>
            </a:r>
            <a:endParaRPr lang="ko-KR" altLang="en-US" sz="12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6" name="모서리가 둥근 직사각형 55"/>
          <p:cNvSpPr/>
          <p:nvPr/>
        </p:nvSpPr>
        <p:spPr>
          <a:xfrm>
            <a:off x="1117131" y="2744805"/>
            <a:ext cx="1123933" cy="715239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0575" tIns="65288" rIns="130575" bIns="652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200" dirty="0">
                <a:solidFill>
                  <a:srgbClr val="0000FF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nonce0</a:t>
            </a:r>
          </a:p>
          <a:p>
            <a:pPr algn="ctr"/>
            <a:r>
              <a:rPr lang="en-US" altLang="ko-KR" sz="1200" dirty="0">
                <a:solidFill>
                  <a:srgbClr val="0000FF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hash0</a:t>
            </a:r>
          </a:p>
          <a:p>
            <a:pPr algn="ctr"/>
            <a:r>
              <a:rPr lang="en-US" altLang="ko-KR" sz="1200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M. hash 0</a:t>
            </a:r>
          </a:p>
        </p:txBody>
      </p:sp>
    </p:spTree>
    <p:extLst>
      <p:ext uri="{BB962C8B-B14F-4D97-AF65-F5344CB8AC3E}">
        <p14:creationId xmlns:p14="http://schemas.microsoft.com/office/powerpoint/2010/main" val="1433468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8"/>
          <p:cNvSpPr txBox="1"/>
          <p:nvPr/>
        </p:nvSpPr>
        <p:spPr>
          <a:xfrm>
            <a:off x="628650" y="74814"/>
            <a:ext cx="75374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>
                <a:solidFill>
                  <a:prstClr val="black"/>
                </a:solidFill>
              </a:rPr>
              <a:t>Secure Hash Function</a:t>
            </a:r>
            <a:endParaRPr lang="ko-KR" altLang="en-US" sz="3200" b="1" dirty="0">
              <a:solidFill>
                <a:prstClr val="black"/>
              </a:solidFill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3346556" y="2882737"/>
            <a:ext cx="5473916" cy="531220"/>
            <a:chOff x="683568" y="1340986"/>
            <a:chExt cx="5473916" cy="531220"/>
          </a:xfrm>
        </p:grpSpPr>
        <p:sp>
          <p:nvSpPr>
            <p:cNvPr id="27" name="직사각형 26">
              <a:extLst>
                <a:ext uri="{FF2B5EF4-FFF2-40B4-BE49-F238E27FC236}">
                  <a16:creationId xmlns="" xmlns:a16="http://schemas.microsoft.com/office/drawing/2014/main" id="{12780CB0-F156-4A6B-A8BA-9F7DA225E04E}"/>
                </a:ext>
              </a:extLst>
            </p:cNvPr>
            <p:cNvSpPr/>
            <p:nvPr/>
          </p:nvSpPr>
          <p:spPr>
            <a:xfrm>
              <a:off x="970948" y="1340986"/>
              <a:ext cx="5186536" cy="531220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fontAlgn="base"/>
              <a:r>
                <a:rPr lang="ko-KR" altLang="en-US" sz="1600" b="1" dirty="0" smtClean="0">
                  <a:solidFill>
                    <a:prstClr val="black"/>
                  </a:solidFill>
                </a:rPr>
                <a:t>특징</a:t>
              </a:r>
              <a:r>
                <a:rPr lang="en-US" altLang="ko-KR" sz="1600" b="1" dirty="0" smtClean="0">
                  <a:solidFill>
                    <a:prstClr val="black"/>
                  </a:solidFill>
                </a:rPr>
                <a:t>: </a:t>
              </a:r>
              <a:r>
                <a:rPr lang="ko-KR" altLang="en-US" sz="1600" b="1" dirty="0" smtClean="0">
                  <a:solidFill>
                    <a:prstClr val="black"/>
                  </a:solidFill>
                </a:rPr>
                <a:t>앞으로만 간다</a:t>
              </a:r>
              <a:r>
                <a:rPr lang="en-US" altLang="ko-KR" sz="1600" b="1" dirty="0" smtClean="0">
                  <a:solidFill>
                    <a:prstClr val="black"/>
                  </a:solidFill>
                </a:rPr>
                <a:t>. </a:t>
              </a:r>
              <a:r>
                <a:rPr lang="ko-KR" altLang="en-US" sz="1600" b="1" dirty="0" smtClean="0">
                  <a:solidFill>
                    <a:prstClr val="black"/>
                  </a:solidFill>
                </a:rPr>
                <a:t>뒤로 가려면 대입법 밖에 없다</a:t>
              </a:r>
              <a:r>
                <a:rPr lang="en-US" altLang="ko-KR" sz="1600" b="1" dirty="0" smtClean="0">
                  <a:solidFill>
                    <a:prstClr val="black"/>
                  </a:solidFill>
                </a:rPr>
                <a:t>.</a:t>
              </a:r>
              <a:endParaRPr lang="ko-KR" altLang="en-US"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="" xmlns:a16="http://schemas.microsoft.com/office/drawing/2014/main" id="{33933F02-7E6C-48C4-BBCA-94D2B6A28723}"/>
                </a:ext>
              </a:extLst>
            </p:cNvPr>
            <p:cNvSpPr/>
            <p:nvPr/>
          </p:nvSpPr>
          <p:spPr>
            <a:xfrm>
              <a:off x="683568" y="1340988"/>
              <a:ext cx="531220" cy="531218"/>
            </a:xfrm>
            <a:prstGeom prst="ellipse">
              <a:avLst/>
            </a:prstGeom>
            <a:solidFill>
              <a:srgbClr val="0255B8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800" dirty="0">
                  <a:solidFill>
                    <a:prstClr val="white"/>
                  </a:solidFill>
                </a:rPr>
                <a:t>01</a:t>
              </a:r>
              <a:endParaRPr lang="ko-KR" altLang="en-US" sz="28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29" name="그룹 28"/>
          <p:cNvGrpSpPr/>
          <p:nvPr/>
        </p:nvGrpSpPr>
        <p:grpSpPr>
          <a:xfrm>
            <a:off x="3346556" y="3546969"/>
            <a:ext cx="5473916" cy="531220"/>
            <a:chOff x="683568" y="2002744"/>
            <a:chExt cx="5473916" cy="531220"/>
          </a:xfrm>
        </p:grpSpPr>
        <p:sp>
          <p:nvSpPr>
            <p:cNvPr id="30" name="직사각형 29">
              <a:extLst>
                <a:ext uri="{FF2B5EF4-FFF2-40B4-BE49-F238E27FC236}">
                  <a16:creationId xmlns="" xmlns:a16="http://schemas.microsoft.com/office/drawing/2014/main" id="{E9FB9D2B-C7F1-4804-B968-DD7653B0D33D}"/>
                </a:ext>
              </a:extLst>
            </p:cNvPr>
            <p:cNvSpPr/>
            <p:nvPr/>
          </p:nvSpPr>
          <p:spPr>
            <a:xfrm>
              <a:off x="970948" y="2002744"/>
              <a:ext cx="5186536" cy="531220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fontAlgn="base"/>
              <a:r>
                <a:rPr lang="ko-KR" altLang="en-US" sz="1600" dirty="0" smtClean="0"/>
                <a:t>함수는 </a:t>
              </a:r>
              <a:r>
                <a:rPr lang="en-US" altLang="ko-KR" sz="1600" dirty="0" smtClean="0"/>
                <a:t>INPUT</a:t>
              </a:r>
              <a:r>
                <a:rPr lang="ko-KR" altLang="en-US" sz="1600" dirty="0" smtClean="0"/>
                <a:t>을 받고 </a:t>
              </a:r>
              <a:r>
                <a:rPr lang="en-US" altLang="ko-KR" sz="1600" dirty="0" smtClean="0"/>
                <a:t>OUTPUT</a:t>
              </a:r>
              <a:r>
                <a:rPr lang="ko-KR" altLang="en-US" sz="1600" dirty="0" smtClean="0"/>
                <a:t>을 만든다</a:t>
              </a:r>
              <a:r>
                <a:rPr lang="en-US" altLang="ko-KR" sz="1600" dirty="0" smtClean="0"/>
                <a:t>.</a:t>
              </a:r>
              <a:endParaRPr lang="en-US" altLang="ko-KR" sz="1600" dirty="0"/>
            </a:p>
            <a:p>
              <a:pPr fontAlgn="base"/>
              <a:r>
                <a:rPr lang="en-US" altLang="ko-KR" sz="1600" dirty="0" smtClean="0"/>
                <a:t>Input: </a:t>
              </a:r>
              <a:r>
                <a:rPr lang="ko-KR" altLang="en-US" sz="1600" dirty="0" smtClean="0"/>
                <a:t>파일</a:t>
              </a:r>
              <a:r>
                <a:rPr lang="en-US" altLang="ko-KR" sz="1600" dirty="0" smtClean="0"/>
                <a:t>, OUTPUT: 256 bit </a:t>
              </a:r>
              <a:r>
                <a:rPr lang="ko-KR" altLang="en-US" sz="1600" dirty="0" smtClean="0"/>
                <a:t>숫자</a:t>
              </a:r>
              <a:endParaRPr lang="en-US" altLang="ko-KR" sz="1600" dirty="0" smtClean="0"/>
            </a:p>
          </p:txBody>
        </p:sp>
        <p:sp>
          <p:nvSpPr>
            <p:cNvPr id="31" name="타원 30">
              <a:extLst>
                <a:ext uri="{FF2B5EF4-FFF2-40B4-BE49-F238E27FC236}">
                  <a16:creationId xmlns="" xmlns:a16="http://schemas.microsoft.com/office/drawing/2014/main" id="{63512C16-B679-4E11-AEAD-B9149C3E3780}"/>
                </a:ext>
              </a:extLst>
            </p:cNvPr>
            <p:cNvSpPr/>
            <p:nvPr/>
          </p:nvSpPr>
          <p:spPr>
            <a:xfrm>
              <a:off x="683568" y="2002746"/>
              <a:ext cx="531220" cy="531218"/>
            </a:xfrm>
            <a:prstGeom prst="ellipse">
              <a:avLst/>
            </a:prstGeom>
            <a:solidFill>
              <a:srgbClr val="0255B8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800" dirty="0">
                  <a:solidFill>
                    <a:prstClr val="white"/>
                  </a:solidFill>
                </a:rPr>
                <a:t>02</a:t>
              </a:r>
              <a:endParaRPr lang="ko-KR" altLang="en-US" sz="28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32" name="그룹 31"/>
          <p:cNvGrpSpPr/>
          <p:nvPr/>
        </p:nvGrpSpPr>
        <p:grpSpPr>
          <a:xfrm>
            <a:off x="3346556" y="4208993"/>
            <a:ext cx="5473916" cy="531220"/>
            <a:chOff x="683568" y="2636912"/>
            <a:chExt cx="5473916" cy="531220"/>
          </a:xfrm>
        </p:grpSpPr>
        <p:sp>
          <p:nvSpPr>
            <p:cNvPr id="33" name="직사각형 32">
              <a:extLst>
                <a:ext uri="{FF2B5EF4-FFF2-40B4-BE49-F238E27FC236}">
                  <a16:creationId xmlns="" xmlns:a16="http://schemas.microsoft.com/office/drawing/2014/main" id="{5089B46B-1598-401A-851D-BF4ABCECE316}"/>
                </a:ext>
              </a:extLst>
            </p:cNvPr>
            <p:cNvSpPr/>
            <p:nvPr/>
          </p:nvSpPr>
          <p:spPr>
            <a:xfrm>
              <a:off x="970948" y="2636912"/>
              <a:ext cx="5186536" cy="531220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fontAlgn="base"/>
              <a:r>
                <a:rPr lang="ko-KR" altLang="en-US" sz="1600" dirty="0" smtClean="0">
                  <a:solidFill>
                    <a:prstClr val="black"/>
                  </a:solidFill>
                </a:rPr>
                <a:t>쓰이는 곳</a:t>
              </a:r>
              <a:r>
                <a:rPr lang="en-US" altLang="ko-KR" sz="1600" dirty="0" smtClean="0">
                  <a:solidFill>
                    <a:prstClr val="black"/>
                  </a:solidFill>
                </a:rPr>
                <a:t>, </a:t>
              </a:r>
              <a:r>
                <a:rPr lang="ko-KR" altLang="en-US" sz="1600" dirty="0" smtClean="0">
                  <a:solidFill>
                    <a:prstClr val="black"/>
                  </a:solidFill>
                </a:rPr>
                <a:t>은행서버는 </a:t>
              </a:r>
              <a:r>
                <a:rPr lang="en-US" altLang="ko-KR" sz="1600" dirty="0" err="1" smtClean="0">
                  <a:solidFill>
                    <a:prstClr val="black"/>
                  </a:solidFill>
                </a:rPr>
                <a:t>Passwd</a:t>
              </a:r>
              <a:r>
                <a:rPr lang="ko-KR" altLang="en-US" sz="1600" dirty="0" smtClean="0">
                  <a:solidFill>
                    <a:prstClr val="black"/>
                  </a:solidFill>
                </a:rPr>
                <a:t>의 </a:t>
              </a:r>
              <a:r>
                <a:rPr lang="en-US" altLang="ko-KR" sz="1600" dirty="0" smtClean="0">
                  <a:solidFill>
                    <a:prstClr val="black"/>
                  </a:solidFill>
                </a:rPr>
                <a:t>hash </a:t>
              </a:r>
              <a:r>
                <a:rPr lang="ko-KR" altLang="en-US" sz="1600" dirty="0" smtClean="0">
                  <a:solidFill>
                    <a:prstClr val="black"/>
                  </a:solidFill>
                </a:rPr>
                <a:t>값만 저장해 놓는다</a:t>
              </a:r>
              <a:r>
                <a:rPr lang="en-US" altLang="ko-KR" sz="1600" dirty="0" smtClean="0">
                  <a:solidFill>
                    <a:prstClr val="black"/>
                  </a:solidFill>
                </a:rPr>
                <a:t>.</a:t>
              </a:r>
              <a:endParaRPr lang="ko-KR" altLang="en-US"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34" name="타원 33">
              <a:extLst>
                <a:ext uri="{FF2B5EF4-FFF2-40B4-BE49-F238E27FC236}">
                  <a16:creationId xmlns="" xmlns:a16="http://schemas.microsoft.com/office/drawing/2014/main" id="{AA8B0128-76F1-40E5-92EA-48A394A33BCA}"/>
                </a:ext>
              </a:extLst>
            </p:cNvPr>
            <p:cNvSpPr/>
            <p:nvPr/>
          </p:nvSpPr>
          <p:spPr>
            <a:xfrm>
              <a:off x="683568" y="2636914"/>
              <a:ext cx="531220" cy="531218"/>
            </a:xfrm>
            <a:prstGeom prst="ellipse">
              <a:avLst/>
            </a:prstGeom>
            <a:solidFill>
              <a:srgbClr val="0255B8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800" dirty="0">
                  <a:solidFill>
                    <a:prstClr val="white"/>
                  </a:solidFill>
                </a:rPr>
                <a:t>03</a:t>
              </a:r>
              <a:endParaRPr lang="ko-KR" altLang="en-US" sz="2800" dirty="0">
                <a:solidFill>
                  <a:prstClr val="white"/>
                </a:solidFill>
              </a:endParaRPr>
            </a:p>
          </p:txBody>
        </p:sp>
      </p:grpSp>
      <p:sp>
        <p:nvSpPr>
          <p:cNvPr id="35" name="모서리가 둥근 직사각형 34"/>
          <p:cNvSpPr/>
          <p:nvPr/>
        </p:nvSpPr>
        <p:spPr>
          <a:xfrm>
            <a:off x="1049461" y="2670113"/>
            <a:ext cx="1275976" cy="241507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575" tIns="65288" rIns="130575" bIns="65288" rtlCol="0" anchor="ctr"/>
          <a:lstStyle/>
          <a:p>
            <a:pPr algn="ctr"/>
            <a:endParaRPr lang="ko-KR" altLang="en-US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5" name="모서리가 둥근 직사각형 44"/>
          <p:cNvSpPr/>
          <p:nvPr/>
        </p:nvSpPr>
        <p:spPr>
          <a:xfrm>
            <a:off x="1145039" y="3534734"/>
            <a:ext cx="1081200" cy="1487725"/>
          </a:xfrm>
          <a:prstGeom prst="roundRect">
            <a:avLst>
              <a:gd name="adj" fmla="val 8274"/>
            </a:avLst>
          </a:prstGeom>
          <a:solidFill>
            <a:schemeClr val="bg1"/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0575" tIns="65288" rIns="130575" bIns="652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200230" y="2219933"/>
            <a:ext cx="561859" cy="378072"/>
          </a:xfrm>
          <a:prstGeom prst="rect">
            <a:avLst/>
          </a:prstGeom>
          <a:noFill/>
        </p:spPr>
        <p:txBody>
          <a:bodyPr wrap="none" lIns="130575" tIns="65288" rIns="130575" bIns="65288" rtlCol="0">
            <a:spAutoFit/>
          </a:bodyPr>
          <a:lstStyle/>
          <a:p>
            <a:pPr marL="0" lvl="1" defTabSz="1038977" latinLnBrk="0">
              <a:spcAft>
                <a:spcPts val="133"/>
              </a:spcAft>
              <a:defRPr/>
            </a:pPr>
            <a:r>
              <a:rPr lang="en-US" altLang="ko-KR" sz="16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#1</a:t>
            </a:r>
            <a:endParaRPr lang="ko-KR" altLang="en-US" sz="1600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1222198" y="3673941"/>
            <a:ext cx="932992" cy="34961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1222198" y="4102025"/>
            <a:ext cx="932992" cy="34961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1222198" y="4536446"/>
            <a:ext cx="932992" cy="349615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</a:t>
            </a:r>
            <a:r>
              <a:rPr lang="en-US" altLang="ko-KR" sz="1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B 2BTC</a:t>
            </a:r>
            <a:endParaRPr lang="ko-KR" altLang="en-US" sz="12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6" name="모서리가 둥근 직사각형 55"/>
          <p:cNvSpPr/>
          <p:nvPr/>
        </p:nvSpPr>
        <p:spPr>
          <a:xfrm>
            <a:off x="1117131" y="2744805"/>
            <a:ext cx="1123933" cy="715239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0575" tIns="65288" rIns="130575" bIns="652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200" dirty="0">
                <a:solidFill>
                  <a:srgbClr val="0000FF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nonce0</a:t>
            </a:r>
          </a:p>
          <a:p>
            <a:pPr algn="ctr"/>
            <a:r>
              <a:rPr lang="en-US" altLang="ko-KR" sz="1200" dirty="0">
                <a:solidFill>
                  <a:srgbClr val="0000FF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hash0</a:t>
            </a:r>
          </a:p>
          <a:p>
            <a:pPr algn="ctr"/>
            <a:r>
              <a:rPr lang="en-US" altLang="ko-KR" sz="1200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M. hash 0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="" xmlns:a16="http://schemas.microsoft.com/office/drawing/2014/main" id="{4C70D3A6-2D13-4F22-9C06-C56F2B48E196}"/>
              </a:ext>
            </a:extLst>
          </p:cNvPr>
          <p:cNvSpPr/>
          <p:nvPr/>
        </p:nvSpPr>
        <p:spPr>
          <a:xfrm>
            <a:off x="336000" y="1249702"/>
            <a:ext cx="8556480" cy="8111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2000" b="1" kern="0" spc="-50" dirty="0" smtClean="0">
                <a:solidFill>
                  <a:prstClr val="black"/>
                </a:solidFill>
              </a:rPr>
              <a:t>FILE </a:t>
            </a:r>
            <a:r>
              <a:rPr lang="ko-KR" altLang="en-US" sz="2000" b="1" kern="0" spc="-50" dirty="0" smtClean="0">
                <a:solidFill>
                  <a:prstClr val="black"/>
                </a:solidFill>
              </a:rPr>
              <a:t>요약을 만드는 함수</a:t>
            </a:r>
            <a:endParaRPr lang="en-US" altLang="ko-KR" sz="2000" b="1" kern="0" spc="-50" dirty="0" smtClean="0">
              <a:solidFill>
                <a:prstClr val="black"/>
              </a:solidFill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="" xmlns:a16="http://schemas.microsoft.com/office/drawing/2014/main" id="{C53D36E5-5476-4409-B7F7-5ECC3840BD36}"/>
              </a:ext>
            </a:extLst>
          </p:cNvPr>
          <p:cNvSpPr/>
          <p:nvPr/>
        </p:nvSpPr>
        <p:spPr>
          <a:xfrm>
            <a:off x="336000" y="1196752"/>
            <a:ext cx="8556480" cy="45719"/>
          </a:xfrm>
          <a:prstGeom prst="rect">
            <a:avLst/>
          </a:prstGeom>
          <a:solidFill>
            <a:srgbClr val="0255B8"/>
          </a:solidFill>
          <a:ln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ts val="600"/>
              </a:spcBef>
            </a:pPr>
            <a:endParaRPr lang="ko-KR" altLang="en-US" b="1" kern="0" dirty="0">
              <a:solidFill>
                <a:srgbClr val="0255B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1328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8"/>
          <p:cNvSpPr txBox="1"/>
          <p:nvPr/>
        </p:nvSpPr>
        <p:spPr>
          <a:xfrm>
            <a:off x="628650" y="74814"/>
            <a:ext cx="75374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smtClean="0">
                <a:solidFill>
                  <a:prstClr val="black"/>
                </a:solidFill>
              </a:rPr>
              <a:t>블록체인이란</a:t>
            </a:r>
            <a:r>
              <a:rPr lang="en-US" altLang="ko-KR" sz="3200" b="1" dirty="0" smtClean="0">
                <a:solidFill>
                  <a:prstClr val="black"/>
                </a:solidFill>
              </a:rPr>
              <a:t>?</a:t>
            </a:r>
            <a:endParaRPr lang="ko-KR" altLang="en-US" sz="3200" b="1" dirty="0">
              <a:solidFill>
                <a:prstClr val="black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527098" y="2516110"/>
            <a:ext cx="8228720" cy="3081335"/>
            <a:chOff x="-108520" y="2276872"/>
            <a:chExt cx="9499955" cy="3557363"/>
          </a:xfrm>
        </p:grpSpPr>
        <p:sp>
          <p:nvSpPr>
            <p:cNvPr id="21" name="모서리가 둥근 직사각형 20"/>
            <p:cNvSpPr/>
            <p:nvPr/>
          </p:nvSpPr>
          <p:spPr>
            <a:xfrm>
              <a:off x="374538" y="2756702"/>
              <a:ext cx="1701301" cy="241507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30575" tIns="65288" rIns="130575" bIns="65288" rtlCol="0" anchor="ctr"/>
            <a:lstStyle/>
            <a:p>
              <a:pPr algn="ctr"/>
              <a:endPara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2" name="모서리가 둥근 직사각형 21"/>
            <p:cNvSpPr/>
            <p:nvPr/>
          </p:nvSpPr>
          <p:spPr>
            <a:xfrm>
              <a:off x="501975" y="3621324"/>
              <a:ext cx="1441600" cy="1487725"/>
            </a:xfrm>
            <a:prstGeom prst="roundRect">
              <a:avLst>
                <a:gd name="adj" fmla="val 8274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0575" tIns="65288" rIns="130575" bIns="6528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75564" y="2306523"/>
              <a:ext cx="648659" cy="436479"/>
            </a:xfrm>
            <a:prstGeom prst="rect">
              <a:avLst/>
            </a:prstGeom>
            <a:noFill/>
          </p:spPr>
          <p:txBody>
            <a:bodyPr wrap="none" lIns="130575" tIns="65288" rIns="130575" bIns="65288" rtlCol="0">
              <a:spAutoFit/>
            </a:bodyPr>
            <a:lstStyle/>
            <a:p>
              <a:pPr marL="0" lvl="1" defTabSz="1038977" latinLnBrk="0">
                <a:spcAft>
                  <a:spcPts val="133"/>
                </a:spcAft>
                <a:defRPr/>
              </a:pPr>
              <a:r>
                <a:rPr lang="en-US" altLang="ko-KR" sz="1600" dirty="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#1</a:t>
              </a:r>
              <a:endParaRPr lang="ko-KR" altLang="en-US" sz="16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604853" y="3760530"/>
              <a:ext cx="1243989" cy="34961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604853" y="4188614"/>
              <a:ext cx="1243989" cy="34961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604853" y="4623035"/>
              <a:ext cx="1243989" cy="34961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A</a:t>
              </a:r>
              <a:r>
                <a:rPr lang="en-US" altLang="ko-KR" sz="12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Wingdings" panose="05000000000000000000" pitchFamily="2" charset="2"/>
                </a:rPr>
                <a:t>B 2BTC</a:t>
              </a:r>
              <a:endParaRPr lang="ko-KR" altLang="en-US" sz="1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37" name="모서리가 둥근 직사각형 36"/>
            <p:cNvSpPr/>
            <p:nvPr/>
          </p:nvSpPr>
          <p:spPr>
            <a:xfrm>
              <a:off x="464764" y="2831394"/>
              <a:ext cx="1498577" cy="71523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0575" tIns="65288" rIns="130575" bIns="6528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dirty="0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nonce0</a:t>
              </a:r>
            </a:p>
            <a:p>
              <a:pPr algn="ctr"/>
              <a:r>
                <a:rPr lang="en-US" altLang="ko-KR" sz="1200" dirty="0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hash0</a:t>
              </a:r>
            </a:p>
            <a:p>
              <a:pPr algn="ctr"/>
              <a:r>
                <a:rPr lang="en-US" altLang="ko-KR" sz="1200" dirty="0">
                  <a:solidFill>
                    <a:srgbClr val="C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M. hash 0</a:t>
              </a:r>
            </a:p>
          </p:txBody>
        </p:sp>
        <p:sp>
          <p:nvSpPr>
            <p:cNvPr id="38" name="모서리가 둥근 직사각형 37"/>
            <p:cNvSpPr/>
            <p:nvPr/>
          </p:nvSpPr>
          <p:spPr>
            <a:xfrm>
              <a:off x="2843986" y="2756700"/>
              <a:ext cx="1701301" cy="241507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30575" tIns="65288" rIns="130575" bIns="65288" rtlCol="0" anchor="ctr"/>
            <a:lstStyle/>
            <a:p>
              <a:pPr algn="ctr"/>
              <a:endPara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045012" y="2306523"/>
              <a:ext cx="648659" cy="436479"/>
            </a:xfrm>
            <a:prstGeom prst="rect">
              <a:avLst/>
            </a:prstGeom>
            <a:noFill/>
          </p:spPr>
          <p:txBody>
            <a:bodyPr wrap="none" lIns="130575" tIns="65288" rIns="130575" bIns="65288" rtlCol="0">
              <a:spAutoFit/>
            </a:bodyPr>
            <a:lstStyle/>
            <a:p>
              <a:r>
                <a:rPr lang="en-US" altLang="ko-KR" sz="16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#2</a:t>
              </a:r>
              <a:endPara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40" name="모서리가 둥근 직사각형 39"/>
            <p:cNvSpPr/>
            <p:nvPr/>
          </p:nvSpPr>
          <p:spPr>
            <a:xfrm>
              <a:off x="2934202" y="2831394"/>
              <a:ext cx="1547024" cy="71523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0575" tIns="65288" rIns="130575" bIns="6528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r>
                <a:rPr lang="en-US" altLang="ko-KR" sz="1200" dirty="0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nonce1</a:t>
              </a:r>
            </a:p>
            <a:p>
              <a:pPr lvl="0" algn="ctr"/>
              <a:r>
                <a:rPr lang="en-US" altLang="ko-KR" sz="1200" dirty="0">
                  <a:solidFill>
                    <a:srgbClr val="C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hash1</a:t>
              </a:r>
            </a:p>
            <a:p>
              <a:pPr lvl="0" algn="ctr"/>
              <a:r>
                <a:rPr lang="en-US" altLang="ko-KR" sz="1200" dirty="0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M. hash1</a:t>
              </a:r>
            </a:p>
          </p:txBody>
        </p:sp>
        <p:cxnSp>
          <p:nvCxnSpPr>
            <p:cNvPr id="41" name="직선 화살표 연결선 40"/>
            <p:cNvCxnSpPr>
              <a:stCxn id="37" idx="3"/>
            </p:cNvCxnSpPr>
            <p:nvPr/>
          </p:nvCxnSpPr>
          <p:spPr>
            <a:xfrm flipV="1">
              <a:off x="1963341" y="3185102"/>
              <a:ext cx="1218355" cy="3912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모서리가 둥근 직사각형 41"/>
            <p:cNvSpPr/>
            <p:nvPr/>
          </p:nvSpPr>
          <p:spPr>
            <a:xfrm>
              <a:off x="5220686" y="2760814"/>
              <a:ext cx="1701301" cy="241507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30575" tIns="65288" rIns="130575" bIns="65288" rtlCol="0" anchor="ctr"/>
            <a:lstStyle/>
            <a:p>
              <a:pPr algn="ctr"/>
              <a:endPara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421708" y="2276872"/>
              <a:ext cx="648659" cy="436479"/>
            </a:xfrm>
            <a:prstGeom prst="rect">
              <a:avLst/>
            </a:prstGeom>
            <a:noFill/>
          </p:spPr>
          <p:txBody>
            <a:bodyPr wrap="none" lIns="130575" tIns="65288" rIns="130575" bIns="65288" rtlCol="0">
              <a:spAutoFit/>
            </a:bodyPr>
            <a:lstStyle/>
            <a:p>
              <a:r>
                <a:rPr lang="en-US" altLang="ko-KR" sz="16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#3</a:t>
              </a:r>
              <a:endPara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44" name="모서리가 둥근 직사각형 43"/>
            <p:cNvSpPr/>
            <p:nvPr/>
          </p:nvSpPr>
          <p:spPr>
            <a:xfrm>
              <a:off x="5310912" y="2835507"/>
              <a:ext cx="1498577" cy="71523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0575" tIns="65288" rIns="130575" bIns="6528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ko-KR" sz="1400" dirty="0">
                <a:solidFill>
                  <a:srgbClr val="0000FF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lvl="0" algn="ctr"/>
              <a:r>
                <a:rPr lang="en-US" altLang="ko-KR" sz="1400" dirty="0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lang="en-US" altLang="ko-KR" sz="1200" dirty="0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nonce2</a:t>
              </a:r>
            </a:p>
            <a:p>
              <a:pPr lvl="0" algn="ctr"/>
              <a:r>
                <a:rPr lang="en-US" altLang="ko-KR" sz="1200" dirty="0">
                  <a:solidFill>
                    <a:srgbClr val="C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hash2</a:t>
              </a:r>
            </a:p>
            <a:p>
              <a:pPr lvl="0" algn="ctr"/>
              <a:r>
                <a:rPr lang="en-US" altLang="ko-KR" sz="1200" dirty="0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M. hash2</a:t>
              </a:r>
            </a:p>
            <a:p>
              <a:pPr algn="ctr"/>
              <a:endParaRPr lang="en-US" altLang="ko-KR" sz="1400" dirty="0">
                <a:solidFill>
                  <a:srgbClr val="0000FF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47" name="모서리가 둥근 직사각형 46"/>
            <p:cNvSpPr/>
            <p:nvPr/>
          </p:nvSpPr>
          <p:spPr>
            <a:xfrm>
              <a:off x="7690134" y="2760814"/>
              <a:ext cx="1701301" cy="241507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30575" tIns="65288" rIns="130575" bIns="65288" rtlCol="0" anchor="ctr"/>
            <a:lstStyle/>
            <a:p>
              <a:pPr algn="ctr"/>
              <a:endPara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891156" y="2276872"/>
              <a:ext cx="648659" cy="436479"/>
            </a:xfrm>
            <a:prstGeom prst="rect">
              <a:avLst/>
            </a:prstGeom>
            <a:noFill/>
          </p:spPr>
          <p:txBody>
            <a:bodyPr wrap="none" lIns="130575" tIns="65288" rIns="130575" bIns="65288" rtlCol="0">
              <a:spAutoFit/>
            </a:bodyPr>
            <a:lstStyle/>
            <a:p>
              <a:r>
                <a:rPr lang="en-US" altLang="ko-KR" sz="16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#4</a:t>
              </a:r>
              <a:endPara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49" name="모서리가 둥근 직사각형 48"/>
            <p:cNvSpPr/>
            <p:nvPr/>
          </p:nvSpPr>
          <p:spPr>
            <a:xfrm>
              <a:off x="7780350" y="2835507"/>
              <a:ext cx="1547024" cy="71523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0575" tIns="65288" rIns="130575" bIns="6528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r>
                <a:rPr lang="en-US" altLang="ko-KR" sz="1200" dirty="0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nonce3</a:t>
              </a:r>
            </a:p>
            <a:p>
              <a:pPr lvl="0" algn="ctr"/>
              <a:r>
                <a:rPr lang="en-US" altLang="ko-KR" sz="1200" dirty="0">
                  <a:solidFill>
                    <a:srgbClr val="C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hash3</a:t>
              </a:r>
            </a:p>
            <a:p>
              <a:pPr lvl="0" algn="ctr"/>
              <a:r>
                <a:rPr lang="en-US" altLang="ko-KR" sz="1200" dirty="0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M. hash3</a:t>
              </a:r>
            </a:p>
          </p:txBody>
        </p:sp>
        <p:cxnSp>
          <p:nvCxnSpPr>
            <p:cNvPr id="51" name="직선 화살표 연결선 50"/>
            <p:cNvCxnSpPr>
              <a:stCxn id="44" idx="3"/>
            </p:cNvCxnSpPr>
            <p:nvPr/>
          </p:nvCxnSpPr>
          <p:spPr>
            <a:xfrm flipV="1">
              <a:off x="6809490" y="3189214"/>
              <a:ext cx="1218355" cy="3912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화살표 연결선 51"/>
            <p:cNvCxnSpPr>
              <a:stCxn id="40" idx="3"/>
            </p:cNvCxnSpPr>
            <p:nvPr/>
          </p:nvCxnSpPr>
          <p:spPr>
            <a:xfrm>
              <a:off x="4481228" y="3189014"/>
              <a:ext cx="1038676" cy="9751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모서리가 둥근 직사각형 52"/>
            <p:cNvSpPr/>
            <p:nvPr/>
          </p:nvSpPr>
          <p:spPr>
            <a:xfrm>
              <a:off x="2971423" y="3621324"/>
              <a:ext cx="1441600" cy="1487725"/>
            </a:xfrm>
            <a:prstGeom prst="roundRect">
              <a:avLst>
                <a:gd name="adj" fmla="val 8274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0575" tIns="65288" rIns="130575" bIns="6528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grpSp>
          <p:nvGrpSpPr>
            <p:cNvPr id="59" name="그룹 58"/>
            <p:cNvGrpSpPr/>
            <p:nvPr/>
          </p:nvGrpSpPr>
          <p:grpSpPr>
            <a:xfrm>
              <a:off x="3074301" y="3760524"/>
              <a:ext cx="1243992" cy="1212123"/>
              <a:chOff x="1115615" y="4509119"/>
              <a:chExt cx="720081" cy="748956"/>
            </a:xfrm>
          </p:grpSpPr>
          <p:sp>
            <p:nvSpPr>
              <p:cNvPr id="60" name="직사각형 59"/>
              <p:cNvSpPr/>
              <p:nvPr/>
            </p:nvSpPr>
            <p:spPr>
              <a:xfrm>
                <a:off x="1115615" y="4509119"/>
                <a:ext cx="720080" cy="21602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2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B</a:t>
                </a:r>
                <a:r>
                  <a:rPr lang="en-US" altLang="ko-KR" sz="12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sym typeface="Wingdings" panose="05000000000000000000" pitchFamily="2" charset="2"/>
                  </a:rPr>
                  <a:t></a:t>
                </a:r>
                <a:r>
                  <a:rPr lang="en-US" altLang="ko-KR" sz="12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C 1BTC</a:t>
                </a:r>
              </a:p>
            </p:txBody>
          </p:sp>
          <p:sp>
            <p:nvSpPr>
              <p:cNvPr id="61" name="직사각형 60"/>
              <p:cNvSpPr/>
              <p:nvPr/>
            </p:nvSpPr>
            <p:spPr>
              <a:xfrm>
                <a:off x="1115616" y="4773628"/>
                <a:ext cx="720080" cy="21602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1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62" name="직사각형 61"/>
              <p:cNvSpPr/>
              <p:nvPr/>
            </p:nvSpPr>
            <p:spPr>
              <a:xfrm>
                <a:off x="1115615" y="5042052"/>
                <a:ext cx="720080" cy="21602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4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p:grpSp>
        <p:sp>
          <p:nvSpPr>
            <p:cNvPr id="63" name="모서리가 둥근 직사각형 62"/>
            <p:cNvSpPr/>
            <p:nvPr/>
          </p:nvSpPr>
          <p:spPr>
            <a:xfrm>
              <a:off x="5346543" y="3621324"/>
              <a:ext cx="1441600" cy="1487725"/>
            </a:xfrm>
            <a:prstGeom prst="roundRect">
              <a:avLst>
                <a:gd name="adj" fmla="val 8274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0575" tIns="65288" rIns="130575" bIns="6528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grpSp>
          <p:nvGrpSpPr>
            <p:cNvPr id="64" name="그룹 63"/>
            <p:cNvGrpSpPr/>
            <p:nvPr/>
          </p:nvGrpSpPr>
          <p:grpSpPr>
            <a:xfrm>
              <a:off x="5449421" y="3760529"/>
              <a:ext cx="1243989" cy="1212120"/>
              <a:chOff x="1115616" y="4509120"/>
              <a:chExt cx="720080" cy="748954"/>
            </a:xfrm>
          </p:grpSpPr>
          <p:sp>
            <p:nvSpPr>
              <p:cNvPr id="65" name="직사각형 64"/>
              <p:cNvSpPr/>
              <p:nvPr/>
            </p:nvSpPr>
            <p:spPr>
              <a:xfrm>
                <a:off x="1115616" y="4509120"/>
                <a:ext cx="720080" cy="21602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4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66" name="직사각형 65"/>
              <p:cNvSpPr/>
              <p:nvPr/>
            </p:nvSpPr>
            <p:spPr>
              <a:xfrm>
                <a:off x="1115616" y="4773628"/>
                <a:ext cx="720080" cy="21602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1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67" name="직사각형 66"/>
              <p:cNvSpPr/>
              <p:nvPr/>
            </p:nvSpPr>
            <p:spPr>
              <a:xfrm>
                <a:off x="1115616" y="5042051"/>
                <a:ext cx="720080" cy="21602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4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p:grpSp>
        <p:sp>
          <p:nvSpPr>
            <p:cNvPr id="68" name="모서리가 둥근 직사각형 67"/>
            <p:cNvSpPr/>
            <p:nvPr/>
          </p:nvSpPr>
          <p:spPr>
            <a:xfrm>
              <a:off x="7826841" y="3621324"/>
              <a:ext cx="1441600" cy="1487725"/>
            </a:xfrm>
            <a:prstGeom prst="roundRect">
              <a:avLst>
                <a:gd name="adj" fmla="val 8274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0575" tIns="65288" rIns="130575" bIns="6528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grpSp>
          <p:nvGrpSpPr>
            <p:cNvPr id="69" name="그룹 68"/>
            <p:cNvGrpSpPr/>
            <p:nvPr/>
          </p:nvGrpSpPr>
          <p:grpSpPr>
            <a:xfrm>
              <a:off x="7929718" y="3760529"/>
              <a:ext cx="1243989" cy="1212120"/>
              <a:chOff x="1115616" y="4509120"/>
              <a:chExt cx="720080" cy="748954"/>
            </a:xfrm>
          </p:grpSpPr>
          <p:sp>
            <p:nvSpPr>
              <p:cNvPr id="70" name="직사각형 69"/>
              <p:cNvSpPr/>
              <p:nvPr/>
            </p:nvSpPr>
            <p:spPr>
              <a:xfrm>
                <a:off x="1115616" y="4509120"/>
                <a:ext cx="720080" cy="21602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4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71" name="직사각형 70"/>
              <p:cNvSpPr/>
              <p:nvPr/>
            </p:nvSpPr>
            <p:spPr>
              <a:xfrm>
                <a:off x="1115616" y="4773628"/>
                <a:ext cx="720080" cy="21602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1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72" name="직사각형 71"/>
              <p:cNvSpPr/>
              <p:nvPr/>
            </p:nvSpPr>
            <p:spPr>
              <a:xfrm>
                <a:off x="1115616" y="5042051"/>
                <a:ext cx="720080" cy="21602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05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C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sym typeface="Wingdings" panose="05000000000000000000" pitchFamily="2" charset="2"/>
                  </a:rPr>
                  <a:t>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D 0.5BTC</a:t>
                </a:r>
              </a:p>
            </p:txBody>
          </p:sp>
        </p:grpSp>
        <p:sp>
          <p:nvSpPr>
            <p:cNvPr id="73" name="TextBox 72"/>
            <p:cNvSpPr txBox="1"/>
            <p:nvPr/>
          </p:nvSpPr>
          <p:spPr>
            <a:xfrm>
              <a:off x="675154" y="5280994"/>
              <a:ext cx="921781" cy="553241"/>
            </a:xfrm>
            <a:prstGeom prst="rect">
              <a:avLst/>
            </a:prstGeom>
            <a:noFill/>
          </p:spPr>
          <p:txBody>
            <a:bodyPr wrap="none" lIns="108812" tIns="54407" rIns="108812" bIns="54407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rgbClr val="FF0000"/>
                  </a:solidFill>
                </a:rPr>
                <a:t>M. hash0</a:t>
              </a:r>
            </a:p>
            <a:p>
              <a:pPr algn="ctr"/>
              <a:r>
                <a:rPr lang="en-US" altLang="ko-KR" sz="1200" dirty="0">
                  <a:solidFill>
                    <a:srgbClr val="FF0000"/>
                  </a:solidFill>
                </a:rPr>
                <a:t>changes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3238034" y="5280993"/>
              <a:ext cx="840723" cy="553241"/>
            </a:xfrm>
            <a:prstGeom prst="rect">
              <a:avLst/>
            </a:prstGeom>
            <a:noFill/>
          </p:spPr>
          <p:txBody>
            <a:bodyPr wrap="none" lIns="108812" tIns="54407" rIns="108812" bIns="54407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rgbClr val="FF0000"/>
                  </a:solidFill>
                </a:rPr>
                <a:t>hash 1</a:t>
              </a:r>
            </a:p>
            <a:p>
              <a:pPr algn="ctr"/>
              <a:r>
                <a:rPr lang="en-US" altLang="ko-KR" sz="1200" dirty="0">
                  <a:solidFill>
                    <a:srgbClr val="FF0000"/>
                  </a:solidFill>
                </a:rPr>
                <a:t>changes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5716567" y="5280993"/>
              <a:ext cx="840723" cy="553241"/>
            </a:xfrm>
            <a:prstGeom prst="rect">
              <a:avLst/>
            </a:prstGeom>
            <a:noFill/>
          </p:spPr>
          <p:txBody>
            <a:bodyPr wrap="none" lIns="108812" tIns="54407" rIns="108812" bIns="54407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rgbClr val="FF0000"/>
                  </a:solidFill>
                </a:rPr>
                <a:t>hash 2</a:t>
              </a:r>
            </a:p>
            <a:p>
              <a:pPr algn="ctr"/>
              <a:r>
                <a:rPr lang="en-US" altLang="ko-KR" sz="1200" dirty="0">
                  <a:solidFill>
                    <a:srgbClr val="FF0000"/>
                  </a:solidFill>
                </a:rPr>
                <a:t>changes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  <p:cxnSp>
          <p:nvCxnSpPr>
            <p:cNvPr id="76" name="직선 화살표 연결선 75"/>
            <p:cNvCxnSpPr/>
            <p:nvPr/>
          </p:nvCxnSpPr>
          <p:spPr>
            <a:xfrm>
              <a:off x="4177661" y="5557768"/>
              <a:ext cx="1440000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/>
            <p:cNvSpPr txBox="1"/>
            <p:nvPr/>
          </p:nvSpPr>
          <p:spPr>
            <a:xfrm>
              <a:off x="8195101" y="5280993"/>
              <a:ext cx="840723" cy="553241"/>
            </a:xfrm>
            <a:prstGeom prst="rect">
              <a:avLst/>
            </a:prstGeom>
            <a:noFill/>
          </p:spPr>
          <p:txBody>
            <a:bodyPr wrap="none" lIns="108812" tIns="54407" rIns="108812" bIns="54407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rgbClr val="FF0000"/>
                  </a:solidFill>
                </a:rPr>
                <a:t>hash3 </a:t>
              </a:r>
            </a:p>
            <a:p>
              <a:pPr algn="ctr"/>
              <a:r>
                <a:rPr lang="en-US" altLang="ko-KR" sz="1200" dirty="0">
                  <a:solidFill>
                    <a:srgbClr val="FF0000"/>
                  </a:solidFill>
                </a:rPr>
                <a:t>changes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  <p:cxnSp>
          <p:nvCxnSpPr>
            <p:cNvPr id="78" name="직선 화살표 연결선 77"/>
            <p:cNvCxnSpPr/>
            <p:nvPr/>
          </p:nvCxnSpPr>
          <p:spPr>
            <a:xfrm>
              <a:off x="6656194" y="5557769"/>
              <a:ext cx="1440000" cy="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직선 화살표 연결선 78"/>
            <p:cNvCxnSpPr/>
            <p:nvPr/>
          </p:nvCxnSpPr>
          <p:spPr>
            <a:xfrm>
              <a:off x="1699129" y="5563818"/>
              <a:ext cx="1440000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자유형 79"/>
            <p:cNvSpPr/>
            <p:nvPr/>
          </p:nvSpPr>
          <p:spPr>
            <a:xfrm>
              <a:off x="2350201" y="3411291"/>
              <a:ext cx="751348" cy="952125"/>
            </a:xfrm>
            <a:custGeom>
              <a:avLst/>
              <a:gdLst>
                <a:gd name="connsiteX0" fmla="*/ 428757 w 563511"/>
                <a:gd name="connsiteY0" fmla="*/ 683393 h 683393"/>
                <a:gd name="connsiteX1" fmla="*/ 72623 w 563511"/>
                <a:gd name="connsiteY1" fmla="*/ 606391 h 683393"/>
                <a:gd name="connsiteX2" fmla="*/ 43747 w 563511"/>
                <a:gd name="connsiteY2" fmla="*/ 317633 h 683393"/>
                <a:gd name="connsiteX3" fmla="*/ 563511 w 563511"/>
                <a:gd name="connsiteY3" fmla="*/ 0 h 683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511" h="683393">
                  <a:moveTo>
                    <a:pt x="428757" y="683393"/>
                  </a:moveTo>
                  <a:cubicBezTo>
                    <a:pt x="282774" y="675372"/>
                    <a:pt x="136791" y="667351"/>
                    <a:pt x="72623" y="606391"/>
                  </a:cubicBezTo>
                  <a:cubicBezTo>
                    <a:pt x="8455" y="545431"/>
                    <a:pt x="-38068" y="418698"/>
                    <a:pt x="43747" y="317633"/>
                  </a:cubicBezTo>
                  <a:cubicBezTo>
                    <a:pt x="125562" y="216568"/>
                    <a:pt x="344536" y="108284"/>
                    <a:pt x="563511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12" tIns="54407" rIns="108812" bIns="54407"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81" name="자유형 80"/>
            <p:cNvSpPr/>
            <p:nvPr/>
          </p:nvSpPr>
          <p:spPr>
            <a:xfrm>
              <a:off x="7200229" y="3397941"/>
              <a:ext cx="751348" cy="952125"/>
            </a:xfrm>
            <a:custGeom>
              <a:avLst/>
              <a:gdLst>
                <a:gd name="connsiteX0" fmla="*/ 428757 w 563511"/>
                <a:gd name="connsiteY0" fmla="*/ 683393 h 683393"/>
                <a:gd name="connsiteX1" fmla="*/ 72623 w 563511"/>
                <a:gd name="connsiteY1" fmla="*/ 606391 h 683393"/>
                <a:gd name="connsiteX2" fmla="*/ 43747 w 563511"/>
                <a:gd name="connsiteY2" fmla="*/ 317633 h 683393"/>
                <a:gd name="connsiteX3" fmla="*/ 563511 w 563511"/>
                <a:gd name="connsiteY3" fmla="*/ 0 h 683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511" h="683393">
                  <a:moveTo>
                    <a:pt x="428757" y="683393"/>
                  </a:moveTo>
                  <a:cubicBezTo>
                    <a:pt x="282774" y="675372"/>
                    <a:pt x="136791" y="667351"/>
                    <a:pt x="72623" y="606391"/>
                  </a:cubicBezTo>
                  <a:cubicBezTo>
                    <a:pt x="8455" y="545431"/>
                    <a:pt x="-38068" y="418698"/>
                    <a:pt x="43747" y="317633"/>
                  </a:cubicBezTo>
                  <a:cubicBezTo>
                    <a:pt x="125562" y="216568"/>
                    <a:pt x="344536" y="108284"/>
                    <a:pt x="563511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12" tIns="54407" rIns="108812" bIns="54407"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82" name="자유형 81"/>
            <p:cNvSpPr/>
            <p:nvPr/>
          </p:nvSpPr>
          <p:spPr>
            <a:xfrm>
              <a:off x="4741091" y="3411291"/>
              <a:ext cx="751348" cy="952125"/>
            </a:xfrm>
            <a:custGeom>
              <a:avLst/>
              <a:gdLst>
                <a:gd name="connsiteX0" fmla="*/ 428757 w 563511"/>
                <a:gd name="connsiteY0" fmla="*/ 683393 h 683393"/>
                <a:gd name="connsiteX1" fmla="*/ 72623 w 563511"/>
                <a:gd name="connsiteY1" fmla="*/ 606391 h 683393"/>
                <a:gd name="connsiteX2" fmla="*/ 43747 w 563511"/>
                <a:gd name="connsiteY2" fmla="*/ 317633 h 683393"/>
                <a:gd name="connsiteX3" fmla="*/ 563511 w 563511"/>
                <a:gd name="connsiteY3" fmla="*/ 0 h 683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511" h="683393">
                  <a:moveTo>
                    <a:pt x="428757" y="683393"/>
                  </a:moveTo>
                  <a:cubicBezTo>
                    <a:pt x="282774" y="675372"/>
                    <a:pt x="136791" y="667351"/>
                    <a:pt x="72623" y="606391"/>
                  </a:cubicBezTo>
                  <a:cubicBezTo>
                    <a:pt x="8455" y="545431"/>
                    <a:pt x="-38068" y="418698"/>
                    <a:pt x="43747" y="317633"/>
                  </a:cubicBezTo>
                  <a:cubicBezTo>
                    <a:pt x="125562" y="216568"/>
                    <a:pt x="344536" y="108284"/>
                    <a:pt x="563511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12" tIns="54407" rIns="108812" bIns="54407"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83" name="자유형 82"/>
            <p:cNvSpPr/>
            <p:nvPr/>
          </p:nvSpPr>
          <p:spPr>
            <a:xfrm>
              <a:off x="-108520" y="3411291"/>
              <a:ext cx="751348" cy="952125"/>
            </a:xfrm>
            <a:custGeom>
              <a:avLst/>
              <a:gdLst>
                <a:gd name="connsiteX0" fmla="*/ 428757 w 563511"/>
                <a:gd name="connsiteY0" fmla="*/ 683393 h 683393"/>
                <a:gd name="connsiteX1" fmla="*/ 72623 w 563511"/>
                <a:gd name="connsiteY1" fmla="*/ 606391 h 683393"/>
                <a:gd name="connsiteX2" fmla="*/ 43747 w 563511"/>
                <a:gd name="connsiteY2" fmla="*/ 317633 h 683393"/>
                <a:gd name="connsiteX3" fmla="*/ 563511 w 563511"/>
                <a:gd name="connsiteY3" fmla="*/ 0 h 683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511" h="683393">
                  <a:moveTo>
                    <a:pt x="428757" y="683393"/>
                  </a:moveTo>
                  <a:cubicBezTo>
                    <a:pt x="282774" y="675372"/>
                    <a:pt x="136791" y="667351"/>
                    <a:pt x="72623" y="606391"/>
                  </a:cubicBezTo>
                  <a:cubicBezTo>
                    <a:pt x="8455" y="545431"/>
                    <a:pt x="-38068" y="418698"/>
                    <a:pt x="43747" y="317633"/>
                  </a:cubicBezTo>
                  <a:cubicBezTo>
                    <a:pt x="125562" y="216568"/>
                    <a:pt x="344536" y="108284"/>
                    <a:pt x="563511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12" tIns="54407" rIns="108812" bIns="54407" rtlCol="0" anchor="ctr"/>
            <a:lstStyle/>
            <a:p>
              <a:pPr algn="ctr"/>
              <a:endParaRPr lang="ko-KR" altLang="en-US" sz="1200"/>
            </a:p>
          </p:txBody>
        </p:sp>
      </p:grpSp>
      <p:sp>
        <p:nvSpPr>
          <p:cNvPr id="84" name="직사각형 83">
            <a:extLst>
              <a:ext uri="{FF2B5EF4-FFF2-40B4-BE49-F238E27FC236}">
                <a16:creationId xmlns="" xmlns:a16="http://schemas.microsoft.com/office/drawing/2014/main" id="{4C70D3A6-2D13-4F22-9C06-C56F2B48E196}"/>
              </a:ext>
            </a:extLst>
          </p:cNvPr>
          <p:cNvSpPr/>
          <p:nvPr/>
        </p:nvSpPr>
        <p:spPr>
          <a:xfrm>
            <a:off x="336000" y="1249702"/>
            <a:ext cx="8556480" cy="8111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2000" kern="0" spc="-50" dirty="0" smtClean="0">
                <a:solidFill>
                  <a:prstClr val="black"/>
                </a:solidFill>
              </a:rPr>
              <a:t>Block </a:t>
            </a:r>
            <a:r>
              <a:rPr lang="en-US" altLang="ko-KR" sz="2000" kern="0" spc="-50" dirty="0">
                <a:solidFill>
                  <a:prstClr val="black"/>
                </a:solidFill>
              </a:rPr>
              <a:t>body</a:t>
            </a:r>
            <a:r>
              <a:rPr lang="ko-KR" altLang="en-US" sz="2000" kern="0" spc="-50" dirty="0">
                <a:solidFill>
                  <a:prstClr val="black"/>
                </a:solidFill>
              </a:rPr>
              <a:t>의 </a:t>
            </a:r>
            <a:r>
              <a:rPr lang="en-US" altLang="ko-KR" sz="2000" kern="0" spc="-50" dirty="0">
                <a:solidFill>
                  <a:prstClr val="black"/>
                </a:solidFill>
              </a:rPr>
              <a:t>hash </a:t>
            </a:r>
            <a:r>
              <a:rPr lang="ko-KR" altLang="en-US" sz="2000" kern="0" spc="-50" dirty="0">
                <a:solidFill>
                  <a:prstClr val="black"/>
                </a:solidFill>
              </a:rPr>
              <a:t>값을 </a:t>
            </a:r>
            <a:r>
              <a:rPr lang="en-US" altLang="ko-KR" sz="2000" kern="0" spc="-50" dirty="0">
                <a:solidFill>
                  <a:prstClr val="black"/>
                </a:solidFill>
              </a:rPr>
              <a:t>Block Header</a:t>
            </a:r>
            <a:r>
              <a:rPr lang="ko-KR" altLang="en-US" sz="2000" kern="0" spc="-50" dirty="0">
                <a:solidFill>
                  <a:prstClr val="black"/>
                </a:solidFill>
              </a:rPr>
              <a:t>에 넣고</a:t>
            </a:r>
            <a:r>
              <a:rPr lang="en-US" altLang="ko-KR" sz="2000" kern="0" spc="-50" dirty="0">
                <a:solidFill>
                  <a:prstClr val="black"/>
                </a:solidFill>
              </a:rPr>
              <a:t>, </a:t>
            </a:r>
          </a:p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2000" kern="0" spc="-50" dirty="0" err="1">
                <a:solidFill>
                  <a:prstClr val="black"/>
                </a:solidFill>
              </a:rPr>
              <a:t>Oneway</a:t>
            </a:r>
            <a:r>
              <a:rPr lang="en-US" altLang="ko-KR" sz="2000" kern="0" spc="-50" dirty="0">
                <a:solidFill>
                  <a:prstClr val="black"/>
                </a:solidFill>
              </a:rPr>
              <a:t> function</a:t>
            </a:r>
            <a:r>
              <a:rPr lang="ko-KR" altLang="en-US" sz="2000" kern="0" spc="-50" dirty="0">
                <a:solidFill>
                  <a:prstClr val="black"/>
                </a:solidFill>
              </a:rPr>
              <a:t>으로 </a:t>
            </a:r>
            <a:r>
              <a:rPr lang="en-US" altLang="ko-KR" sz="2000" kern="0" spc="-50" dirty="0">
                <a:solidFill>
                  <a:prstClr val="black"/>
                </a:solidFill>
              </a:rPr>
              <a:t>block </a:t>
            </a:r>
            <a:r>
              <a:rPr lang="ko-KR" altLang="en-US" sz="2000" kern="0" spc="-50" dirty="0">
                <a:solidFill>
                  <a:prstClr val="black"/>
                </a:solidFill>
              </a:rPr>
              <a:t>과 </a:t>
            </a:r>
            <a:r>
              <a:rPr lang="en-US" altLang="ko-KR" sz="2000" kern="0" spc="-50" dirty="0">
                <a:solidFill>
                  <a:prstClr val="black"/>
                </a:solidFill>
              </a:rPr>
              <a:t>block</a:t>
            </a:r>
            <a:r>
              <a:rPr lang="ko-KR" altLang="en-US" sz="2000" kern="0" spc="-50" dirty="0">
                <a:solidFill>
                  <a:prstClr val="black"/>
                </a:solidFill>
              </a:rPr>
              <a:t>을 연결하는 것</a:t>
            </a:r>
            <a:r>
              <a:rPr lang="en-US" altLang="ko-KR" sz="2000" kern="0" spc="-50" dirty="0" smtClean="0">
                <a:solidFill>
                  <a:prstClr val="black"/>
                </a:solidFill>
              </a:rPr>
              <a:t>.</a:t>
            </a:r>
            <a:endParaRPr lang="en-US" altLang="ko-KR" sz="2000" b="1" kern="0" spc="-50" dirty="0" smtClean="0">
              <a:solidFill>
                <a:prstClr val="black"/>
              </a:solidFill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="" xmlns:a16="http://schemas.microsoft.com/office/drawing/2014/main" id="{C53D36E5-5476-4409-B7F7-5ECC3840BD36}"/>
              </a:ext>
            </a:extLst>
          </p:cNvPr>
          <p:cNvSpPr/>
          <p:nvPr/>
        </p:nvSpPr>
        <p:spPr>
          <a:xfrm>
            <a:off x="336000" y="1196752"/>
            <a:ext cx="8556480" cy="45719"/>
          </a:xfrm>
          <a:prstGeom prst="rect">
            <a:avLst/>
          </a:prstGeom>
          <a:solidFill>
            <a:srgbClr val="0255B8"/>
          </a:solidFill>
          <a:ln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ts val="600"/>
              </a:spcBef>
            </a:pPr>
            <a:endParaRPr lang="ko-KR" altLang="en-US" b="1" kern="0" dirty="0">
              <a:solidFill>
                <a:srgbClr val="0255B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9838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8"/>
          <p:cNvSpPr txBox="1"/>
          <p:nvPr/>
        </p:nvSpPr>
        <p:spPr>
          <a:xfrm>
            <a:off x="628650" y="74814"/>
            <a:ext cx="75374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smtClean="0">
                <a:solidFill>
                  <a:prstClr val="black"/>
                </a:solidFill>
              </a:rPr>
              <a:t>블록체인이란</a:t>
            </a:r>
            <a:r>
              <a:rPr lang="en-US" altLang="ko-KR" sz="3200" b="1" dirty="0" smtClean="0">
                <a:solidFill>
                  <a:prstClr val="black"/>
                </a:solidFill>
              </a:rPr>
              <a:t>?</a:t>
            </a:r>
            <a:endParaRPr lang="ko-KR" altLang="en-US" sz="3200" b="1" dirty="0">
              <a:solidFill>
                <a:prstClr val="black"/>
              </a:solidFill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="" xmlns:a16="http://schemas.microsoft.com/office/drawing/2014/main" id="{4C70D3A6-2D13-4F22-9C06-C56F2B48E196}"/>
              </a:ext>
            </a:extLst>
          </p:cNvPr>
          <p:cNvSpPr/>
          <p:nvPr/>
        </p:nvSpPr>
        <p:spPr>
          <a:xfrm>
            <a:off x="336000" y="1249702"/>
            <a:ext cx="8556480" cy="8111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2000" b="1" kern="0" spc="-50" dirty="0" smtClean="0">
                <a:solidFill>
                  <a:prstClr val="black"/>
                </a:solidFill>
              </a:rPr>
              <a:t>Block</a:t>
            </a:r>
            <a:r>
              <a:rPr lang="ko-KR" altLang="en-US" sz="2000" b="1" kern="0" spc="-50" dirty="0" smtClean="0">
                <a:solidFill>
                  <a:prstClr val="black"/>
                </a:solidFill>
              </a:rPr>
              <a:t>을 </a:t>
            </a:r>
            <a:r>
              <a:rPr lang="en-US" altLang="ko-KR" sz="2000" b="1" kern="0" spc="-50" dirty="0" smtClean="0">
                <a:solidFill>
                  <a:prstClr val="black"/>
                </a:solidFill>
              </a:rPr>
              <a:t>Chain</a:t>
            </a:r>
            <a:r>
              <a:rPr lang="ko-KR" altLang="en-US" sz="2000" b="1" kern="0" spc="-50" dirty="0" smtClean="0">
                <a:solidFill>
                  <a:prstClr val="black"/>
                </a:solidFill>
              </a:rPr>
              <a:t>으로 연결하면 </a:t>
            </a:r>
            <a:r>
              <a:rPr lang="ko-KR" altLang="en-US" sz="2000" b="1" kern="0" spc="-50" dirty="0" err="1" smtClean="0">
                <a:solidFill>
                  <a:prstClr val="black"/>
                </a:solidFill>
              </a:rPr>
              <a:t>컨텐츠를</a:t>
            </a:r>
            <a:r>
              <a:rPr lang="ko-KR" altLang="en-US" sz="2000" b="1" kern="0" spc="-50" dirty="0" smtClean="0">
                <a:solidFill>
                  <a:prstClr val="black"/>
                </a:solidFill>
              </a:rPr>
              <a:t> 바꿀 수 없을까</a:t>
            </a:r>
            <a:r>
              <a:rPr lang="en-US" altLang="ko-KR" sz="2000" b="1" kern="0" spc="-50" dirty="0" smtClean="0">
                <a:solidFill>
                  <a:prstClr val="black"/>
                </a:solidFill>
              </a:rPr>
              <a:t>?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="" xmlns:a16="http://schemas.microsoft.com/office/drawing/2014/main" id="{C53D36E5-5476-4409-B7F7-5ECC3840BD36}"/>
              </a:ext>
            </a:extLst>
          </p:cNvPr>
          <p:cNvSpPr/>
          <p:nvPr/>
        </p:nvSpPr>
        <p:spPr>
          <a:xfrm>
            <a:off x="336000" y="1196752"/>
            <a:ext cx="8556480" cy="45719"/>
          </a:xfrm>
          <a:prstGeom prst="rect">
            <a:avLst/>
          </a:prstGeom>
          <a:solidFill>
            <a:srgbClr val="0255B8"/>
          </a:solidFill>
          <a:ln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ts val="600"/>
              </a:spcBef>
            </a:pPr>
            <a:endParaRPr lang="ko-KR" altLang="en-US" sz="2000" b="1" kern="0" dirty="0">
              <a:solidFill>
                <a:srgbClr val="0255B8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527098" y="2516110"/>
            <a:ext cx="8228720" cy="3081335"/>
            <a:chOff x="-108520" y="2276872"/>
            <a:chExt cx="9499955" cy="3557363"/>
          </a:xfrm>
        </p:grpSpPr>
        <p:sp>
          <p:nvSpPr>
            <p:cNvPr id="21" name="모서리가 둥근 직사각형 20"/>
            <p:cNvSpPr/>
            <p:nvPr/>
          </p:nvSpPr>
          <p:spPr>
            <a:xfrm>
              <a:off x="374538" y="2756702"/>
              <a:ext cx="1701301" cy="241507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30575" tIns="65288" rIns="130575" bIns="65288" rtlCol="0" anchor="ctr"/>
            <a:lstStyle/>
            <a:p>
              <a:pPr algn="ctr"/>
              <a:endPara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2" name="모서리가 둥근 직사각형 21"/>
            <p:cNvSpPr/>
            <p:nvPr/>
          </p:nvSpPr>
          <p:spPr>
            <a:xfrm>
              <a:off x="501975" y="3621324"/>
              <a:ext cx="1441600" cy="1487725"/>
            </a:xfrm>
            <a:prstGeom prst="roundRect">
              <a:avLst>
                <a:gd name="adj" fmla="val 8274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0575" tIns="65288" rIns="130575" bIns="6528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75564" y="2306523"/>
              <a:ext cx="648659" cy="436479"/>
            </a:xfrm>
            <a:prstGeom prst="rect">
              <a:avLst/>
            </a:prstGeom>
            <a:noFill/>
          </p:spPr>
          <p:txBody>
            <a:bodyPr wrap="none" lIns="130575" tIns="65288" rIns="130575" bIns="65288" rtlCol="0">
              <a:spAutoFit/>
            </a:bodyPr>
            <a:lstStyle/>
            <a:p>
              <a:pPr marL="0" lvl="1" defTabSz="1038977" latinLnBrk="0">
                <a:spcAft>
                  <a:spcPts val="133"/>
                </a:spcAft>
                <a:defRPr/>
              </a:pPr>
              <a:r>
                <a:rPr lang="en-US" altLang="ko-KR" sz="1600" dirty="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#1</a:t>
              </a:r>
              <a:endParaRPr lang="ko-KR" altLang="en-US" sz="16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604853" y="3760530"/>
              <a:ext cx="1243989" cy="34961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604853" y="4188614"/>
              <a:ext cx="1243989" cy="34961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604853" y="4623035"/>
              <a:ext cx="1243989" cy="34961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A</a:t>
              </a:r>
              <a:r>
                <a:rPr lang="en-US" altLang="ko-KR" sz="12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Wingdings" panose="05000000000000000000" pitchFamily="2" charset="2"/>
                </a:rPr>
                <a:t>B 2BTC</a:t>
              </a:r>
              <a:endParaRPr lang="ko-KR" altLang="en-US" sz="1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37" name="모서리가 둥근 직사각형 36"/>
            <p:cNvSpPr/>
            <p:nvPr/>
          </p:nvSpPr>
          <p:spPr>
            <a:xfrm>
              <a:off x="464764" y="2831394"/>
              <a:ext cx="1498577" cy="71523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0575" tIns="65288" rIns="130575" bIns="6528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dirty="0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nonce0</a:t>
              </a:r>
            </a:p>
            <a:p>
              <a:pPr algn="ctr"/>
              <a:r>
                <a:rPr lang="en-US" altLang="ko-KR" sz="1200" dirty="0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hash0</a:t>
              </a:r>
            </a:p>
            <a:p>
              <a:pPr algn="ctr"/>
              <a:r>
                <a:rPr lang="en-US" altLang="ko-KR" sz="1200" dirty="0">
                  <a:solidFill>
                    <a:srgbClr val="C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M. hash 0</a:t>
              </a:r>
            </a:p>
          </p:txBody>
        </p:sp>
        <p:sp>
          <p:nvSpPr>
            <p:cNvPr id="38" name="모서리가 둥근 직사각형 37"/>
            <p:cNvSpPr/>
            <p:nvPr/>
          </p:nvSpPr>
          <p:spPr>
            <a:xfrm>
              <a:off x="2843986" y="2756700"/>
              <a:ext cx="1701301" cy="241507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30575" tIns="65288" rIns="130575" bIns="65288" rtlCol="0" anchor="ctr"/>
            <a:lstStyle/>
            <a:p>
              <a:pPr algn="ctr"/>
              <a:endPara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045012" y="2306523"/>
              <a:ext cx="648659" cy="436479"/>
            </a:xfrm>
            <a:prstGeom prst="rect">
              <a:avLst/>
            </a:prstGeom>
            <a:noFill/>
          </p:spPr>
          <p:txBody>
            <a:bodyPr wrap="none" lIns="130575" tIns="65288" rIns="130575" bIns="65288" rtlCol="0">
              <a:spAutoFit/>
            </a:bodyPr>
            <a:lstStyle/>
            <a:p>
              <a:r>
                <a:rPr lang="en-US" altLang="ko-KR" sz="16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#2</a:t>
              </a:r>
              <a:endPara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40" name="모서리가 둥근 직사각형 39"/>
            <p:cNvSpPr/>
            <p:nvPr/>
          </p:nvSpPr>
          <p:spPr>
            <a:xfrm>
              <a:off x="2934202" y="2831394"/>
              <a:ext cx="1547024" cy="71523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0575" tIns="65288" rIns="130575" bIns="6528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r>
                <a:rPr lang="en-US" altLang="ko-KR" sz="1200" dirty="0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nonce1</a:t>
              </a:r>
            </a:p>
            <a:p>
              <a:pPr lvl="0" algn="ctr"/>
              <a:r>
                <a:rPr lang="en-US" altLang="ko-KR" sz="1200" dirty="0">
                  <a:solidFill>
                    <a:srgbClr val="C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hash1</a:t>
              </a:r>
            </a:p>
            <a:p>
              <a:pPr lvl="0" algn="ctr"/>
              <a:r>
                <a:rPr lang="en-US" altLang="ko-KR" sz="1200" dirty="0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M. hash1</a:t>
              </a:r>
            </a:p>
          </p:txBody>
        </p:sp>
        <p:cxnSp>
          <p:nvCxnSpPr>
            <p:cNvPr id="41" name="직선 화살표 연결선 40"/>
            <p:cNvCxnSpPr>
              <a:stCxn id="37" idx="3"/>
            </p:cNvCxnSpPr>
            <p:nvPr/>
          </p:nvCxnSpPr>
          <p:spPr>
            <a:xfrm flipV="1">
              <a:off x="1963341" y="3185102"/>
              <a:ext cx="1218355" cy="3912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모서리가 둥근 직사각형 41"/>
            <p:cNvSpPr/>
            <p:nvPr/>
          </p:nvSpPr>
          <p:spPr>
            <a:xfrm>
              <a:off x="5220686" y="2760814"/>
              <a:ext cx="1701301" cy="241507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30575" tIns="65288" rIns="130575" bIns="65288" rtlCol="0" anchor="ctr"/>
            <a:lstStyle/>
            <a:p>
              <a:pPr algn="ctr"/>
              <a:endPara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421708" y="2276872"/>
              <a:ext cx="648659" cy="436479"/>
            </a:xfrm>
            <a:prstGeom prst="rect">
              <a:avLst/>
            </a:prstGeom>
            <a:noFill/>
          </p:spPr>
          <p:txBody>
            <a:bodyPr wrap="none" lIns="130575" tIns="65288" rIns="130575" bIns="65288" rtlCol="0">
              <a:spAutoFit/>
            </a:bodyPr>
            <a:lstStyle/>
            <a:p>
              <a:r>
                <a:rPr lang="en-US" altLang="ko-KR" sz="16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#3</a:t>
              </a:r>
              <a:endPara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44" name="모서리가 둥근 직사각형 43"/>
            <p:cNvSpPr/>
            <p:nvPr/>
          </p:nvSpPr>
          <p:spPr>
            <a:xfrm>
              <a:off x="5310912" y="2835507"/>
              <a:ext cx="1498577" cy="71523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0575" tIns="65288" rIns="130575" bIns="6528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ko-KR" sz="1400" dirty="0">
                <a:solidFill>
                  <a:srgbClr val="0000FF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lvl="0" algn="ctr"/>
              <a:r>
                <a:rPr lang="en-US" altLang="ko-KR" sz="1400" dirty="0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lang="en-US" altLang="ko-KR" sz="1200" dirty="0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nonce2</a:t>
              </a:r>
            </a:p>
            <a:p>
              <a:pPr lvl="0" algn="ctr"/>
              <a:r>
                <a:rPr lang="en-US" altLang="ko-KR" sz="1200" dirty="0">
                  <a:solidFill>
                    <a:srgbClr val="C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hash2</a:t>
              </a:r>
            </a:p>
            <a:p>
              <a:pPr lvl="0" algn="ctr"/>
              <a:r>
                <a:rPr lang="en-US" altLang="ko-KR" sz="1200" dirty="0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M. hash2</a:t>
              </a:r>
            </a:p>
            <a:p>
              <a:pPr algn="ctr"/>
              <a:endParaRPr lang="en-US" altLang="ko-KR" sz="1400" dirty="0">
                <a:solidFill>
                  <a:srgbClr val="0000FF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47" name="모서리가 둥근 직사각형 46"/>
            <p:cNvSpPr/>
            <p:nvPr/>
          </p:nvSpPr>
          <p:spPr>
            <a:xfrm>
              <a:off x="7690134" y="2760814"/>
              <a:ext cx="1701301" cy="241507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30575" tIns="65288" rIns="130575" bIns="65288" rtlCol="0" anchor="ctr"/>
            <a:lstStyle/>
            <a:p>
              <a:pPr algn="ctr"/>
              <a:endPara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891156" y="2276872"/>
              <a:ext cx="648659" cy="436479"/>
            </a:xfrm>
            <a:prstGeom prst="rect">
              <a:avLst/>
            </a:prstGeom>
            <a:noFill/>
          </p:spPr>
          <p:txBody>
            <a:bodyPr wrap="none" lIns="130575" tIns="65288" rIns="130575" bIns="65288" rtlCol="0">
              <a:spAutoFit/>
            </a:bodyPr>
            <a:lstStyle/>
            <a:p>
              <a:r>
                <a:rPr lang="en-US" altLang="ko-KR" sz="16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#4</a:t>
              </a:r>
              <a:endPara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49" name="모서리가 둥근 직사각형 48"/>
            <p:cNvSpPr/>
            <p:nvPr/>
          </p:nvSpPr>
          <p:spPr>
            <a:xfrm>
              <a:off x="7780350" y="2835507"/>
              <a:ext cx="1547024" cy="71523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0575" tIns="65288" rIns="130575" bIns="6528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r>
                <a:rPr lang="en-US" altLang="ko-KR" sz="1200" dirty="0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nonce3</a:t>
              </a:r>
            </a:p>
            <a:p>
              <a:pPr lvl="0" algn="ctr"/>
              <a:r>
                <a:rPr lang="en-US" altLang="ko-KR" sz="1200" dirty="0">
                  <a:solidFill>
                    <a:srgbClr val="C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hash3</a:t>
              </a:r>
            </a:p>
            <a:p>
              <a:pPr lvl="0" algn="ctr"/>
              <a:r>
                <a:rPr lang="en-US" altLang="ko-KR" sz="1200" dirty="0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M. hash3</a:t>
              </a:r>
            </a:p>
          </p:txBody>
        </p:sp>
        <p:cxnSp>
          <p:nvCxnSpPr>
            <p:cNvPr id="51" name="직선 화살표 연결선 50"/>
            <p:cNvCxnSpPr>
              <a:stCxn id="44" idx="3"/>
            </p:cNvCxnSpPr>
            <p:nvPr/>
          </p:nvCxnSpPr>
          <p:spPr>
            <a:xfrm flipV="1">
              <a:off x="6809490" y="3189214"/>
              <a:ext cx="1218355" cy="3912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화살표 연결선 51"/>
            <p:cNvCxnSpPr>
              <a:stCxn id="40" idx="3"/>
            </p:cNvCxnSpPr>
            <p:nvPr/>
          </p:nvCxnSpPr>
          <p:spPr>
            <a:xfrm>
              <a:off x="4481228" y="3189014"/>
              <a:ext cx="1038676" cy="9751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모서리가 둥근 직사각형 52"/>
            <p:cNvSpPr/>
            <p:nvPr/>
          </p:nvSpPr>
          <p:spPr>
            <a:xfrm>
              <a:off x="2971423" y="3621324"/>
              <a:ext cx="1441600" cy="1487725"/>
            </a:xfrm>
            <a:prstGeom prst="roundRect">
              <a:avLst>
                <a:gd name="adj" fmla="val 8274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0575" tIns="65288" rIns="130575" bIns="6528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grpSp>
          <p:nvGrpSpPr>
            <p:cNvPr id="59" name="그룹 58"/>
            <p:cNvGrpSpPr/>
            <p:nvPr/>
          </p:nvGrpSpPr>
          <p:grpSpPr>
            <a:xfrm>
              <a:off x="3074301" y="3760524"/>
              <a:ext cx="1243992" cy="1212123"/>
              <a:chOff x="1115615" y="4509119"/>
              <a:chExt cx="720081" cy="748956"/>
            </a:xfrm>
          </p:grpSpPr>
          <p:sp>
            <p:nvSpPr>
              <p:cNvPr id="60" name="직사각형 59"/>
              <p:cNvSpPr/>
              <p:nvPr/>
            </p:nvSpPr>
            <p:spPr>
              <a:xfrm>
                <a:off x="1115615" y="4509119"/>
                <a:ext cx="720080" cy="21602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2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B</a:t>
                </a:r>
                <a:r>
                  <a:rPr lang="en-US" altLang="ko-KR" sz="12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sym typeface="Wingdings" panose="05000000000000000000" pitchFamily="2" charset="2"/>
                  </a:rPr>
                  <a:t></a:t>
                </a:r>
                <a:r>
                  <a:rPr lang="en-US" altLang="ko-KR" sz="12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C 1BTC</a:t>
                </a:r>
              </a:p>
            </p:txBody>
          </p:sp>
          <p:sp>
            <p:nvSpPr>
              <p:cNvPr id="61" name="직사각형 60"/>
              <p:cNvSpPr/>
              <p:nvPr/>
            </p:nvSpPr>
            <p:spPr>
              <a:xfrm>
                <a:off x="1115616" y="4773628"/>
                <a:ext cx="720080" cy="21602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1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62" name="직사각형 61"/>
              <p:cNvSpPr/>
              <p:nvPr/>
            </p:nvSpPr>
            <p:spPr>
              <a:xfrm>
                <a:off x="1115615" y="5042052"/>
                <a:ext cx="720080" cy="21602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4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p:grpSp>
        <p:sp>
          <p:nvSpPr>
            <p:cNvPr id="63" name="모서리가 둥근 직사각형 62"/>
            <p:cNvSpPr/>
            <p:nvPr/>
          </p:nvSpPr>
          <p:spPr>
            <a:xfrm>
              <a:off x="5346543" y="3621324"/>
              <a:ext cx="1441600" cy="1487725"/>
            </a:xfrm>
            <a:prstGeom prst="roundRect">
              <a:avLst>
                <a:gd name="adj" fmla="val 8274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0575" tIns="65288" rIns="130575" bIns="6528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grpSp>
          <p:nvGrpSpPr>
            <p:cNvPr id="64" name="그룹 63"/>
            <p:cNvGrpSpPr/>
            <p:nvPr/>
          </p:nvGrpSpPr>
          <p:grpSpPr>
            <a:xfrm>
              <a:off x="5449421" y="3760529"/>
              <a:ext cx="1243989" cy="1212120"/>
              <a:chOff x="1115616" y="4509120"/>
              <a:chExt cx="720080" cy="748954"/>
            </a:xfrm>
          </p:grpSpPr>
          <p:sp>
            <p:nvSpPr>
              <p:cNvPr id="65" name="직사각형 64"/>
              <p:cNvSpPr/>
              <p:nvPr/>
            </p:nvSpPr>
            <p:spPr>
              <a:xfrm>
                <a:off x="1115616" y="4509120"/>
                <a:ext cx="720080" cy="21602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4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66" name="직사각형 65"/>
              <p:cNvSpPr/>
              <p:nvPr/>
            </p:nvSpPr>
            <p:spPr>
              <a:xfrm>
                <a:off x="1115616" y="4773628"/>
                <a:ext cx="720080" cy="21602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1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67" name="직사각형 66"/>
              <p:cNvSpPr/>
              <p:nvPr/>
            </p:nvSpPr>
            <p:spPr>
              <a:xfrm>
                <a:off x="1115616" y="5042051"/>
                <a:ext cx="720080" cy="21602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4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p:grpSp>
        <p:sp>
          <p:nvSpPr>
            <p:cNvPr id="68" name="모서리가 둥근 직사각형 67"/>
            <p:cNvSpPr/>
            <p:nvPr/>
          </p:nvSpPr>
          <p:spPr>
            <a:xfrm>
              <a:off x="7826841" y="3621324"/>
              <a:ext cx="1441600" cy="1487725"/>
            </a:xfrm>
            <a:prstGeom prst="roundRect">
              <a:avLst>
                <a:gd name="adj" fmla="val 8274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0575" tIns="65288" rIns="130575" bIns="6528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grpSp>
          <p:nvGrpSpPr>
            <p:cNvPr id="69" name="그룹 68"/>
            <p:cNvGrpSpPr/>
            <p:nvPr/>
          </p:nvGrpSpPr>
          <p:grpSpPr>
            <a:xfrm>
              <a:off x="7929718" y="3760529"/>
              <a:ext cx="1243989" cy="1212120"/>
              <a:chOff x="1115616" y="4509120"/>
              <a:chExt cx="720080" cy="748954"/>
            </a:xfrm>
          </p:grpSpPr>
          <p:sp>
            <p:nvSpPr>
              <p:cNvPr id="70" name="직사각형 69"/>
              <p:cNvSpPr/>
              <p:nvPr/>
            </p:nvSpPr>
            <p:spPr>
              <a:xfrm>
                <a:off x="1115616" y="4509120"/>
                <a:ext cx="720080" cy="21602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4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71" name="직사각형 70"/>
              <p:cNvSpPr/>
              <p:nvPr/>
            </p:nvSpPr>
            <p:spPr>
              <a:xfrm>
                <a:off x="1115616" y="4773628"/>
                <a:ext cx="720080" cy="21602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1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72" name="직사각형 71"/>
              <p:cNvSpPr/>
              <p:nvPr/>
            </p:nvSpPr>
            <p:spPr>
              <a:xfrm>
                <a:off x="1115616" y="5042051"/>
                <a:ext cx="720080" cy="21602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05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C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sym typeface="Wingdings" panose="05000000000000000000" pitchFamily="2" charset="2"/>
                  </a:rPr>
                  <a:t>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D 0.5BTC</a:t>
                </a:r>
              </a:p>
            </p:txBody>
          </p:sp>
        </p:grpSp>
        <p:sp>
          <p:nvSpPr>
            <p:cNvPr id="73" name="TextBox 72"/>
            <p:cNvSpPr txBox="1"/>
            <p:nvPr/>
          </p:nvSpPr>
          <p:spPr>
            <a:xfrm>
              <a:off x="675154" y="5280994"/>
              <a:ext cx="921781" cy="553241"/>
            </a:xfrm>
            <a:prstGeom prst="rect">
              <a:avLst/>
            </a:prstGeom>
            <a:noFill/>
          </p:spPr>
          <p:txBody>
            <a:bodyPr wrap="none" lIns="108812" tIns="54407" rIns="108812" bIns="54407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rgbClr val="FF0000"/>
                  </a:solidFill>
                </a:rPr>
                <a:t>M. hash0</a:t>
              </a:r>
            </a:p>
            <a:p>
              <a:pPr algn="ctr"/>
              <a:r>
                <a:rPr lang="en-US" altLang="ko-KR" sz="1200" dirty="0">
                  <a:solidFill>
                    <a:srgbClr val="FF0000"/>
                  </a:solidFill>
                </a:rPr>
                <a:t>changes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3238034" y="5280993"/>
              <a:ext cx="840723" cy="553241"/>
            </a:xfrm>
            <a:prstGeom prst="rect">
              <a:avLst/>
            </a:prstGeom>
            <a:noFill/>
          </p:spPr>
          <p:txBody>
            <a:bodyPr wrap="none" lIns="108812" tIns="54407" rIns="108812" bIns="54407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rgbClr val="FF0000"/>
                  </a:solidFill>
                </a:rPr>
                <a:t>hash 1</a:t>
              </a:r>
            </a:p>
            <a:p>
              <a:pPr algn="ctr"/>
              <a:r>
                <a:rPr lang="en-US" altLang="ko-KR" sz="1200" dirty="0">
                  <a:solidFill>
                    <a:srgbClr val="FF0000"/>
                  </a:solidFill>
                </a:rPr>
                <a:t>changes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5716567" y="5280993"/>
              <a:ext cx="840723" cy="553241"/>
            </a:xfrm>
            <a:prstGeom prst="rect">
              <a:avLst/>
            </a:prstGeom>
            <a:noFill/>
          </p:spPr>
          <p:txBody>
            <a:bodyPr wrap="none" lIns="108812" tIns="54407" rIns="108812" bIns="54407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rgbClr val="FF0000"/>
                  </a:solidFill>
                </a:rPr>
                <a:t>hash 2</a:t>
              </a:r>
            </a:p>
            <a:p>
              <a:pPr algn="ctr"/>
              <a:r>
                <a:rPr lang="en-US" altLang="ko-KR" sz="1200" dirty="0">
                  <a:solidFill>
                    <a:srgbClr val="FF0000"/>
                  </a:solidFill>
                </a:rPr>
                <a:t>changes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  <p:cxnSp>
          <p:nvCxnSpPr>
            <p:cNvPr id="76" name="직선 화살표 연결선 75"/>
            <p:cNvCxnSpPr/>
            <p:nvPr/>
          </p:nvCxnSpPr>
          <p:spPr>
            <a:xfrm>
              <a:off x="4177661" y="5557768"/>
              <a:ext cx="1440000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/>
            <p:cNvSpPr txBox="1"/>
            <p:nvPr/>
          </p:nvSpPr>
          <p:spPr>
            <a:xfrm>
              <a:off x="8195101" y="5280993"/>
              <a:ext cx="840723" cy="553241"/>
            </a:xfrm>
            <a:prstGeom prst="rect">
              <a:avLst/>
            </a:prstGeom>
            <a:noFill/>
          </p:spPr>
          <p:txBody>
            <a:bodyPr wrap="none" lIns="108812" tIns="54407" rIns="108812" bIns="54407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rgbClr val="FF0000"/>
                  </a:solidFill>
                </a:rPr>
                <a:t>hash3 </a:t>
              </a:r>
            </a:p>
            <a:p>
              <a:pPr algn="ctr"/>
              <a:r>
                <a:rPr lang="en-US" altLang="ko-KR" sz="1200" dirty="0">
                  <a:solidFill>
                    <a:srgbClr val="FF0000"/>
                  </a:solidFill>
                </a:rPr>
                <a:t>changes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  <p:cxnSp>
          <p:nvCxnSpPr>
            <p:cNvPr id="78" name="직선 화살표 연결선 77"/>
            <p:cNvCxnSpPr/>
            <p:nvPr/>
          </p:nvCxnSpPr>
          <p:spPr>
            <a:xfrm>
              <a:off x="6656194" y="5557769"/>
              <a:ext cx="1440000" cy="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직선 화살표 연결선 78"/>
            <p:cNvCxnSpPr/>
            <p:nvPr/>
          </p:nvCxnSpPr>
          <p:spPr>
            <a:xfrm>
              <a:off x="1699129" y="5563818"/>
              <a:ext cx="1440000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자유형 79"/>
            <p:cNvSpPr/>
            <p:nvPr/>
          </p:nvSpPr>
          <p:spPr>
            <a:xfrm>
              <a:off x="2350201" y="3411291"/>
              <a:ext cx="751348" cy="952125"/>
            </a:xfrm>
            <a:custGeom>
              <a:avLst/>
              <a:gdLst>
                <a:gd name="connsiteX0" fmla="*/ 428757 w 563511"/>
                <a:gd name="connsiteY0" fmla="*/ 683393 h 683393"/>
                <a:gd name="connsiteX1" fmla="*/ 72623 w 563511"/>
                <a:gd name="connsiteY1" fmla="*/ 606391 h 683393"/>
                <a:gd name="connsiteX2" fmla="*/ 43747 w 563511"/>
                <a:gd name="connsiteY2" fmla="*/ 317633 h 683393"/>
                <a:gd name="connsiteX3" fmla="*/ 563511 w 563511"/>
                <a:gd name="connsiteY3" fmla="*/ 0 h 683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511" h="683393">
                  <a:moveTo>
                    <a:pt x="428757" y="683393"/>
                  </a:moveTo>
                  <a:cubicBezTo>
                    <a:pt x="282774" y="675372"/>
                    <a:pt x="136791" y="667351"/>
                    <a:pt x="72623" y="606391"/>
                  </a:cubicBezTo>
                  <a:cubicBezTo>
                    <a:pt x="8455" y="545431"/>
                    <a:pt x="-38068" y="418698"/>
                    <a:pt x="43747" y="317633"/>
                  </a:cubicBezTo>
                  <a:cubicBezTo>
                    <a:pt x="125562" y="216568"/>
                    <a:pt x="344536" y="108284"/>
                    <a:pt x="563511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12" tIns="54407" rIns="108812" bIns="54407"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81" name="자유형 80"/>
            <p:cNvSpPr/>
            <p:nvPr/>
          </p:nvSpPr>
          <p:spPr>
            <a:xfrm>
              <a:off x="7200229" y="3397941"/>
              <a:ext cx="751348" cy="952125"/>
            </a:xfrm>
            <a:custGeom>
              <a:avLst/>
              <a:gdLst>
                <a:gd name="connsiteX0" fmla="*/ 428757 w 563511"/>
                <a:gd name="connsiteY0" fmla="*/ 683393 h 683393"/>
                <a:gd name="connsiteX1" fmla="*/ 72623 w 563511"/>
                <a:gd name="connsiteY1" fmla="*/ 606391 h 683393"/>
                <a:gd name="connsiteX2" fmla="*/ 43747 w 563511"/>
                <a:gd name="connsiteY2" fmla="*/ 317633 h 683393"/>
                <a:gd name="connsiteX3" fmla="*/ 563511 w 563511"/>
                <a:gd name="connsiteY3" fmla="*/ 0 h 683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511" h="683393">
                  <a:moveTo>
                    <a:pt x="428757" y="683393"/>
                  </a:moveTo>
                  <a:cubicBezTo>
                    <a:pt x="282774" y="675372"/>
                    <a:pt x="136791" y="667351"/>
                    <a:pt x="72623" y="606391"/>
                  </a:cubicBezTo>
                  <a:cubicBezTo>
                    <a:pt x="8455" y="545431"/>
                    <a:pt x="-38068" y="418698"/>
                    <a:pt x="43747" y="317633"/>
                  </a:cubicBezTo>
                  <a:cubicBezTo>
                    <a:pt x="125562" y="216568"/>
                    <a:pt x="344536" y="108284"/>
                    <a:pt x="563511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12" tIns="54407" rIns="108812" bIns="54407"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82" name="자유형 81"/>
            <p:cNvSpPr/>
            <p:nvPr/>
          </p:nvSpPr>
          <p:spPr>
            <a:xfrm>
              <a:off x="4741091" y="3411291"/>
              <a:ext cx="751348" cy="952125"/>
            </a:xfrm>
            <a:custGeom>
              <a:avLst/>
              <a:gdLst>
                <a:gd name="connsiteX0" fmla="*/ 428757 w 563511"/>
                <a:gd name="connsiteY0" fmla="*/ 683393 h 683393"/>
                <a:gd name="connsiteX1" fmla="*/ 72623 w 563511"/>
                <a:gd name="connsiteY1" fmla="*/ 606391 h 683393"/>
                <a:gd name="connsiteX2" fmla="*/ 43747 w 563511"/>
                <a:gd name="connsiteY2" fmla="*/ 317633 h 683393"/>
                <a:gd name="connsiteX3" fmla="*/ 563511 w 563511"/>
                <a:gd name="connsiteY3" fmla="*/ 0 h 683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511" h="683393">
                  <a:moveTo>
                    <a:pt x="428757" y="683393"/>
                  </a:moveTo>
                  <a:cubicBezTo>
                    <a:pt x="282774" y="675372"/>
                    <a:pt x="136791" y="667351"/>
                    <a:pt x="72623" y="606391"/>
                  </a:cubicBezTo>
                  <a:cubicBezTo>
                    <a:pt x="8455" y="545431"/>
                    <a:pt x="-38068" y="418698"/>
                    <a:pt x="43747" y="317633"/>
                  </a:cubicBezTo>
                  <a:cubicBezTo>
                    <a:pt x="125562" y="216568"/>
                    <a:pt x="344536" y="108284"/>
                    <a:pt x="563511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12" tIns="54407" rIns="108812" bIns="54407"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83" name="자유형 82"/>
            <p:cNvSpPr/>
            <p:nvPr/>
          </p:nvSpPr>
          <p:spPr>
            <a:xfrm>
              <a:off x="-108520" y="3411291"/>
              <a:ext cx="751348" cy="952125"/>
            </a:xfrm>
            <a:custGeom>
              <a:avLst/>
              <a:gdLst>
                <a:gd name="connsiteX0" fmla="*/ 428757 w 563511"/>
                <a:gd name="connsiteY0" fmla="*/ 683393 h 683393"/>
                <a:gd name="connsiteX1" fmla="*/ 72623 w 563511"/>
                <a:gd name="connsiteY1" fmla="*/ 606391 h 683393"/>
                <a:gd name="connsiteX2" fmla="*/ 43747 w 563511"/>
                <a:gd name="connsiteY2" fmla="*/ 317633 h 683393"/>
                <a:gd name="connsiteX3" fmla="*/ 563511 w 563511"/>
                <a:gd name="connsiteY3" fmla="*/ 0 h 683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511" h="683393">
                  <a:moveTo>
                    <a:pt x="428757" y="683393"/>
                  </a:moveTo>
                  <a:cubicBezTo>
                    <a:pt x="282774" y="675372"/>
                    <a:pt x="136791" y="667351"/>
                    <a:pt x="72623" y="606391"/>
                  </a:cubicBezTo>
                  <a:cubicBezTo>
                    <a:pt x="8455" y="545431"/>
                    <a:pt x="-38068" y="418698"/>
                    <a:pt x="43747" y="317633"/>
                  </a:cubicBezTo>
                  <a:cubicBezTo>
                    <a:pt x="125562" y="216568"/>
                    <a:pt x="344536" y="108284"/>
                    <a:pt x="563511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12" tIns="54407" rIns="108812" bIns="54407" rtlCol="0" anchor="ctr"/>
            <a:lstStyle/>
            <a:p>
              <a:pPr algn="ctr"/>
              <a:endParaRPr lang="ko-KR" altLang="en-US" sz="1200"/>
            </a:p>
          </p:txBody>
        </p:sp>
      </p:grpSp>
    </p:spTree>
    <p:extLst>
      <p:ext uri="{BB962C8B-B14F-4D97-AF65-F5344CB8AC3E}">
        <p14:creationId xmlns:p14="http://schemas.microsoft.com/office/powerpoint/2010/main" val="1815439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8"/>
          <p:cNvSpPr txBox="1"/>
          <p:nvPr/>
        </p:nvSpPr>
        <p:spPr>
          <a:xfrm>
            <a:off x="628650" y="74814"/>
            <a:ext cx="75374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smtClean="0">
                <a:solidFill>
                  <a:prstClr val="black"/>
                </a:solidFill>
              </a:rPr>
              <a:t>블록체인이란</a:t>
            </a:r>
            <a:r>
              <a:rPr lang="en-US" altLang="ko-KR" sz="3200" b="1" dirty="0" smtClean="0">
                <a:solidFill>
                  <a:prstClr val="black"/>
                </a:solidFill>
              </a:rPr>
              <a:t>?</a:t>
            </a:r>
            <a:endParaRPr lang="ko-KR" altLang="en-US" sz="3200" b="1" dirty="0">
              <a:solidFill>
                <a:prstClr val="black"/>
              </a:solidFill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="" xmlns:a16="http://schemas.microsoft.com/office/drawing/2014/main" id="{4C70D3A6-2D13-4F22-9C06-C56F2B48E196}"/>
              </a:ext>
            </a:extLst>
          </p:cNvPr>
          <p:cNvSpPr/>
          <p:nvPr/>
        </p:nvSpPr>
        <p:spPr>
          <a:xfrm>
            <a:off x="336000" y="1249702"/>
            <a:ext cx="8556480" cy="8111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2000" b="1" kern="0" spc="-50" dirty="0" err="1" smtClean="0">
                <a:solidFill>
                  <a:prstClr val="black"/>
                </a:solidFill>
              </a:rPr>
              <a:t>컨텐츠를</a:t>
            </a:r>
            <a:r>
              <a:rPr lang="ko-KR" altLang="en-US" sz="2000" b="1" kern="0" spc="-50" dirty="0" smtClean="0">
                <a:solidFill>
                  <a:prstClr val="black"/>
                </a:solidFill>
              </a:rPr>
              <a:t> 바꿀 수 없게 하려면 무엇이 필요한가</a:t>
            </a:r>
            <a:r>
              <a:rPr lang="en-US" altLang="ko-KR" sz="2000" b="1" kern="0" spc="-50" dirty="0" smtClean="0">
                <a:solidFill>
                  <a:prstClr val="black"/>
                </a:solidFill>
              </a:rPr>
              <a:t>?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="" xmlns:a16="http://schemas.microsoft.com/office/drawing/2014/main" id="{C53D36E5-5476-4409-B7F7-5ECC3840BD36}"/>
              </a:ext>
            </a:extLst>
          </p:cNvPr>
          <p:cNvSpPr/>
          <p:nvPr/>
        </p:nvSpPr>
        <p:spPr>
          <a:xfrm>
            <a:off x="336000" y="1196752"/>
            <a:ext cx="8556480" cy="45719"/>
          </a:xfrm>
          <a:prstGeom prst="rect">
            <a:avLst/>
          </a:prstGeom>
          <a:solidFill>
            <a:srgbClr val="0255B8"/>
          </a:solidFill>
          <a:ln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ts val="600"/>
              </a:spcBef>
            </a:pPr>
            <a:endParaRPr lang="ko-KR" altLang="en-US" b="1" kern="0" dirty="0">
              <a:solidFill>
                <a:srgbClr val="0255B8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527098" y="2516110"/>
            <a:ext cx="8228720" cy="3081335"/>
            <a:chOff x="-108520" y="2276872"/>
            <a:chExt cx="9499955" cy="3557363"/>
          </a:xfrm>
        </p:grpSpPr>
        <p:sp>
          <p:nvSpPr>
            <p:cNvPr id="21" name="모서리가 둥근 직사각형 20"/>
            <p:cNvSpPr/>
            <p:nvPr/>
          </p:nvSpPr>
          <p:spPr>
            <a:xfrm>
              <a:off x="374538" y="2756702"/>
              <a:ext cx="1701301" cy="241507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30575" tIns="65288" rIns="130575" bIns="65288" rtlCol="0" anchor="ctr"/>
            <a:lstStyle/>
            <a:p>
              <a:pPr algn="ctr"/>
              <a:endPara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2" name="모서리가 둥근 직사각형 21"/>
            <p:cNvSpPr/>
            <p:nvPr/>
          </p:nvSpPr>
          <p:spPr>
            <a:xfrm>
              <a:off x="501975" y="3621324"/>
              <a:ext cx="1441600" cy="1487725"/>
            </a:xfrm>
            <a:prstGeom prst="roundRect">
              <a:avLst>
                <a:gd name="adj" fmla="val 8274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0575" tIns="65288" rIns="130575" bIns="6528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75564" y="2306523"/>
              <a:ext cx="648659" cy="436479"/>
            </a:xfrm>
            <a:prstGeom prst="rect">
              <a:avLst/>
            </a:prstGeom>
            <a:noFill/>
          </p:spPr>
          <p:txBody>
            <a:bodyPr wrap="none" lIns="130575" tIns="65288" rIns="130575" bIns="65288" rtlCol="0">
              <a:spAutoFit/>
            </a:bodyPr>
            <a:lstStyle/>
            <a:p>
              <a:pPr marL="0" lvl="1" defTabSz="1038977" latinLnBrk="0">
                <a:spcAft>
                  <a:spcPts val="133"/>
                </a:spcAft>
                <a:defRPr/>
              </a:pPr>
              <a:r>
                <a:rPr lang="en-US" altLang="ko-KR" sz="1600" dirty="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#1</a:t>
              </a:r>
              <a:endParaRPr lang="ko-KR" altLang="en-US" sz="16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604853" y="3760530"/>
              <a:ext cx="1243989" cy="34961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604853" y="4188614"/>
              <a:ext cx="1243989" cy="34961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604853" y="4623035"/>
              <a:ext cx="1243989" cy="34961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A</a:t>
              </a:r>
              <a:r>
                <a:rPr lang="en-US" altLang="ko-KR" sz="12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Wingdings" panose="05000000000000000000" pitchFamily="2" charset="2"/>
                </a:rPr>
                <a:t>B 2BTC</a:t>
              </a:r>
              <a:endParaRPr lang="ko-KR" altLang="en-US" sz="1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37" name="모서리가 둥근 직사각형 36"/>
            <p:cNvSpPr/>
            <p:nvPr/>
          </p:nvSpPr>
          <p:spPr>
            <a:xfrm>
              <a:off x="464764" y="2831394"/>
              <a:ext cx="1498577" cy="71523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0575" tIns="65288" rIns="130575" bIns="6528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dirty="0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nonce0</a:t>
              </a:r>
            </a:p>
            <a:p>
              <a:pPr algn="ctr"/>
              <a:r>
                <a:rPr lang="en-US" altLang="ko-KR" sz="1200" dirty="0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hash0</a:t>
              </a:r>
            </a:p>
            <a:p>
              <a:pPr algn="ctr"/>
              <a:r>
                <a:rPr lang="en-US" altLang="ko-KR" sz="1200" dirty="0">
                  <a:solidFill>
                    <a:srgbClr val="C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M. hash 0</a:t>
              </a:r>
            </a:p>
          </p:txBody>
        </p:sp>
        <p:sp>
          <p:nvSpPr>
            <p:cNvPr id="38" name="모서리가 둥근 직사각형 37"/>
            <p:cNvSpPr/>
            <p:nvPr/>
          </p:nvSpPr>
          <p:spPr>
            <a:xfrm>
              <a:off x="2843986" y="2756700"/>
              <a:ext cx="1701301" cy="241507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30575" tIns="65288" rIns="130575" bIns="65288" rtlCol="0" anchor="ctr"/>
            <a:lstStyle/>
            <a:p>
              <a:pPr algn="ctr"/>
              <a:endPara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045012" y="2306523"/>
              <a:ext cx="648659" cy="436479"/>
            </a:xfrm>
            <a:prstGeom prst="rect">
              <a:avLst/>
            </a:prstGeom>
            <a:noFill/>
          </p:spPr>
          <p:txBody>
            <a:bodyPr wrap="none" lIns="130575" tIns="65288" rIns="130575" bIns="65288" rtlCol="0">
              <a:spAutoFit/>
            </a:bodyPr>
            <a:lstStyle/>
            <a:p>
              <a:r>
                <a:rPr lang="en-US" altLang="ko-KR" sz="16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#2</a:t>
              </a:r>
              <a:endPara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40" name="모서리가 둥근 직사각형 39"/>
            <p:cNvSpPr/>
            <p:nvPr/>
          </p:nvSpPr>
          <p:spPr>
            <a:xfrm>
              <a:off x="2934202" y="2831394"/>
              <a:ext cx="1547024" cy="71523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0575" tIns="65288" rIns="130575" bIns="6528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r>
                <a:rPr lang="en-US" altLang="ko-KR" sz="1200" dirty="0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nonce1</a:t>
              </a:r>
            </a:p>
            <a:p>
              <a:pPr lvl="0" algn="ctr"/>
              <a:r>
                <a:rPr lang="en-US" altLang="ko-KR" sz="1200" dirty="0">
                  <a:solidFill>
                    <a:srgbClr val="C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hash1</a:t>
              </a:r>
            </a:p>
            <a:p>
              <a:pPr lvl="0" algn="ctr"/>
              <a:r>
                <a:rPr lang="en-US" altLang="ko-KR" sz="1200" dirty="0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M. hash1</a:t>
              </a:r>
            </a:p>
          </p:txBody>
        </p:sp>
        <p:cxnSp>
          <p:nvCxnSpPr>
            <p:cNvPr id="41" name="직선 화살표 연결선 40"/>
            <p:cNvCxnSpPr>
              <a:stCxn id="37" idx="3"/>
            </p:cNvCxnSpPr>
            <p:nvPr/>
          </p:nvCxnSpPr>
          <p:spPr>
            <a:xfrm flipV="1">
              <a:off x="1963341" y="3185102"/>
              <a:ext cx="1218355" cy="3912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모서리가 둥근 직사각형 41"/>
            <p:cNvSpPr/>
            <p:nvPr/>
          </p:nvSpPr>
          <p:spPr>
            <a:xfrm>
              <a:off x="5220686" y="2760814"/>
              <a:ext cx="1701301" cy="241507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30575" tIns="65288" rIns="130575" bIns="65288" rtlCol="0" anchor="ctr"/>
            <a:lstStyle/>
            <a:p>
              <a:pPr algn="ctr"/>
              <a:endPara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421708" y="2276872"/>
              <a:ext cx="648659" cy="436479"/>
            </a:xfrm>
            <a:prstGeom prst="rect">
              <a:avLst/>
            </a:prstGeom>
            <a:noFill/>
          </p:spPr>
          <p:txBody>
            <a:bodyPr wrap="none" lIns="130575" tIns="65288" rIns="130575" bIns="65288" rtlCol="0">
              <a:spAutoFit/>
            </a:bodyPr>
            <a:lstStyle/>
            <a:p>
              <a:r>
                <a:rPr lang="en-US" altLang="ko-KR" sz="16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#3</a:t>
              </a:r>
              <a:endPara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44" name="모서리가 둥근 직사각형 43"/>
            <p:cNvSpPr/>
            <p:nvPr/>
          </p:nvSpPr>
          <p:spPr>
            <a:xfrm>
              <a:off x="5310912" y="2835507"/>
              <a:ext cx="1498577" cy="71523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0575" tIns="65288" rIns="130575" bIns="6528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ko-KR" sz="1400" dirty="0">
                <a:solidFill>
                  <a:srgbClr val="0000FF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lvl="0" algn="ctr"/>
              <a:r>
                <a:rPr lang="en-US" altLang="ko-KR" sz="1400" dirty="0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lang="en-US" altLang="ko-KR" sz="1200" dirty="0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nonce2</a:t>
              </a:r>
            </a:p>
            <a:p>
              <a:pPr lvl="0" algn="ctr"/>
              <a:r>
                <a:rPr lang="en-US" altLang="ko-KR" sz="1200" dirty="0">
                  <a:solidFill>
                    <a:srgbClr val="C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hash2</a:t>
              </a:r>
            </a:p>
            <a:p>
              <a:pPr lvl="0" algn="ctr"/>
              <a:r>
                <a:rPr lang="en-US" altLang="ko-KR" sz="1200" dirty="0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M. hash2</a:t>
              </a:r>
            </a:p>
            <a:p>
              <a:pPr algn="ctr"/>
              <a:endParaRPr lang="en-US" altLang="ko-KR" sz="1400" dirty="0">
                <a:solidFill>
                  <a:srgbClr val="0000FF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47" name="모서리가 둥근 직사각형 46"/>
            <p:cNvSpPr/>
            <p:nvPr/>
          </p:nvSpPr>
          <p:spPr>
            <a:xfrm>
              <a:off x="7690134" y="2760814"/>
              <a:ext cx="1701301" cy="241507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30575" tIns="65288" rIns="130575" bIns="65288" rtlCol="0" anchor="ctr"/>
            <a:lstStyle/>
            <a:p>
              <a:pPr algn="ctr"/>
              <a:endPara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891156" y="2276872"/>
              <a:ext cx="648659" cy="436479"/>
            </a:xfrm>
            <a:prstGeom prst="rect">
              <a:avLst/>
            </a:prstGeom>
            <a:noFill/>
          </p:spPr>
          <p:txBody>
            <a:bodyPr wrap="none" lIns="130575" tIns="65288" rIns="130575" bIns="65288" rtlCol="0">
              <a:spAutoFit/>
            </a:bodyPr>
            <a:lstStyle/>
            <a:p>
              <a:r>
                <a:rPr lang="en-US" altLang="ko-KR" sz="16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#4</a:t>
              </a:r>
              <a:endPara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49" name="모서리가 둥근 직사각형 48"/>
            <p:cNvSpPr/>
            <p:nvPr/>
          </p:nvSpPr>
          <p:spPr>
            <a:xfrm>
              <a:off x="7780350" y="2835507"/>
              <a:ext cx="1547024" cy="71523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0575" tIns="65288" rIns="130575" bIns="6528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r>
                <a:rPr lang="en-US" altLang="ko-KR" sz="1200" dirty="0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nonce3</a:t>
              </a:r>
            </a:p>
            <a:p>
              <a:pPr lvl="0" algn="ctr"/>
              <a:r>
                <a:rPr lang="en-US" altLang="ko-KR" sz="1200" dirty="0">
                  <a:solidFill>
                    <a:srgbClr val="C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hash3</a:t>
              </a:r>
            </a:p>
            <a:p>
              <a:pPr lvl="0" algn="ctr"/>
              <a:r>
                <a:rPr lang="en-US" altLang="ko-KR" sz="1200" dirty="0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M. hash3</a:t>
              </a:r>
            </a:p>
          </p:txBody>
        </p:sp>
        <p:cxnSp>
          <p:nvCxnSpPr>
            <p:cNvPr id="51" name="직선 화살표 연결선 50"/>
            <p:cNvCxnSpPr>
              <a:stCxn id="44" idx="3"/>
            </p:cNvCxnSpPr>
            <p:nvPr/>
          </p:nvCxnSpPr>
          <p:spPr>
            <a:xfrm flipV="1">
              <a:off x="6809490" y="3189214"/>
              <a:ext cx="1218355" cy="3912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화살표 연결선 51"/>
            <p:cNvCxnSpPr>
              <a:stCxn id="40" idx="3"/>
            </p:cNvCxnSpPr>
            <p:nvPr/>
          </p:nvCxnSpPr>
          <p:spPr>
            <a:xfrm>
              <a:off x="4481228" y="3189014"/>
              <a:ext cx="1038676" cy="9751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모서리가 둥근 직사각형 52"/>
            <p:cNvSpPr/>
            <p:nvPr/>
          </p:nvSpPr>
          <p:spPr>
            <a:xfrm>
              <a:off x="2971423" y="3621324"/>
              <a:ext cx="1441600" cy="1487725"/>
            </a:xfrm>
            <a:prstGeom prst="roundRect">
              <a:avLst>
                <a:gd name="adj" fmla="val 8274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0575" tIns="65288" rIns="130575" bIns="6528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grpSp>
          <p:nvGrpSpPr>
            <p:cNvPr id="59" name="그룹 58"/>
            <p:cNvGrpSpPr/>
            <p:nvPr/>
          </p:nvGrpSpPr>
          <p:grpSpPr>
            <a:xfrm>
              <a:off x="3074301" y="3760524"/>
              <a:ext cx="1243992" cy="1212123"/>
              <a:chOff x="1115615" y="4509119"/>
              <a:chExt cx="720081" cy="748956"/>
            </a:xfrm>
          </p:grpSpPr>
          <p:sp>
            <p:nvSpPr>
              <p:cNvPr id="60" name="직사각형 59"/>
              <p:cNvSpPr/>
              <p:nvPr/>
            </p:nvSpPr>
            <p:spPr>
              <a:xfrm>
                <a:off x="1115615" y="4509119"/>
                <a:ext cx="720080" cy="21602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2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B</a:t>
                </a:r>
                <a:r>
                  <a:rPr lang="en-US" altLang="ko-KR" sz="12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sym typeface="Wingdings" panose="05000000000000000000" pitchFamily="2" charset="2"/>
                  </a:rPr>
                  <a:t></a:t>
                </a:r>
                <a:r>
                  <a:rPr lang="en-US" altLang="ko-KR" sz="12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C 1BTC</a:t>
                </a:r>
              </a:p>
            </p:txBody>
          </p:sp>
          <p:sp>
            <p:nvSpPr>
              <p:cNvPr id="61" name="직사각형 60"/>
              <p:cNvSpPr/>
              <p:nvPr/>
            </p:nvSpPr>
            <p:spPr>
              <a:xfrm>
                <a:off x="1115616" y="4773628"/>
                <a:ext cx="720080" cy="21602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1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62" name="직사각형 61"/>
              <p:cNvSpPr/>
              <p:nvPr/>
            </p:nvSpPr>
            <p:spPr>
              <a:xfrm>
                <a:off x="1115615" y="5042052"/>
                <a:ext cx="720080" cy="21602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4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p:grpSp>
        <p:sp>
          <p:nvSpPr>
            <p:cNvPr id="63" name="모서리가 둥근 직사각형 62"/>
            <p:cNvSpPr/>
            <p:nvPr/>
          </p:nvSpPr>
          <p:spPr>
            <a:xfrm>
              <a:off x="5346543" y="3621324"/>
              <a:ext cx="1441600" cy="1487725"/>
            </a:xfrm>
            <a:prstGeom prst="roundRect">
              <a:avLst>
                <a:gd name="adj" fmla="val 8274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0575" tIns="65288" rIns="130575" bIns="6528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grpSp>
          <p:nvGrpSpPr>
            <p:cNvPr id="64" name="그룹 63"/>
            <p:cNvGrpSpPr/>
            <p:nvPr/>
          </p:nvGrpSpPr>
          <p:grpSpPr>
            <a:xfrm>
              <a:off x="5449421" y="3760529"/>
              <a:ext cx="1243989" cy="1212120"/>
              <a:chOff x="1115616" y="4509120"/>
              <a:chExt cx="720080" cy="748954"/>
            </a:xfrm>
          </p:grpSpPr>
          <p:sp>
            <p:nvSpPr>
              <p:cNvPr id="65" name="직사각형 64"/>
              <p:cNvSpPr/>
              <p:nvPr/>
            </p:nvSpPr>
            <p:spPr>
              <a:xfrm>
                <a:off x="1115616" y="4509120"/>
                <a:ext cx="720080" cy="21602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4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66" name="직사각형 65"/>
              <p:cNvSpPr/>
              <p:nvPr/>
            </p:nvSpPr>
            <p:spPr>
              <a:xfrm>
                <a:off x="1115616" y="4773628"/>
                <a:ext cx="720080" cy="21602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1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67" name="직사각형 66"/>
              <p:cNvSpPr/>
              <p:nvPr/>
            </p:nvSpPr>
            <p:spPr>
              <a:xfrm>
                <a:off x="1115616" y="5042051"/>
                <a:ext cx="720080" cy="21602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4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p:grpSp>
        <p:sp>
          <p:nvSpPr>
            <p:cNvPr id="68" name="모서리가 둥근 직사각형 67"/>
            <p:cNvSpPr/>
            <p:nvPr/>
          </p:nvSpPr>
          <p:spPr>
            <a:xfrm>
              <a:off x="7826841" y="3621324"/>
              <a:ext cx="1441600" cy="1487725"/>
            </a:xfrm>
            <a:prstGeom prst="roundRect">
              <a:avLst>
                <a:gd name="adj" fmla="val 8274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0575" tIns="65288" rIns="130575" bIns="6528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grpSp>
          <p:nvGrpSpPr>
            <p:cNvPr id="69" name="그룹 68"/>
            <p:cNvGrpSpPr/>
            <p:nvPr/>
          </p:nvGrpSpPr>
          <p:grpSpPr>
            <a:xfrm>
              <a:off x="7929718" y="3760529"/>
              <a:ext cx="1243989" cy="1212120"/>
              <a:chOff x="1115616" y="4509120"/>
              <a:chExt cx="720080" cy="748954"/>
            </a:xfrm>
          </p:grpSpPr>
          <p:sp>
            <p:nvSpPr>
              <p:cNvPr id="70" name="직사각형 69"/>
              <p:cNvSpPr/>
              <p:nvPr/>
            </p:nvSpPr>
            <p:spPr>
              <a:xfrm>
                <a:off x="1115616" y="4509120"/>
                <a:ext cx="720080" cy="21602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4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71" name="직사각형 70"/>
              <p:cNvSpPr/>
              <p:nvPr/>
            </p:nvSpPr>
            <p:spPr>
              <a:xfrm>
                <a:off x="1115616" y="4773628"/>
                <a:ext cx="720080" cy="21602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1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72" name="직사각형 71"/>
              <p:cNvSpPr/>
              <p:nvPr/>
            </p:nvSpPr>
            <p:spPr>
              <a:xfrm>
                <a:off x="1115616" y="5042051"/>
                <a:ext cx="720080" cy="21602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05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C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sym typeface="Wingdings" panose="05000000000000000000" pitchFamily="2" charset="2"/>
                  </a:rPr>
                  <a:t>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D 0.5BTC</a:t>
                </a:r>
              </a:p>
            </p:txBody>
          </p:sp>
        </p:grpSp>
        <p:sp>
          <p:nvSpPr>
            <p:cNvPr id="73" name="TextBox 72"/>
            <p:cNvSpPr txBox="1"/>
            <p:nvPr/>
          </p:nvSpPr>
          <p:spPr>
            <a:xfrm>
              <a:off x="675154" y="5280994"/>
              <a:ext cx="921781" cy="553241"/>
            </a:xfrm>
            <a:prstGeom prst="rect">
              <a:avLst/>
            </a:prstGeom>
            <a:noFill/>
          </p:spPr>
          <p:txBody>
            <a:bodyPr wrap="none" lIns="108812" tIns="54407" rIns="108812" bIns="54407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rgbClr val="FF0000"/>
                  </a:solidFill>
                </a:rPr>
                <a:t>M. hash0</a:t>
              </a:r>
            </a:p>
            <a:p>
              <a:pPr algn="ctr"/>
              <a:r>
                <a:rPr lang="en-US" altLang="ko-KR" sz="1200" dirty="0">
                  <a:solidFill>
                    <a:srgbClr val="FF0000"/>
                  </a:solidFill>
                </a:rPr>
                <a:t>changes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3238034" y="5280993"/>
              <a:ext cx="840723" cy="553241"/>
            </a:xfrm>
            <a:prstGeom prst="rect">
              <a:avLst/>
            </a:prstGeom>
            <a:noFill/>
          </p:spPr>
          <p:txBody>
            <a:bodyPr wrap="none" lIns="108812" tIns="54407" rIns="108812" bIns="54407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rgbClr val="FF0000"/>
                  </a:solidFill>
                </a:rPr>
                <a:t>hash 1</a:t>
              </a:r>
            </a:p>
            <a:p>
              <a:pPr algn="ctr"/>
              <a:r>
                <a:rPr lang="en-US" altLang="ko-KR" sz="1200" dirty="0">
                  <a:solidFill>
                    <a:srgbClr val="FF0000"/>
                  </a:solidFill>
                </a:rPr>
                <a:t>changes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5716567" y="5280993"/>
              <a:ext cx="840723" cy="553241"/>
            </a:xfrm>
            <a:prstGeom prst="rect">
              <a:avLst/>
            </a:prstGeom>
            <a:noFill/>
          </p:spPr>
          <p:txBody>
            <a:bodyPr wrap="none" lIns="108812" tIns="54407" rIns="108812" bIns="54407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rgbClr val="FF0000"/>
                  </a:solidFill>
                </a:rPr>
                <a:t>hash 2</a:t>
              </a:r>
            </a:p>
            <a:p>
              <a:pPr algn="ctr"/>
              <a:r>
                <a:rPr lang="en-US" altLang="ko-KR" sz="1200" dirty="0">
                  <a:solidFill>
                    <a:srgbClr val="FF0000"/>
                  </a:solidFill>
                </a:rPr>
                <a:t>changes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  <p:cxnSp>
          <p:nvCxnSpPr>
            <p:cNvPr id="76" name="직선 화살표 연결선 75"/>
            <p:cNvCxnSpPr/>
            <p:nvPr/>
          </p:nvCxnSpPr>
          <p:spPr>
            <a:xfrm>
              <a:off x="4177661" y="5557768"/>
              <a:ext cx="1440000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/>
            <p:cNvSpPr txBox="1"/>
            <p:nvPr/>
          </p:nvSpPr>
          <p:spPr>
            <a:xfrm>
              <a:off x="8195101" y="5280993"/>
              <a:ext cx="840723" cy="553241"/>
            </a:xfrm>
            <a:prstGeom prst="rect">
              <a:avLst/>
            </a:prstGeom>
            <a:noFill/>
          </p:spPr>
          <p:txBody>
            <a:bodyPr wrap="none" lIns="108812" tIns="54407" rIns="108812" bIns="54407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rgbClr val="FF0000"/>
                  </a:solidFill>
                </a:rPr>
                <a:t>hash3 </a:t>
              </a:r>
            </a:p>
            <a:p>
              <a:pPr algn="ctr"/>
              <a:r>
                <a:rPr lang="en-US" altLang="ko-KR" sz="1200" dirty="0">
                  <a:solidFill>
                    <a:srgbClr val="FF0000"/>
                  </a:solidFill>
                </a:rPr>
                <a:t>changes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  <p:cxnSp>
          <p:nvCxnSpPr>
            <p:cNvPr id="78" name="직선 화살표 연결선 77"/>
            <p:cNvCxnSpPr/>
            <p:nvPr/>
          </p:nvCxnSpPr>
          <p:spPr>
            <a:xfrm>
              <a:off x="6656194" y="5557769"/>
              <a:ext cx="1440000" cy="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직선 화살표 연결선 78"/>
            <p:cNvCxnSpPr/>
            <p:nvPr/>
          </p:nvCxnSpPr>
          <p:spPr>
            <a:xfrm>
              <a:off x="1699129" y="5563818"/>
              <a:ext cx="1440000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자유형 79"/>
            <p:cNvSpPr/>
            <p:nvPr/>
          </p:nvSpPr>
          <p:spPr>
            <a:xfrm>
              <a:off x="2350201" y="3411291"/>
              <a:ext cx="751348" cy="952125"/>
            </a:xfrm>
            <a:custGeom>
              <a:avLst/>
              <a:gdLst>
                <a:gd name="connsiteX0" fmla="*/ 428757 w 563511"/>
                <a:gd name="connsiteY0" fmla="*/ 683393 h 683393"/>
                <a:gd name="connsiteX1" fmla="*/ 72623 w 563511"/>
                <a:gd name="connsiteY1" fmla="*/ 606391 h 683393"/>
                <a:gd name="connsiteX2" fmla="*/ 43747 w 563511"/>
                <a:gd name="connsiteY2" fmla="*/ 317633 h 683393"/>
                <a:gd name="connsiteX3" fmla="*/ 563511 w 563511"/>
                <a:gd name="connsiteY3" fmla="*/ 0 h 683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511" h="683393">
                  <a:moveTo>
                    <a:pt x="428757" y="683393"/>
                  </a:moveTo>
                  <a:cubicBezTo>
                    <a:pt x="282774" y="675372"/>
                    <a:pt x="136791" y="667351"/>
                    <a:pt x="72623" y="606391"/>
                  </a:cubicBezTo>
                  <a:cubicBezTo>
                    <a:pt x="8455" y="545431"/>
                    <a:pt x="-38068" y="418698"/>
                    <a:pt x="43747" y="317633"/>
                  </a:cubicBezTo>
                  <a:cubicBezTo>
                    <a:pt x="125562" y="216568"/>
                    <a:pt x="344536" y="108284"/>
                    <a:pt x="563511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12" tIns="54407" rIns="108812" bIns="54407"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81" name="자유형 80"/>
            <p:cNvSpPr/>
            <p:nvPr/>
          </p:nvSpPr>
          <p:spPr>
            <a:xfrm>
              <a:off x="7200229" y="3397941"/>
              <a:ext cx="751348" cy="952125"/>
            </a:xfrm>
            <a:custGeom>
              <a:avLst/>
              <a:gdLst>
                <a:gd name="connsiteX0" fmla="*/ 428757 w 563511"/>
                <a:gd name="connsiteY0" fmla="*/ 683393 h 683393"/>
                <a:gd name="connsiteX1" fmla="*/ 72623 w 563511"/>
                <a:gd name="connsiteY1" fmla="*/ 606391 h 683393"/>
                <a:gd name="connsiteX2" fmla="*/ 43747 w 563511"/>
                <a:gd name="connsiteY2" fmla="*/ 317633 h 683393"/>
                <a:gd name="connsiteX3" fmla="*/ 563511 w 563511"/>
                <a:gd name="connsiteY3" fmla="*/ 0 h 683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511" h="683393">
                  <a:moveTo>
                    <a:pt x="428757" y="683393"/>
                  </a:moveTo>
                  <a:cubicBezTo>
                    <a:pt x="282774" y="675372"/>
                    <a:pt x="136791" y="667351"/>
                    <a:pt x="72623" y="606391"/>
                  </a:cubicBezTo>
                  <a:cubicBezTo>
                    <a:pt x="8455" y="545431"/>
                    <a:pt x="-38068" y="418698"/>
                    <a:pt x="43747" y="317633"/>
                  </a:cubicBezTo>
                  <a:cubicBezTo>
                    <a:pt x="125562" y="216568"/>
                    <a:pt x="344536" y="108284"/>
                    <a:pt x="563511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12" tIns="54407" rIns="108812" bIns="54407"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82" name="자유형 81"/>
            <p:cNvSpPr/>
            <p:nvPr/>
          </p:nvSpPr>
          <p:spPr>
            <a:xfrm>
              <a:off x="4741091" y="3411291"/>
              <a:ext cx="751348" cy="952125"/>
            </a:xfrm>
            <a:custGeom>
              <a:avLst/>
              <a:gdLst>
                <a:gd name="connsiteX0" fmla="*/ 428757 w 563511"/>
                <a:gd name="connsiteY0" fmla="*/ 683393 h 683393"/>
                <a:gd name="connsiteX1" fmla="*/ 72623 w 563511"/>
                <a:gd name="connsiteY1" fmla="*/ 606391 h 683393"/>
                <a:gd name="connsiteX2" fmla="*/ 43747 w 563511"/>
                <a:gd name="connsiteY2" fmla="*/ 317633 h 683393"/>
                <a:gd name="connsiteX3" fmla="*/ 563511 w 563511"/>
                <a:gd name="connsiteY3" fmla="*/ 0 h 683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511" h="683393">
                  <a:moveTo>
                    <a:pt x="428757" y="683393"/>
                  </a:moveTo>
                  <a:cubicBezTo>
                    <a:pt x="282774" y="675372"/>
                    <a:pt x="136791" y="667351"/>
                    <a:pt x="72623" y="606391"/>
                  </a:cubicBezTo>
                  <a:cubicBezTo>
                    <a:pt x="8455" y="545431"/>
                    <a:pt x="-38068" y="418698"/>
                    <a:pt x="43747" y="317633"/>
                  </a:cubicBezTo>
                  <a:cubicBezTo>
                    <a:pt x="125562" y="216568"/>
                    <a:pt x="344536" y="108284"/>
                    <a:pt x="563511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12" tIns="54407" rIns="108812" bIns="54407"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83" name="자유형 82"/>
            <p:cNvSpPr/>
            <p:nvPr/>
          </p:nvSpPr>
          <p:spPr>
            <a:xfrm>
              <a:off x="-108520" y="3411291"/>
              <a:ext cx="751348" cy="952125"/>
            </a:xfrm>
            <a:custGeom>
              <a:avLst/>
              <a:gdLst>
                <a:gd name="connsiteX0" fmla="*/ 428757 w 563511"/>
                <a:gd name="connsiteY0" fmla="*/ 683393 h 683393"/>
                <a:gd name="connsiteX1" fmla="*/ 72623 w 563511"/>
                <a:gd name="connsiteY1" fmla="*/ 606391 h 683393"/>
                <a:gd name="connsiteX2" fmla="*/ 43747 w 563511"/>
                <a:gd name="connsiteY2" fmla="*/ 317633 h 683393"/>
                <a:gd name="connsiteX3" fmla="*/ 563511 w 563511"/>
                <a:gd name="connsiteY3" fmla="*/ 0 h 683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511" h="683393">
                  <a:moveTo>
                    <a:pt x="428757" y="683393"/>
                  </a:moveTo>
                  <a:cubicBezTo>
                    <a:pt x="282774" y="675372"/>
                    <a:pt x="136791" y="667351"/>
                    <a:pt x="72623" y="606391"/>
                  </a:cubicBezTo>
                  <a:cubicBezTo>
                    <a:pt x="8455" y="545431"/>
                    <a:pt x="-38068" y="418698"/>
                    <a:pt x="43747" y="317633"/>
                  </a:cubicBezTo>
                  <a:cubicBezTo>
                    <a:pt x="125562" y="216568"/>
                    <a:pt x="344536" y="108284"/>
                    <a:pt x="563511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12" tIns="54407" rIns="108812" bIns="54407" rtlCol="0" anchor="ctr"/>
            <a:lstStyle/>
            <a:p>
              <a:pPr algn="ctr"/>
              <a:endParaRPr lang="ko-KR" altLang="en-US" sz="1200"/>
            </a:p>
          </p:txBody>
        </p:sp>
      </p:grpSp>
    </p:spTree>
    <p:extLst>
      <p:ext uri="{BB962C8B-B14F-4D97-AF65-F5344CB8AC3E}">
        <p14:creationId xmlns:p14="http://schemas.microsoft.com/office/powerpoint/2010/main" val="2810110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8"/>
          <p:cNvSpPr txBox="1"/>
          <p:nvPr/>
        </p:nvSpPr>
        <p:spPr>
          <a:xfrm>
            <a:off x="628650" y="74814"/>
            <a:ext cx="75374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smtClean="0">
                <a:solidFill>
                  <a:prstClr val="black"/>
                </a:solidFill>
              </a:rPr>
              <a:t>블록체인이란</a:t>
            </a:r>
            <a:r>
              <a:rPr lang="en-US" altLang="ko-KR" sz="3200" b="1" dirty="0" smtClean="0">
                <a:solidFill>
                  <a:prstClr val="black"/>
                </a:solidFill>
              </a:rPr>
              <a:t>?</a:t>
            </a:r>
            <a:endParaRPr lang="ko-KR" altLang="en-US" sz="3200" b="1" dirty="0">
              <a:solidFill>
                <a:prstClr val="black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527098" y="2516110"/>
            <a:ext cx="8228720" cy="3081335"/>
            <a:chOff x="-108520" y="2276872"/>
            <a:chExt cx="9499955" cy="3557363"/>
          </a:xfrm>
        </p:grpSpPr>
        <p:sp>
          <p:nvSpPr>
            <p:cNvPr id="21" name="모서리가 둥근 직사각형 20"/>
            <p:cNvSpPr/>
            <p:nvPr/>
          </p:nvSpPr>
          <p:spPr>
            <a:xfrm>
              <a:off x="374538" y="2756702"/>
              <a:ext cx="1701301" cy="241507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30575" tIns="65288" rIns="130575" bIns="65288" rtlCol="0" anchor="ctr"/>
            <a:lstStyle/>
            <a:p>
              <a:pPr algn="ctr"/>
              <a:endPara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2" name="모서리가 둥근 직사각형 21"/>
            <p:cNvSpPr/>
            <p:nvPr/>
          </p:nvSpPr>
          <p:spPr>
            <a:xfrm>
              <a:off x="501975" y="3621324"/>
              <a:ext cx="1441600" cy="1487725"/>
            </a:xfrm>
            <a:prstGeom prst="roundRect">
              <a:avLst>
                <a:gd name="adj" fmla="val 8274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0575" tIns="65288" rIns="130575" bIns="6528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75564" y="2306523"/>
              <a:ext cx="648659" cy="436479"/>
            </a:xfrm>
            <a:prstGeom prst="rect">
              <a:avLst/>
            </a:prstGeom>
            <a:noFill/>
          </p:spPr>
          <p:txBody>
            <a:bodyPr wrap="none" lIns="130575" tIns="65288" rIns="130575" bIns="65288" rtlCol="0">
              <a:spAutoFit/>
            </a:bodyPr>
            <a:lstStyle/>
            <a:p>
              <a:pPr marL="0" lvl="1" defTabSz="1038977" latinLnBrk="0">
                <a:spcAft>
                  <a:spcPts val="133"/>
                </a:spcAft>
                <a:defRPr/>
              </a:pPr>
              <a:r>
                <a:rPr lang="en-US" altLang="ko-KR" sz="1600" dirty="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#1</a:t>
              </a:r>
              <a:endParaRPr lang="ko-KR" altLang="en-US" sz="16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604853" y="3760530"/>
              <a:ext cx="1243989" cy="34961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604853" y="4188614"/>
              <a:ext cx="1243989" cy="34961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604853" y="4623035"/>
              <a:ext cx="1243989" cy="34961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A</a:t>
              </a:r>
              <a:r>
                <a:rPr lang="en-US" altLang="ko-KR" sz="12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Wingdings" panose="05000000000000000000" pitchFamily="2" charset="2"/>
                </a:rPr>
                <a:t>B 2BTC</a:t>
              </a:r>
              <a:endParaRPr lang="ko-KR" altLang="en-US" sz="1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37" name="모서리가 둥근 직사각형 36"/>
            <p:cNvSpPr/>
            <p:nvPr/>
          </p:nvSpPr>
          <p:spPr>
            <a:xfrm>
              <a:off x="464764" y="2831394"/>
              <a:ext cx="1498577" cy="71523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0575" tIns="65288" rIns="130575" bIns="6528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dirty="0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nonce0</a:t>
              </a:r>
            </a:p>
            <a:p>
              <a:pPr algn="ctr"/>
              <a:r>
                <a:rPr lang="en-US" altLang="ko-KR" sz="1200" dirty="0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hash0</a:t>
              </a:r>
            </a:p>
            <a:p>
              <a:pPr algn="ctr"/>
              <a:r>
                <a:rPr lang="en-US" altLang="ko-KR" sz="1200" dirty="0">
                  <a:solidFill>
                    <a:srgbClr val="C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M. hash 0</a:t>
              </a:r>
            </a:p>
          </p:txBody>
        </p:sp>
        <p:sp>
          <p:nvSpPr>
            <p:cNvPr id="38" name="모서리가 둥근 직사각형 37"/>
            <p:cNvSpPr/>
            <p:nvPr/>
          </p:nvSpPr>
          <p:spPr>
            <a:xfrm>
              <a:off x="2843986" y="2756700"/>
              <a:ext cx="1701301" cy="241507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30575" tIns="65288" rIns="130575" bIns="65288" rtlCol="0" anchor="ctr"/>
            <a:lstStyle/>
            <a:p>
              <a:pPr algn="ctr"/>
              <a:endPara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045012" y="2306523"/>
              <a:ext cx="648659" cy="436479"/>
            </a:xfrm>
            <a:prstGeom prst="rect">
              <a:avLst/>
            </a:prstGeom>
            <a:noFill/>
          </p:spPr>
          <p:txBody>
            <a:bodyPr wrap="none" lIns="130575" tIns="65288" rIns="130575" bIns="65288" rtlCol="0">
              <a:spAutoFit/>
            </a:bodyPr>
            <a:lstStyle/>
            <a:p>
              <a:r>
                <a:rPr lang="en-US" altLang="ko-KR" sz="16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#2</a:t>
              </a:r>
              <a:endPara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40" name="모서리가 둥근 직사각형 39"/>
            <p:cNvSpPr/>
            <p:nvPr/>
          </p:nvSpPr>
          <p:spPr>
            <a:xfrm>
              <a:off x="2934202" y="2831394"/>
              <a:ext cx="1547024" cy="71523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0575" tIns="65288" rIns="130575" bIns="6528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r>
                <a:rPr lang="en-US" altLang="ko-KR" sz="1200" dirty="0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nonce1</a:t>
              </a:r>
            </a:p>
            <a:p>
              <a:pPr lvl="0" algn="ctr"/>
              <a:r>
                <a:rPr lang="en-US" altLang="ko-KR" sz="1200" dirty="0">
                  <a:solidFill>
                    <a:srgbClr val="C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hash1</a:t>
              </a:r>
            </a:p>
            <a:p>
              <a:pPr lvl="0" algn="ctr"/>
              <a:r>
                <a:rPr lang="en-US" altLang="ko-KR" sz="1200" dirty="0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M. hash1</a:t>
              </a:r>
            </a:p>
          </p:txBody>
        </p:sp>
        <p:cxnSp>
          <p:nvCxnSpPr>
            <p:cNvPr id="41" name="직선 화살표 연결선 40"/>
            <p:cNvCxnSpPr>
              <a:stCxn id="37" idx="3"/>
            </p:cNvCxnSpPr>
            <p:nvPr/>
          </p:nvCxnSpPr>
          <p:spPr>
            <a:xfrm flipV="1">
              <a:off x="1963341" y="3185102"/>
              <a:ext cx="1218355" cy="3912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모서리가 둥근 직사각형 41"/>
            <p:cNvSpPr/>
            <p:nvPr/>
          </p:nvSpPr>
          <p:spPr>
            <a:xfrm>
              <a:off x="5220686" y="2760814"/>
              <a:ext cx="1701301" cy="241507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30575" tIns="65288" rIns="130575" bIns="65288" rtlCol="0" anchor="ctr"/>
            <a:lstStyle/>
            <a:p>
              <a:pPr algn="ctr"/>
              <a:endPara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421708" y="2276872"/>
              <a:ext cx="648659" cy="436479"/>
            </a:xfrm>
            <a:prstGeom prst="rect">
              <a:avLst/>
            </a:prstGeom>
            <a:noFill/>
          </p:spPr>
          <p:txBody>
            <a:bodyPr wrap="none" lIns="130575" tIns="65288" rIns="130575" bIns="65288" rtlCol="0">
              <a:spAutoFit/>
            </a:bodyPr>
            <a:lstStyle/>
            <a:p>
              <a:r>
                <a:rPr lang="en-US" altLang="ko-KR" sz="16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#3</a:t>
              </a:r>
              <a:endPara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44" name="모서리가 둥근 직사각형 43"/>
            <p:cNvSpPr/>
            <p:nvPr/>
          </p:nvSpPr>
          <p:spPr>
            <a:xfrm>
              <a:off x="5310912" y="2835507"/>
              <a:ext cx="1498577" cy="71523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0575" tIns="65288" rIns="130575" bIns="6528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ko-KR" sz="1400" dirty="0">
                <a:solidFill>
                  <a:srgbClr val="0000FF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lvl="0" algn="ctr"/>
              <a:r>
                <a:rPr lang="en-US" altLang="ko-KR" sz="1400" dirty="0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lang="en-US" altLang="ko-KR" sz="1200" dirty="0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nonce2</a:t>
              </a:r>
            </a:p>
            <a:p>
              <a:pPr lvl="0" algn="ctr"/>
              <a:r>
                <a:rPr lang="en-US" altLang="ko-KR" sz="1200" dirty="0">
                  <a:solidFill>
                    <a:srgbClr val="C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hash2</a:t>
              </a:r>
            </a:p>
            <a:p>
              <a:pPr lvl="0" algn="ctr"/>
              <a:r>
                <a:rPr lang="en-US" altLang="ko-KR" sz="1200" dirty="0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M. hash2</a:t>
              </a:r>
            </a:p>
            <a:p>
              <a:pPr algn="ctr"/>
              <a:endParaRPr lang="en-US" altLang="ko-KR" sz="1400" dirty="0">
                <a:solidFill>
                  <a:srgbClr val="0000FF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47" name="모서리가 둥근 직사각형 46"/>
            <p:cNvSpPr/>
            <p:nvPr/>
          </p:nvSpPr>
          <p:spPr>
            <a:xfrm>
              <a:off x="7690134" y="2760814"/>
              <a:ext cx="1701301" cy="241507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30575" tIns="65288" rIns="130575" bIns="65288" rtlCol="0" anchor="ctr"/>
            <a:lstStyle/>
            <a:p>
              <a:pPr algn="ctr"/>
              <a:endPara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891156" y="2276872"/>
              <a:ext cx="648659" cy="436479"/>
            </a:xfrm>
            <a:prstGeom prst="rect">
              <a:avLst/>
            </a:prstGeom>
            <a:noFill/>
          </p:spPr>
          <p:txBody>
            <a:bodyPr wrap="none" lIns="130575" tIns="65288" rIns="130575" bIns="65288" rtlCol="0">
              <a:spAutoFit/>
            </a:bodyPr>
            <a:lstStyle/>
            <a:p>
              <a:r>
                <a:rPr lang="en-US" altLang="ko-KR" sz="16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#4</a:t>
              </a:r>
              <a:endPara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49" name="모서리가 둥근 직사각형 48"/>
            <p:cNvSpPr/>
            <p:nvPr/>
          </p:nvSpPr>
          <p:spPr>
            <a:xfrm>
              <a:off x="7780350" y="2835507"/>
              <a:ext cx="1547024" cy="71523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0575" tIns="65288" rIns="130575" bIns="6528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r>
                <a:rPr lang="en-US" altLang="ko-KR" sz="1200" dirty="0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nonce3</a:t>
              </a:r>
            </a:p>
            <a:p>
              <a:pPr lvl="0" algn="ctr"/>
              <a:r>
                <a:rPr lang="en-US" altLang="ko-KR" sz="1200" dirty="0">
                  <a:solidFill>
                    <a:srgbClr val="C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hash3</a:t>
              </a:r>
            </a:p>
            <a:p>
              <a:pPr lvl="0" algn="ctr"/>
              <a:r>
                <a:rPr lang="en-US" altLang="ko-KR" sz="1200" dirty="0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M. hash3</a:t>
              </a:r>
            </a:p>
          </p:txBody>
        </p:sp>
        <p:cxnSp>
          <p:nvCxnSpPr>
            <p:cNvPr id="51" name="직선 화살표 연결선 50"/>
            <p:cNvCxnSpPr>
              <a:stCxn id="44" idx="3"/>
            </p:cNvCxnSpPr>
            <p:nvPr/>
          </p:nvCxnSpPr>
          <p:spPr>
            <a:xfrm flipV="1">
              <a:off x="6809490" y="3189214"/>
              <a:ext cx="1218355" cy="3912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화살표 연결선 51"/>
            <p:cNvCxnSpPr>
              <a:stCxn id="40" idx="3"/>
            </p:cNvCxnSpPr>
            <p:nvPr/>
          </p:nvCxnSpPr>
          <p:spPr>
            <a:xfrm>
              <a:off x="4481228" y="3189014"/>
              <a:ext cx="1038676" cy="9751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모서리가 둥근 직사각형 52"/>
            <p:cNvSpPr/>
            <p:nvPr/>
          </p:nvSpPr>
          <p:spPr>
            <a:xfrm>
              <a:off x="2971423" y="3621324"/>
              <a:ext cx="1441600" cy="1487725"/>
            </a:xfrm>
            <a:prstGeom prst="roundRect">
              <a:avLst>
                <a:gd name="adj" fmla="val 8274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0575" tIns="65288" rIns="130575" bIns="6528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grpSp>
          <p:nvGrpSpPr>
            <p:cNvPr id="59" name="그룹 58"/>
            <p:cNvGrpSpPr/>
            <p:nvPr/>
          </p:nvGrpSpPr>
          <p:grpSpPr>
            <a:xfrm>
              <a:off x="3074301" y="3760524"/>
              <a:ext cx="1243992" cy="1212123"/>
              <a:chOff x="1115615" y="4509119"/>
              <a:chExt cx="720081" cy="748956"/>
            </a:xfrm>
          </p:grpSpPr>
          <p:sp>
            <p:nvSpPr>
              <p:cNvPr id="60" name="직사각형 59"/>
              <p:cNvSpPr/>
              <p:nvPr/>
            </p:nvSpPr>
            <p:spPr>
              <a:xfrm>
                <a:off x="1115615" y="4509119"/>
                <a:ext cx="720080" cy="21602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2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B</a:t>
                </a:r>
                <a:r>
                  <a:rPr lang="en-US" altLang="ko-KR" sz="12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sym typeface="Wingdings" panose="05000000000000000000" pitchFamily="2" charset="2"/>
                  </a:rPr>
                  <a:t></a:t>
                </a:r>
                <a:r>
                  <a:rPr lang="en-US" altLang="ko-KR" sz="12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C 1BTC</a:t>
                </a:r>
              </a:p>
            </p:txBody>
          </p:sp>
          <p:sp>
            <p:nvSpPr>
              <p:cNvPr id="61" name="직사각형 60"/>
              <p:cNvSpPr/>
              <p:nvPr/>
            </p:nvSpPr>
            <p:spPr>
              <a:xfrm>
                <a:off x="1115616" y="4773628"/>
                <a:ext cx="720080" cy="21602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1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62" name="직사각형 61"/>
              <p:cNvSpPr/>
              <p:nvPr/>
            </p:nvSpPr>
            <p:spPr>
              <a:xfrm>
                <a:off x="1115615" y="5042052"/>
                <a:ext cx="720080" cy="21602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4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p:grpSp>
        <p:sp>
          <p:nvSpPr>
            <p:cNvPr id="63" name="모서리가 둥근 직사각형 62"/>
            <p:cNvSpPr/>
            <p:nvPr/>
          </p:nvSpPr>
          <p:spPr>
            <a:xfrm>
              <a:off x="5346543" y="3621324"/>
              <a:ext cx="1441600" cy="1487725"/>
            </a:xfrm>
            <a:prstGeom prst="roundRect">
              <a:avLst>
                <a:gd name="adj" fmla="val 8274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0575" tIns="65288" rIns="130575" bIns="6528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grpSp>
          <p:nvGrpSpPr>
            <p:cNvPr id="64" name="그룹 63"/>
            <p:cNvGrpSpPr/>
            <p:nvPr/>
          </p:nvGrpSpPr>
          <p:grpSpPr>
            <a:xfrm>
              <a:off x="5449421" y="3760529"/>
              <a:ext cx="1243989" cy="1212120"/>
              <a:chOff x="1115616" y="4509120"/>
              <a:chExt cx="720080" cy="748954"/>
            </a:xfrm>
          </p:grpSpPr>
          <p:sp>
            <p:nvSpPr>
              <p:cNvPr id="65" name="직사각형 64"/>
              <p:cNvSpPr/>
              <p:nvPr/>
            </p:nvSpPr>
            <p:spPr>
              <a:xfrm>
                <a:off x="1115616" y="4509120"/>
                <a:ext cx="720080" cy="21602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4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66" name="직사각형 65"/>
              <p:cNvSpPr/>
              <p:nvPr/>
            </p:nvSpPr>
            <p:spPr>
              <a:xfrm>
                <a:off x="1115616" y="4773628"/>
                <a:ext cx="720080" cy="21602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1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67" name="직사각형 66"/>
              <p:cNvSpPr/>
              <p:nvPr/>
            </p:nvSpPr>
            <p:spPr>
              <a:xfrm>
                <a:off x="1115616" y="5042051"/>
                <a:ext cx="720080" cy="21602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4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p:grpSp>
        <p:sp>
          <p:nvSpPr>
            <p:cNvPr id="68" name="모서리가 둥근 직사각형 67"/>
            <p:cNvSpPr/>
            <p:nvPr/>
          </p:nvSpPr>
          <p:spPr>
            <a:xfrm>
              <a:off x="7826841" y="3621324"/>
              <a:ext cx="1441600" cy="1487725"/>
            </a:xfrm>
            <a:prstGeom prst="roundRect">
              <a:avLst>
                <a:gd name="adj" fmla="val 8274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0575" tIns="65288" rIns="130575" bIns="6528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grpSp>
          <p:nvGrpSpPr>
            <p:cNvPr id="69" name="그룹 68"/>
            <p:cNvGrpSpPr/>
            <p:nvPr/>
          </p:nvGrpSpPr>
          <p:grpSpPr>
            <a:xfrm>
              <a:off x="7929718" y="3760529"/>
              <a:ext cx="1243989" cy="1212120"/>
              <a:chOff x="1115616" y="4509120"/>
              <a:chExt cx="720080" cy="748954"/>
            </a:xfrm>
          </p:grpSpPr>
          <p:sp>
            <p:nvSpPr>
              <p:cNvPr id="70" name="직사각형 69"/>
              <p:cNvSpPr/>
              <p:nvPr/>
            </p:nvSpPr>
            <p:spPr>
              <a:xfrm>
                <a:off x="1115616" y="4509120"/>
                <a:ext cx="720080" cy="21602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4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71" name="직사각형 70"/>
              <p:cNvSpPr/>
              <p:nvPr/>
            </p:nvSpPr>
            <p:spPr>
              <a:xfrm>
                <a:off x="1115616" y="4773628"/>
                <a:ext cx="720080" cy="21602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1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72" name="직사각형 71"/>
              <p:cNvSpPr/>
              <p:nvPr/>
            </p:nvSpPr>
            <p:spPr>
              <a:xfrm>
                <a:off x="1115616" y="5042051"/>
                <a:ext cx="720080" cy="21602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05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C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sym typeface="Wingdings" panose="05000000000000000000" pitchFamily="2" charset="2"/>
                  </a:rPr>
                  <a:t>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D 0.5BTC</a:t>
                </a:r>
              </a:p>
            </p:txBody>
          </p:sp>
        </p:grpSp>
        <p:sp>
          <p:nvSpPr>
            <p:cNvPr id="73" name="TextBox 72"/>
            <p:cNvSpPr txBox="1"/>
            <p:nvPr/>
          </p:nvSpPr>
          <p:spPr>
            <a:xfrm>
              <a:off x="675154" y="5280994"/>
              <a:ext cx="921781" cy="553241"/>
            </a:xfrm>
            <a:prstGeom prst="rect">
              <a:avLst/>
            </a:prstGeom>
            <a:noFill/>
          </p:spPr>
          <p:txBody>
            <a:bodyPr wrap="none" lIns="108812" tIns="54407" rIns="108812" bIns="54407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rgbClr val="FF0000"/>
                  </a:solidFill>
                </a:rPr>
                <a:t>M. hash0</a:t>
              </a:r>
            </a:p>
            <a:p>
              <a:pPr algn="ctr"/>
              <a:r>
                <a:rPr lang="en-US" altLang="ko-KR" sz="1200" dirty="0">
                  <a:solidFill>
                    <a:srgbClr val="FF0000"/>
                  </a:solidFill>
                </a:rPr>
                <a:t>changes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3238034" y="5280993"/>
              <a:ext cx="840723" cy="553241"/>
            </a:xfrm>
            <a:prstGeom prst="rect">
              <a:avLst/>
            </a:prstGeom>
            <a:noFill/>
          </p:spPr>
          <p:txBody>
            <a:bodyPr wrap="none" lIns="108812" tIns="54407" rIns="108812" bIns="54407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rgbClr val="FF0000"/>
                  </a:solidFill>
                </a:rPr>
                <a:t>hash 1</a:t>
              </a:r>
            </a:p>
            <a:p>
              <a:pPr algn="ctr"/>
              <a:r>
                <a:rPr lang="en-US" altLang="ko-KR" sz="1200" dirty="0">
                  <a:solidFill>
                    <a:srgbClr val="FF0000"/>
                  </a:solidFill>
                </a:rPr>
                <a:t>changes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5716567" y="5280993"/>
              <a:ext cx="840723" cy="553241"/>
            </a:xfrm>
            <a:prstGeom prst="rect">
              <a:avLst/>
            </a:prstGeom>
            <a:noFill/>
          </p:spPr>
          <p:txBody>
            <a:bodyPr wrap="none" lIns="108812" tIns="54407" rIns="108812" bIns="54407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rgbClr val="FF0000"/>
                  </a:solidFill>
                </a:rPr>
                <a:t>hash 2</a:t>
              </a:r>
            </a:p>
            <a:p>
              <a:pPr algn="ctr"/>
              <a:r>
                <a:rPr lang="en-US" altLang="ko-KR" sz="1200" dirty="0">
                  <a:solidFill>
                    <a:srgbClr val="FF0000"/>
                  </a:solidFill>
                </a:rPr>
                <a:t>changes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  <p:cxnSp>
          <p:nvCxnSpPr>
            <p:cNvPr id="76" name="직선 화살표 연결선 75"/>
            <p:cNvCxnSpPr/>
            <p:nvPr/>
          </p:nvCxnSpPr>
          <p:spPr>
            <a:xfrm>
              <a:off x="4177661" y="5557768"/>
              <a:ext cx="1440000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/>
            <p:cNvSpPr txBox="1"/>
            <p:nvPr/>
          </p:nvSpPr>
          <p:spPr>
            <a:xfrm>
              <a:off x="8195101" y="5280993"/>
              <a:ext cx="840723" cy="553241"/>
            </a:xfrm>
            <a:prstGeom prst="rect">
              <a:avLst/>
            </a:prstGeom>
            <a:noFill/>
          </p:spPr>
          <p:txBody>
            <a:bodyPr wrap="none" lIns="108812" tIns="54407" rIns="108812" bIns="54407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rgbClr val="FF0000"/>
                  </a:solidFill>
                </a:rPr>
                <a:t>hash3 </a:t>
              </a:r>
            </a:p>
            <a:p>
              <a:pPr algn="ctr"/>
              <a:r>
                <a:rPr lang="en-US" altLang="ko-KR" sz="1200" dirty="0">
                  <a:solidFill>
                    <a:srgbClr val="FF0000"/>
                  </a:solidFill>
                </a:rPr>
                <a:t>changes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  <p:cxnSp>
          <p:nvCxnSpPr>
            <p:cNvPr id="78" name="직선 화살표 연결선 77"/>
            <p:cNvCxnSpPr/>
            <p:nvPr/>
          </p:nvCxnSpPr>
          <p:spPr>
            <a:xfrm>
              <a:off x="6656194" y="5557769"/>
              <a:ext cx="1440000" cy="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직선 화살표 연결선 78"/>
            <p:cNvCxnSpPr/>
            <p:nvPr/>
          </p:nvCxnSpPr>
          <p:spPr>
            <a:xfrm>
              <a:off x="1699129" y="5563818"/>
              <a:ext cx="1440000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자유형 79"/>
            <p:cNvSpPr/>
            <p:nvPr/>
          </p:nvSpPr>
          <p:spPr>
            <a:xfrm>
              <a:off x="2350201" y="3411291"/>
              <a:ext cx="751348" cy="952125"/>
            </a:xfrm>
            <a:custGeom>
              <a:avLst/>
              <a:gdLst>
                <a:gd name="connsiteX0" fmla="*/ 428757 w 563511"/>
                <a:gd name="connsiteY0" fmla="*/ 683393 h 683393"/>
                <a:gd name="connsiteX1" fmla="*/ 72623 w 563511"/>
                <a:gd name="connsiteY1" fmla="*/ 606391 h 683393"/>
                <a:gd name="connsiteX2" fmla="*/ 43747 w 563511"/>
                <a:gd name="connsiteY2" fmla="*/ 317633 h 683393"/>
                <a:gd name="connsiteX3" fmla="*/ 563511 w 563511"/>
                <a:gd name="connsiteY3" fmla="*/ 0 h 683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511" h="683393">
                  <a:moveTo>
                    <a:pt x="428757" y="683393"/>
                  </a:moveTo>
                  <a:cubicBezTo>
                    <a:pt x="282774" y="675372"/>
                    <a:pt x="136791" y="667351"/>
                    <a:pt x="72623" y="606391"/>
                  </a:cubicBezTo>
                  <a:cubicBezTo>
                    <a:pt x="8455" y="545431"/>
                    <a:pt x="-38068" y="418698"/>
                    <a:pt x="43747" y="317633"/>
                  </a:cubicBezTo>
                  <a:cubicBezTo>
                    <a:pt x="125562" y="216568"/>
                    <a:pt x="344536" y="108284"/>
                    <a:pt x="563511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12" tIns="54407" rIns="108812" bIns="54407"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81" name="자유형 80"/>
            <p:cNvSpPr/>
            <p:nvPr/>
          </p:nvSpPr>
          <p:spPr>
            <a:xfrm>
              <a:off x="7200229" y="3397941"/>
              <a:ext cx="751348" cy="952125"/>
            </a:xfrm>
            <a:custGeom>
              <a:avLst/>
              <a:gdLst>
                <a:gd name="connsiteX0" fmla="*/ 428757 w 563511"/>
                <a:gd name="connsiteY0" fmla="*/ 683393 h 683393"/>
                <a:gd name="connsiteX1" fmla="*/ 72623 w 563511"/>
                <a:gd name="connsiteY1" fmla="*/ 606391 h 683393"/>
                <a:gd name="connsiteX2" fmla="*/ 43747 w 563511"/>
                <a:gd name="connsiteY2" fmla="*/ 317633 h 683393"/>
                <a:gd name="connsiteX3" fmla="*/ 563511 w 563511"/>
                <a:gd name="connsiteY3" fmla="*/ 0 h 683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511" h="683393">
                  <a:moveTo>
                    <a:pt x="428757" y="683393"/>
                  </a:moveTo>
                  <a:cubicBezTo>
                    <a:pt x="282774" y="675372"/>
                    <a:pt x="136791" y="667351"/>
                    <a:pt x="72623" y="606391"/>
                  </a:cubicBezTo>
                  <a:cubicBezTo>
                    <a:pt x="8455" y="545431"/>
                    <a:pt x="-38068" y="418698"/>
                    <a:pt x="43747" y="317633"/>
                  </a:cubicBezTo>
                  <a:cubicBezTo>
                    <a:pt x="125562" y="216568"/>
                    <a:pt x="344536" y="108284"/>
                    <a:pt x="563511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12" tIns="54407" rIns="108812" bIns="54407"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82" name="자유형 81"/>
            <p:cNvSpPr/>
            <p:nvPr/>
          </p:nvSpPr>
          <p:spPr>
            <a:xfrm>
              <a:off x="4741091" y="3411291"/>
              <a:ext cx="751348" cy="952125"/>
            </a:xfrm>
            <a:custGeom>
              <a:avLst/>
              <a:gdLst>
                <a:gd name="connsiteX0" fmla="*/ 428757 w 563511"/>
                <a:gd name="connsiteY0" fmla="*/ 683393 h 683393"/>
                <a:gd name="connsiteX1" fmla="*/ 72623 w 563511"/>
                <a:gd name="connsiteY1" fmla="*/ 606391 h 683393"/>
                <a:gd name="connsiteX2" fmla="*/ 43747 w 563511"/>
                <a:gd name="connsiteY2" fmla="*/ 317633 h 683393"/>
                <a:gd name="connsiteX3" fmla="*/ 563511 w 563511"/>
                <a:gd name="connsiteY3" fmla="*/ 0 h 683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511" h="683393">
                  <a:moveTo>
                    <a:pt x="428757" y="683393"/>
                  </a:moveTo>
                  <a:cubicBezTo>
                    <a:pt x="282774" y="675372"/>
                    <a:pt x="136791" y="667351"/>
                    <a:pt x="72623" y="606391"/>
                  </a:cubicBezTo>
                  <a:cubicBezTo>
                    <a:pt x="8455" y="545431"/>
                    <a:pt x="-38068" y="418698"/>
                    <a:pt x="43747" y="317633"/>
                  </a:cubicBezTo>
                  <a:cubicBezTo>
                    <a:pt x="125562" y="216568"/>
                    <a:pt x="344536" y="108284"/>
                    <a:pt x="563511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12" tIns="54407" rIns="108812" bIns="54407"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83" name="자유형 82"/>
            <p:cNvSpPr/>
            <p:nvPr/>
          </p:nvSpPr>
          <p:spPr>
            <a:xfrm>
              <a:off x="-108520" y="3411291"/>
              <a:ext cx="751348" cy="952125"/>
            </a:xfrm>
            <a:custGeom>
              <a:avLst/>
              <a:gdLst>
                <a:gd name="connsiteX0" fmla="*/ 428757 w 563511"/>
                <a:gd name="connsiteY0" fmla="*/ 683393 h 683393"/>
                <a:gd name="connsiteX1" fmla="*/ 72623 w 563511"/>
                <a:gd name="connsiteY1" fmla="*/ 606391 h 683393"/>
                <a:gd name="connsiteX2" fmla="*/ 43747 w 563511"/>
                <a:gd name="connsiteY2" fmla="*/ 317633 h 683393"/>
                <a:gd name="connsiteX3" fmla="*/ 563511 w 563511"/>
                <a:gd name="connsiteY3" fmla="*/ 0 h 683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511" h="683393">
                  <a:moveTo>
                    <a:pt x="428757" y="683393"/>
                  </a:moveTo>
                  <a:cubicBezTo>
                    <a:pt x="282774" y="675372"/>
                    <a:pt x="136791" y="667351"/>
                    <a:pt x="72623" y="606391"/>
                  </a:cubicBezTo>
                  <a:cubicBezTo>
                    <a:pt x="8455" y="545431"/>
                    <a:pt x="-38068" y="418698"/>
                    <a:pt x="43747" y="317633"/>
                  </a:cubicBezTo>
                  <a:cubicBezTo>
                    <a:pt x="125562" y="216568"/>
                    <a:pt x="344536" y="108284"/>
                    <a:pt x="563511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12" tIns="54407" rIns="108812" bIns="54407" rtlCol="0" anchor="ctr"/>
            <a:lstStyle/>
            <a:p>
              <a:pPr algn="ctr"/>
              <a:endParaRPr lang="ko-KR" altLang="en-US" sz="1200"/>
            </a:p>
          </p:txBody>
        </p:sp>
      </p:grpSp>
      <p:sp>
        <p:nvSpPr>
          <p:cNvPr id="54" name="직사각형 53">
            <a:extLst>
              <a:ext uri="{FF2B5EF4-FFF2-40B4-BE49-F238E27FC236}">
                <a16:creationId xmlns="" xmlns:a16="http://schemas.microsoft.com/office/drawing/2014/main" id="{4C70D3A6-2D13-4F22-9C06-C56F2B48E196}"/>
              </a:ext>
            </a:extLst>
          </p:cNvPr>
          <p:cNvSpPr/>
          <p:nvPr/>
        </p:nvSpPr>
        <p:spPr>
          <a:xfrm>
            <a:off x="336000" y="1249702"/>
            <a:ext cx="8556480" cy="8111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2000" b="1" kern="0" spc="-50" dirty="0">
                <a:solidFill>
                  <a:prstClr val="black"/>
                </a:solidFill>
              </a:rPr>
              <a:t>Double Spending</a:t>
            </a:r>
            <a:r>
              <a:rPr lang="ko-KR" altLang="en-US" sz="2000" b="1" kern="0" spc="-50" dirty="0">
                <a:solidFill>
                  <a:prstClr val="black"/>
                </a:solidFill>
              </a:rPr>
              <a:t>은 어떻게 성립하는가</a:t>
            </a:r>
            <a:r>
              <a:rPr lang="en-US" altLang="ko-KR" sz="2000" b="1" kern="0" spc="-50" dirty="0">
                <a:solidFill>
                  <a:prstClr val="black"/>
                </a:solidFill>
              </a:rPr>
              <a:t>?</a:t>
            </a:r>
          </a:p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2000" b="1" kern="0" spc="-50" dirty="0">
                <a:solidFill>
                  <a:prstClr val="black"/>
                </a:solidFill>
              </a:rPr>
              <a:t>방지하려면 무엇이 필요한가</a:t>
            </a:r>
            <a:r>
              <a:rPr lang="en-US" altLang="ko-KR" sz="2000" b="1" kern="0" spc="-50" dirty="0">
                <a:solidFill>
                  <a:prstClr val="black"/>
                </a:solidFill>
              </a:rPr>
              <a:t>?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="" xmlns:a16="http://schemas.microsoft.com/office/drawing/2014/main" id="{C53D36E5-5476-4409-B7F7-5ECC3840BD36}"/>
              </a:ext>
            </a:extLst>
          </p:cNvPr>
          <p:cNvSpPr/>
          <p:nvPr/>
        </p:nvSpPr>
        <p:spPr>
          <a:xfrm>
            <a:off x="336000" y="1196752"/>
            <a:ext cx="8556480" cy="45719"/>
          </a:xfrm>
          <a:prstGeom prst="rect">
            <a:avLst/>
          </a:prstGeom>
          <a:solidFill>
            <a:srgbClr val="0255B8"/>
          </a:solidFill>
          <a:ln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ts val="600"/>
              </a:spcBef>
            </a:pPr>
            <a:endParaRPr lang="ko-KR" altLang="en-US" b="1" kern="0" dirty="0">
              <a:solidFill>
                <a:srgbClr val="0255B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20818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직사각형 56">
            <a:extLst>
              <a:ext uri="{FF2B5EF4-FFF2-40B4-BE49-F238E27FC236}">
                <a16:creationId xmlns="" xmlns:a16="http://schemas.microsoft.com/office/drawing/2014/main" id="{4C70D3A6-2D13-4F22-9C06-C56F2B48E196}"/>
              </a:ext>
            </a:extLst>
          </p:cNvPr>
          <p:cNvSpPr/>
          <p:nvPr/>
        </p:nvSpPr>
        <p:spPr>
          <a:xfrm>
            <a:off x="336000" y="1249702"/>
            <a:ext cx="8556480" cy="30433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2000" dirty="0" smtClean="0">
                <a:solidFill>
                  <a:prstClr val="black"/>
                </a:solidFill>
              </a:rPr>
              <a:t>Block Chain + PoW (</a:t>
            </a:r>
            <a:r>
              <a:rPr lang="ko-KR" altLang="en-US" sz="2000" dirty="0" smtClean="0">
                <a:solidFill>
                  <a:prstClr val="black"/>
                </a:solidFill>
              </a:rPr>
              <a:t>작업증명</a:t>
            </a:r>
            <a:r>
              <a:rPr lang="en-US" altLang="ko-KR" sz="2000" dirty="0" smtClean="0">
                <a:solidFill>
                  <a:prstClr val="black"/>
                </a:solidFill>
              </a:rPr>
              <a:t>) </a:t>
            </a:r>
            <a:endParaRPr lang="ko-KR" altLang="en-US" sz="2000" dirty="0" smtClean="0">
              <a:solidFill>
                <a:prstClr val="black"/>
              </a:solidFill>
            </a:endParaRPr>
          </a:p>
          <a:p>
            <a:pPr marL="800100" lvl="1" indent="-342900" fontAlgn="base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ko-KR" sz="2000" kern="0" spc="-50" dirty="0" smtClean="0">
                <a:solidFill>
                  <a:srgbClr val="00B0F0"/>
                </a:solidFill>
              </a:rPr>
              <a:t>Revolutionary new idea!</a:t>
            </a:r>
          </a:p>
          <a:p>
            <a:pPr marL="1257300" lvl="2" indent="-342900" fontAlgn="base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ko-KR" sz="2000" kern="0" spc="-50" dirty="0" smtClean="0">
                <a:solidFill>
                  <a:prstClr val="black"/>
                </a:solidFill>
              </a:rPr>
              <a:t>AI-</a:t>
            </a:r>
            <a:r>
              <a:rPr lang="en-US" altLang="ko-KR" sz="2000" kern="0" spc="-50" dirty="0" err="1" smtClean="0">
                <a:solidFill>
                  <a:prstClr val="black"/>
                </a:solidFill>
              </a:rPr>
              <a:t>Im</a:t>
            </a:r>
            <a:r>
              <a:rPr lang="en-US" altLang="ko-KR" sz="2000" kern="0" spc="-50" dirty="0" smtClean="0">
                <a:solidFill>
                  <a:prstClr val="black"/>
                </a:solidFill>
              </a:rPr>
              <a:t>-To-Po Theory!</a:t>
            </a:r>
          </a:p>
          <a:p>
            <a:pPr marL="1257300" lvl="2" indent="-342900" fontAlgn="base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ko-KR" sz="2000" kern="0" spc="-50" dirty="0" smtClean="0">
                <a:solidFill>
                  <a:prstClr val="black"/>
                </a:solidFill>
              </a:rPr>
              <a:t>The more come to get involved, the safer the network is</a:t>
            </a:r>
          </a:p>
          <a:p>
            <a:pPr marL="1257300" lvl="2" indent="-342900" fontAlgn="base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ko-KR" sz="2000" kern="0" spc="-50" dirty="0" smtClean="0">
                <a:solidFill>
                  <a:prstClr val="black"/>
                </a:solidFill>
              </a:rPr>
              <a:t>Reward</a:t>
            </a:r>
          </a:p>
          <a:p>
            <a:pPr marL="1257300" lvl="2" indent="-342900" fontAlgn="base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ko-KR" sz="2000" kern="0" spc="-50" dirty="0" smtClean="0">
                <a:solidFill>
                  <a:prstClr val="black"/>
                </a:solidFill>
              </a:rPr>
              <a:t>Fresh new race for each block</a:t>
            </a:r>
          </a:p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ko-KR" sz="1600" kern="0" spc="-50" dirty="0" smtClean="0">
              <a:solidFill>
                <a:prstClr val="black"/>
              </a:solidFill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="" xmlns:a16="http://schemas.microsoft.com/office/drawing/2014/main" id="{C53D36E5-5476-4409-B7F7-5ECC3840BD36}"/>
              </a:ext>
            </a:extLst>
          </p:cNvPr>
          <p:cNvSpPr/>
          <p:nvPr/>
        </p:nvSpPr>
        <p:spPr>
          <a:xfrm>
            <a:off x="336000" y="1196752"/>
            <a:ext cx="8556480" cy="45719"/>
          </a:xfrm>
          <a:prstGeom prst="rect">
            <a:avLst/>
          </a:prstGeom>
          <a:solidFill>
            <a:srgbClr val="0255B8"/>
          </a:solidFill>
          <a:ln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ts val="600"/>
              </a:spcBef>
            </a:pPr>
            <a:endParaRPr lang="ko-KR" altLang="en-US" b="1" kern="0" dirty="0">
              <a:solidFill>
                <a:srgbClr val="0255B8"/>
              </a:solidFill>
            </a:endParaRPr>
          </a:p>
        </p:txBody>
      </p:sp>
      <p:sp>
        <p:nvSpPr>
          <p:cNvPr id="55" name="TextBox 18"/>
          <p:cNvSpPr txBox="1"/>
          <p:nvPr/>
        </p:nvSpPr>
        <p:spPr>
          <a:xfrm>
            <a:off x="628650" y="74814"/>
            <a:ext cx="75374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smtClean="0">
                <a:solidFill>
                  <a:prstClr val="black"/>
                </a:solidFill>
              </a:rPr>
              <a:t>블록체인이란</a:t>
            </a:r>
            <a:r>
              <a:rPr lang="en-US" altLang="ko-KR" sz="3200" b="1" dirty="0" smtClean="0">
                <a:solidFill>
                  <a:prstClr val="black"/>
                </a:solidFill>
              </a:rPr>
              <a:t>?</a:t>
            </a:r>
            <a:endParaRPr lang="ko-KR" altLang="en-US" sz="32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016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직사각형 56">
            <a:extLst>
              <a:ext uri="{FF2B5EF4-FFF2-40B4-BE49-F238E27FC236}">
                <a16:creationId xmlns="" xmlns:a16="http://schemas.microsoft.com/office/drawing/2014/main" id="{4C70D3A6-2D13-4F22-9C06-C56F2B48E196}"/>
              </a:ext>
            </a:extLst>
          </p:cNvPr>
          <p:cNvSpPr/>
          <p:nvPr/>
        </p:nvSpPr>
        <p:spPr>
          <a:xfrm>
            <a:off x="336000" y="1249702"/>
            <a:ext cx="8556480" cy="7391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dirty="0" smtClean="0">
                <a:solidFill>
                  <a:prstClr val="black"/>
                </a:solidFill>
              </a:rPr>
              <a:t>블록 높이 </a:t>
            </a:r>
            <a:r>
              <a:rPr lang="en-US" altLang="ko-KR" dirty="0" smtClean="0">
                <a:solidFill>
                  <a:prstClr val="black"/>
                </a:solidFill>
              </a:rPr>
              <a:t>516445 </a:t>
            </a:r>
            <a:r>
              <a:rPr lang="ko-KR" altLang="en-US" dirty="0" smtClean="0">
                <a:solidFill>
                  <a:prstClr val="black"/>
                </a:solidFill>
              </a:rPr>
              <a:t>비트코인 블록체인 내 깊이 값 </a:t>
            </a:r>
            <a:r>
              <a:rPr lang="en-US" altLang="ko-KR" dirty="0" smtClean="0">
                <a:solidFill>
                  <a:prstClr val="black"/>
                </a:solidFill>
              </a:rPr>
              <a:t>513455</a:t>
            </a:r>
            <a:r>
              <a:rPr lang="ko-KR" altLang="en-US" dirty="0" smtClean="0">
                <a:solidFill>
                  <a:prstClr val="black"/>
                </a:solidFill>
              </a:rPr>
              <a:t>에서의 블록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="" xmlns:a16="http://schemas.microsoft.com/office/drawing/2014/main" id="{C53D36E5-5476-4409-B7F7-5ECC3840BD36}"/>
              </a:ext>
            </a:extLst>
          </p:cNvPr>
          <p:cNvSpPr/>
          <p:nvPr/>
        </p:nvSpPr>
        <p:spPr>
          <a:xfrm>
            <a:off x="336000" y="1196752"/>
            <a:ext cx="8556480" cy="45719"/>
          </a:xfrm>
          <a:prstGeom prst="rect">
            <a:avLst/>
          </a:prstGeom>
          <a:solidFill>
            <a:srgbClr val="0255B8"/>
          </a:solidFill>
          <a:ln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ts val="600"/>
              </a:spcBef>
            </a:pPr>
            <a:endParaRPr lang="ko-KR" altLang="en-US" b="1" kern="0" dirty="0">
              <a:solidFill>
                <a:srgbClr val="0255B8"/>
              </a:solidFill>
            </a:endParaRPr>
          </a:p>
        </p:txBody>
      </p:sp>
      <p:sp>
        <p:nvSpPr>
          <p:cNvPr id="55" name="TextBox 18"/>
          <p:cNvSpPr txBox="1"/>
          <p:nvPr/>
        </p:nvSpPr>
        <p:spPr>
          <a:xfrm>
            <a:off x="628650" y="74814"/>
            <a:ext cx="75374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smtClean="0">
                <a:solidFill>
                  <a:prstClr val="black"/>
                </a:solidFill>
              </a:rPr>
              <a:t>비트코인 난이도</a:t>
            </a:r>
            <a:endParaRPr lang="ko-KR" altLang="en-US" sz="3200" b="1" dirty="0">
              <a:solidFill>
                <a:prstClr val="black"/>
              </a:solidFill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696040" y="2209347"/>
            <a:ext cx="7764392" cy="3490074"/>
            <a:chOff x="519813" y="2198864"/>
            <a:chExt cx="9402583" cy="4226437"/>
          </a:xfrm>
        </p:grpSpPr>
        <p:pic>
          <p:nvPicPr>
            <p:cNvPr id="46" name="그림 45"/>
            <p:cNvPicPr>
              <a:picLocks noChangeAspect="1"/>
            </p:cNvPicPr>
            <p:nvPr/>
          </p:nvPicPr>
          <p:blipFill rotWithShape="1">
            <a:blip r:embed="rId3"/>
            <a:srcRect l="2835" t="10455"/>
            <a:stretch/>
          </p:blipFill>
          <p:spPr>
            <a:xfrm>
              <a:off x="519813" y="2221022"/>
              <a:ext cx="7302488" cy="4204279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sp>
          <p:nvSpPr>
            <p:cNvPr id="47" name="직사각형 46"/>
            <p:cNvSpPr/>
            <p:nvPr/>
          </p:nvSpPr>
          <p:spPr>
            <a:xfrm>
              <a:off x="527051" y="2711126"/>
              <a:ext cx="7295251" cy="26232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703527" y="2198864"/>
              <a:ext cx="4061880" cy="4099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18 Leading Hexadecimal Zeros</a:t>
              </a:r>
              <a:endPara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527052" y="4004040"/>
              <a:ext cx="7295251" cy="20172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1158221" y="2979946"/>
              <a:ext cx="8764175" cy="335442"/>
            </a:xfrm>
            <a:prstGeom prst="rect">
              <a:avLst/>
            </a:prstGeom>
            <a:solidFill>
              <a:schemeClr val="tx1">
                <a:alpha val="77000"/>
              </a:schemeClr>
            </a:solidFill>
          </p:spPr>
          <p:txBody>
            <a:bodyPr wrap="square">
              <a:spAutoFit/>
            </a:bodyPr>
            <a:lstStyle/>
            <a:p>
              <a:pPr lvl="0" latinLnBrk="0"/>
              <a:r>
                <a:rPr lang="ko-KR" altLang="en-US" sz="1200" dirty="0"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해시</a:t>
              </a:r>
              <a:r>
                <a:rPr lang="en-US" altLang="ko-KR" sz="1200" dirty="0">
                  <a:solidFill>
                    <a:srgbClr val="00B0F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	</a:t>
              </a:r>
              <a:r>
                <a:rPr lang="en-US" altLang="ko-KR" sz="1200" dirty="0"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0000000000000000004758013a1ed70036479f7d5036c19240afc9fd4710832b</a:t>
              </a: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1172675" y="4195280"/>
              <a:ext cx="8749721" cy="633613"/>
            </a:xfrm>
            <a:prstGeom prst="rect">
              <a:avLst/>
            </a:prstGeom>
            <a:solidFill>
              <a:schemeClr val="tx1">
                <a:alpha val="77000"/>
              </a:schemeClr>
            </a:solidFill>
          </p:spPr>
          <p:txBody>
            <a:bodyPr wrap="square">
              <a:spAutoFit/>
            </a:bodyPr>
            <a:lstStyle/>
            <a:p>
              <a:pPr lvl="0" latinLnBrk="0"/>
              <a:r>
                <a:rPr lang="ko-KR" altLang="en-US" sz="1400" dirty="0"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난이도 </a:t>
              </a:r>
              <a:r>
                <a:rPr lang="en-US" altLang="ko-KR" sz="1400" dirty="0"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	3,511,060,522,899.72 </a:t>
              </a:r>
              <a:r>
                <a:rPr lang="en-US" altLang="ko-KR" sz="1400" dirty="0"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sym typeface="Wingdings" panose="05000000000000000000" pitchFamily="2" charset="2"/>
                </a:rPr>
                <a:t> Log2Diff</a:t>
              </a:r>
              <a:r>
                <a:rPr lang="ko-KR" altLang="en-US" sz="1400" dirty="0"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sym typeface="Wingdings" panose="05000000000000000000" pitchFamily="2" charset="2"/>
                </a:rPr>
                <a:t> </a:t>
              </a:r>
              <a:r>
                <a:rPr lang="en-US" altLang="ko-KR" sz="1400" dirty="0"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sym typeface="Wingdings" panose="05000000000000000000" pitchFamily="2" charset="2"/>
                </a:rPr>
                <a:t>= 41.68 </a:t>
              </a:r>
            </a:p>
            <a:p>
              <a:pPr lvl="0" latinLnBrk="0"/>
              <a:r>
                <a:rPr lang="en-US" altLang="ko-KR" sz="1400" dirty="0"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sym typeface="Wingdings" panose="05000000000000000000" pitchFamily="2" charset="2"/>
                </a:rPr>
                <a:t> 	Target = 256 – (32+41.68) = 256 - 73.68 = 2</a:t>
              </a:r>
              <a:r>
                <a:rPr lang="en-US" altLang="ko-KR" sz="1400" baseline="30000" dirty="0"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sym typeface="Wingdings" panose="05000000000000000000" pitchFamily="2" charset="2"/>
                </a:rPr>
                <a:t>182.32</a:t>
              </a:r>
              <a:r>
                <a:rPr lang="en-US" altLang="ko-KR" sz="1400" dirty="0"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</a:p>
          </p:txBody>
        </p:sp>
        <p:cxnSp>
          <p:nvCxnSpPr>
            <p:cNvPr id="52" name="직선 연결선 51"/>
            <p:cNvCxnSpPr/>
            <p:nvPr/>
          </p:nvCxnSpPr>
          <p:spPr>
            <a:xfrm>
              <a:off x="2955014" y="3001193"/>
              <a:ext cx="0" cy="430886"/>
            </a:xfrm>
            <a:prstGeom prst="line">
              <a:avLst/>
            </a:prstGeom>
            <a:ln w="952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연결선 52"/>
            <p:cNvCxnSpPr/>
            <p:nvPr/>
          </p:nvCxnSpPr>
          <p:spPr>
            <a:xfrm>
              <a:off x="3523365" y="3012781"/>
              <a:ext cx="0" cy="430886"/>
            </a:xfrm>
            <a:prstGeom prst="line">
              <a:avLst/>
            </a:prstGeom>
            <a:ln w="952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연결선 53"/>
            <p:cNvCxnSpPr/>
            <p:nvPr/>
          </p:nvCxnSpPr>
          <p:spPr>
            <a:xfrm>
              <a:off x="4103012" y="2996427"/>
              <a:ext cx="0" cy="430886"/>
            </a:xfrm>
            <a:prstGeom prst="line">
              <a:avLst/>
            </a:prstGeom>
            <a:ln w="952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연결선 55"/>
            <p:cNvCxnSpPr/>
            <p:nvPr/>
          </p:nvCxnSpPr>
          <p:spPr>
            <a:xfrm>
              <a:off x="4690348" y="3012781"/>
              <a:ext cx="0" cy="430886"/>
            </a:xfrm>
            <a:prstGeom prst="line">
              <a:avLst/>
            </a:prstGeom>
            <a:ln w="952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연결선 58"/>
            <p:cNvCxnSpPr/>
            <p:nvPr/>
          </p:nvCxnSpPr>
          <p:spPr>
            <a:xfrm>
              <a:off x="5269995" y="2996427"/>
              <a:ext cx="0" cy="430886"/>
            </a:xfrm>
            <a:prstGeom prst="line">
              <a:avLst/>
            </a:prstGeom>
            <a:ln w="952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연결선 59"/>
            <p:cNvCxnSpPr/>
            <p:nvPr/>
          </p:nvCxnSpPr>
          <p:spPr>
            <a:xfrm>
              <a:off x="5849641" y="2999666"/>
              <a:ext cx="0" cy="430886"/>
            </a:xfrm>
            <a:prstGeom prst="line">
              <a:avLst/>
            </a:prstGeom>
            <a:ln w="952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연결선 60"/>
            <p:cNvCxnSpPr/>
            <p:nvPr/>
          </p:nvCxnSpPr>
          <p:spPr>
            <a:xfrm>
              <a:off x="6426674" y="3012781"/>
              <a:ext cx="0" cy="430886"/>
            </a:xfrm>
            <a:prstGeom prst="line">
              <a:avLst/>
            </a:prstGeom>
            <a:ln w="952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연결선 61"/>
            <p:cNvCxnSpPr/>
            <p:nvPr/>
          </p:nvCxnSpPr>
          <p:spPr>
            <a:xfrm>
              <a:off x="6967872" y="2996427"/>
              <a:ext cx="0" cy="430886"/>
            </a:xfrm>
            <a:prstGeom prst="line">
              <a:avLst/>
            </a:prstGeom>
            <a:ln w="952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연결선 62"/>
            <p:cNvCxnSpPr/>
            <p:nvPr/>
          </p:nvCxnSpPr>
          <p:spPr>
            <a:xfrm>
              <a:off x="7534602" y="2996427"/>
              <a:ext cx="0" cy="430886"/>
            </a:xfrm>
            <a:prstGeom prst="line">
              <a:avLst/>
            </a:prstGeom>
            <a:ln w="952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직선 연결선 63"/>
            <p:cNvCxnSpPr/>
            <p:nvPr/>
          </p:nvCxnSpPr>
          <p:spPr>
            <a:xfrm>
              <a:off x="8111785" y="2996427"/>
              <a:ext cx="0" cy="430886"/>
            </a:xfrm>
            <a:prstGeom prst="line">
              <a:avLst/>
            </a:prstGeom>
            <a:ln w="952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연결선 64"/>
            <p:cNvCxnSpPr/>
            <p:nvPr/>
          </p:nvCxnSpPr>
          <p:spPr>
            <a:xfrm>
              <a:off x="8575935" y="2996427"/>
              <a:ext cx="0" cy="430886"/>
            </a:xfrm>
            <a:prstGeom prst="line">
              <a:avLst/>
            </a:prstGeom>
            <a:ln w="952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직사각형 66"/>
            <p:cNvSpPr/>
            <p:nvPr/>
          </p:nvSpPr>
          <p:spPr>
            <a:xfrm>
              <a:off x="1158221" y="3589513"/>
              <a:ext cx="8764175" cy="372714"/>
            </a:xfrm>
            <a:prstGeom prst="rect">
              <a:avLst/>
            </a:prstGeom>
            <a:solidFill>
              <a:schemeClr val="tx1">
                <a:alpha val="77000"/>
              </a:schemeClr>
            </a:solidFill>
          </p:spPr>
          <p:txBody>
            <a:bodyPr wrap="square">
              <a:spAutoFit/>
            </a:bodyPr>
            <a:lstStyle/>
            <a:p>
              <a:pPr lvl="0" latinLnBrk="0"/>
              <a:r>
                <a:rPr lang="ko-KR" altLang="en-US" sz="1400" dirty="0"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시간 </a:t>
              </a:r>
              <a:r>
                <a:rPr lang="en-US" altLang="ko-KR" sz="1400" dirty="0"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	2018</a:t>
              </a:r>
              <a:r>
                <a:rPr lang="ko-KR" altLang="en-US" sz="1400" dirty="0"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년 </a:t>
              </a:r>
              <a:r>
                <a:rPr lang="en-US" altLang="ko-KR" sz="1400" dirty="0"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4</a:t>
              </a:r>
              <a:r>
                <a:rPr lang="ko-KR" altLang="en-US" sz="1400" dirty="0"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월 </a:t>
              </a:r>
              <a:r>
                <a:rPr lang="en-US" altLang="ko-KR" sz="1400" dirty="0"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3</a:t>
              </a:r>
              <a:r>
                <a:rPr lang="ko-KR" altLang="en-US" sz="1400" dirty="0"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일 </a:t>
              </a:r>
              <a:r>
                <a:rPr lang="en-US" altLang="ko-KR" sz="1400" dirty="0"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12</a:t>
              </a:r>
              <a:r>
                <a:rPr lang="ko-KR" altLang="en-US" sz="1400" dirty="0"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시 </a:t>
              </a:r>
              <a:r>
                <a:rPr lang="en-US" altLang="ko-KR" sz="1400" dirty="0"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40</a:t>
              </a:r>
              <a:r>
                <a:rPr lang="ko-KR" altLang="en-US" sz="1400" dirty="0"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분</a:t>
              </a:r>
              <a:endParaRPr lang="en-US" altLang="ko-KR" sz="14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68" name="직사각형 67"/>
            <p:cNvSpPr/>
            <p:nvPr/>
          </p:nvSpPr>
          <p:spPr>
            <a:xfrm>
              <a:off x="1172675" y="5871723"/>
              <a:ext cx="8749721" cy="372714"/>
            </a:xfrm>
            <a:prstGeom prst="rect">
              <a:avLst/>
            </a:prstGeom>
            <a:solidFill>
              <a:schemeClr val="tx1">
                <a:alpha val="77000"/>
              </a:schemeClr>
            </a:solidFill>
          </p:spPr>
          <p:txBody>
            <a:bodyPr wrap="square">
              <a:spAutoFit/>
            </a:bodyPr>
            <a:lstStyle/>
            <a:p>
              <a:pPr lvl="0" latinLnBrk="0"/>
              <a:r>
                <a:rPr lang="en-US" altLang="ko-KR" sz="1400" dirty="0"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Nonce</a:t>
              </a:r>
              <a:r>
                <a:rPr lang="ko-KR" altLang="en-US" sz="1400" dirty="0"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  <a:r>
                <a:rPr lang="en-US" altLang="ko-KR" sz="1400" dirty="0"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	1225863608</a:t>
              </a:r>
            </a:p>
          </p:txBody>
        </p:sp>
      </p:grpSp>
      <p:cxnSp>
        <p:nvCxnSpPr>
          <p:cNvPr id="69" name="직선 연결선 68"/>
          <p:cNvCxnSpPr/>
          <p:nvPr/>
        </p:nvCxnSpPr>
        <p:spPr>
          <a:xfrm>
            <a:off x="7818710" y="2876212"/>
            <a:ext cx="0" cy="355814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6138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827584" y="1412776"/>
            <a:ext cx="763284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ko-KR" altLang="en-US" b="1" dirty="0" smtClean="0">
                <a:solidFill>
                  <a:prstClr val="black"/>
                </a:solidFill>
                <a:latin typeface="+mn-ea"/>
              </a:rPr>
              <a:t>연구 배경</a:t>
            </a:r>
            <a:endParaRPr lang="en-US" altLang="ko-KR" b="1" dirty="0" smtClean="0">
              <a:solidFill>
                <a:prstClr val="black"/>
              </a:solidFill>
              <a:latin typeface="+mn-ea"/>
            </a:endParaRPr>
          </a:p>
          <a:p>
            <a:pPr marL="457200" indent="-457200">
              <a:buFont typeface="+mj-lt"/>
              <a:buAutoNum type="arabicPeriod"/>
            </a:pPr>
            <a:endParaRPr lang="en-US" altLang="ko-KR" b="1" dirty="0" smtClean="0">
              <a:solidFill>
                <a:prstClr val="black"/>
              </a:solidFill>
              <a:latin typeface="+mn-ea"/>
            </a:endParaRPr>
          </a:p>
          <a:p>
            <a:pPr marL="457200" indent="-457200">
              <a:buFont typeface="+mj-lt"/>
              <a:buAutoNum type="arabicPeriod"/>
            </a:pPr>
            <a:r>
              <a:rPr lang="ko-KR" altLang="en-US" b="1" dirty="0" smtClean="0">
                <a:solidFill>
                  <a:prstClr val="black"/>
                </a:solidFill>
                <a:latin typeface="+mn-ea"/>
              </a:rPr>
              <a:t>연구 필요성</a:t>
            </a:r>
            <a:endParaRPr lang="en-US" altLang="ko-KR" b="1" dirty="0" smtClean="0">
              <a:solidFill>
                <a:prstClr val="black"/>
              </a:solidFill>
              <a:latin typeface="+mn-ea"/>
            </a:endParaRPr>
          </a:p>
          <a:p>
            <a:pPr marL="457200" indent="-457200">
              <a:buFont typeface="+mj-lt"/>
              <a:buAutoNum type="arabicPeriod"/>
            </a:pPr>
            <a:endParaRPr lang="en-US" altLang="ko-KR" b="1" dirty="0">
              <a:solidFill>
                <a:prstClr val="black"/>
              </a:solidFill>
              <a:latin typeface="+mn-ea"/>
            </a:endParaRPr>
          </a:p>
          <a:p>
            <a:pPr marL="457200" indent="-457200">
              <a:buFont typeface="+mj-lt"/>
              <a:buAutoNum type="arabicPeriod"/>
            </a:pPr>
            <a:r>
              <a:rPr lang="ko-KR" altLang="en-US" b="1" dirty="0">
                <a:solidFill>
                  <a:prstClr val="black"/>
                </a:solidFill>
                <a:latin typeface="+mn-ea"/>
              </a:rPr>
              <a:t>연구 목표 </a:t>
            </a:r>
            <a:endParaRPr lang="en-US" altLang="ko-KR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6" name="TextBox 18"/>
          <p:cNvSpPr txBox="1"/>
          <p:nvPr/>
        </p:nvSpPr>
        <p:spPr>
          <a:xfrm>
            <a:off x="628650" y="74814"/>
            <a:ext cx="75374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>
                <a:solidFill>
                  <a:prstClr val="black"/>
                </a:solidFill>
                <a:latin typeface="+mn-ea"/>
              </a:rPr>
              <a:t>Section II</a:t>
            </a:r>
            <a:endParaRPr lang="ko-KR" altLang="en-US" sz="3200" b="1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451330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28650" y="74814"/>
            <a:ext cx="50624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prstClr val="black"/>
                </a:solidFill>
              </a:rPr>
              <a:t>연구 배경 </a:t>
            </a:r>
            <a:r>
              <a:rPr lang="en-US" altLang="ko-KR" sz="3200" b="1" dirty="0">
                <a:solidFill>
                  <a:prstClr val="black"/>
                </a:solidFill>
              </a:rPr>
              <a:t>– 1</a:t>
            </a:r>
            <a:endParaRPr lang="ko-KR" altLang="en-US" sz="3200" b="1" dirty="0">
              <a:solidFill>
                <a:prstClr val="black"/>
              </a:solidFill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="" xmlns:a16="http://schemas.microsoft.com/office/drawing/2014/main" id="{4C70D3A6-2D13-4F22-9C06-C56F2B48E196}"/>
              </a:ext>
            </a:extLst>
          </p:cNvPr>
          <p:cNvSpPr/>
          <p:nvPr/>
        </p:nvSpPr>
        <p:spPr>
          <a:xfrm>
            <a:off x="336000" y="1268752"/>
            <a:ext cx="8556480" cy="13592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600" kern="0" spc="-50" dirty="0">
                <a:solidFill>
                  <a:prstClr val="black"/>
                </a:solidFill>
              </a:rPr>
              <a:t>Satoshi Nakamoto</a:t>
            </a:r>
            <a:r>
              <a:rPr lang="ko-KR" altLang="en-US" sz="1600" kern="0" spc="-50" dirty="0">
                <a:solidFill>
                  <a:prstClr val="black"/>
                </a:solidFill>
              </a:rPr>
              <a:t>가 의도 한 바와 같이 </a:t>
            </a:r>
            <a:r>
              <a:rPr lang="en-US" altLang="ko-KR" sz="1600" b="1" kern="0" spc="-50" dirty="0">
                <a:solidFill>
                  <a:srgbClr val="FF0000"/>
                </a:solidFill>
              </a:rPr>
              <a:t>one-</a:t>
            </a:r>
            <a:r>
              <a:rPr lang="en-US" altLang="ko-KR" sz="1600" b="1" kern="0" spc="-50" dirty="0" err="1">
                <a:solidFill>
                  <a:srgbClr val="FF0000"/>
                </a:solidFill>
              </a:rPr>
              <a:t>cpu</a:t>
            </a:r>
            <a:r>
              <a:rPr lang="en-US" altLang="ko-KR" sz="1600" b="1" kern="0" spc="-50" dirty="0">
                <a:solidFill>
                  <a:srgbClr val="FF0000"/>
                </a:solidFill>
              </a:rPr>
              <a:t>-one-vote</a:t>
            </a:r>
            <a:r>
              <a:rPr lang="ko-KR" altLang="en-US" sz="1600" b="1" kern="0" spc="-50" dirty="0">
                <a:solidFill>
                  <a:srgbClr val="FF0000"/>
                </a:solidFill>
              </a:rPr>
              <a:t>에 접근 </a:t>
            </a:r>
            <a:r>
              <a:rPr lang="ko-KR" altLang="en-US" sz="1600" kern="0" spc="-50" dirty="0">
                <a:solidFill>
                  <a:prstClr val="black"/>
                </a:solidFill>
              </a:rPr>
              <a:t>가능하도록 하는 새로운 작업증명 방식의 개발이 필요함</a:t>
            </a:r>
            <a:r>
              <a:rPr lang="en-US" altLang="ko-KR" sz="1600" kern="0" spc="-50" dirty="0">
                <a:solidFill>
                  <a:prstClr val="black"/>
                </a:solidFill>
              </a:rPr>
              <a:t>.</a:t>
            </a:r>
          </a:p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600" b="1" kern="0" spc="-50" dirty="0">
                <a:solidFill>
                  <a:srgbClr val="FF0000"/>
                </a:solidFill>
              </a:rPr>
              <a:t>ASIC/FPGA</a:t>
            </a:r>
            <a:r>
              <a:rPr lang="ko-KR" altLang="en-US" sz="1600" b="1" kern="0" spc="-50" dirty="0">
                <a:solidFill>
                  <a:srgbClr val="FF0000"/>
                </a:solidFill>
              </a:rPr>
              <a:t>개발</a:t>
            </a:r>
            <a:r>
              <a:rPr lang="en-US" altLang="ko-KR" sz="1600" b="1" kern="0" spc="-50" dirty="0">
                <a:solidFill>
                  <a:srgbClr val="FF0000"/>
                </a:solidFill>
              </a:rPr>
              <a:t>, </a:t>
            </a:r>
            <a:r>
              <a:rPr lang="ko-KR" altLang="en-US" sz="1600" b="1" kern="0" spc="-50" dirty="0">
                <a:solidFill>
                  <a:srgbClr val="FF0000"/>
                </a:solidFill>
              </a:rPr>
              <a:t>그리고 채굴 </a:t>
            </a:r>
            <a:r>
              <a:rPr lang="en-US" altLang="ko-KR" sz="1600" b="1" kern="0" spc="-50" dirty="0">
                <a:solidFill>
                  <a:srgbClr val="FF0000"/>
                </a:solidFill>
              </a:rPr>
              <a:t>Pool </a:t>
            </a:r>
            <a:r>
              <a:rPr lang="ko-KR" altLang="en-US" sz="1600" b="1" kern="0" spc="-50" dirty="0">
                <a:solidFill>
                  <a:srgbClr val="FF0000"/>
                </a:solidFill>
              </a:rPr>
              <a:t>형성의 억제</a:t>
            </a:r>
            <a:r>
              <a:rPr lang="ko-KR" altLang="en-US" sz="1600" kern="0" spc="-50" dirty="0">
                <a:solidFill>
                  <a:prstClr val="black"/>
                </a:solidFill>
              </a:rPr>
              <a:t>가 가능하면</a:t>
            </a:r>
            <a:r>
              <a:rPr lang="en-US" altLang="ko-KR" sz="1600" kern="0" spc="-50" dirty="0">
                <a:solidFill>
                  <a:prstClr val="black"/>
                </a:solidFill>
              </a:rPr>
              <a:t>, </a:t>
            </a:r>
            <a:r>
              <a:rPr lang="ko-KR" altLang="en-US" sz="1600" kern="0" spc="-50" dirty="0">
                <a:solidFill>
                  <a:prstClr val="black"/>
                </a:solidFill>
              </a:rPr>
              <a:t>규모의 경제의 효율을 떨어뜨릴 수 있고</a:t>
            </a:r>
            <a:r>
              <a:rPr lang="en-US" altLang="ko-KR" sz="1600" kern="0" spc="-50" dirty="0">
                <a:solidFill>
                  <a:prstClr val="black"/>
                </a:solidFill>
              </a:rPr>
              <a:t>, </a:t>
            </a:r>
            <a:r>
              <a:rPr lang="ko-KR" altLang="en-US" sz="1600" kern="0" spc="-50" dirty="0">
                <a:solidFill>
                  <a:prstClr val="black"/>
                </a:solidFill>
              </a:rPr>
              <a:t>절대 다수의 소규모 채굴 노드의 참여 동기를 부여함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="" xmlns:a16="http://schemas.microsoft.com/office/drawing/2014/main" id="{C53D36E5-5476-4409-B7F7-5ECC3840BD36}"/>
              </a:ext>
            </a:extLst>
          </p:cNvPr>
          <p:cNvSpPr/>
          <p:nvPr/>
        </p:nvSpPr>
        <p:spPr>
          <a:xfrm>
            <a:off x="336000" y="1196752"/>
            <a:ext cx="8556480" cy="45719"/>
          </a:xfrm>
          <a:prstGeom prst="rect">
            <a:avLst/>
          </a:prstGeom>
          <a:solidFill>
            <a:srgbClr val="0255B8"/>
          </a:solidFill>
          <a:ln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ts val="600"/>
              </a:spcBef>
            </a:pPr>
            <a:endParaRPr lang="ko-KR" altLang="en-US" b="1" kern="0" dirty="0">
              <a:solidFill>
                <a:srgbClr val="0255B8"/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="" xmlns:a16="http://schemas.microsoft.com/office/drawing/2014/main" id="{022292F1-3BF4-4F8C-B471-D3C5B43E2AEE}"/>
              </a:ext>
            </a:extLst>
          </p:cNvPr>
          <p:cNvSpPr/>
          <p:nvPr/>
        </p:nvSpPr>
        <p:spPr>
          <a:xfrm>
            <a:off x="570421" y="2780928"/>
            <a:ext cx="58737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ts val="300"/>
              </a:spcBef>
              <a:defRPr/>
            </a:pPr>
            <a:r>
              <a:rPr lang="ko-KR" altLang="en-US" sz="2400" b="1" dirty="0">
                <a:solidFill>
                  <a:srgbClr val="0255B8"/>
                </a:solidFill>
              </a:rPr>
              <a:t>기존 작업증명</a:t>
            </a:r>
            <a:r>
              <a:rPr lang="en-US" altLang="ko-KR" sz="2400" b="1" dirty="0">
                <a:solidFill>
                  <a:srgbClr val="0255B8"/>
                </a:solidFill>
              </a:rPr>
              <a:t>(Proof-of-Work, </a:t>
            </a:r>
            <a:r>
              <a:rPr lang="en-US" altLang="ko-KR" sz="2400" b="1" dirty="0" err="1">
                <a:solidFill>
                  <a:srgbClr val="0255B8"/>
                </a:solidFill>
              </a:rPr>
              <a:t>PoW</a:t>
            </a:r>
            <a:r>
              <a:rPr lang="en-US" altLang="ko-KR" sz="2400" b="1" dirty="0">
                <a:solidFill>
                  <a:srgbClr val="0255B8"/>
                </a:solidFill>
              </a:rPr>
              <a:t>)</a:t>
            </a:r>
            <a:r>
              <a:rPr lang="ko-KR" altLang="en-US" sz="2400" b="1" dirty="0">
                <a:solidFill>
                  <a:srgbClr val="0255B8"/>
                </a:solidFill>
              </a:rPr>
              <a:t>의 장점</a:t>
            </a:r>
          </a:p>
        </p:txBody>
      </p:sp>
      <p:grpSp>
        <p:nvGrpSpPr>
          <p:cNvPr id="42" name="그룹 41">
            <a:extLst>
              <a:ext uri="{FF2B5EF4-FFF2-40B4-BE49-F238E27FC236}">
                <a16:creationId xmlns="" xmlns:a16="http://schemas.microsoft.com/office/drawing/2014/main" id="{DCECFCF7-AF45-4C60-A751-80A4A0D4E857}"/>
              </a:ext>
            </a:extLst>
          </p:cNvPr>
          <p:cNvGrpSpPr/>
          <p:nvPr/>
        </p:nvGrpSpPr>
        <p:grpSpPr>
          <a:xfrm>
            <a:off x="322220" y="3242593"/>
            <a:ext cx="8570260" cy="730000"/>
            <a:chOff x="322220" y="3692428"/>
            <a:chExt cx="8570260" cy="730000"/>
          </a:xfrm>
        </p:grpSpPr>
        <p:sp>
          <p:nvSpPr>
            <p:cNvPr id="43" name="직사각형 42">
              <a:extLst>
                <a:ext uri="{FF2B5EF4-FFF2-40B4-BE49-F238E27FC236}">
                  <a16:creationId xmlns="" xmlns:a16="http://schemas.microsoft.com/office/drawing/2014/main" id="{AD3EAB8A-36F8-4F53-AA1A-7B9908601ECF}"/>
                </a:ext>
              </a:extLst>
            </p:cNvPr>
            <p:cNvSpPr/>
            <p:nvPr/>
          </p:nvSpPr>
          <p:spPr>
            <a:xfrm>
              <a:off x="609600" y="3692428"/>
              <a:ext cx="8282880" cy="730000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fontAlgn="base"/>
              <a:r>
                <a:rPr lang="ko-KR" altLang="en-US" sz="1600" dirty="0">
                  <a:solidFill>
                    <a:prstClr val="black"/>
                  </a:solidFill>
                </a:rPr>
                <a:t>보안성이 검증된 합의 알고리즘은 작업증명</a:t>
              </a:r>
              <a:r>
                <a:rPr lang="en-US" altLang="ko-KR" sz="1600" dirty="0">
                  <a:solidFill>
                    <a:prstClr val="black"/>
                  </a:solidFill>
                </a:rPr>
                <a:t>(Proof-of-Work, PoW)</a:t>
              </a:r>
              <a:r>
                <a:rPr lang="ko-KR" altLang="en-US" sz="1600" dirty="0">
                  <a:solidFill>
                    <a:prstClr val="black"/>
                  </a:solidFill>
                </a:rPr>
                <a:t>임</a:t>
              </a:r>
              <a:r>
                <a:rPr lang="en-US" altLang="ko-KR" sz="1600" dirty="0">
                  <a:solidFill>
                    <a:prstClr val="black"/>
                  </a:solidFill>
                </a:rPr>
                <a:t>.</a:t>
              </a:r>
              <a:endParaRPr lang="ko-KR" altLang="en-US" sz="1600" dirty="0">
                <a:solidFill>
                  <a:prstClr val="black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="" xmlns:a16="http://schemas.microsoft.com/office/drawing/2014/main" id="{7F2F01E7-7A12-4348-9FDF-618F22864983}"/>
                </a:ext>
              </a:extLst>
            </p:cNvPr>
            <p:cNvSpPr/>
            <p:nvPr/>
          </p:nvSpPr>
          <p:spPr>
            <a:xfrm>
              <a:off x="322220" y="3791820"/>
              <a:ext cx="531220" cy="531218"/>
            </a:xfrm>
            <a:prstGeom prst="ellipse">
              <a:avLst/>
            </a:prstGeom>
            <a:solidFill>
              <a:srgbClr val="0255B8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800" dirty="0">
                  <a:solidFill>
                    <a:prstClr val="white"/>
                  </a:solidFill>
                </a:rPr>
                <a:t>01</a:t>
              </a:r>
              <a:endParaRPr lang="ko-KR" altLang="en-US" sz="28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="" xmlns:a16="http://schemas.microsoft.com/office/drawing/2014/main" id="{FAAB1B95-F5C5-4473-BECB-4C773B6716B5}"/>
              </a:ext>
            </a:extLst>
          </p:cNvPr>
          <p:cNvGrpSpPr/>
          <p:nvPr/>
        </p:nvGrpSpPr>
        <p:grpSpPr>
          <a:xfrm>
            <a:off x="322220" y="4125635"/>
            <a:ext cx="8570260" cy="730000"/>
            <a:chOff x="322220" y="4624246"/>
            <a:chExt cx="8570260" cy="730000"/>
          </a:xfrm>
        </p:grpSpPr>
        <p:sp>
          <p:nvSpPr>
            <p:cNvPr id="46" name="직사각형 45">
              <a:extLst>
                <a:ext uri="{FF2B5EF4-FFF2-40B4-BE49-F238E27FC236}">
                  <a16:creationId xmlns="" xmlns:a16="http://schemas.microsoft.com/office/drawing/2014/main" id="{A4EA44CD-3457-4667-9A64-0A821A31D68C}"/>
                </a:ext>
              </a:extLst>
            </p:cNvPr>
            <p:cNvSpPr/>
            <p:nvPr/>
          </p:nvSpPr>
          <p:spPr>
            <a:xfrm>
              <a:off x="609600" y="4624246"/>
              <a:ext cx="8282880" cy="730000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fontAlgn="base"/>
              <a:r>
                <a:rPr lang="ko-KR" altLang="en-US" sz="1600" dirty="0">
                  <a:solidFill>
                    <a:prstClr val="black"/>
                  </a:solidFill>
                </a:rPr>
                <a:t>가장 규모가 큰 블록체인인 </a:t>
              </a:r>
              <a:r>
                <a:rPr lang="ko-KR" altLang="en-US" sz="1600" dirty="0" err="1">
                  <a:solidFill>
                    <a:prstClr val="black"/>
                  </a:solidFill>
                </a:rPr>
                <a:t>비트코인과</a:t>
              </a:r>
              <a:r>
                <a:rPr lang="ko-KR" altLang="en-US" sz="1600" dirty="0">
                  <a:solidFill>
                    <a:prstClr val="black"/>
                  </a:solidFill>
                </a:rPr>
                <a:t> </a:t>
              </a:r>
              <a:r>
                <a:rPr lang="ko-KR" altLang="en-US" sz="1600" dirty="0" err="1">
                  <a:solidFill>
                    <a:prstClr val="black"/>
                  </a:solidFill>
                </a:rPr>
                <a:t>이더리움이</a:t>
              </a:r>
              <a:r>
                <a:rPr lang="ko-KR" altLang="en-US" sz="1600" dirty="0">
                  <a:solidFill>
                    <a:prstClr val="black"/>
                  </a:solidFill>
                </a:rPr>
                <a:t> </a:t>
              </a:r>
              <a:r>
                <a:rPr lang="en-US" altLang="ko-KR" sz="1600" dirty="0" err="1">
                  <a:solidFill>
                    <a:prstClr val="black"/>
                  </a:solidFill>
                </a:rPr>
                <a:t>PoW</a:t>
              </a:r>
              <a:r>
                <a:rPr lang="ko-KR" altLang="en-US" sz="1600" dirty="0">
                  <a:solidFill>
                    <a:prstClr val="black"/>
                  </a:solidFill>
                </a:rPr>
                <a:t>를 사용 지난 수년간 보안 관련 사고 사례가 보고된 적이 없음</a:t>
              </a:r>
              <a:r>
                <a:rPr lang="en-US" altLang="ko-KR" sz="1600" dirty="0">
                  <a:solidFill>
                    <a:prstClr val="black"/>
                  </a:solidFill>
                </a:rPr>
                <a:t>.</a:t>
              </a:r>
              <a:endParaRPr lang="ko-KR" altLang="en-US" sz="1600" dirty="0">
                <a:solidFill>
                  <a:prstClr val="black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="" xmlns:a16="http://schemas.microsoft.com/office/drawing/2014/main" id="{E0CBD9A3-B7CC-4A15-8FA4-7C3C93BE78AA}"/>
                </a:ext>
              </a:extLst>
            </p:cNvPr>
            <p:cNvSpPr/>
            <p:nvPr/>
          </p:nvSpPr>
          <p:spPr>
            <a:xfrm>
              <a:off x="322220" y="4723638"/>
              <a:ext cx="531220" cy="531218"/>
            </a:xfrm>
            <a:prstGeom prst="ellipse">
              <a:avLst/>
            </a:prstGeom>
            <a:solidFill>
              <a:srgbClr val="0255B8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800" dirty="0">
                  <a:solidFill>
                    <a:prstClr val="white"/>
                  </a:solidFill>
                </a:rPr>
                <a:t>02</a:t>
              </a:r>
              <a:endParaRPr lang="ko-KR" altLang="en-US" sz="28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="" xmlns:a16="http://schemas.microsoft.com/office/drawing/2014/main" id="{861EB7B9-1B21-456D-BF61-5FE64098527B}"/>
              </a:ext>
            </a:extLst>
          </p:cNvPr>
          <p:cNvGrpSpPr/>
          <p:nvPr/>
        </p:nvGrpSpPr>
        <p:grpSpPr>
          <a:xfrm>
            <a:off x="322220" y="5005201"/>
            <a:ext cx="8570260" cy="730000"/>
            <a:chOff x="322220" y="5503812"/>
            <a:chExt cx="8570260" cy="730000"/>
          </a:xfrm>
        </p:grpSpPr>
        <p:sp>
          <p:nvSpPr>
            <p:cNvPr id="49" name="직사각형 48">
              <a:extLst>
                <a:ext uri="{FF2B5EF4-FFF2-40B4-BE49-F238E27FC236}">
                  <a16:creationId xmlns="" xmlns:a16="http://schemas.microsoft.com/office/drawing/2014/main" id="{C1E686BB-8A16-453D-991E-9229B4BC2FA4}"/>
                </a:ext>
              </a:extLst>
            </p:cNvPr>
            <p:cNvSpPr/>
            <p:nvPr/>
          </p:nvSpPr>
          <p:spPr>
            <a:xfrm>
              <a:off x="609600" y="5503812"/>
              <a:ext cx="8282880" cy="730000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fontAlgn="base"/>
              <a:r>
                <a:rPr lang="en-US" altLang="ko-KR" sz="1600" dirty="0" err="1">
                  <a:solidFill>
                    <a:prstClr val="black"/>
                  </a:solidFill>
                </a:rPr>
                <a:t>PoW</a:t>
              </a:r>
              <a:r>
                <a:rPr lang="ko-KR" altLang="en-US" sz="1600" dirty="0">
                  <a:solidFill>
                    <a:prstClr val="black"/>
                  </a:solidFill>
                </a:rPr>
                <a:t>는 </a:t>
              </a:r>
              <a:r>
                <a:rPr lang="ko-KR" altLang="en-US" sz="1600" dirty="0" err="1">
                  <a:solidFill>
                    <a:prstClr val="black"/>
                  </a:solidFill>
                </a:rPr>
                <a:t>시빌</a:t>
              </a:r>
              <a:r>
                <a:rPr lang="ko-KR" altLang="en-US" sz="1600" dirty="0">
                  <a:solidFill>
                    <a:prstClr val="black"/>
                  </a:solidFill>
                </a:rPr>
                <a:t> 공격</a:t>
              </a:r>
              <a:r>
                <a:rPr lang="en-US" altLang="ko-KR" sz="1600" dirty="0">
                  <a:solidFill>
                    <a:prstClr val="black"/>
                  </a:solidFill>
                </a:rPr>
                <a:t>(Sybil Attack)</a:t>
              </a:r>
              <a:r>
                <a:rPr lang="ko-KR" altLang="en-US" sz="1600" dirty="0">
                  <a:solidFill>
                    <a:prstClr val="black"/>
                  </a:solidFill>
                </a:rPr>
                <a:t>과 이중 지불 공격</a:t>
              </a:r>
              <a:r>
                <a:rPr lang="en-US" altLang="ko-KR" sz="1600" dirty="0">
                  <a:solidFill>
                    <a:prstClr val="black"/>
                  </a:solidFill>
                </a:rPr>
                <a:t>(Double-Spending Attack)</a:t>
              </a:r>
              <a:r>
                <a:rPr lang="ko-KR" altLang="en-US" sz="1600" dirty="0">
                  <a:solidFill>
                    <a:prstClr val="black"/>
                  </a:solidFill>
                </a:rPr>
                <a:t>등에 매우 강인하여 화폐 및 금융응용에 적합함</a:t>
              </a:r>
              <a:r>
                <a:rPr lang="en-US" altLang="ko-KR" sz="1600" dirty="0">
                  <a:solidFill>
                    <a:prstClr val="black"/>
                  </a:solidFill>
                </a:rPr>
                <a:t>.</a:t>
              </a:r>
              <a:endParaRPr lang="ko-KR" altLang="en-US" sz="1600" dirty="0">
                <a:solidFill>
                  <a:prstClr val="black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="" xmlns:a16="http://schemas.microsoft.com/office/drawing/2014/main" id="{D757773D-B502-43FE-97FC-FBD6784652B9}"/>
                </a:ext>
              </a:extLst>
            </p:cNvPr>
            <p:cNvSpPr/>
            <p:nvPr/>
          </p:nvSpPr>
          <p:spPr>
            <a:xfrm>
              <a:off x="322220" y="5603204"/>
              <a:ext cx="531220" cy="531218"/>
            </a:xfrm>
            <a:prstGeom prst="ellipse">
              <a:avLst/>
            </a:prstGeom>
            <a:solidFill>
              <a:srgbClr val="0255B8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800" dirty="0">
                  <a:solidFill>
                    <a:prstClr val="white"/>
                  </a:solidFill>
                </a:rPr>
                <a:t>03</a:t>
              </a:r>
              <a:endParaRPr lang="ko-KR" altLang="en-US" sz="2800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970947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28650" y="74814"/>
            <a:ext cx="50624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prstClr val="black"/>
                </a:solidFill>
              </a:rPr>
              <a:t>연구 배경 </a:t>
            </a:r>
            <a:r>
              <a:rPr lang="en-US" altLang="ko-KR" sz="3200" b="1" dirty="0">
                <a:solidFill>
                  <a:prstClr val="black"/>
                </a:solidFill>
              </a:rPr>
              <a:t>– 2</a:t>
            </a:r>
            <a:endParaRPr lang="ko-KR" altLang="en-US" sz="3200" b="1" dirty="0">
              <a:solidFill>
                <a:prstClr val="black"/>
              </a:solidFill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="" xmlns:a16="http://schemas.microsoft.com/office/drawing/2014/main" id="{4C70D3A6-2D13-4F22-9C06-C56F2B48E196}"/>
              </a:ext>
            </a:extLst>
          </p:cNvPr>
          <p:cNvSpPr/>
          <p:nvPr/>
        </p:nvSpPr>
        <p:spPr>
          <a:xfrm>
            <a:off x="336000" y="1268752"/>
            <a:ext cx="8556480" cy="13592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kern="0" spc="-50" dirty="0">
                <a:solidFill>
                  <a:prstClr val="black"/>
                </a:solidFill>
              </a:rPr>
              <a:t>비트코인의 작업증명은 </a:t>
            </a:r>
            <a:r>
              <a:rPr lang="en-US" altLang="ko-KR" sz="1600" b="1" kern="0" spc="-50" dirty="0">
                <a:solidFill>
                  <a:srgbClr val="FF0000"/>
                </a:solidFill>
              </a:rPr>
              <a:t>ASIC (Application Specific Integrated Circuit)</a:t>
            </a:r>
            <a:r>
              <a:rPr lang="ko-KR" altLang="en-US" sz="1600" b="1" kern="0" spc="-50" dirty="0">
                <a:solidFill>
                  <a:srgbClr val="FF0000"/>
                </a:solidFill>
              </a:rPr>
              <a:t>를 이용해 해결 가능</a:t>
            </a:r>
            <a:r>
              <a:rPr lang="ko-KR" altLang="en-US" sz="1600" kern="0" spc="-50" dirty="0">
                <a:solidFill>
                  <a:prstClr val="black"/>
                </a:solidFill>
              </a:rPr>
              <a:t>함</a:t>
            </a:r>
            <a:r>
              <a:rPr lang="en-US" altLang="ko-KR" sz="1600" kern="0" spc="-50" dirty="0">
                <a:solidFill>
                  <a:prstClr val="black"/>
                </a:solidFill>
              </a:rPr>
              <a:t>. </a:t>
            </a:r>
          </a:p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600" kern="0" spc="-50" dirty="0">
                <a:solidFill>
                  <a:prstClr val="black"/>
                </a:solidFill>
              </a:rPr>
              <a:t>ASIC </a:t>
            </a:r>
            <a:r>
              <a:rPr lang="ko-KR" altLang="en-US" sz="1600" kern="0" spc="-50" dirty="0">
                <a:solidFill>
                  <a:prstClr val="black"/>
                </a:solidFill>
              </a:rPr>
              <a:t>장치를 대량으로 보유한 소수의 전문 채굴자들이 </a:t>
            </a:r>
            <a:r>
              <a:rPr lang="ko-KR" altLang="en-US" sz="1600" b="1" kern="0" spc="-50" dirty="0">
                <a:solidFill>
                  <a:srgbClr val="FF0000"/>
                </a:solidFill>
              </a:rPr>
              <a:t>비트코인의 </a:t>
            </a:r>
            <a:r>
              <a:rPr lang="ko-KR" altLang="en-US" sz="1600" b="1" kern="0" spc="-50" dirty="0" err="1">
                <a:solidFill>
                  <a:srgbClr val="FF0000"/>
                </a:solidFill>
              </a:rPr>
              <a:t>탈중앙화를</a:t>
            </a:r>
            <a:r>
              <a:rPr lang="ko-KR" altLang="en-US" sz="1600" b="1" kern="0" spc="-50" dirty="0">
                <a:solidFill>
                  <a:srgbClr val="FF0000"/>
                </a:solidFill>
              </a:rPr>
              <a:t> 훼손함</a:t>
            </a:r>
            <a:r>
              <a:rPr lang="en-US" altLang="ko-KR" sz="1600" kern="0" spc="-50" dirty="0">
                <a:solidFill>
                  <a:srgbClr val="FF0000"/>
                </a:solidFill>
              </a:rPr>
              <a:t>.</a:t>
            </a:r>
          </a:p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kern="0" spc="-50" dirty="0" err="1">
                <a:solidFill>
                  <a:prstClr val="black"/>
                </a:solidFill>
              </a:rPr>
              <a:t>탈중앙화의</a:t>
            </a:r>
            <a:r>
              <a:rPr lang="ko-KR" altLang="en-US" sz="1600" kern="0" spc="-50" dirty="0">
                <a:solidFill>
                  <a:prstClr val="black"/>
                </a:solidFill>
              </a:rPr>
              <a:t> 훼손은 블록 위</a:t>
            </a:r>
            <a:r>
              <a:rPr lang="en-US" altLang="ko-KR" sz="1600" kern="0" spc="-50" dirty="0">
                <a:solidFill>
                  <a:prstClr val="black"/>
                </a:solidFill>
              </a:rPr>
              <a:t>/</a:t>
            </a:r>
            <a:r>
              <a:rPr lang="ko-KR" altLang="en-US" sz="1600" kern="0" spc="-50" dirty="0">
                <a:solidFill>
                  <a:prstClr val="black"/>
                </a:solidFill>
              </a:rPr>
              <a:t>변조 </a:t>
            </a:r>
            <a:r>
              <a:rPr lang="ko-KR" altLang="en-US" sz="1600" kern="0" spc="-50" dirty="0" err="1">
                <a:solidFill>
                  <a:prstClr val="black"/>
                </a:solidFill>
              </a:rPr>
              <a:t>공격등을</a:t>
            </a:r>
            <a:r>
              <a:rPr lang="ko-KR" altLang="en-US" sz="1600" kern="0" spc="-50" dirty="0">
                <a:solidFill>
                  <a:prstClr val="black"/>
                </a:solidFill>
              </a:rPr>
              <a:t> 가능케 하므로 </a:t>
            </a:r>
            <a:r>
              <a:rPr lang="ko-KR" altLang="en-US" sz="1600" b="1" kern="0" spc="-50" dirty="0" err="1">
                <a:solidFill>
                  <a:srgbClr val="FF0000"/>
                </a:solidFill>
              </a:rPr>
              <a:t>보안성</a:t>
            </a:r>
            <a:r>
              <a:rPr lang="ko-KR" altLang="en-US" sz="1600" b="1" kern="0" spc="-50" dirty="0">
                <a:solidFill>
                  <a:srgbClr val="FF0000"/>
                </a:solidFill>
              </a:rPr>
              <a:t> 또한 훼손됨</a:t>
            </a:r>
            <a:r>
              <a:rPr lang="en-US" altLang="ko-KR" sz="1600" kern="0" spc="-50" dirty="0">
                <a:solidFill>
                  <a:srgbClr val="FF0000"/>
                </a:solidFill>
              </a:rPr>
              <a:t>.</a:t>
            </a:r>
            <a:endParaRPr lang="ko-KR" altLang="en-US" sz="1600" kern="0" spc="-50" dirty="0">
              <a:solidFill>
                <a:srgbClr val="FF0000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="" xmlns:a16="http://schemas.microsoft.com/office/drawing/2014/main" id="{C53D36E5-5476-4409-B7F7-5ECC3840BD36}"/>
              </a:ext>
            </a:extLst>
          </p:cNvPr>
          <p:cNvSpPr/>
          <p:nvPr/>
        </p:nvSpPr>
        <p:spPr>
          <a:xfrm>
            <a:off x="336000" y="1196752"/>
            <a:ext cx="8556480" cy="45719"/>
          </a:xfrm>
          <a:prstGeom prst="rect">
            <a:avLst/>
          </a:prstGeom>
          <a:solidFill>
            <a:srgbClr val="0255B8"/>
          </a:solidFill>
          <a:ln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ts val="600"/>
              </a:spcBef>
            </a:pPr>
            <a:endParaRPr lang="ko-KR" altLang="en-US" b="1" kern="0" dirty="0">
              <a:solidFill>
                <a:srgbClr val="0255B8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03" t="5265" r="1777"/>
          <a:stretch/>
        </p:blipFill>
        <p:spPr bwMode="auto">
          <a:xfrm>
            <a:off x="251520" y="2996952"/>
            <a:ext cx="4308008" cy="3018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" name="그룹 19">
            <a:extLst>
              <a:ext uri="{FF2B5EF4-FFF2-40B4-BE49-F238E27FC236}">
                <a16:creationId xmlns="" xmlns:a16="http://schemas.microsoft.com/office/drawing/2014/main" id="{DCECFCF7-AF45-4C60-A751-80A4A0D4E857}"/>
              </a:ext>
            </a:extLst>
          </p:cNvPr>
          <p:cNvGrpSpPr/>
          <p:nvPr/>
        </p:nvGrpSpPr>
        <p:grpSpPr>
          <a:xfrm>
            <a:off x="4112394" y="3097140"/>
            <a:ext cx="4776911" cy="730000"/>
            <a:chOff x="322220" y="3692428"/>
            <a:chExt cx="4776911" cy="730000"/>
          </a:xfrm>
        </p:grpSpPr>
        <p:sp>
          <p:nvSpPr>
            <p:cNvPr id="21" name="직사각형 20">
              <a:extLst>
                <a:ext uri="{FF2B5EF4-FFF2-40B4-BE49-F238E27FC236}">
                  <a16:creationId xmlns="" xmlns:a16="http://schemas.microsoft.com/office/drawing/2014/main" id="{AD3EAB8A-36F8-4F53-AA1A-7B9908601ECF}"/>
                </a:ext>
              </a:extLst>
            </p:cNvPr>
            <p:cNvSpPr/>
            <p:nvPr/>
          </p:nvSpPr>
          <p:spPr>
            <a:xfrm>
              <a:off x="609600" y="3692428"/>
              <a:ext cx="4489531" cy="730000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fontAlgn="base"/>
              <a:r>
                <a:rPr lang="en-US" altLang="ko-KR" sz="1600" dirty="0">
                  <a:solidFill>
                    <a:prstClr val="black"/>
                  </a:solidFill>
                </a:rPr>
                <a:t>(</a:t>
              </a:r>
              <a:r>
                <a:rPr lang="ko-KR" altLang="en-US" sz="1600" b="1" dirty="0">
                  <a:solidFill>
                    <a:prstClr val="black"/>
                  </a:solidFill>
                </a:rPr>
                <a:t>가정</a:t>
              </a:r>
              <a:r>
                <a:rPr lang="en-US" altLang="ko-KR" sz="1600" dirty="0">
                  <a:solidFill>
                    <a:prstClr val="black"/>
                  </a:solidFill>
                </a:rPr>
                <a:t>) </a:t>
              </a:r>
              <a:r>
                <a:rPr lang="ko-KR" altLang="en-US" sz="1600" dirty="0">
                  <a:solidFill>
                    <a:prstClr val="black"/>
                  </a:solidFill>
                </a:rPr>
                <a:t>상위 </a:t>
              </a:r>
              <a:r>
                <a:rPr lang="en-US" altLang="ko-KR" sz="1600" dirty="0">
                  <a:solidFill>
                    <a:prstClr val="black"/>
                  </a:solidFill>
                </a:rPr>
                <a:t>4</a:t>
              </a:r>
              <a:r>
                <a:rPr lang="ko-KR" altLang="en-US" sz="1600" dirty="0">
                  <a:solidFill>
                    <a:prstClr val="black"/>
                  </a:solidFill>
                </a:rPr>
                <a:t>개의 </a:t>
              </a:r>
              <a:r>
                <a:rPr lang="ko-KR" altLang="en-US" sz="1600" dirty="0" err="1">
                  <a:solidFill>
                    <a:prstClr val="black"/>
                  </a:solidFill>
                </a:rPr>
                <a:t>채굴풀</a:t>
              </a:r>
              <a:r>
                <a:rPr lang="ko-KR" altLang="en-US" sz="1600" dirty="0">
                  <a:solidFill>
                    <a:prstClr val="black"/>
                  </a:solidFill>
                </a:rPr>
                <a:t> </a:t>
              </a:r>
              <a:r>
                <a:rPr lang="en-US" altLang="ko-KR" sz="1600" dirty="0">
                  <a:solidFill>
                    <a:prstClr val="black"/>
                  </a:solidFill>
                </a:rPr>
                <a:t>(F2pool, </a:t>
              </a:r>
              <a:r>
                <a:rPr lang="en-US" altLang="ko-KR" sz="1600" dirty="0" err="1">
                  <a:solidFill>
                    <a:prstClr val="black"/>
                  </a:solidFill>
                </a:rPr>
                <a:t>Poolin</a:t>
              </a:r>
              <a:r>
                <a:rPr lang="en-US" altLang="ko-KR" sz="1600" dirty="0">
                  <a:solidFill>
                    <a:prstClr val="black"/>
                  </a:solidFill>
                </a:rPr>
                <a:t>, BTC.com, AntPool)</a:t>
              </a:r>
              <a:r>
                <a:rPr lang="ko-KR" altLang="en-US" sz="1600" dirty="0">
                  <a:solidFill>
                    <a:prstClr val="black"/>
                  </a:solidFill>
                </a:rPr>
                <a:t>이 </a:t>
              </a:r>
              <a:r>
                <a:rPr lang="ko-KR" altLang="en-US" sz="1600" dirty="0" smtClean="0">
                  <a:solidFill>
                    <a:prstClr val="black"/>
                  </a:solidFill>
                </a:rPr>
                <a:t>담합함</a:t>
              </a:r>
              <a:r>
                <a:rPr lang="en-US" altLang="ko-KR" sz="1600" dirty="0" smtClean="0">
                  <a:solidFill>
                    <a:prstClr val="black"/>
                  </a:solidFill>
                </a:rPr>
                <a:t>.</a:t>
              </a:r>
              <a:endParaRPr lang="ko-KR" altLang="en-US" sz="1600" dirty="0">
                <a:solidFill>
                  <a:prstClr val="black"/>
                </a:solidFill>
              </a:endParaRPr>
            </a:p>
          </p:txBody>
        </p:sp>
        <p:sp>
          <p:nvSpPr>
            <p:cNvPr id="22" name="타원 21">
              <a:extLst>
                <a:ext uri="{FF2B5EF4-FFF2-40B4-BE49-F238E27FC236}">
                  <a16:creationId xmlns="" xmlns:a16="http://schemas.microsoft.com/office/drawing/2014/main" id="{7F2F01E7-7A12-4348-9FDF-618F22864983}"/>
                </a:ext>
              </a:extLst>
            </p:cNvPr>
            <p:cNvSpPr/>
            <p:nvPr/>
          </p:nvSpPr>
          <p:spPr>
            <a:xfrm>
              <a:off x="322220" y="3791820"/>
              <a:ext cx="531220" cy="531218"/>
            </a:xfrm>
            <a:prstGeom prst="ellipse">
              <a:avLst/>
            </a:prstGeom>
            <a:solidFill>
              <a:srgbClr val="0255B8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800" dirty="0">
                  <a:solidFill>
                    <a:prstClr val="white"/>
                  </a:solidFill>
                </a:rPr>
                <a:t>01</a:t>
              </a:r>
              <a:endParaRPr lang="ko-KR" altLang="en-US" sz="28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="" xmlns:a16="http://schemas.microsoft.com/office/drawing/2014/main" id="{DCECFCF7-AF45-4C60-A751-80A4A0D4E857}"/>
              </a:ext>
            </a:extLst>
          </p:cNvPr>
          <p:cNvGrpSpPr/>
          <p:nvPr/>
        </p:nvGrpSpPr>
        <p:grpSpPr>
          <a:xfrm>
            <a:off x="4115569" y="4086202"/>
            <a:ext cx="4776911" cy="730000"/>
            <a:chOff x="322220" y="3692428"/>
            <a:chExt cx="4776911" cy="730000"/>
          </a:xfrm>
        </p:grpSpPr>
        <p:sp>
          <p:nvSpPr>
            <p:cNvPr id="24" name="직사각형 23">
              <a:extLst>
                <a:ext uri="{FF2B5EF4-FFF2-40B4-BE49-F238E27FC236}">
                  <a16:creationId xmlns="" xmlns:a16="http://schemas.microsoft.com/office/drawing/2014/main" id="{AD3EAB8A-36F8-4F53-AA1A-7B9908601ECF}"/>
                </a:ext>
              </a:extLst>
            </p:cNvPr>
            <p:cNvSpPr/>
            <p:nvPr/>
          </p:nvSpPr>
          <p:spPr>
            <a:xfrm>
              <a:off x="609600" y="3692428"/>
              <a:ext cx="4489531" cy="730000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fontAlgn="base"/>
              <a:r>
                <a:rPr lang="en-US" altLang="ko-KR" sz="1600" dirty="0">
                  <a:solidFill>
                    <a:prstClr val="black"/>
                  </a:solidFill>
                </a:rPr>
                <a:t>4</a:t>
              </a:r>
              <a:r>
                <a:rPr lang="ko-KR" altLang="en-US" sz="1600" dirty="0">
                  <a:solidFill>
                    <a:prstClr val="black"/>
                  </a:solidFill>
                </a:rPr>
                <a:t>개의 </a:t>
              </a:r>
              <a:r>
                <a:rPr lang="ko-KR" altLang="en-US" sz="1600" dirty="0" err="1">
                  <a:solidFill>
                    <a:prstClr val="black"/>
                  </a:solidFill>
                </a:rPr>
                <a:t>채굴풀들에</a:t>
              </a:r>
              <a:r>
                <a:rPr lang="ko-KR" altLang="en-US" sz="1600" dirty="0">
                  <a:solidFill>
                    <a:prstClr val="black"/>
                  </a:solidFill>
                </a:rPr>
                <a:t> 의한 </a:t>
              </a:r>
              <a:r>
                <a:rPr lang="ko-KR" altLang="en-US" sz="1600" b="1" dirty="0">
                  <a:solidFill>
                    <a:srgbClr val="FF0000"/>
                  </a:solidFill>
                </a:rPr>
                <a:t>블록 위</a:t>
              </a:r>
              <a:r>
                <a:rPr lang="en-US" altLang="ko-KR" sz="1600" b="1" dirty="0">
                  <a:solidFill>
                    <a:srgbClr val="FF0000"/>
                  </a:solidFill>
                </a:rPr>
                <a:t>/</a:t>
              </a:r>
              <a:r>
                <a:rPr lang="ko-KR" altLang="en-US" sz="1600" b="1" dirty="0">
                  <a:solidFill>
                    <a:srgbClr val="FF0000"/>
                  </a:solidFill>
                </a:rPr>
                <a:t>변조 공격 및 이중 지불 공격 등이 </a:t>
              </a:r>
              <a:r>
                <a:rPr lang="ko-KR" altLang="en-US" sz="1600" b="1" dirty="0" smtClean="0">
                  <a:solidFill>
                    <a:srgbClr val="FF0000"/>
                  </a:solidFill>
                </a:rPr>
                <a:t>가능</a:t>
              </a:r>
              <a:r>
                <a:rPr lang="ko-KR" altLang="en-US" sz="1600" dirty="0" smtClean="0">
                  <a:solidFill>
                    <a:prstClr val="black"/>
                  </a:solidFill>
                </a:rPr>
                <a:t>해짐</a:t>
              </a:r>
              <a:r>
                <a:rPr lang="en-US" altLang="ko-KR" sz="1600" dirty="0" smtClean="0">
                  <a:solidFill>
                    <a:prstClr val="black"/>
                  </a:solidFill>
                </a:rPr>
                <a:t>.</a:t>
              </a:r>
              <a:endParaRPr lang="ko-KR" altLang="en-US" sz="1600" dirty="0">
                <a:solidFill>
                  <a:prstClr val="black"/>
                </a:solidFill>
              </a:endParaRPr>
            </a:p>
          </p:txBody>
        </p:sp>
        <p:sp>
          <p:nvSpPr>
            <p:cNvPr id="25" name="타원 24">
              <a:extLst>
                <a:ext uri="{FF2B5EF4-FFF2-40B4-BE49-F238E27FC236}">
                  <a16:creationId xmlns="" xmlns:a16="http://schemas.microsoft.com/office/drawing/2014/main" id="{7F2F01E7-7A12-4348-9FDF-618F22864983}"/>
                </a:ext>
              </a:extLst>
            </p:cNvPr>
            <p:cNvSpPr/>
            <p:nvPr/>
          </p:nvSpPr>
          <p:spPr>
            <a:xfrm>
              <a:off x="322220" y="3791820"/>
              <a:ext cx="531220" cy="531218"/>
            </a:xfrm>
            <a:prstGeom prst="ellipse">
              <a:avLst/>
            </a:prstGeom>
            <a:solidFill>
              <a:srgbClr val="0255B8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800" dirty="0">
                  <a:solidFill>
                    <a:prstClr val="white"/>
                  </a:solidFill>
                </a:rPr>
                <a:t>02</a:t>
              </a:r>
              <a:endParaRPr lang="ko-KR" altLang="en-US" sz="28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="" xmlns:a16="http://schemas.microsoft.com/office/drawing/2014/main" id="{DCECFCF7-AF45-4C60-A751-80A4A0D4E857}"/>
              </a:ext>
            </a:extLst>
          </p:cNvPr>
          <p:cNvGrpSpPr/>
          <p:nvPr/>
        </p:nvGrpSpPr>
        <p:grpSpPr>
          <a:xfrm>
            <a:off x="4105448" y="5075264"/>
            <a:ext cx="4776911" cy="730000"/>
            <a:chOff x="322220" y="3692428"/>
            <a:chExt cx="4776911" cy="730000"/>
          </a:xfrm>
        </p:grpSpPr>
        <p:sp>
          <p:nvSpPr>
            <p:cNvPr id="30" name="직사각형 29">
              <a:extLst>
                <a:ext uri="{FF2B5EF4-FFF2-40B4-BE49-F238E27FC236}">
                  <a16:creationId xmlns="" xmlns:a16="http://schemas.microsoft.com/office/drawing/2014/main" id="{AD3EAB8A-36F8-4F53-AA1A-7B9908601ECF}"/>
                </a:ext>
              </a:extLst>
            </p:cNvPr>
            <p:cNvSpPr/>
            <p:nvPr/>
          </p:nvSpPr>
          <p:spPr>
            <a:xfrm>
              <a:off x="609600" y="3692428"/>
              <a:ext cx="4489531" cy="730000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fontAlgn="base"/>
              <a:r>
                <a:rPr lang="ko-KR" altLang="en-US" sz="1600" dirty="0">
                  <a:solidFill>
                    <a:prstClr val="black"/>
                  </a:solidFill>
                </a:rPr>
                <a:t>이 외에도</a:t>
              </a:r>
              <a:r>
                <a:rPr lang="en-US" altLang="ko-KR" sz="1600" dirty="0">
                  <a:solidFill>
                    <a:prstClr val="black"/>
                  </a:solidFill>
                </a:rPr>
                <a:t>, ASIC </a:t>
              </a:r>
              <a:r>
                <a:rPr lang="ko-KR" altLang="en-US" sz="1600" dirty="0">
                  <a:solidFill>
                    <a:prstClr val="black"/>
                  </a:solidFill>
                </a:rPr>
                <a:t>사용에 따른 전력 소비 문제 등이 있음</a:t>
              </a:r>
              <a:r>
                <a:rPr lang="en-US" altLang="ko-KR" sz="1600" dirty="0">
                  <a:solidFill>
                    <a:prstClr val="black"/>
                  </a:solidFill>
                </a:rPr>
                <a:t>.</a:t>
              </a:r>
              <a:r>
                <a:rPr lang="ko-KR" altLang="en-US" sz="1600" dirty="0">
                  <a:solidFill>
                    <a:prstClr val="black"/>
                  </a:solidFill>
                </a:rPr>
                <a:t> </a:t>
              </a:r>
            </a:p>
          </p:txBody>
        </p:sp>
        <p:sp>
          <p:nvSpPr>
            <p:cNvPr id="31" name="타원 30">
              <a:extLst>
                <a:ext uri="{FF2B5EF4-FFF2-40B4-BE49-F238E27FC236}">
                  <a16:creationId xmlns="" xmlns:a16="http://schemas.microsoft.com/office/drawing/2014/main" id="{7F2F01E7-7A12-4348-9FDF-618F22864983}"/>
                </a:ext>
              </a:extLst>
            </p:cNvPr>
            <p:cNvSpPr/>
            <p:nvPr/>
          </p:nvSpPr>
          <p:spPr>
            <a:xfrm>
              <a:off x="322220" y="3791820"/>
              <a:ext cx="531220" cy="531218"/>
            </a:xfrm>
            <a:prstGeom prst="ellipse">
              <a:avLst/>
            </a:prstGeom>
            <a:solidFill>
              <a:srgbClr val="0255B8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800" dirty="0">
                  <a:solidFill>
                    <a:prstClr val="white"/>
                  </a:solidFill>
                </a:rPr>
                <a:t>03</a:t>
              </a:r>
              <a:endParaRPr lang="ko-KR" altLang="en-US" sz="2800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43985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28650" y="74814"/>
            <a:ext cx="50624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prstClr val="black"/>
                </a:solidFill>
              </a:rPr>
              <a:t>연구 배경 </a:t>
            </a:r>
            <a:r>
              <a:rPr lang="en-US" altLang="ko-KR" sz="3200" b="1" dirty="0">
                <a:solidFill>
                  <a:prstClr val="black"/>
                </a:solidFill>
              </a:rPr>
              <a:t>– </a:t>
            </a:r>
            <a:r>
              <a:rPr lang="en-US" altLang="ko-KR" sz="3200" b="1" dirty="0" smtClean="0">
                <a:solidFill>
                  <a:prstClr val="black"/>
                </a:solidFill>
              </a:rPr>
              <a:t>3</a:t>
            </a:r>
            <a:endParaRPr lang="ko-KR" altLang="en-US" sz="3200" b="1" dirty="0">
              <a:solidFill>
                <a:prstClr val="black"/>
              </a:solidFill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="" xmlns:a16="http://schemas.microsoft.com/office/drawing/2014/main" id="{4C70D3A6-2D13-4F22-9C06-C56F2B48E196}"/>
              </a:ext>
            </a:extLst>
          </p:cNvPr>
          <p:cNvSpPr/>
          <p:nvPr/>
        </p:nvSpPr>
        <p:spPr>
          <a:xfrm>
            <a:off x="336000" y="1268752"/>
            <a:ext cx="8556480" cy="5760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2000" kern="0" spc="-50" dirty="0" smtClean="0">
                <a:solidFill>
                  <a:prstClr val="black"/>
                </a:solidFill>
              </a:rPr>
              <a:t>Proof-of-XXX, Alternative to PoW</a:t>
            </a:r>
            <a:endParaRPr lang="ko-KR" altLang="en-US" sz="2000" kern="0" spc="-50" dirty="0">
              <a:solidFill>
                <a:srgbClr val="FF0000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="" xmlns:a16="http://schemas.microsoft.com/office/drawing/2014/main" id="{C53D36E5-5476-4409-B7F7-5ECC3840BD36}"/>
              </a:ext>
            </a:extLst>
          </p:cNvPr>
          <p:cNvSpPr/>
          <p:nvPr/>
        </p:nvSpPr>
        <p:spPr>
          <a:xfrm>
            <a:off x="336000" y="1196752"/>
            <a:ext cx="8556480" cy="45719"/>
          </a:xfrm>
          <a:prstGeom prst="rect">
            <a:avLst/>
          </a:prstGeom>
          <a:solidFill>
            <a:srgbClr val="0255B8"/>
          </a:solidFill>
          <a:ln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ts val="600"/>
              </a:spcBef>
            </a:pPr>
            <a:endParaRPr lang="ko-KR" altLang="en-US" sz="2400" b="1" kern="0" dirty="0">
              <a:solidFill>
                <a:srgbClr val="0255B8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336000" y="1988840"/>
            <a:ext cx="8566701" cy="3850086"/>
            <a:chOff x="644846" y="1268413"/>
            <a:chExt cx="11056082" cy="4968876"/>
          </a:xfrm>
        </p:grpSpPr>
        <p:sp>
          <p:nvSpPr>
            <p:cNvPr id="16" name="오른쪽 대괄호 15">
              <a:extLst>
                <a:ext uri="{FF2B5EF4-FFF2-40B4-BE49-F238E27FC236}">
                  <a16:creationId xmlns="" xmlns:a16="http://schemas.microsoft.com/office/drawing/2014/main" id="{28F88F7E-9C5D-4466-9C8D-5E97784C4F3B}"/>
                </a:ext>
              </a:extLst>
            </p:cNvPr>
            <p:cNvSpPr/>
            <p:nvPr/>
          </p:nvSpPr>
          <p:spPr>
            <a:xfrm rot="16200000">
              <a:off x="3454217" y="-156701"/>
              <a:ext cx="367670" cy="3217898"/>
            </a:xfrm>
            <a:prstGeom prst="rightBracket">
              <a:avLst>
                <a:gd name="adj" fmla="val 0"/>
              </a:avLst>
            </a:prstGeom>
            <a:ln w="9525">
              <a:solidFill>
                <a:srgbClr val="0255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lIns="0" rtlCol="0" anchor="b" anchorCtr="0"/>
            <a:lstStyle/>
            <a:p>
              <a:pPr algn="ctr"/>
              <a:r>
                <a:rPr lang="en-US" altLang="ko-KR" sz="1600" b="1" dirty="0">
                  <a:solidFill>
                    <a:srgbClr val="0255B8"/>
                  </a:solidFill>
                </a:rPr>
                <a:t>Pros</a:t>
              </a:r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="" xmlns:a16="http://schemas.microsoft.com/office/drawing/2014/main" id="{54EB586C-8FBD-45D8-B054-CF608C4751FE}"/>
                </a:ext>
              </a:extLst>
            </p:cNvPr>
            <p:cNvGrpSpPr/>
            <p:nvPr/>
          </p:nvGrpSpPr>
          <p:grpSpPr>
            <a:xfrm>
              <a:off x="644846" y="1767839"/>
              <a:ext cx="1218788" cy="4469449"/>
              <a:chOff x="644846" y="1767839"/>
              <a:chExt cx="1218788" cy="4693540"/>
            </a:xfrm>
            <a:solidFill>
              <a:srgbClr val="434348"/>
            </a:solidFill>
          </p:grpSpPr>
          <p:sp>
            <p:nvSpPr>
              <p:cNvPr id="26" name="직사각형 25">
                <a:extLst>
                  <a:ext uri="{FF2B5EF4-FFF2-40B4-BE49-F238E27FC236}">
                    <a16:creationId xmlns="" xmlns:a16="http://schemas.microsoft.com/office/drawing/2014/main" id="{806840E2-2A93-48DE-AECA-C1F2B58B8FD5}"/>
                  </a:ext>
                </a:extLst>
              </p:cNvPr>
              <p:cNvSpPr/>
              <p:nvPr/>
            </p:nvSpPr>
            <p:spPr>
              <a:xfrm>
                <a:off x="644846" y="1767839"/>
                <a:ext cx="1218788" cy="1110089"/>
              </a:xfrm>
              <a:prstGeom prst="rect">
                <a:avLst/>
              </a:prstGeom>
              <a:grpFill/>
              <a:ln w="6350">
                <a:solidFill>
                  <a:srgbClr val="434348"/>
                </a:solidFill>
              </a:ln>
            </p:spPr>
            <p:txBody>
              <a:bodyPr lIns="0" tIns="108000" rIns="72000" bIns="0" anchor="t" anchorCtr="0">
                <a:noAutofit/>
              </a:bodyPr>
              <a:lstStyle/>
              <a:p>
                <a:pPr lvl="0" algn="r">
                  <a:defRPr/>
                </a:pPr>
                <a:r>
                  <a:rPr kumimoji="1" lang="en-US" altLang="ko-KR" b="1" dirty="0" err="1">
                    <a:solidFill>
                      <a:schemeClr val="bg1"/>
                    </a:solidFill>
                    <a:ea typeface="맑은 고딕" panose="020B0503020000020004" pitchFamily="50" charset="-127"/>
                  </a:rPr>
                  <a:t>PoW</a:t>
                </a:r>
                <a:r>
                  <a:rPr kumimoji="1" lang="en-US" altLang="ko-KR" sz="1400" b="1" dirty="0">
                    <a:solidFill>
                      <a:schemeClr val="bg1"/>
                    </a:solidFill>
                    <a:ea typeface="맑은 고딕" panose="020B0503020000020004" pitchFamily="50" charset="-127"/>
                  </a:rPr>
                  <a:t> </a:t>
                </a:r>
              </a:p>
              <a:p>
                <a:pPr lvl="0" algn="r">
                  <a:defRPr/>
                </a:pPr>
                <a:r>
                  <a:rPr kumimoji="1" lang="en-US" altLang="ko-KR" sz="1400" dirty="0">
                    <a:solidFill>
                      <a:schemeClr val="bg1"/>
                    </a:solidFill>
                    <a:ea typeface="맑은 고딕" panose="020B0503020000020004" pitchFamily="50" charset="-127"/>
                  </a:rPr>
                  <a:t>(Proof-of-</a:t>
                </a:r>
              </a:p>
              <a:p>
                <a:pPr lvl="0" algn="r">
                  <a:defRPr/>
                </a:pPr>
                <a:r>
                  <a:rPr kumimoji="1" lang="en-US" altLang="ko-KR" sz="1400" dirty="0">
                    <a:solidFill>
                      <a:schemeClr val="bg1"/>
                    </a:solidFill>
                    <a:ea typeface="맑은 고딕" panose="020B0503020000020004" pitchFamily="50" charset="-127"/>
                  </a:rPr>
                  <a:t>Work)</a:t>
                </a:r>
              </a:p>
            </p:txBody>
          </p:sp>
          <p:sp>
            <p:nvSpPr>
              <p:cNvPr id="27" name="직사각형 26">
                <a:extLst>
                  <a:ext uri="{FF2B5EF4-FFF2-40B4-BE49-F238E27FC236}">
                    <a16:creationId xmlns="" xmlns:a16="http://schemas.microsoft.com/office/drawing/2014/main" id="{1325309C-13EA-4120-9E44-156243DBB9D0}"/>
                  </a:ext>
                </a:extLst>
              </p:cNvPr>
              <p:cNvSpPr/>
              <p:nvPr/>
            </p:nvSpPr>
            <p:spPr>
              <a:xfrm>
                <a:off x="644846" y="2962323"/>
                <a:ext cx="1218788" cy="1110089"/>
              </a:xfrm>
              <a:prstGeom prst="rect">
                <a:avLst/>
              </a:prstGeom>
              <a:grpFill/>
              <a:ln w="6350">
                <a:solidFill>
                  <a:srgbClr val="434348"/>
                </a:solidFill>
              </a:ln>
            </p:spPr>
            <p:txBody>
              <a:bodyPr lIns="0" tIns="108000" rIns="72000" bIns="0" anchor="t" anchorCtr="0">
                <a:noAutofit/>
              </a:bodyPr>
              <a:lstStyle/>
              <a:p>
                <a:pPr lvl="0" algn="r">
                  <a:defRPr/>
                </a:pPr>
                <a:r>
                  <a:rPr kumimoji="1" lang="en-US" altLang="ko-KR" b="1" dirty="0" err="1">
                    <a:solidFill>
                      <a:schemeClr val="bg1"/>
                    </a:solidFill>
                    <a:ea typeface="맑은 고딕" panose="020B0503020000020004" pitchFamily="50" charset="-127"/>
                  </a:rPr>
                  <a:t>PoS</a:t>
                </a:r>
                <a:r>
                  <a:rPr kumimoji="1" lang="en-US" altLang="ko-KR" b="1" dirty="0">
                    <a:solidFill>
                      <a:schemeClr val="bg1"/>
                    </a:solidFill>
                    <a:ea typeface="맑은 고딕" panose="020B0503020000020004" pitchFamily="50" charset="-127"/>
                  </a:rPr>
                  <a:t> </a:t>
                </a:r>
              </a:p>
              <a:p>
                <a:pPr lvl="0" algn="r">
                  <a:defRPr/>
                </a:pPr>
                <a:r>
                  <a:rPr kumimoji="1" lang="en-US" altLang="ko-KR" sz="1400" dirty="0">
                    <a:solidFill>
                      <a:schemeClr val="bg1"/>
                    </a:solidFill>
                    <a:ea typeface="맑은 고딕" panose="020B0503020000020004" pitchFamily="50" charset="-127"/>
                  </a:rPr>
                  <a:t>(Proof-of-</a:t>
                </a:r>
              </a:p>
              <a:p>
                <a:pPr lvl="0" algn="r">
                  <a:defRPr/>
                </a:pPr>
                <a:r>
                  <a:rPr kumimoji="1" lang="en-US" altLang="ko-KR" sz="1400" dirty="0">
                    <a:solidFill>
                      <a:schemeClr val="bg1"/>
                    </a:solidFill>
                    <a:ea typeface="맑은 고딕" panose="020B0503020000020004" pitchFamily="50" charset="-127"/>
                  </a:rPr>
                  <a:t>Stake)</a:t>
                </a:r>
              </a:p>
            </p:txBody>
          </p:sp>
          <p:sp>
            <p:nvSpPr>
              <p:cNvPr id="28" name="직사각형 27">
                <a:extLst>
                  <a:ext uri="{FF2B5EF4-FFF2-40B4-BE49-F238E27FC236}">
                    <a16:creationId xmlns="" xmlns:a16="http://schemas.microsoft.com/office/drawing/2014/main" id="{779E5E92-4514-42EE-8F41-1FEFE4AC20B9}"/>
                  </a:ext>
                </a:extLst>
              </p:cNvPr>
              <p:cNvSpPr/>
              <p:nvPr/>
            </p:nvSpPr>
            <p:spPr>
              <a:xfrm>
                <a:off x="644846" y="5351290"/>
                <a:ext cx="1218788" cy="1110089"/>
              </a:xfrm>
              <a:prstGeom prst="rect">
                <a:avLst/>
              </a:prstGeom>
              <a:grpFill/>
              <a:ln w="6350">
                <a:solidFill>
                  <a:srgbClr val="434348"/>
                </a:solidFill>
              </a:ln>
            </p:spPr>
            <p:txBody>
              <a:bodyPr lIns="0" tIns="108000" rIns="72000" bIns="0" anchor="t" anchorCtr="0">
                <a:noAutofit/>
              </a:bodyPr>
              <a:lstStyle/>
              <a:p>
                <a:pPr lvl="0" algn="r">
                  <a:defRPr/>
                </a:pPr>
                <a:r>
                  <a:rPr kumimoji="1" lang="en-US" altLang="ko-KR" b="1" dirty="0" err="1">
                    <a:solidFill>
                      <a:schemeClr val="bg1"/>
                    </a:solidFill>
                    <a:ea typeface="맑은 고딕" panose="020B0503020000020004" pitchFamily="50" charset="-127"/>
                  </a:rPr>
                  <a:t>PoA</a:t>
                </a:r>
                <a:endParaRPr kumimoji="1" lang="en-US" altLang="ko-KR" b="1" dirty="0">
                  <a:solidFill>
                    <a:schemeClr val="bg1"/>
                  </a:solidFill>
                  <a:ea typeface="맑은 고딕" panose="020B0503020000020004" pitchFamily="50" charset="-127"/>
                </a:endParaRPr>
              </a:p>
              <a:p>
                <a:pPr lvl="0" algn="r">
                  <a:defRPr/>
                </a:pPr>
                <a:r>
                  <a:rPr kumimoji="1" lang="en-US" altLang="ko-KR" sz="1400" dirty="0">
                    <a:solidFill>
                      <a:schemeClr val="bg1"/>
                    </a:solidFill>
                    <a:ea typeface="맑은 고딕" panose="020B0503020000020004" pitchFamily="50" charset="-127"/>
                  </a:rPr>
                  <a:t>(Proof-of-</a:t>
                </a:r>
              </a:p>
              <a:p>
                <a:pPr lvl="0" algn="r">
                  <a:defRPr/>
                </a:pPr>
                <a:r>
                  <a:rPr kumimoji="1" lang="en-US" altLang="ko-KR" sz="1400" dirty="0">
                    <a:solidFill>
                      <a:schemeClr val="bg1"/>
                    </a:solidFill>
                    <a:ea typeface="맑은 고딕" panose="020B0503020000020004" pitchFamily="50" charset="-127"/>
                  </a:rPr>
                  <a:t>Activity)</a:t>
                </a:r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="" xmlns:a16="http://schemas.microsoft.com/office/drawing/2014/main" id="{03E0FBBB-15F2-4E51-A8AD-3A2B61F9F96B}"/>
                  </a:ext>
                </a:extLst>
              </p:cNvPr>
              <p:cNvSpPr/>
              <p:nvPr/>
            </p:nvSpPr>
            <p:spPr>
              <a:xfrm>
                <a:off x="644846" y="4156808"/>
                <a:ext cx="1218788" cy="1110089"/>
              </a:xfrm>
              <a:prstGeom prst="rect">
                <a:avLst/>
              </a:prstGeom>
              <a:grpFill/>
              <a:ln w="6350">
                <a:solidFill>
                  <a:srgbClr val="434348"/>
                </a:solidFill>
              </a:ln>
            </p:spPr>
            <p:txBody>
              <a:bodyPr lIns="0" tIns="108000" rIns="72000" bIns="0" anchor="t" anchorCtr="0">
                <a:noAutofit/>
              </a:bodyPr>
              <a:lstStyle/>
              <a:p>
                <a:pPr lvl="0" algn="r">
                  <a:defRPr/>
                </a:pPr>
                <a:r>
                  <a:rPr kumimoji="1" lang="en-US" altLang="ko-KR" b="1" dirty="0" err="1">
                    <a:solidFill>
                      <a:schemeClr val="bg1"/>
                    </a:solidFill>
                    <a:ea typeface="맑은 고딕" panose="020B0503020000020004" pitchFamily="50" charset="-127"/>
                  </a:rPr>
                  <a:t>DPoS</a:t>
                </a:r>
                <a:r>
                  <a:rPr kumimoji="1" lang="en-US" altLang="ko-KR" b="1" dirty="0">
                    <a:solidFill>
                      <a:schemeClr val="bg1"/>
                    </a:solidFill>
                    <a:ea typeface="맑은 고딕" panose="020B0503020000020004" pitchFamily="50" charset="-127"/>
                  </a:rPr>
                  <a:t> </a:t>
                </a:r>
              </a:p>
              <a:p>
                <a:pPr lvl="0" algn="r">
                  <a:defRPr/>
                </a:pPr>
                <a:r>
                  <a:rPr kumimoji="1" lang="en-US" altLang="ko-KR" sz="1400" dirty="0">
                    <a:solidFill>
                      <a:schemeClr val="bg1"/>
                    </a:solidFill>
                    <a:ea typeface="맑은 고딕" panose="020B0503020000020004" pitchFamily="50" charset="-127"/>
                  </a:rPr>
                  <a:t>(Delegated </a:t>
                </a:r>
              </a:p>
              <a:p>
                <a:pPr lvl="0" algn="r">
                  <a:defRPr/>
                </a:pPr>
                <a:r>
                  <a:rPr kumimoji="1" lang="en-US" altLang="ko-KR" sz="1400" dirty="0" err="1">
                    <a:solidFill>
                      <a:schemeClr val="bg1"/>
                    </a:solidFill>
                    <a:ea typeface="맑은 고딕" panose="020B0503020000020004" pitchFamily="50" charset="-127"/>
                  </a:rPr>
                  <a:t>PoS</a:t>
                </a:r>
                <a:r>
                  <a:rPr kumimoji="1" lang="en-US" altLang="ko-KR" sz="1400" dirty="0">
                    <a:solidFill>
                      <a:schemeClr val="bg1"/>
                    </a:solidFill>
                    <a:ea typeface="맑은 고딕" panose="020B0503020000020004" pitchFamily="50" charset="-127"/>
                  </a:rPr>
                  <a:t>)</a:t>
                </a:r>
              </a:p>
            </p:txBody>
          </p:sp>
        </p:grpSp>
        <p:sp>
          <p:nvSpPr>
            <p:cNvPr id="33" name="직사각형 32">
              <a:extLst>
                <a:ext uri="{FF2B5EF4-FFF2-40B4-BE49-F238E27FC236}">
                  <a16:creationId xmlns="" xmlns:a16="http://schemas.microsoft.com/office/drawing/2014/main" id="{00FFC970-4F73-41B5-B48C-471F1FE1D544}"/>
                </a:ext>
              </a:extLst>
            </p:cNvPr>
            <p:cNvSpPr/>
            <p:nvPr/>
          </p:nvSpPr>
          <p:spPr>
            <a:xfrm>
              <a:off x="2029098" y="1767840"/>
              <a:ext cx="3217900" cy="1057087"/>
            </a:xfrm>
            <a:prstGeom prst="rect">
              <a:avLst/>
            </a:prstGeom>
            <a:ln w="6350">
              <a:solidFill>
                <a:schemeClr val="bg1">
                  <a:lumMod val="65000"/>
                </a:schemeClr>
              </a:solidFill>
            </a:ln>
          </p:spPr>
          <p:txBody>
            <a:bodyPr wrap="square" tIns="72000" anchor="ctr" anchorCtr="0">
              <a:noAutofit/>
            </a:bodyPr>
            <a:lstStyle/>
            <a:p>
              <a:pPr marL="171450" indent="-171450">
                <a:spcBef>
                  <a:spcPts val="300"/>
                </a:spcBef>
                <a:buFont typeface="Wingdings" panose="05000000000000000000" pitchFamily="2" charset="2"/>
                <a:buChar char="§"/>
              </a:pPr>
              <a:r>
                <a:rPr lang="en-US" altLang="ko-KR" sz="1200" dirty="0">
                  <a:sym typeface="Roboto"/>
                </a:rPr>
                <a:t>Strong security</a:t>
              </a:r>
            </a:p>
            <a:p>
              <a:pPr marL="171450" indent="-171450">
                <a:spcBef>
                  <a:spcPts val="300"/>
                </a:spcBef>
                <a:buFont typeface="Wingdings" panose="05000000000000000000" pitchFamily="2" charset="2"/>
                <a:buChar char="§"/>
              </a:pPr>
              <a:r>
                <a:rPr lang="en-US" altLang="ko-KR" sz="1200" dirty="0">
                  <a:sym typeface="Roboto"/>
                </a:rPr>
                <a:t>Difficult to produce</a:t>
              </a:r>
            </a:p>
            <a:p>
              <a:pPr marL="171450" indent="-171450">
                <a:spcBef>
                  <a:spcPts val="300"/>
                </a:spcBef>
                <a:buFont typeface="Wingdings" panose="05000000000000000000" pitchFamily="2" charset="2"/>
                <a:buChar char="§"/>
              </a:pPr>
              <a:r>
                <a:rPr lang="en-US" altLang="ko-KR" sz="1200" dirty="0">
                  <a:sym typeface="Roboto"/>
                </a:rPr>
                <a:t>Easy to verify </a:t>
              </a: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="" xmlns:a16="http://schemas.microsoft.com/office/drawing/2014/main" id="{862F8DF4-FDBE-4475-BDCD-E4A87A7A916C}"/>
                </a:ext>
              </a:extLst>
            </p:cNvPr>
            <p:cNvSpPr/>
            <p:nvPr/>
          </p:nvSpPr>
          <p:spPr>
            <a:xfrm>
              <a:off x="5337136" y="1767840"/>
              <a:ext cx="3217900" cy="1057087"/>
            </a:xfrm>
            <a:prstGeom prst="rect">
              <a:avLst/>
            </a:prstGeom>
            <a:ln w="6350">
              <a:solidFill>
                <a:schemeClr val="bg1">
                  <a:lumMod val="65000"/>
                </a:schemeClr>
              </a:solidFill>
            </a:ln>
          </p:spPr>
          <p:txBody>
            <a:bodyPr wrap="square" tIns="72000" anchor="ctr" anchorCtr="0">
              <a:noAutofit/>
            </a:bodyPr>
            <a:lstStyle/>
            <a:p>
              <a:pPr marL="171450" indent="-171450">
                <a:spcBef>
                  <a:spcPts val="300"/>
                </a:spcBef>
                <a:buFont typeface="Wingdings" panose="05000000000000000000" pitchFamily="2" charset="2"/>
                <a:buChar char="§"/>
              </a:pPr>
              <a:r>
                <a:rPr lang="en-US" altLang="ko-KR" sz="1200" dirty="0">
                  <a:sym typeface="Roboto"/>
                </a:rPr>
                <a:t>Extreme computing power</a:t>
              </a:r>
            </a:p>
            <a:p>
              <a:pPr marL="171450" indent="-171450">
                <a:spcBef>
                  <a:spcPts val="300"/>
                </a:spcBef>
                <a:buFont typeface="Wingdings" panose="05000000000000000000" pitchFamily="2" charset="2"/>
                <a:buChar char="§"/>
              </a:pPr>
              <a:r>
                <a:rPr lang="en-US" altLang="ko-KR" sz="1200" dirty="0">
                  <a:sym typeface="Roboto"/>
                </a:rPr>
                <a:t>51% attacks</a:t>
              </a:r>
            </a:p>
            <a:p>
              <a:pPr marL="171450" indent="-171450">
                <a:spcBef>
                  <a:spcPts val="300"/>
                </a:spcBef>
                <a:buFont typeface="Wingdings" panose="05000000000000000000" pitchFamily="2" charset="2"/>
                <a:buChar char="§"/>
              </a:pPr>
              <a:r>
                <a:rPr lang="en-US" altLang="ko-KR" sz="1200" dirty="0">
                  <a:sym typeface="Roboto"/>
                </a:rPr>
                <a:t>Transaction speed / Transaction throughput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="" xmlns:a16="http://schemas.microsoft.com/office/drawing/2014/main" id="{2E175C01-14C8-4623-BFE1-83068B7B9F2D}"/>
                </a:ext>
              </a:extLst>
            </p:cNvPr>
            <p:cNvSpPr/>
            <p:nvPr/>
          </p:nvSpPr>
          <p:spPr>
            <a:xfrm>
              <a:off x="8645175" y="1767840"/>
              <a:ext cx="3042563" cy="1057087"/>
            </a:xfrm>
            <a:prstGeom prst="rect">
              <a:avLst/>
            </a:prstGeom>
            <a:ln w="6350">
              <a:solidFill>
                <a:schemeClr val="bg1">
                  <a:lumMod val="65000"/>
                </a:schemeClr>
              </a:solidFill>
            </a:ln>
          </p:spPr>
          <p:txBody>
            <a:bodyPr wrap="square" anchor="ctr" anchorCtr="0">
              <a:noAutofit/>
            </a:bodyPr>
            <a:lstStyle/>
            <a:p>
              <a:pPr marL="171450" indent="-171450">
                <a:spcBef>
                  <a:spcPts val="300"/>
                </a:spcBef>
                <a:buFont typeface="Wingdings" panose="05000000000000000000" pitchFamily="2" charset="2"/>
                <a:buChar char="§"/>
              </a:pPr>
              <a:endParaRPr lang="en-US" altLang="ko-KR" sz="1200" dirty="0">
                <a:sym typeface="Roboto"/>
              </a:endParaRPr>
            </a:p>
          </p:txBody>
        </p:sp>
        <p:sp>
          <p:nvSpPr>
            <p:cNvPr id="36" name="오른쪽 대괄호 35">
              <a:extLst>
                <a:ext uri="{FF2B5EF4-FFF2-40B4-BE49-F238E27FC236}">
                  <a16:creationId xmlns="" xmlns:a16="http://schemas.microsoft.com/office/drawing/2014/main" id="{04967915-2A4E-49A0-80F0-0317AB85C1C5}"/>
                </a:ext>
              </a:extLst>
            </p:cNvPr>
            <p:cNvSpPr/>
            <p:nvPr/>
          </p:nvSpPr>
          <p:spPr>
            <a:xfrm rot="16200000">
              <a:off x="6762252" y="-156701"/>
              <a:ext cx="367670" cy="3217898"/>
            </a:xfrm>
            <a:prstGeom prst="rightBracket">
              <a:avLst>
                <a:gd name="adj" fmla="val 0"/>
              </a:avLst>
            </a:prstGeom>
            <a:ln w="95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lIns="0" rtlCol="0" anchor="b" anchorCtr="0"/>
            <a:lstStyle/>
            <a:p>
              <a:pPr algn="ctr"/>
              <a:r>
                <a:rPr lang="en-US" altLang="ko-KR" sz="1600" b="1" dirty="0">
                  <a:solidFill>
                    <a:srgbClr val="C00000"/>
                  </a:solidFill>
                </a:rPr>
                <a:t>Cons</a:t>
              </a:r>
            </a:p>
          </p:txBody>
        </p:sp>
        <p:sp>
          <p:nvSpPr>
            <p:cNvPr id="37" name="오른쪽 대괄호 36">
              <a:extLst>
                <a:ext uri="{FF2B5EF4-FFF2-40B4-BE49-F238E27FC236}">
                  <a16:creationId xmlns="" xmlns:a16="http://schemas.microsoft.com/office/drawing/2014/main" id="{6E6A4262-6387-4F98-9B93-E43145F6F2DE}"/>
                </a:ext>
              </a:extLst>
            </p:cNvPr>
            <p:cNvSpPr/>
            <p:nvPr/>
          </p:nvSpPr>
          <p:spPr>
            <a:xfrm rot="16200000">
              <a:off x="9982621" y="-69032"/>
              <a:ext cx="367671" cy="3042561"/>
            </a:xfrm>
            <a:prstGeom prst="rightBracket">
              <a:avLst>
                <a:gd name="adj" fmla="val 0"/>
              </a:avLst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lIns="0" rtlCol="0" anchor="b" anchorCtr="0"/>
            <a:lstStyle/>
            <a:p>
              <a:pPr algn="ctr"/>
              <a:r>
                <a:rPr lang="en-US" altLang="ko-KR" sz="1600" b="1" dirty="0"/>
                <a:t>Coins within top 50 rank</a:t>
              </a: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="" xmlns:a16="http://schemas.microsoft.com/office/drawing/2014/main" id="{078EF020-4A9B-4FFC-832F-C828F12AF8A4}"/>
                </a:ext>
              </a:extLst>
            </p:cNvPr>
            <p:cNvSpPr/>
            <p:nvPr/>
          </p:nvSpPr>
          <p:spPr>
            <a:xfrm>
              <a:off x="2029098" y="2905294"/>
              <a:ext cx="3217900" cy="1057087"/>
            </a:xfrm>
            <a:prstGeom prst="rect">
              <a:avLst/>
            </a:prstGeom>
            <a:ln w="6350">
              <a:solidFill>
                <a:schemeClr val="bg1">
                  <a:lumMod val="65000"/>
                </a:schemeClr>
              </a:solidFill>
            </a:ln>
          </p:spPr>
          <p:txBody>
            <a:bodyPr wrap="square" tIns="72000" anchor="ctr" anchorCtr="0">
              <a:noAutofit/>
            </a:bodyPr>
            <a:lstStyle/>
            <a:p>
              <a:pPr marL="171450" indent="-171450">
                <a:spcBef>
                  <a:spcPts val="300"/>
                </a:spcBef>
                <a:buFont typeface="Wingdings" panose="05000000000000000000" pitchFamily="2" charset="2"/>
                <a:buChar char="§"/>
              </a:pPr>
              <a:r>
                <a:rPr lang="en-US" altLang="ko-KR" sz="1200" dirty="0">
                  <a:sym typeface="Roboto"/>
                </a:rPr>
                <a:t>Energy &amp; hardware efficiency</a:t>
              </a:r>
            </a:p>
            <a:p>
              <a:pPr marL="171450" indent="-171450">
                <a:spcBef>
                  <a:spcPts val="300"/>
                </a:spcBef>
                <a:buFont typeface="Wingdings" panose="05000000000000000000" pitchFamily="2" charset="2"/>
                <a:buChar char="§"/>
              </a:pPr>
              <a:r>
                <a:rPr lang="en-US" altLang="ko-KR" sz="1200" dirty="0">
                  <a:sym typeface="Roboto"/>
                </a:rPr>
                <a:t>Much more expensive 51% attacks</a:t>
              </a: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="" xmlns:a16="http://schemas.microsoft.com/office/drawing/2014/main" id="{16E45799-E2ED-4484-9AA6-415D04339B0F}"/>
                </a:ext>
              </a:extLst>
            </p:cNvPr>
            <p:cNvSpPr/>
            <p:nvPr/>
          </p:nvSpPr>
          <p:spPr>
            <a:xfrm>
              <a:off x="5337136" y="2905294"/>
              <a:ext cx="3217900" cy="1057087"/>
            </a:xfrm>
            <a:prstGeom prst="rect">
              <a:avLst/>
            </a:prstGeom>
            <a:ln w="6350">
              <a:solidFill>
                <a:schemeClr val="bg1">
                  <a:lumMod val="65000"/>
                </a:schemeClr>
              </a:solidFill>
            </a:ln>
          </p:spPr>
          <p:txBody>
            <a:bodyPr wrap="square" tIns="72000" anchor="ctr" anchorCtr="0">
              <a:noAutofit/>
            </a:bodyPr>
            <a:lstStyle/>
            <a:p>
              <a:pPr marL="171450" indent="-171450">
                <a:spcBef>
                  <a:spcPts val="300"/>
                </a:spcBef>
                <a:buFont typeface="Wingdings" panose="05000000000000000000" pitchFamily="2" charset="2"/>
                <a:buChar char="§"/>
              </a:pPr>
              <a:r>
                <a:rPr lang="en-US" altLang="ko-KR" sz="1200" dirty="0">
                  <a:sym typeface="Roboto"/>
                </a:rPr>
                <a:t>Recentralization</a:t>
              </a:r>
            </a:p>
            <a:p>
              <a:pPr marL="171450" indent="-171450">
                <a:spcBef>
                  <a:spcPts val="300"/>
                </a:spcBef>
                <a:buFont typeface="Wingdings" panose="05000000000000000000" pitchFamily="2" charset="2"/>
                <a:buChar char="§"/>
              </a:pPr>
              <a:r>
                <a:rPr lang="en-US" altLang="ko-KR" sz="1200" dirty="0">
                  <a:sym typeface="Roboto"/>
                </a:rPr>
                <a:t>The rich-get-richer </a:t>
              </a:r>
            </a:p>
            <a:p>
              <a:pPr marL="171450" indent="-171450">
                <a:spcBef>
                  <a:spcPts val="300"/>
                </a:spcBef>
                <a:buFont typeface="Wingdings" panose="05000000000000000000" pitchFamily="2" charset="2"/>
                <a:buChar char="§"/>
              </a:pPr>
              <a:r>
                <a:rPr lang="en-US" altLang="ko-KR" sz="1200" dirty="0">
                  <a:sym typeface="Roboto"/>
                </a:rPr>
                <a:t>“Nothing at stake” problem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="" xmlns:a16="http://schemas.microsoft.com/office/drawing/2014/main" id="{1E788B12-B109-4860-9D26-0362B29CB600}"/>
                </a:ext>
              </a:extLst>
            </p:cNvPr>
            <p:cNvSpPr/>
            <p:nvPr/>
          </p:nvSpPr>
          <p:spPr>
            <a:xfrm>
              <a:off x="8645175" y="2905295"/>
              <a:ext cx="3042563" cy="1057087"/>
            </a:xfrm>
            <a:prstGeom prst="rect">
              <a:avLst/>
            </a:prstGeom>
            <a:ln w="6350">
              <a:solidFill>
                <a:schemeClr val="bg1">
                  <a:lumMod val="65000"/>
                </a:schemeClr>
              </a:solidFill>
            </a:ln>
          </p:spPr>
          <p:txBody>
            <a:bodyPr wrap="square" anchor="ctr" anchorCtr="0">
              <a:noAutofit/>
            </a:bodyPr>
            <a:lstStyle/>
            <a:p>
              <a:pPr marL="171450" indent="-171450">
                <a:spcBef>
                  <a:spcPts val="300"/>
                </a:spcBef>
                <a:buFont typeface="Wingdings" panose="05000000000000000000" pitchFamily="2" charset="2"/>
                <a:buChar char="§"/>
              </a:pPr>
              <a:endParaRPr lang="en-US" altLang="ko-KR" sz="1200" dirty="0">
                <a:sym typeface="Roboto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="" xmlns:a16="http://schemas.microsoft.com/office/drawing/2014/main" id="{DBC274DB-D692-4FB2-80E9-EB4D52E609DA}"/>
                </a:ext>
              </a:extLst>
            </p:cNvPr>
            <p:cNvSpPr/>
            <p:nvPr/>
          </p:nvSpPr>
          <p:spPr>
            <a:xfrm>
              <a:off x="2029098" y="4042748"/>
              <a:ext cx="3217900" cy="1057087"/>
            </a:xfrm>
            <a:prstGeom prst="rect">
              <a:avLst/>
            </a:prstGeom>
            <a:ln w="6350">
              <a:solidFill>
                <a:schemeClr val="bg1">
                  <a:lumMod val="65000"/>
                </a:schemeClr>
              </a:solidFill>
            </a:ln>
          </p:spPr>
          <p:txBody>
            <a:bodyPr wrap="square" tIns="72000" anchor="ctr" anchorCtr="0">
              <a:noAutofit/>
            </a:bodyPr>
            <a:lstStyle/>
            <a:p>
              <a:pPr marL="171450" indent="-171450">
                <a:spcBef>
                  <a:spcPts val="300"/>
                </a:spcBef>
                <a:buFont typeface="Wingdings" panose="05000000000000000000" pitchFamily="2" charset="2"/>
                <a:buChar char="§"/>
              </a:pPr>
              <a:r>
                <a:rPr lang="en-US" altLang="ko-KR" sz="1200" dirty="0">
                  <a:sym typeface="Roboto"/>
                </a:rPr>
                <a:t>Scalability and speed</a:t>
              </a:r>
            </a:p>
            <a:p>
              <a:pPr marL="171450" indent="-171450">
                <a:spcBef>
                  <a:spcPts val="300"/>
                </a:spcBef>
                <a:buFont typeface="Wingdings" panose="05000000000000000000" pitchFamily="2" charset="2"/>
                <a:buChar char="§"/>
              </a:pPr>
              <a:r>
                <a:rPr lang="en-US" altLang="ko-KR" sz="1200" dirty="0">
                  <a:sym typeface="Roboto"/>
                </a:rPr>
                <a:t>Energy &amp; hardware efficiency</a:t>
              </a:r>
            </a:p>
            <a:p>
              <a:pPr marL="171450" indent="-171450">
                <a:spcBef>
                  <a:spcPts val="300"/>
                </a:spcBef>
                <a:buFont typeface="Wingdings" panose="05000000000000000000" pitchFamily="2" charset="2"/>
                <a:buChar char="§"/>
              </a:pPr>
              <a:r>
                <a:rPr lang="en-US" altLang="ko-KR" sz="1200" dirty="0">
                  <a:sym typeface="Roboto"/>
                </a:rPr>
                <a:t>Encouraging good behavior by real-time voting</a:t>
              </a: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="" xmlns:a16="http://schemas.microsoft.com/office/drawing/2014/main" id="{D0CDEBD5-0D4A-4624-A7DC-162B5C6C0404}"/>
                </a:ext>
              </a:extLst>
            </p:cNvPr>
            <p:cNvSpPr/>
            <p:nvPr/>
          </p:nvSpPr>
          <p:spPr>
            <a:xfrm>
              <a:off x="5337136" y="4042748"/>
              <a:ext cx="3217900" cy="1057087"/>
            </a:xfrm>
            <a:prstGeom prst="rect">
              <a:avLst/>
            </a:prstGeom>
            <a:ln w="6350">
              <a:solidFill>
                <a:schemeClr val="bg1">
                  <a:lumMod val="65000"/>
                </a:schemeClr>
              </a:solidFill>
            </a:ln>
          </p:spPr>
          <p:txBody>
            <a:bodyPr wrap="square" tIns="72000" anchor="ctr" anchorCtr="0">
              <a:noAutofit/>
            </a:bodyPr>
            <a:lstStyle/>
            <a:p>
              <a:pPr marL="171450" indent="-171450">
                <a:spcBef>
                  <a:spcPts val="300"/>
                </a:spcBef>
                <a:buFont typeface="Wingdings" panose="05000000000000000000" pitchFamily="2" charset="2"/>
                <a:buChar char="§"/>
              </a:pPr>
              <a:r>
                <a:rPr lang="en-US" altLang="ko-KR" sz="1200" dirty="0">
                  <a:sym typeface="Roboto"/>
                </a:rPr>
                <a:t>Recentralization</a:t>
              </a:r>
            </a:p>
            <a:p>
              <a:pPr marL="171450" indent="-171450">
                <a:spcBef>
                  <a:spcPts val="300"/>
                </a:spcBef>
                <a:buFont typeface="Wingdings" panose="05000000000000000000" pitchFamily="2" charset="2"/>
                <a:buChar char="§"/>
              </a:pPr>
              <a:r>
                <a:rPr lang="en-US" altLang="ko-KR" sz="1200" dirty="0">
                  <a:sym typeface="Roboto"/>
                </a:rPr>
                <a:t>DDoS attacks</a:t>
              </a: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="" xmlns:a16="http://schemas.microsoft.com/office/drawing/2014/main" id="{71BD1DF1-C086-42AB-BE50-5A7609B5174F}"/>
                </a:ext>
              </a:extLst>
            </p:cNvPr>
            <p:cNvSpPr/>
            <p:nvPr/>
          </p:nvSpPr>
          <p:spPr>
            <a:xfrm>
              <a:off x="8645175" y="4042748"/>
              <a:ext cx="3055753" cy="1057087"/>
            </a:xfrm>
            <a:prstGeom prst="rect">
              <a:avLst/>
            </a:prstGeom>
            <a:ln w="6350">
              <a:solidFill>
                <a:schemeClr val="bg1">
                  <a:lumMod val="65000"/>
                </a:schemeClr>
              </a:solidFill>
            </a:ln>
          </p:spPr>
          <p:txBody>
            <a:bodyPr wrap="square" anchor="ctr" anchorCtr="0">
              <a:noAutofit/>
            </a:bodyPr>
            <a:lstStyle/>
            <a:p>
              <a:pPr marL="171450" indent="-171450">
                <a:spcBef>
                  <a:spcPts val="300"/>
                </a:spcBef>
                <a:buFont typeface="Wingdings" panose="05000000000000000000" pitchFamily="2" charset="2"/>
                <a:buChar char="§"/>
              </a:pPr>
              <a:endParaRPr lang="en-US" altLang="ko-KR" sz="1200" dirty="0">
                <a:sym typeface="Roboto"/>
              </a:endParaRP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="" xmlns:a16="http://schemas.microsoft.com/office/drawing/2014/main" id="{C24E4104-D75F-47DF-B9DD-266D6FC560BB}"/>
                </a:ext>
              </a:extLst>
            </p:cNvPr>
            <p:cNvSpPr/>
            <p:nvPr/>
          </p:nvSpPr>
          <p:spPr>
            <a:xfrm>
              <a:off x="2029098" y="5180202"/>
              <a:ext cx="3217900" cy="1057087"/>
            </a:xfrm>
            <a:prstGeom prst="rect">
              <a:avLst/>
            </a:prstGeom>
            <a:ln w="6350">
              <a:solidFill>
                <a:schemeClr val="bg1">
                  <a:lumMod val="65000"/>
                </a:schemeClr>
              </a:solidFill>
            </a:ln>
          </p:spPr>
          <p:txBody>
            <a:bodyPr wrap="square" tIns="72000" anchor="ctr" anchorCtr="0">
              <a:noAutofit/>
            </a:bodyPr>
            <a:lstStyle/>
            <a:p>
              <a:pPr marL="171450" indent="-171450">
                <a:spcBef>
                  <a:spcPts val="300"/>
                </a:spcBef>
                <a:buFont typeface="Wingdings" panose="05000000000000000000" pitchFamily="2" charset="2"/>
                <a:buChar char="§"/>
              </a:pPr>
              <a:r>
                <a:rPr lang="en-US" altLang="ko-KR" sz="1200" dirty="0">
                  <a:sym typeface="Roboto"/>
                </a:rPr>
                <a:t>Much more expensive 51% attacks</a:t>
              </a:r>
            </a:p>
            <a:p>
              <a:pPr marL="171450" indent="-171450">
                <a:spcBef>
                  <a:spcPts val="300"/>
                </a:spcBef>
                <a:buFont typeface="Wingdings" panose="05000000000000000000" pitchFamily="2" charset="2"/>
                <a:buChar char="§"/>
              </a:pPr>
              <a:r>
                <a:rPr lang="en-US" altLang="ko-KR" sz="1200" dirty="0">
                  <a:sym typeface="Roboto"/>
                </a:rPr>
                <a:t>Decentralization</a:t>
              </a:r>
            </a:p>
            <a:p>
              <a:pPr marL="171450" indent="-171450">
                <a:spcBef>
                  <a:spcPts val="300"/>
                </a:spcBef>
                <a:buFont typeface="Wingdings" panose="05000000000000000000" pitchFamily="2" charset="2"/>
                <a:buChar char="§"/>
              </a:pPr>
              <a:r>
                <a:rPr lang="en-US" altLang="ko-KR" sz="1200" dirty="0">
                  <a:sym typeface="Roboto"/>
                </a:rPr>
                <a:t>Validators are randomly selected.</a:t>
              </a: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="" xmlns:a16="http://schemas.microsoft.com/office/drawing/2014/main" id="{9432C9F1-066F-4206-B26F-51DDBCA14235}"/>
                </a:ext>
              </a:extLst>
            </p:cNvPr>
            <p:cNvSpPr/>
            <p:nvPr/>
          </p:nvSpPr>
          <p:spPr>
            <a:xfrm>
              <a:off x="5337136" y="5180202"/>
              <a:ext cx="3217900" cy="1057087"/>
            </a:xfrm>
            <a:prstGeom prst="rect">
              <a:avLst/>
            </a:prstGeom>
            <a:ln w="6350">
              <a:solidFill>
                <a:schemeClr val="bg1">
                  <a:lumMod val="65000"/>
                </a:schemeClr>
              </a:solidFill>
            </a:ln>
          </p:spPr>
          <p:txBody>
            <a:bodyPr wrap="square" tIns="72000" anchor="ctr" anchorCtr="0">
              <a:noAutofit/>
            </a:bodyPr>
            <a:lstStyle/>
            <a:p>
              <a:pPr marL="171450" indent="-171450">
                <a:spcBef>
                  <a:spcPts val="300"/>
                </a:spcBef>
                <a:buFont typeface="Wingdings" panose="05000000000000000000" pitchFamily="2" charset="2"/>
                <a:buChar char="§"/>
              </a:pPr>
              <a:r>
                <a:rPr lang="en-US" altLang="ko-KR" sz="1200" dirty="0">
                  <a:sym typeface="Roboto"/>
                </a:rPr>
                <a:t>Extreme computing power</a:t>
              </a:r>
            </a:p>
            <a:p>
              <a:pPr marL="171450" indent="-171450">
                <a:spcBef>
                  <a:spcPts val="300"/>
                </a:spcBef>
                <a:buFont typeface="Wingdings" panose="05000000000000000000" pitchFamily="2" charset="2"/>
                <a:buChar char="§"/>
              </a:pPr>
              <a:r>
                <a:rPr lang="en-US" altLang="ko-KR" sz="1200" dirty="0">
                  <a:sym typeface="Roboto"/>
                </a:rPr>
                <a:t>Recentralization</a:t>
              </a:r>
            </a:p>
            <a:p>
              <a:pPr marL="171450" indent="-171450">
                <a:spcBef>
                  <a:spcPts val="300"/>
                </a:spcBef>
                <a:buFont typeface="Wingdings" panose="05000000000000000000" pitchFamily="2" charset="2"/>
                <a:buChar char="§"/>
              </a:pPr>
              <a:r>
                <a:rPr lang="en-US" altLang="ko-KR" sz="1200" dirty="0">
                  <a:sym typeface="Roboto"/>
                </a:rPr>
                <a:t>The rich-get-richer</a:t>
              </a: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="" xmlns:a16="http://schemas.microsoft.com/office/drawing/2014/main" id="{B05EA20B-C970-463A-9D00-C92C4F6FC044}"/>
                </a:ext>
              </a:extLst>
            </p:cNvPr>
            <p:cNvSpPr/>
            <p:nvPr/>
          </p:nvSpPr>
          <p:spPr>
            <a:xfrm>
              <a:off x="8645175" y="5180202"/>
              <a:ext cx="3055753" cy="1057087"/>
            </a:xfrm>
            <a:prstGeom prst="rect">
              <a:avLst/>
            </a:prstGeom>
            <a:ln w="6350">
              <a:solidFill>
                <a:schemeClr val="bg1">
                  <a:lumMod val="65000"/>
                </a:schemeClr>
              </a:solidFill>
            </a:ln>
          </p:spPr>
          <p:txBody>
            <a:bodyPr wrap="square" anchor="ctr" anchorCtr="0">
              <a:noAutofit/>
            </a:bodyPr>
            <a:lstStyle/>
            <a:p>
              <a:pPr marL="171450" indent="-171450">
                <a:spcBef>
                  <a:spcPts val="300"/>
                </a:spcBef>
                <a:buFont typeface="Wingdings" panose="05000000000000000000" pitchFamily="2" charset="2"/>
                <a:buChar char="§"/>
              </a:pPr>
              <a:endParaRPr lang="en-US" altLang="ko-KR" sz="1200" dirty="0">
                <a:sym typeface="Roboto"/>
              </a:endParaRPr>
            </a:p>
          </p:txBody>
        </p:sp>
        <p:pic>
          <p:nvPicPr>
            <p:cNvPr id="47" name="그림 46">
              <a:extLst>
                <a:ext uri="{FF2B5EF4-FFF2-40B4-BE49-F238E27FC236}">
                  <a16:creationId xmlns="" xmlns:a16="http://schemas.microsoft.com/office/drawing/2014/main" id="{C3865585-BF55-4A4E-B89C-4FD68554F20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1522" t="1463" r="58339" b="79950"/>
            <a:stretch/>
          </p:blipFill>
          <p:spPr>
            <a:xfrm>
              <a:off x="9230785" y="4157867"/>
              <a:ext cx="864304" cy="847859"/>
            </a:xfrm>
            <a:prstGeom prst="rect">
              <a:avLst/>
            </a:prstGeom>
          </p:spPr>
        </p:pic>
        <p:pic>
          <p:nvPicPr>
            <p:cNvPr id="48" name="그림 47">
              <a:extLst>
                <a:ext uri="{FF2B5EF4-FFF2-40B4-BE49-F238E27FC236}">
                  <a16:creationId xmlns="" xmlns:a16="http://schemas.microsoft.com/office/drawing/2014/main" id="{72B09039-0B8D-4280-9862-E4DD1406644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80770" t="1493" r="7126" b="80470"/>
            <a:stretch/>
          </p:blipFill>
          <p:spPr>
            <a:xfrm>
              <a:off x="10289381" y="1887008"/>
              <a:ext cx="1031762" cy="822779"/>
            </a:xfrm>
            <a:prstGeom prst="rect">
              <a:avLst/>
            </a:prstGeom>
          </p:spPr>
        </p:pic>
        <p:pic>
          <p:nvPicPr>
            <p:cNvPr id="49" name="그림 48">
              <a:extLst>
                <a:ext uri="{FF2B5EF4-FFF2-40B4-BE49-F238E27FC236}">
                  <a16:creationId xmlns="" xmlns:a16="http://schemas.microsoft.com/office/drawing/2014/main" id="{5ED55819-667C-418F-9483-D764980CE62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5784" t="1578" r="33352" b="80776"/>
            <a:stretch/>
          </p:blipFill>
          <p:spPr>
            <a:xfrm>
              <a:off x="9275825" y="1913416"/>
              <a:ext cx="926048" cy="804917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="" xmlns:a16="http://schemas.microsoft.com/office/drawing/2014/main" id="{DB020424-3B3F-4402-A776-C72C68E1424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63547" y="3117669"/>
              <a:ext cx="1302336" cy="689118"/>
            </a:xfrm>
            <a:prstGeom prst="rect">
              <a:avLst/>
            </a:prstGeom>
          </p:spPr>
        </p:pic>
        <p:pic>
          <p:nvPicPr>
            <p:cNvPr id="51" name="그림 50">
              <a:extLst>
                <a:ext uri="{FF2B5EF4-FFF2-40B4-BE49-F238E27FC236}">
                  <a16:creationId xmlns="" xmlns:a16="http://schemas.microsoft.com/office/drawing/2014/main" id="{CF5DEFA6-6177-4F57-AF57-F8CF4DEE6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171651" y="4333436"/>
              <a:ext cx="1088532" cy="456984"/>
            </a:xfrm>
            <a:prstGeom prst="rect">
              <a:avLst/>
            </a:prstGeom>
          </p:spPr>
        </p:pic>
        <p:pic>
          <p:nvPicPr>
            <p:cNvPr id="52" name="Picture 6">
              <a:extLst>
                <a:ext uri="{FF2B5EF4-FFF2-40B4-BE49-F238E27FC236}">
                  <a16:creationId xmlns="" xmlns:a16="http://schemas.microsoft.com/office/drawing/2014/main" id="{EB6BF351-6681-4B2B-AAF4-DEBADB3897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4746" y="3042053"/>
              <a:ext cx="750444" cy="7360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3" name="Picture 3">
              <a:extLst>
                <a:ext uri="{FF2B5EF4-FFF2-40B4-BE49-F238E27FC236}">
                  <a16:creationId xmlns="" xmlns:a16="http://schemas.microsoft.com/office/drawing/2014/main" id="{479244FF-F419-4DEA-8EB2-A5695126C7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07942" y="5276264"/>
              <a:ext cx="881851" cy="8649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54" name="그룹 53">
              <a:extLst>
                <a:ext uri="{FF2B5EF4-FFF2-40B4-BE49-F238E27FC236}">
                  <a16:creationId xmlns="" xmlns:a16="http://schemas.microsoft.com/office/drawing/2014/main" id="{0A2F4040-F84F-4DF0-8C59-0460849BBA10}"/>
                </a:ext>
              </a:extLst>
            </p:cNvPr>
            <p:cNvGrpSpPr/>
            <p:nvPr/>
          </p:nvGrpSpPr>
          <p:grpSpPr>
            <a:xfrm>
              <a:off x="4869266" y="1343469"/>
              <a:ext cx="278068" cy="278068"/>
              <a:chOff x="4693920" y="1452247"/>
              <a:chExt cx="348343" cy="348343"/>
            </a:xfrm>
          </p:grpSpPr>
          <p:sp>
            <p:nvSpPr>
              <p:cNvPr id="55" name="타원 54">
                <a:extLst>
                  <a:ext uri="{FF2B5EF4-FFF2-40B4-BE49-F238E27FC236}">
                    <a16:creationId xmlns="" xmlns:a16="http://schemas.microsoft.com/office/drawing/2014/main" id="{EC95503F-D7CD-472C-8860-CA96FB887EBD}"/>
                  </a:ext>
                </a:extLst>
              </p:cNvPr>
              <p:cNvSpPr/>
              <p:nvPr/>
            </p:nvSpPr>
            <p:spPr>
              <a:xfrm>
                <a:off x="4693920" y="1452247"/>
                <a:ext cx="348343" cy="348343"/>
              </a:xfrm>
              <a:prstGeom prst="ellipse">
                <a:avLst/>
              </a:prstGeom>
              <a:solidFill>
                <a:srgbClr val="0255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pic>
            <p:nvPicPr>
              <p:cNvPr id="56" name="그림 55">
                <a:extLst>
                  <a:ext uri="{FF2B5EF4-FFF2-40B4-BE49-F238E27FC236}">
                    <a16:creationId xmlns="" xmlns:a16="http://schemas.microsoft.com/office/drawing/2014/main" id="{B8B975F9-7E64-4904-8CA0-2BD2E5ECF9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748109" y="1499484"/>
                <a:ext cx="227751" cy="230463"/>
              </a:xfrm>
              <a:prstGeom prst="rect">
                <a:avLst/>
              </a:prstGeom>
            </p:spPr>
          </p:pic>
        </p:grpSp>
        <p:grpSp>
          <p:nvGrpSpPr>
            <p:cNvPr id="57" name="그룹 56">
              <a:extLst>
                <a:ext uri="{FF2B5EF4-FFF2-40B4-BE49-F238E27FC236}">
                  <a16:creationId xmlns="" xmlns:a16="http://schemas.microsoft.com/office/drawing/2014/main" id="{91A9AC8B-2608-4D50-869C-50E7701C6B78}"/>
                </a:ext>
              </a:extLst>
            </p:cNvPr>
            <p:cNvGrpSpPr/>
            <p:nvPr/>
          </p:nvGrpSpPr>
          <p:grpSpPr>
            <a:xfrm flipV="1">
              <a:off x="8185490" y="1343469"/>
              <a:ext cx="278068" cy="278068"/>
              <a:chOff x="4693920" y="1452247"/>
              <a:chExt cx="348343" cy="348343"/>
            </a:xfrm>
          </p:grpSpPr>
          <p:sp>
            <p:nvSpPr>
              <p:cNvPr id="58" name="타원 57">
                <a:extLst>
                  <a:ext uri="{FF2B5EF4-FFF2-40B4-BE49-F238E27FC236}">
                    <a16:creationId xmlns="" xmlns:a16="http://schemas.microsoft.com/office/drawing/2014/main" id="{41BB3287-54D3-4FF5-AEE3-D88009ACB655}"/>
                  </a:ext>
                </a:extLst>
              </p:cNvPr>
              <p:cNvSpPr/>
              <p:nvPr/>
            </p:nvSpPr>
            <p:spPr>
              <a:xfrm>
                <a:off x="4693920" y="1452247"/>
                <a:ext cx="348343" cy="348343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pic>
            <p:nvPicPr>
              <p:cNvPr id="59" name="그림 58">
                <a:extLst>
                  <a:ext uri="{FF2B5EF4-FFF2-40B4-BE49-F238E27FC236}">
                    <a16:creationId xmlns="" xmlns:a16="http://schemas.microsoft.com/office/drawing/2014/main" id="{B559FD52-2B07-40F8-92B5-A0C3EEDBDA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751787" y="1499485"/>
                <a:ext cx="227751" cy="230463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2054343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28650" y="74814"/>
            <a:ext cx="50624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prstClr val="black"/>
                </a:solidFill>
              </a:rPr>
              <a:t>연구 배경 </a:t>
            </a:r>
            <a:r>
              <a:rPr lang="en-US" altLang="ko-KR" sz="3200" b="1" dirty="0">
                <a:solidFill>
                  <a:prstClr val="black"/>
                </a:solidFill>
              </a:rPr>
              <a:t>– </a:t>
            </a:r>
            <a:r>
              <a:rPr lang="en-US" altLang="ko-KR" sz="3200" b="1" dirty="0" smtClean="0">
                <a:solidFill>
                  <a:prstClr val="black"/>
                </a:solidFill>
              </a:rPr>
              <a:t>4</a:t>
            </a:r>
            <a:endParaRPr lang="ko-KR" altLang="en-US" sz="3200" b="1" dirty="0">
              <a:solidFill>
                <a:prstClr val="black"/>
              </a:solidFill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="" xmlns:a16="http://schemas.microsoft.com/office/drawing/2014/main" id="{4C70D3A6-2D13-4F22-9C06-C56F2B48E196}"/>
              </a:ext>
            </a:extLst>
          </p:cNvPr>
          <p:cNvSpPr/>
          <p:nvPr/>
        </p:nvSpPr>
        <p:spPr>
          <a:xfrm>
            <a:off x="336000" y="1268752"/>
            <a:ext cx="4639609" cy="46339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tx1"/>
                </a:solidFill>
              </a:rPr>
              <a:t>Libra’s </a:t>
            </a:r>
            <a:r>
              <a:rPr lang="en-US" altLang="ko-KR" sz="2000" dirty="0" smtClean="0">
                <a:solidFill>
                  <a:schemeClr val="tx1"/>
                </a:solidFill>
              </a:rPr>
              <a:t>BFT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prstClr val="black"/>
                </a:solidFill>
              </a:rPr>
              <a:t>합의알고리즘</a:t>
            </a:r>
            <a:r>
              <a:rPr lang="en-US" altLang="ko-KR" sz="2000" dirty="0">
                <a:solidFill>
                  <a:prstClr val="black"/>
                </a:solidFill>
              </a:rPr>
              <a:t>: Byzantine Fault Tolerance O(n^2) + </a:t>
            </a:r>
            <a:r>
              <a:rPr lang="ko-KR" altLang="en-US" sz="2000" dirty="0">
                <a:solidFill>
                  <a:prstClr val="black"/>
                </a:solidFill>
              </a:rPr>
              <a:t>지분증명</a:t>
            </a:r>
            <a:r>
              <a:rPr lang="en-US" altLang="ko-KR" sz="2000" dirty="0">
                <a:solidFill>
                  <a:prstClr val="black"/>
                </a:solidFill>
              </a:rPr>
              <a:t> 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ko-KR" altLang="en-US" sz="2000" dirty="0" err="1">
                <a:solidFill>
                  <a:prstClr val="black"/>
                </a:solidFill>
              </a:rPr>
              <a:t>노드수</a:t>
            </a:r>
            <a:r>
              <a:rPr lang="ko-KR" altLang="en-US" sz="2000" dirty="0">
                <a:solidFill>
                  <a:prstClr val="black"/>
                </a:solidFill>
              </a:rPr>
              <a:t> </a:t>
            </a:r>
            <a:r>
              <a:rPr lang="en-US" altLang="ko-KR" sz="2000" dirty="0">
                <a:solidFill>
                  <a:prstClr val="black"/>
                </a:solidFill>
              </a:rPr>
              <a:t>100</a:t>
            </a:r>
            <a:r>
              <a:rPr lang="ko-KR" altLang="en-US" sz="2000" dirty="0">
                <a:solidFill>
                  <a:prstClr val="black"/>
                </a:solidFill>
              </a:rPr>
              <a:t>개</a:t>
            </a:r>
            <a:endParaRPr lang="en-US" altLang="ko-KR" sz="2000" dirty="0">
              <a:solidFill>
                <a:prstClr val="black"/>
              </a:solidFill>
            </a:endParaRP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prstClr val="black"/>
                </a:solidFill>
              </a:rPr>
              <a:t>1000 ~1500 TPS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prstClr val="black"/>
                </a:solidFill>
              </a:rPr>
              <a:t>중앙화 솔루션</a:t>
            </a:r>
            <a:endParaRPr lang="en-US" altLang="ko-KR" sz="2000" dirty="0">
              <a:solidFill>
                <a:prstClr val="black"/>
              </a:solidFill>
            </a:endParaRP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prstClr val="black"/>
                </a:solidFill>
              </a:rPr>
              <a:t>Stable Coin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prstClr val="black"/>
                </a:solidFill>
              </a:rPr>
              <a:t>Facebook network has 2B users. 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prstClr val="black"/>
                </a:solidFill>
              </a:rPr>
              <a:t>The era of digital currency may </a:t>
            </a:r>
            <a:r>
              <a:rPr lang="en-US" altLang="ko-KR" sz="2000" dirty="0" smtClean="0">
                <a:solidFill>
                  <a:prstClr val="black"/>
                </a:solidFill>
              </a:rPr>
              <a:t>arrive </a:t>
            </a:r>
            <a:r>
              <a:rPr lang="en-US" altLang="ko-KR" sz="2000" dirty="0">
                <a:solidFill>
                  <a:prstClr val="black"/>
                </a:solidFill>
              </a:rPr>
              <a:t>sooner</a:t>
            </a:r>
            <a:r>
              <a:rPr lang="en-US" altLang="ko-KR" sz="2000" dirty="0" smtClean="0">
                <a:solidFill>
                  <a:prstClr val="black"/>
                </a:solidFill>
              </a:rPr>
              <a:t>!</a:t>
            </a:r>
            <a:endParaRPr lang="en-US" altLang="ko-KR" sz="2000" dirty="0">
              <a:solidFill>
                <a:prstClr val="black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="" xmlns:a16="http://schemas.microsoft.com/office/drawing/2014/main" id="{C53D36E5-5476-4409-B7F7-5ECC3840BD36}"/>
              </a:ext>
            </a:extLst>
          </p:cNvPr>
          <p:cNvSpPr/>
          <p:nvPr/>
        </p:nvSpPr>
        <p:spPr>
          <a:xfrm>
            <a:off x="336000" y="1196752"/>
            <a:ext cx="4639609" cy="45719"/>
          </a:xfrm>
          <a:prstGeom prst="rect">
            <a:avLst/>
          </a:prstGeom>
          <a:solidFill>
            <a:srgbClr val="0255B8"/>
          </a:solidFill>
          <a:ln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ts val="600"/>
              </a:spcBef>
            </a:pPr>
            <a:endParaRPr lang="ko-KR" altLang="en-US" b="1" kern="0" dirty="0">
              <a:solidFill>
                <a:srgbClr val="0255B8"/>
              </a:solidFill>
            </a:endParaRPr>
          </a:p>
        </p:txBody>
      </p:sp>
      <p:pic>
        <p:nvPicPr>
          <p:cNvPr id="60" name="Picture 2" descr="Facebook Currency Hear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2050" y="1181668"/>
            <a:ext cx="3987338" cy="3561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직사각형 60"/>
          <p:cNvSpPr/>
          <p:nvPr/>
        </p:nvSpPr>
        <p:spPr>
          <a:xfrm>
            <a:off x="5052050" y="4775162"/>
            <a:ext cx="398733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rgbClr val="333333"/>
                </a:solidFill>
                <a:latin typeface="Helvetica Neue"/>
              </a:rPr>
              <a:t>Marcus noted that </a:t>
            </a:r>
            <a:r>
              <a:rPr lang="en-US" altLang="ko-KR" sz="1400" b="1" dirty="0" err="1">
                <a:solidFill>
                  <a:srgbClr val="FF0000"/>
                </a:solidFill>
                <a:latin typeface="Helvetica Neue"/>
              </a:rPr>
              <a:t>blockchain</a:t>
            </a:r>
            <a:r>
              <a:rPr lang="en-US" altLang="ko-KR" sz="1400" b="1" dirty="0">
                <a:solidFill>
                  <a:srgbClr val="FF0000"/>
                </a:solidFill>
                <a:latin typeface="Helvetica Neue"/>
              </a:rPr>
              <a:t> technology is inevitable </a:t>
            </a:r>
            <a:r>
              <a:rPr lang="en-US" altLang="ko-KR" sz="1400" b="1" dirty="0">
                <a:solidFill>
                  <a:srgbClr val="333333"/>
                </a:solidFill>
                <a:latin typeface="Helvetica Neue"/>
              </a:rPr>
              <a:t>and </a:t>
            </a:r>
            <a:r>
              <a:rPr lang="en-US" altLang="ko-KR" sz="1400" b="1" dirty="0">
                <a:solidFill>
                  <a:srgbClr val="FF0000"/>
                </a:solidFill>
                <a:latin typeface="Helvetica Neue"/>
              </a:rPr>
              <a:t>if the U.S. doesn’t lead in building and regulating it</a:t>
            </a:r>
            <a:r>
              <a:rPr lang="en-US" altLang="ko-KR" sz="1400" b="1" dirty="0">
                <a:solidFill>
                  <a:srgbClr val="333333"/>
                </a:solidFill>
                <a:latin typeface="Helvetica Neue"/>
              </a:rPr>
              <a:t>, </a:t>
            </a:r>
            <a:r>
              <a:rPr lang="en-US" altLang="ko-KR" sz="1400" b="1" dirty="0">
                <a:solidFill>
                  <a:srgbClr val="FF0000"/>
                </a:solidFill>
                <a:latin typeface="Helvetica Neue"/>
              </a:rPr>
              <a:t>the tech will come from places “out of reach of our national security apparatus</a:t>
            </a:r>
            <a:r>
              <a:rPr lang="en-US" altLang="ko-KR" sz="1400" b="1" dirty="0">
                <a:solidFill>
                  <a:srgbClr val="333333"/>
                </a:solidFill>
                <a:latin typeface="Helvetica Neue"/>
              </a:rPr>
              <a:t>,” raising the </a:t>
            </a:r>
            <a:r>
              <a:rPr lang="en-US" altLang="ko-KR" sz="1400" b="1" dirty="0" err="1">
                <a:solidFill>
                  <a:srgbClr val="333333"/>
                </a:solidFill>
                <a:latin typeface="Helvetica Neue"/>
              </a:rPr>
              <a:t>spectre</a:t>
            </a:r>
            <a:r>
              <a:rPr lang="en-US" altLang="ko-KR" sz="1400" b="1" dirty="0">
                <a:solidFill>
                  <a:srgbClr val="333333"/>
                </a:solidFill>
                <a:latin typeface="Helvetica Neue"/>
              </a:rPr>
              <a:t> of China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6226058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28650" y="74814"/>
            <a:ext cx="50624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prstClr val="black"/>
                </a:solidFill>
              </a:rPr>
              <a:t>연구 배경 </a:t>
            </a:r>
            <a:r>
              <a:rPr lang="en-US" altLang="ko-KR" sz="3200" b="1" dirty="0">
                <a:solidFill>
                  <a:prstClr val="black"/>
                </a:solidFill>
              </a:rPr>
              <a:t>– </a:t>
            </a:r>
            <a:r>
              <a:rPr lang="en-US" altLang="ko-KR" sz="3200" b="1" dirty="0" smtClean="0">
                <a:solidFill>
                  <a:prstClr val="black"/>
                </a:solidFill>
              </a:rPr>
              <a:t>5</a:t>
            </a:r>
            <a:endParaRPr lang="ko-KR" altLang="en-US" sz="3200" b="1" dirty="0">
              <a:solidFill>
                <a:prstClr val="black"/>
              </a:solidFill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="" xmlns:a16="http://schemas.microsoft.com/office/drawing/2014/main" id="{4C70D3A6-2D13-4F22-9C06-C56F2B48E196}"/>
              </a:ext>
            </a:extLst>
          </p:cNvPr>
          <p:cNvSpPr/>
          <p:nvPr/>
        </p:nvSpPr>
        <p:spPr>
          <a:xfrm>
            <a:off x="336000" y="1268752"/>
            <a:ext cx="8556480" cy="39604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3200" dirty="0" smtClean="0">
                <a:solidFill>
                  <a:prstClr val="black"/>
                </a:solidFill>
                <a:cs typeface="+mj-cs"/>
              </a:rPr>
              <a:t>PoW </a:t>
            </a:r>
            <a:r>
              <a:rPr lang="en-US" altLang="ko-KR" sz="3200" dirty="0">
                <a:solidFill>
                  <a:prstClr val="black"/>
                </a:solidFill>
                <a:cs typeface="+mj-cs"/>
              </a:rPr>
              <a:t>is fundamental to security. </a:t>
            </a:r>
            <a:r>
              <a:rPr lang="en-US" altLang="ko-KR" sz="3200" kern="0" spc="-50" dirty="0" smtClean="0">
                <a:solidFill>
                  <a:prstClr val="black"/>
                </a:solidFill>
              </a:rPr>
              <a:t> </a:t>
            </a:r>
            <a:endParaRPr lang="en-US" altLang="ko-KR" sz="3200" kern="0" spc="-50" dirty="0">
              <a:solidFill>
                <a:prstClr val="black"/>
              </a:solidFill>
            </a:endParaRPr>
          </a:p>
          <a:p>
            <a:pPr marL="800100" lvl="1" indent="-342900" fontAlgn="base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ko-KR" sz="2400" dirty="0" smtClean="0">
                <a:solidFill>
                  <a:prstClr val="black"/>
                </a:solidFill>
              </a:rPr>
              <a:t>Currently </a:t>
            </a:r>
            <a:r>
              <a:rPr lang="en-US" altLang="ko-KR" sz="2400" dirty="0">
                <a:solidFill>
                  <a:prstClr val="black"/>
                </a:solidFill>
              </a:rPr>
              <a:t>it is the only solution capable of achieving decentralized solution while providing </a:t>
            </a:r>
            <a:r>
              <a:rPr lang="en-US" altLang="ko-KR" sz="2400" dirty="0" smtClean="0">
                <a:solidFill>
                  <a:prstClr val="black"/>
                </a:solidFill>
              </a:rPr>
              <a:t>security!</a:t>
            </a:r>
          </a:p>
          <a:p>
            <a:pPr marL="800100" lvl="1" indent="-342900" fontAlgn="base">
              <a:spcBef>
                <a:spcPts val="600"/>
              </a:spcBef>
              <a:buFont typeface="Wingdings" panose="05000000000000000000" pitchFamily="2" charset="2"/>
              <a:buChar char="Ø"/>
            </a:pPr>
            <a:endParaRPr lang="en-US" altLang="ko-KR" sz="2400" dirty="0" smtClean="0">
              <a:solidFill>
                <a:prstClr val="black"/>
              </a:solidFill>
            </a:endParaRPr>
          </a:p>
          <a:p>
            <a:pPr marL="800100" lvl="1" indent="-342900" fontAlgn="base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ko-KR" sz="2400" dirty="0" smtClean="0">
                <a:solidFill>
                  <a:prstClr val="black"/>
                </a:solidFill>
              </a:rPr>
              <a:t>Others </a:t>
            </a:r>
            <a:r>
              <a:rPr lang="en-US" altLang="ko-KR" sz="2400" dirty="0">
                <a:solidFill>
                  <a:prstClr val="black"/>
                </a:solidFill>
              </a:rPr>
              <a:t>scarifies decentralization for scalability and energy </a:t>
            </a:r>
            <a:r>
              <a:rPr lang="en-US" altLang="ko-KR" sz="2400" dirty="0" smtClean="0">
                <a:solidFill>
                  <a:prstClr val="black"/>
                </a:solidFill>
              </a:rPr>
              <a:t>saving.</a:t>
            </a:r>
          </a:p>
          <a:p>
            <a:pPr marL="800100" lvl="1" indent="-342900" fontAlgn="base">
              <a:spcBef>
                <a:spcPts val="600"/>
              </a:spcBef>
              <a:buFont typeface="Wingdings" panose="05000000000000000000" pitchFamily="2" charset="2"/>
              <a:buChar char="Ø"/>
            </a:pPr>
            <a:endParaRPr lang="en-US" altLang="ko-KR" sz="2400" dirty="0" smtClean="0">
              <a:solidFill>
                <a:prstClr val="black"/>
              </a:solidFill>
            </a:endParaRPr>
          </a:p>
          <a:p>
            <a:pPr marL="800100" lvl="1" indent="-342900" fontAlgn="base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ko-KR" sz="2400" dirty="0" smtClean="0">
                <a:solidFill>
                  <a:prstClr val="black"/>
                </a:solidFill>
              </a:rPr>
              <a:t>It </a:t>
            </a:r>
            <a:r>
              <a:rPr lang="en-US" altLang="ko-KR" sz="2400" dirty="0">
                <a:solidFill>
                  <a:prstClr val="black"/>
                </a:solidFill>
              </a:rPr>
              <a:t>has problems but they can be fixed with new ideas! </a:t>
            </a:r>
            <a:endParaRPr lang="ko-KR" altLang="en-US" sz="2400" dirty="0">
              <a:solidFill>
                <a:prstClr val="black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="" xmlns:a16="http://schemas.microsoft.com/office/drawing/2014/main" id="{C53D36E5-5476-4409-B7F7-5ECC3840BD36}"/>
              </a:ext>
            </a:extLst>
          </p:cNvPr>
          <p:cNvSpPr/>
          <p:nvPr/>
        </p:nvSpPr>
        <p:spPr>
          <a:xfrm>
            <a:off x="336000" y="1196752"/>
            <a:ext cx="8556480" cy="45719"/>
          </a:xfrm>
          <a:prstGeom prst="rect">
            <a:avLst/>
          </a:prstGeom>
          <a:solidFill>
            <a:srgbClr val="0255B8"/>
          </a:solidFill>
          <a:ln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ts val="600"/>
              </a:spcBef>
            </a:pPr>
            <a:endParaRPr lang="ko-KR" altLang="en-US" b="1" kern="0" dirty="0">
              <a:solidFill>
                <a:srgbClr val="0255B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9410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28650" y="74814"/>
            <a:ext cx="50624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prstClr val="black"/>
                </a:solidFill>
              </a:rPr>
              <a:t>연구 필요성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xmlns="" xmlns:lc="http://schemas.openxmlformats.org/drawingml/2006/lockedCanvas" id="{5535D30D-CA98-48F1-BF5D-632403CA6BE3}"/>
              </a:ext>
            </a:extLst>
          </p:cNvPr>
          <p:cNvSpPr/>
          <p:nvPr/>
        </p:nvSpPr>
        <p:spPr>
          <a:xfrm>
            <a:off x="395536" y="2434877"/>
            <a:ext cx="3825460" cy="2469436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lIns="0" tIns="0" rIns="0" bIns="0" anchor="ctr" anchorCtr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ko-KR" altLang="en-US" sz="1600">
              <a:solidFill>
                <a:prstClr val="black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xmlns="" xmlns:lc="http://schemas.openxmlformats.org/drawingml/2006/lockedCanvas" id="{57A2C2A2-3DBB-4DEE-BBE4-629348518AF3}"/>
              </a:ext>
            </a:extLst>
          </p:cNvPr>
          <p:cNvSpPr/>
          <p:nvPr/>
        </p:nvSpPr>
        <p:spPr>
          <a:xfrm>
            <a:off x="5004048" y="2439321"/>
            <a:ext cx="3825460" cy="2469436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lIns="0" tIns="0" rIns="0" bIns="0" anchor="ctr" anchorCtr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ko-KR" altLang="en-US" sz="1600">
              <a:solidFill>
                <a:prstClr val="black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xmlns="" xmlns:lc="http://schemas.openxmlformats.org/drawingml/2006/lockedCanvas" id="{4E7DB5D6-1EDF-461E-B42C-51876C31078F}"/>
              </a:ext>
            </a:extLst>
          </p:cNvPr>
          <p:cNvSpPr/>
          <p:nvPr/>
        </p:nvSpPr>
        <p:spPr>
          <a:xfrm>
            <a:off x="946395" y="1038719"/>
            <a:ext cx="7946085" cy="36936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lIns="180000" tIns="0" rIns="0" bIns="0" anchor="ctr" anchorCtr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sz="1600" dirty="0" err="1">
                <a:solidFill>
                  <a:prstClr val="white"/>
                </a:solidFill>
              </a:rPr>
              <a:t>PoW</a:t>
            </a:r>
            <a:r>
              <a:rPr lang="en-US" altLang="ko-KR" sz="1600" dirty="0">
                <a:solidFill>
                  <a:prstClr val="white"/>
                </a:solidFill>
              </a:rPr>
              <a:t> </a:t>
            </a:r>
            <a:r>
              <a:rPr lang="ko-KR" altLang="en-US" sz="1600" dirty="0">
                <a:solidFill>
                  <a:prstClr val="white"/>
                </a:solidFill>
              </a:rPr>
              <a:t>재 중앙화</a:t>
            </a:r>
            <a:r>
              <a:rPr lang="en-US" altLang="ko-KR" sz="1600" dirty="0">
                <a:solidFill>
                  <a:prstClr val="white"/>
                </a:solidFill>
              </a:rPr>
              <a:t>, </a:t>
            </a:r>
            <a:r>
              <a:rPr lang="ko-KR" altLang="en-US" sz="1600" dirty="0">
                <a:solidFill>
                  <a:prstClr val="white"/>
                </a:solidFill>
              </a:rPr>
              <a:t>전력소비 문제를 해결하는 </a:t>
            </a:r>
            <a:r>
              <a:rPr lang="ko-KR" altLang="en-US" sz="1600" b="1" dirty="0">
                <a:solidFill>
                  <a:prstClr val="white"/>
                </a:solidFill>
              </a:rPr>
              <a:t>새로운 작업증명 기술 개발 필요</a:t>
            </a: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xmlns="" xmlns:lc="http://schemas.openxmlformats.org/drawingml/2006/lockedCanvas" id="{6FE7589C-4A3D-44A3-B2DB-502180C6B93F}"/>
              </a:ext>
            </a:extLst>
          </p:cNvPr>
          <p:cNvSpPr/>
          <p:nvPr/>
        </p:nvSpPr>
        <p:spPr>
          <a:xfrm>
            <a:off x="395536" y="908720"/>
            <a:ext cx="549805" cy="629360"/>
          </a:xfrm>
          <a:prstGeom prst="ellipse">
            <a:avLst/>
          </a:prstGeom>
          <a:solidFill>
            <a:srgbClr val="0255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xmlns="" xmlns:lc="http://schemas.openxmlformats.org/drawingml/2006/lockedCanvas" id="{73FA7444-1973-44B3-81D8-51E1CA0E75F8}"/>
              </a:ext>
            </a:extLst>
          </p:cNvPr>
          <p:cNvSpPr/>
          <p:nvPr/>
        </p:nvSpPr>
        <p:spPr>
          <a:xfrm>
            <a:off x="1070157" y="1487514"/>
            <a:ext cx="7822323" cy="81560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>
                <a:solidFill>
                  <a:prstClr val="black"/>
                </a:solidFill>
              </a:rPr>
              <a:t>ASIC </a:t>
            </a:r>
            <a:r>
              <a:rPr lang="ko-KR" altLang="en-US" sz="1400" dirty="0">
                <a:solidFill>
                  <a:prstClr val="black"/>
                </a:solidFill>
              </a:rPr>
              <a:t>채굴기의 출현</a:t>
            </a:r>
            <a:r>
              <a:rPr lang="en-US" altLang="ko-KR" sz="1400" dirty="0">
                <a:solidFill>
                  <a:prstClr val="black"/>
                </a:solidFill>
              </a:rPr>
              <a:t>, </a:t>
            </a:r>
            <a:r>
              <a:rPr lang="ko-KR" altLang="en-US" sz="1400" dirty="0">
                <a:solidFill>
                  <a:prstClr val="black"/>
                </a:solidFill>
              </a:rPr>
              <a:t>소수의 채굴 점유</a:t>
            </a:r>
            <a:r>
              <a:rPr lang="en-US" altLang="ko-KR" sz="1400" dirty="0">
                <a:solidFill>
                  <a:prstClr val="black"/>
                </a:solidFill>
              </a:rPr>
              <a:t>, </a:t>
            </a:r>
            <a:r>
              <a:rPr lang="ko-KR" altLang="en-US" sz="1400" dirty="0">
                <a:solidFill>
                  <a:prstClr val="black"/>
                </a:solidFill>
              </a:rPr>
              <a:t>재 중앙화 문제 발생</a:t>
            </a:r>
          </a:p>
          <a:p>
            <a:pPr marL="285750" indent="-285750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400" dirty="0">
                <a:solidFill>
                  <a:prstClr val="black"/>
                </a:solidFill>
              </a:rPr>
              <a:t>소수 채굴업자 블록체인 보상 독점</a:t>
            </a:r>
          </a:p>
          <a:p>
            <a:pPr marL="285750" indent="-285750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400" dirty="0">
                <a:solidFill>
                  <a:prstClr val="black"/>
                </a:solidFill>
              </a:rPr>
              <a:t>채굴업자 담합</a:t>
            </a:r>
            <a:r>
              <a:rPr lang="en-US" altLang="ko-KR" sz="1400" dirty="0">
                <a:solidFill>
                  <a:prstClr val="black"/>
                </a:solidFill>
              </a:rPr>
              <a:t>, </a:t>
            </a:r>
            <a:r>
              <a:rPr lang="ko-KR" altLang="en-US" sz="1400" dirty="0">
                <a:solidFill>
                  <a:prstClr val="black"/>
                </a:solidFill>
              </a:rPr>
              <a:t>블록 </a:t>
            </a:r>
            <a:r>
              <a:rPr lang="ko-KR" altLang="en-US" sz="1400" dirty="0" err="1">
                <a:solidFill>
                  <a:prstClr val="black"/>
                </a:solidFill>
              </a:rPr>
              <a:t>위〮변조</a:t>
            </a:r>
            <a:r>
              <a:rPr lang="ko-KR" altLang="en-US" sz="1400" dirty="0">
                <a:solidFill>
                  <a:prstClr val="black"/>
                </a:solidFill>
              </a:rPr>
              <a:t> 위험 대두</a:t>
            </a:r>
          </a:p>
        </p:txBody>
      </p:sp>
      <p:graphicFrame>
        <p:nvGraphicFramePr>
          <p:cNvPr id="54" name="차트 53">
            <a:extLst>
              <a:ext uri="{FF2B5EF4-FFF2-40B4-BE49-F238E27FC236}">
                <a16:creationId xmlns:a16="http://schemas.microsoft.com/office/drawing/2014/main" xmlns="" xmlns:lc="http://schemas.openxmlformats.org/drawingml/2006/lockedCanvas" id="{B2B2AA16-63F5-4FAE-9A59-20C4236518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01088205"/>
              </p:ext>
            </p:extLst>
          </p:nvPr>
        </p:nvGraphicFramePr>
        <p:xfrm>
          <a:off x="5541331" y="2420888"/>
          <a:ext cx="2750892" cy="24764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6" name="직사각형 55">
            <a:extLst>
              <a:ext uri="{FF2B5EF4-FFF2-40B4-BE49-F238E27FC236}">
                <a16:creationId xmlns:a16="http://schemas.microsoft.com/office/drawing/2014/main" xmlns="" xmlns:lc="http://schemas.openxmlformats.org/drawingml/2006/lockedCanvas" id="{58D5E998-FFFB-44B0-8F0C-122458776EDB}"/>
              </a:ext>
            </a:extLst>
          </p:cNvPr>
          <p:cNvSpPr/>
          <p:nvPr/>
        </p:nvSpPr>
        <p:spPr>
          <a:xfrm>
            <a:off x="873288" y="5056063"/>
            <a:ext cx="2835118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kumimoji="1" lang="ko-KR" altLang="en-US" sz="1600" b="1" dirty="0">
                <a:solidFill>
                  <a:prstClr val="black"/>
                </a:solidFill>
              </a:rPr>
              <a:t>중앙화 된 블록체인 네트워크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xmlns="" xmlns:lc="http://schemas.openxmlformats.org/drawingml/2006/lockedCanvas" id="{6172723F-850A-46B3-B980-54A40AC79148}"/>
              </a:ext>
            </a:extLst>
          </p:cNvPr>
          <p:cNvSpPr/>
          <p:nvPr/>
        </p:nvSpPr>
        <p:spPr>
          <a:xfrm>
            <a:off x="5325307" y="5056063"/>
            <a:ext cx="3182940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kumimoji="1" lang="ko-KR" altLang="en-US" sz="1600" b="1" dirty="0">
                <a:solidFill>
                  <a:srgbClr val="0255B8"/>
                </a:solidFill>
              </a:rPr>
              <a:t>탈 </a:t>
            </a:r>
            <a:r>
              <a:rPr kumimoji="1" lang="ko-KR" altLang="en-US" sz="1600" b="1" dirty="0" smtClean="0">
                <a:solidFill>
                  <a:srgbClr val="0255B8"/>
                </a:solidFill>
              </a:rPr>
              <a:t>중앙화된 </a:t>
            </a:r>
            <a:r>
              <a:rPr kumimoji="1" lang="ko-KR" altLang="en-US" sz="1600" b="1" dirty="0">
                <a:solidFill>
                  <a:srgbClr val="0255B8"/>
                </a:solidFill>
              </a:rPr>
              <a:t>블록체인 네트워크</a:t>
            </a:r>
          </a:p>
        </p:txBody>
      </p:sp>
      <p:pic>
        <p:nvPicPr>
          <p:cNvPr id="58" name="그림 57">
            <a:extLst>
              <a:ext uri="{FF2B5EF4-FFF2-40B4-BE49-F238E27FC236}">
                <a16:creationId xmlns:a16="http://schemas.microsoft.com/office/drawing/2014/main" xmlns="" xmlns:lc="http://schemas.openxmlformats.org/drawingml/2006/lockedCanvas" id="{BB5AAB2A-9E8D-4CB3-86B8-6284BEF4DF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566" y="1009138"/>
            <a:ext cx="377727" cy="433769"/>
          </a:xfrm>
          <a:prstGeom prst="rect">
            <a:avLst/>
          </a:prstGeom>
        </p:spPr>
      </p:pic>
      <p:sp>
        <p:nvSpPr>
          <p:cNvPr id="17" name="톱니 모양의 오른쪽 화살표[N] 12">
            <a:extLst>
              <a:ext uri="{FF2B5EF4-FFF2-40B4-BE49-F238E27FC236}">
                <a16:creationId xmlns="" xmlns:a16="http://schemas.microsoft.com/office/drawing/2014/main" id="{132BD0E5-C4EA-E348-B5D8-F1E3A1A883E8}"/>
              </a:ext>
            </a:extLst>
          </p:cNvPr>
          <p:cNvSpPr/>
          <p:nvPr/>
        </p:nvSpPr>
        <p:spPr>
          <a:xfrm>
            <a:off x="4330770" y="3468960"/>
            <a:ext cx="601270" cy="429208"/>
          </a:xfrm>
          <a:prstGeom prst="notched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prstClr val="black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="" xmlns:a16="http://schemas.microsoft.com/office/drawing/2014/main" id="{4C70D3A6-2D13-4F22-9C06-C56F2B48E196}"/>
              </a:ext>
            </a:extLst>
          </p:cNvPr>
          <p:cNvSpPr/>
          <p:nvPr/>
        </p:nvSpPr>
        <p:spPr>
          <a:xfrm>
            <a:off x="336000" y="5517224"/>
            <a:ext cx="8556480" cy="5760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b="1" kern="0" spc="-50" dirty="0">
                <a:solidFill>
                  <a:srgbClr val="FF0000"/>
                </a:solidFill>
              </a:rPr>
              <a:t>탈 중앙화된 블록체인 네트워크를 구성</a:t>
            </a:r>
            <a:r>
              <a:rPr lang="ko-KR" altLang="en-US" sz="1600" kern="0" spc="-50" dirty="0">
                <a:solidFill>
                  <a:prstClr val="black"/>
                </a:solidFill>
              </a:rPr>
              <a:t>함으로써</a:t>
            </a:r>
            <a:r>
              <a:rPr lang="en-US" altLang="ko-KR" sz="1600" kern="0" spc="-50" dirty="0">
                <a:solidFill>
                  <a:prstClr val="black"/>
                </a:solidFill>
              </a:rPr>
              <a:t>, </a:t>
            </a:r>
            <a:r>
              <a:rPr lang="ko-KR" altLang="en-US" sz="1600" kern="0" spc="-50" dirty="0">
                <a:solidFill>
                  <a:prstClr val="black"/>
                </a:solidFill>
              </a:rPr>
              <a:t>소수 채굴업자에 의한 보상 독점</a:t>
            </a:r>
            <a:r>
              <a:rPr lang="en-US" altLang="ko-KR" sz="1600" kern="0" spc="-50" dirty="0">
                <a:solidFill>
                  <a:prstClr val="black"/>
                </a:solidFill>
              </a:rPr>
              <a:t>,</a:t>
            </a:r>
            <a:r>
              <a:rPr lang="ko-KR" altLang="en-US" sz="1600" kern="0" spc="-50" dirty="0">
                <a:solidFill>
                  <a:prstClr val="black"/>
                </a:solidFill>
              </a:rPr>
              <a:t> 담합 및 블록 위조</a:t>
            </a:r>
            <a:r>
              <a:rPr lang="en-US" altLang="ko-KR" sz="1600" kern="0" spc="-50" dirty="0">
                <a:solidFill>
                  <a:prstClr val="black"/>
                </a:solidFill>
              </a:rPr>
              <a:t>/</a:t>
            </a:r>
            <a:r>
              <a:rPr lang="ko-KR" altLang="en-US" sz="1600" kern="0" spc="-50" dirty="0">
                <a:solidFill>
                  <a:prstClr val="black"/>
                </a:solidFill>
              </a:rPr>
              <a:t>변조 위험을 예방</a:t>
            </a:r>
            <a:r>
              <a:rPr lang="en-US" altLang="ko-KR" sz="1600" kern="0" spc="-50" dirty="0">
                <a:solidFill>
                  <a:prstClr val="black"/>
                </a:solidFill>
              </a:rPr>
              <a:t>.</a:t>
            </a:r>
            <a:endParaRPr lang="ko-KR" altLang="en-US" sz="1600" kern="0" spc="-50" dirty="0">
              <a:solidFill>
                <a:prstClr val="black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="" xmlns:a16="http://schemas.microsoft.com/office/drawing/2014/main" id="{C53D36E5-5476-4409-B7F7-5ECC3840BD36}"/>
              </a:ext>
            </a:extLst>
          </p:cNvPr>
          <p:cNvSpPr/>
          <p:nvPr/>
        </p:nvSpPr>
        <p:spPr>
          <a:xfrm>
            <a:off x="336000" y="5445224"/>
            <a:ext cx="8556480" cy="45719"/>
          </a:xfrm>
          <a:prstGeom prst="rect">
            <a:avLst/>
          </a:prstGeom>
          <a:solidFill>
            <a:srgbClr val="0255B8"/>
          </a:solidFill>
          <a:ln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ts val="600"/>
              </a:spcBef>
            </a:pPr>
            <a:endParaRPr lang="ko-KR" altLang="en-US" b="1" kern="0" dirty="0">
              <a:solidFill>
                <a:srgbClr val="0255B8"/>
              </a:solidFill>
            </a:endParaRPr>
          </a:p>
        </p:txBody>
      </p:sp>
      <p:pic>
        <p:nvPicPr>
          <p:cNvPr id="20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03" t="5265" r="1777"/>
          <a:stretch/>
        </p:blipFill>
        <p:spPr bwMode="auto">
          <a:xfrm>
            <a:off x="679064" y="2556278"/>
            <a:ext cx="3275656" cy="22954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872475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28650" y="74814"/>
            <a:ext cx="50624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prstClr val="black"/>
                </a:solidFill>
              </a:rPr>
              <a:t>연구 목표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683568" y="1340986"/>
            <a:ext cx="7778172" cy="531220"/>
            <a:chOff x="683568" y="1340986"/>
            <a:chExt cx="7778172" cy="531220"/>
          </a:xfrm>
        </p:grpSpPr>
        <p:sp>
          <p:nvSpPr>
            <p:cNvPr id="6" name="직사각형 5">
              <a:extLst>
                <a:ext uri="{FF2B5EF4-FFF2-40B4-BE49-F238E27FC236}">
                  <a16:creationId xmlns="" xmlns:a16="http://schemas.microsoft.com/office/drawing/2014/main" id="{12780CB0-F156-4A6B-A8BA-9F7DA225E04E}"/>
                </a:ext>
              </a:extLst>
            </p:cNvPr>
            <p:cNvSpPr/>
            <p:nvPr/>
          </p:nvSpPr>
          <p:spPr>
            <a:xfrm>
              <a:off x="970948" y="1340986"/>
              <a:ext cx="7490792" cy="531220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fontAlgn="base"/>
              <a:r>
                <a:rPr lang="ko-KR" altLang="en-US" sz="1600" dirty="0">
                  <a:solidFill>
                    <a:prstClr val="black"/>
                  </a:solidFill>
                </a:rPr>
                <a:t>블록체인의 </a:t>
              </a:r>
              <a:r>
                <a:rPr lang="ko-KR" altLang="en-US" sz="1600" dirty="0" err="1">
                  <a:solidFill>
                    <a:prstClr val="black"/>
                  </a:solidFill>
                </a:rPr>
                <a:t>재중앙화</a:t>
              </a:r>
              <a:r>
                <a:rPr lang="ko-KR" altLang="en-US" sz="1600" dirty="0">
                  <a:solidFill>
                    <a:prstClr val="black"/>
                  </a:solidFill>
                </a:rPr>
                <a:t> 문제 해결을 위한 </a:t>
              </a:r>
              <a:r>
                <a:rPr lang="ko-KR" altLang="en-US" sz="1600" b="1" dirty="0">
                  <a:solidFill>
                    <a:srgbClr val="FF0000"/>
                  </a:solidFill>
                </a:rPr>
                <a:t>암호</a:t>
              </a:r>
              <a:r>
                <a:rPr lang="en-US" altLang="ko-KR" sz="1600" b="1" dirty="0">
                  <a:solidFill>
                    <a:srgbClr val="FF0000"/>
                  </a:solidFill>
                </a:rPr>
                <a:t>-</a:t>
              </a:r>
              <a:r>
                <a:rPr lang="ko-KR" altLang="en-US" sz="1600" b="1" dirty="0">
                  <a:solidFill>
                    <a:srgbClr val="FF0000"/>
                  </a:solidFill>
                </a:rPr>
                <a:t>부호 기반의 작업증명 방식 연구</a:t>
              </a:r>
            </a:p>
          </p:txBody>
        </p:sp>
        <p:sp>
          <p:nvSpPr>
            <p:cNvPr id="7" name="타원 6">
              <a:extLst>
                <a:ext uri="{FF2B5EF4-FFF2-40B4-BE49-F238E27FC236}">
                  <a16:creationId xmlns="" xmlns:a16="http://schemas.microsoft.com/office/drawing/2014/main" id="{33933F02-7E6C-48C4-BBCA-94D2B6A28723}"/>
                </a:ext>
              </a:extLst>
            </p:cNvPr>
            <p:cNvSpPr/>
            <p:nvPr/>
          </p:nvSpPr>
          <p:spPr>
            <a:xfrm>
              <a:off x="683568" y="1340988"/>
              <a:ext cx="531220" cy="531218"/>
            </a:xfrm>
            <a:prstGeom prst="ellipse">
              <a:avLst/>
            </a:prstGeom>
            <a:solidFill>
              <a:srgbClr val="0255B8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800" dirty="0">
                  <a:solidFill>
                    <a:prstClr val="white"/>
                  </a:solidFill>
                </a:rPr>
                <a:t>01</a:t>
              </a:r>
              <a:endParaRPr lang="ko-KR" altLang="en-US" sz="28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4" name="그룹 3"/>
          <p:cNvGrpSpPr/>
          <p:nvPr/>
        </p:nvGrpSpPr>
        <p:grpSpPr>
          <a:xfrm>
            <a:off x="683568" y="2005218"/>
            <a:ext cx="7778172" cy="531220"/>
            <a:chOff x="683568" y="2002744"/>
            <a:chExt cx="7778172" cy="531220"/>
          </a:xfrm>
        </p:grpSpPr>
        <p:sp>
          <p:nvSpPr>
            <p:cNvPr id="8" name="직사각형 7">
              <a:extLst>
                <a:ext uri="{FF2B5EF4-FFF2-40B4-BE49-F238E27FC236}">
                  <a16:creationId xmlns="" xmlns:a16="http://schemas.microsoft.com/office/drawing/2014/main" id="{E9FB9D2B-C7F1-4804-B968-DD7653B0D33D}"/>
                </a:ext>
              </a:extLst>
            </p:cNvPr>
            <p:cNvSpPr/>
            <p:nvPr/>
          </p:nvSpPr>
          <p:spPr>
            <a:xfrm>
              <a:off x="970948" y="2002744"/>
              <a:ext cx="7490792" cy="531220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fontAlgn="base"/>
              <a:r>
                <a:rPr lang="ko-KR" altLang="en-US" sz="1600" dirty="0">
                  <a:solidFill>
                    <a:prstClr val="black"/>
                  </a:solidFill>
                </a:rPr>
                <a:t>출원한 암호</a:t>
              </a:r>
              <a:r>
                <a:rPr lang="en-US" altLang="ko-KR" sz="1600" dirty="0">
                  <a:solidFill>
                    <a:prstClr val="black"/>
                  </a:solidFill>
                </a:rPr>
                <a:t>-</a:t>
              </a:r>
              <a:r>
                <a:rPr lang="ko-KR" altLang="en-US" sz="1600" dirty="0">
                  <a:solidFill>
                    <a:prstClr val="black"/>
                  </a:solidFill>
                </a:rPr>
                <a:t>부호 작업증명 특허</a:t>
              </a:r>
              <a:r>
                <a:rPr lang="en-US" altLang="ko-KR" sz="1600" dirty="0">
                  <a:solidFill>
                    <a:prstClr val="black"/>
                  </a:solidFill>
                </a:rPr>
                <a:t>(GIST IP)</a:t>
              </a:r>
              <a:r>
                <a:rPr lang="ko-KR" altLang="en-US" sz="1600" dirty="0">
                  <a:solidFill>
                    <a:prstClr val="black"/>
                  </a:solidFill>
                </a:rPr>
                <a:t>를 기반으로 </a:t>
              </a:r>
              <a:r>
                <a:rPr lang="ko-KR" altLang="en-US" sz="1600" b="1" dirty="0">
                  <a:solidFill>
                    <a:srgbClr val="FF0000"/>
                  </a:solidFill>
                </a:rPr>
                <a:t>블록체인 시스템 개발</a:t>
              </a:r>
            </a:p>
          </p:txBody>
        </p:sp>
        <p:sp>
          <p:nvSpPr>
            <p:cNvPr id="9" name="타원 8">
              <a:extLst>
                <a:ext uri="{FF2B5EF4-FFF2-40B4-BE49-F238E27FC236}">
                  <a16:creationId xmlns="" xmlns:a16="http://schemas.microsoft.com/office/drawing/2014/main" id="{63512C16-B679-4E11-AEAD-B9149C3E3780}"/>
                </a:ext>
              </a:extLst>
            </p:cNvPr>
            <p:cNvSpPr/>
            <p:nvPr/>
          </p:nvSpPr>
          <p:spPr>
            <a:xfrm>
              <a:off x="683568" y="2002746"/>
              <a:ext cx="531220" cy="531218"/>
            </a:xfrm>
            <a:prstGeom prst="ellipse">
              <a:avLst/>
            </a:prstGeom>
            <a:solidFill>
              <a:srgbClr val="0255B8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800" dirty="0">
                  <a:solidFill>
                    <a:prstClr val="white"/>
                  </a:solidFill>
                </a:rPr>
                <a:t>02</a:t>
              </a:r>
              <a:endParaRPr lang="ko-KR" altLang="en-US" sz="28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21" name="그룹 20"/>
          <p:cNvGrpSpPr/>
          <p:nvPr/>
        </p:nvGrpSpPr>
        <p:grpSpPr>
          <a:xfrm>
            <a:off x="683568" y="2667242"/>
            <a:ext cx="7778172" cy="531220"/>
            <a:chOff x="683568" y="2636912"/>
            <a:chExt cx="7778172" cy="531220"/>
          </a:xfrm>
        </p:grpSpPr>
        <p:sp>
          <p:nvSpPr>
            <p:cNvPr id="10" name="직사각형 9">
              <a:extLst>
                <a:ext uri="{FF2B5EF4-FFF2-40B4-BE49-F238E27FC236}">
                  <a16:creationId xmlns="" xmlns:a16="http://schemas.microsoft.com/office/drawing/2014/main" id="{5089B46B-1598-401A-851D-BF4ABCECE316}"/>
                </a:ext>
              </a:extLst>
            </p:cNvPr>
            <p:cNvSpPr/>
            <p:nvPr/>
          </p:nvSpPr>
          <p:spPr>
            <a:xfrm>
              <a:off x="970948" y="2636912"/>
              <a:ext cx="7490792" cy="531220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fontAlgn="base"/>
              <a:r>
                <a:rPr lang="ko-KR" altLang="en-US" sz="1600" dirty="0">
                  <a:solidFill>
                    <a:prstClr val="black"/>
                  </a:solidFill>
                </a:rPr>
                <a:t>개발한 블록체인 시스템을 </a:t>
              </a:r>
              <a:r>
                <a:rPr lang="ko-KR" altLang="en-US" sz="1600" b="1" dirty="0">
                  <a:solidFill>
                    <a:srgbClr val="FF0000"/>
                  </a:solidFill>
                </a:rPr>
                <a:t>기존 </a:t>
              </a:r>
              <a:r>
                <a:rPr lang="ko-KR" altLang="en-US" sz="1600" b="1" dirty="0" err="1">
                  <a:solidFill>
                    <a:srgbClr val="FF0000"/>
                  </a:solidFill>
                </a:rPr>
                <a:t>암호화폐</a:t>
              </a:r>
              <a:r>
                <a:rPr lang="en-US" altLang="ko-KR" sz="1600" b="1" dirty="0">
                  <a:solidFill>
                    <a:srgbClr val="FF0000"/>
                  </a:solidFill>
                </a:rPr>
                <a:t>(</a:t>
              </a:r>
              <a:r>
                <a:rPr lang="ko-KR" altLang="en-US" sz="1600" b="1" dirty="0">
                  <a:solidFill>
                    <a:srgbClr val="FF0000"/>
                  </a:solidFill>
                </a:rPr>
                <a:t>비트코인</a:t>
              </a:r>
              <a:r>
                <a:rPr lang="en-US" altLang="ko-KR" sz="1600" b="1" dirty="0">
                  <a:solidFill>
                    <a:srgbClr val="FF0000"/>
                  </a:solidFill>
                </a:rPr>
                <a:t>/</a:t>
              </a:r>
              <a:r>
                <a:rPr lang="ko-KR" altLang="en-US" sz="1600" b="1" dirty="0">
                  <a:solidFill>
                    <a:srgbClr val="FF0000"/>
                  </a:solidFill>
                </a:rPr>
                <a:t>이더리움</a:t>
              </a:r>
              <a:r>
                <a:rPr lang="en-US" altLang="ko-KR" sz="1600" b="1" dirty="0">
                  <a:solidFill>
                    <a:srgbClr val="FF0000"/>
                  </a:solidFill>
                </a:rPr>
                <a:t>)</a:t>
              </a:r>
              <a:r>
                <a:rPr lang="ko-KR" altLang="en-US" sz="1600" b="1" dirty="0">
                  <a:solidFill>
                    <a:srgbClr val="FF0000"/>
                  </a:solidFill>
                </a:rPr>
                <a:t>에 적용 및 확산</a:t>
              </a:r>
            </a:p>
          </p:txBody>
        </p:sp>
        <p:sp>
          <p:nvSpPr>
            <p:cNvPr id="11" name="타원 10">
              <a:extLst>
                <a:ext uri="{FF2B5EF4-FFF2-40B4-BE49-F238E27FC236}">
                  <a16:creationId xmlns="" xmlns:a16="http://schemas.microsoft.com/office/drawing/2014/main" id="{AA8B0128-76F1-40E5-92EA-48A394A33BCA}"/>
                </a:ext>
              </a:extLst>
            </p:cNvPr>
            <p:cNvSpPr/>
            <p:nvPr/>
          </p:nvSpPr>
          <p:spPr>
            <a:xfrm>
              <a:off x="683568" y="2636914"/>
              <a:ext cx="531220" cy="531218"/>
            </a:xfrm>
            <a:prstGeom prst="ellipse">
              <a:avLst/>
            </a:prstGeom>
            <a:solidFill>
              <a:srgbClr val="0255B8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800" dirty="0">
                  <a:solidFill>
                    <a:prstClr val="white"/>
                  </a:solidFill>
                </a:rPr>
                <a:t>03</a:t>
              </a:r>
              <a:endParaRPr lang="ko-KR" altLang="en-US" sz="28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="" xmlns:a16="http://schemas.microsoft.com/office/drawing/2014/main" id="{2A6E199E-5364-4DC3-8784-23B8E5DF88FF}"/>
              </a:ext>
            </a:extLst>
          </p:cNvPr>
          <p:cNvGrpSpPr/>
          <p:nvPr/>
        </p:nvGrpSpPr>
        <p:grpSpPr>
          <a:xfrm>
            <a:off x="683568" y="3329828"/>
            <a:ext cx="7778172" cy="531220"/>
            <a:chOff x="322220" y="5603202"/>
            <a:chExt cx="7778172" cy="531220"/>
          </a:xfrm>
        </p:grpSpPr>
        <p:sp>
          <p:nvSpPr>
            <p:cNvPr id="13" name="직사각형 12">
              <a:extLst>
                <a:ext uri="{FF2B5EF4-FFF2-40B4-BE49-F238E27FC236}">
                  <a16:creationId xmlns="" xmlns:a16="http://schemas.microsoft.com/office/drawing/2014/main" id="{893FDAC8-5545-4370-B66B-6BCA55425BE2}"/>
                </a:ext>
              </a:extLst>
            </p:cNvPr>
            <p:cNvSpPr/>
            <p:nvPr/>
          </p:nvSpPr>
          <p:spPr>
            <a:xfrm>
              <a:off x="609600" y="5603202"/>
              <a:ext cx="7490792" cy="531220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fontAlgn="base"/>
              <a:r>
                <a:rPr lang="ko-KR" altLang="en-US" sz="1600" dirty="0">
                  <a:solidFill>
                    <a:prstClr val="black"/>
                  </a:solidFill>
                </a:rPr>
                <a:t>개발한 기술을 기업에 기술이전 혹은 </a:t>
              </a:r>
              <a:r>
                <a:rPr lang="ko-KR" altLang="en-US" sz="1600" b="1" dirty="0" err="1">
                  <a:solidFill>
                    <a:srgbClr val="FF0000"/>
                  </a:solidFill>
                </a:rPr>
                <a:t>연구소기업</a:t>
              </a:r>
              <a:r>
                <a:rPr lang="ko-KR" altLang="en-US" sz="1600" b="1" dirty="0">
                  <a:solidFill>
                    <a:srgbClr val="FF0000"/>
                  </a:solidFill>
                </a:rPr>
                <a:t> 설립 목표</a:t>
              </a:r>
            </a:p>
          </p:txBody>
        </p:sp>
        <p:sp>
          <p:nvSpPr>
            <p:cNvPr id="14" name="타원 13">
              <a:extLst>
                <a:ext uri="{FF2B5EF4-FFF2-40B4-BE49-F238E27FC236}">
                  <a16:creationId xmlns="" xmlns:a16="http://schemas.microsoft.com/office/drawing/2014/main" id="{A62F43C0-72CB-448B-96A9-3BD5C6B2A948}"/>
                </a:ext>
              </a:extLst>
            </p:cNvPr>
            <p:cNvSpPr/>
            <p:nvPr/>
          </p:nvSpPr>
          <p:spPr>
            <a:xfrm>
              <a:off x="322220" y="5603204"/>
              <a:ext cx="531220" cy="531218"/>
            </a:xfrm>
            <a:prstGeom prst="ellipse">
              <a:avLst/>
            </a:prstGeom>
            <a:solidFill>
              <a:srgbClr val="0255B8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800" dirty="0">
                  <a:solidFill>
                    <a:prstClr val="white"/>
                  </a:solidFill>
                </a:rPr>
                <a:t>04</a:t>
              </a:r>
              <a:endParaRPr lang="ko-KR" altLang="en-US" sz="2800" dirty="0">
                <a:solidFill>
                  <a:prstClr val="white"/>
                </a:solidFill>
              </a:endParaRPr>
            </a:p>
          </p:txBody>
        </p:sp>
      </p:grpSp>
      <p:sp>
        <p:nvSpPr>
          <p:cNvPr id="15" name="모서리가 둥근 직사각형 14">
            <a:extLst>
              <a:ext uri="{FF2B5EF4-FFF2-40B4-BE49-F238E27FC236}">
                <a16:creationId xmlns="" xmlns:a16="http://schemas.microsoft.com/office/drawing/2014/main" id="{288AE93E-637D-B548-A1C5-4BA53B828E35}"/>
              </a:ext>
            </a:extLst>
          </p:cNvPr>
          <p:cNvSpPr/>
          <p:nvPr/>
        </p:nvSpPr>
        <p:spPr>
          <a:xfrm>
            <a:off x="683568" y="4325152"/>
            <a:ext cx="2366778" cy="1264088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dirty="0">
                <a:solidFill>
                  <a:prstClr val="black"/>
                </a:solidFill>
              </a:rPr>
              <a:t>GIST IP </a:t>
            </a:r>
            <a:r>
              <a:rPr kumimoji="1" lang="ko-KR" altLang="en-US" sz="1600" dirty="0">
                <a:solidFill>
                  <a:prstClr val="black"/>
                </a:solidFill>
              </a:rPr>
              <a:t>확보</a:t>
            </a:r>
            <a:endParaRPr kumimoji="1" lang="en-US" altLang="ko-KR" sz="1600" dirty="0">
              <a:solidFill>
                <a:prstClr val="black"/>
              </a:solidFill>
            </a:endParaRPr>
          </a:p>
          <a:p>
            <a:pPr algn="ctr"/>
            <a:r>
              <a:rPr kumimoji="1" lang="en-US" altLang="ko-KR" sz="1600" dirty="0">
                <a:solidFill>
                  <a:prstClr val="black"/>
                </a:solidFill>
              </a:rPr>
              <a:t>(</a:t>
            </a:r>
            <a:r>
              <a:rPr kumimoji="1" lang="ko-KR" altLang="en-US" sz="1600" dirty="0">
                <a:solidFill>
                  <a:prstClr val="black"/>
                </a:solidFill>
              </a:rPr>
              <a:t>부호</a:t>
            </a:r>
            <a:r>
              <a:rPr kumimoji="1" lang="en-US" altLang="ko-KR" sz="1600" dirty="0">
                <a:solidFill>
                  <a:prstClr val="black"/>
                </a:solidFill>
              </a:rPr>
              <a:t>-</a:t>
            </a:r>
            <a:r>
              <a:rPr kumimoji="1" lang="ko-KR" altLang="en-US" sz="1600" dirty="0">
                <a:solidFill>
                  <a:prstClr val="black"/>
                </a:solidFill>
              </a:rPr>
              <a:t>암호 화폐 시스템</a:t>
            </a:r>
            <a:r>
              <a:rPr kumimoji="1" lang="en-US" altLang="ko-KR" sz="1600" dirty="0">
                <a:solidFill>
                  <a:prstClr val="black"/>
                </a:solidFill>
              </a:rPr>
              <a:t>)</a:t>
            </a:r>
          </a:p>
          <a:p>
            <a:pPr algn="ctr"/>
            <a:r>
              <a:rPr kumimoji="1" lang="en-US" altLang="ko-KR" sz="1600" dirty="0">
                <a:solidFill>
                  <a:srgbClr val="FF0000"/>
                </a:solidFill>
              </a:rPr>
              <a:t>2018.08.21</a:t>
            </a:r>
            <a:endParaRPr kumimoji="1" lang="ko-KR" altLang="en-US" sz="1600" dirty="0">
              <a:solidFill>
                <a:prstClr val="black"/>
              </a:solidFill>
            </a:endParaRPr>
          </a:p>
        </p:txBody>
      </p:sp>
      <p:sp>
        <p:nvSpPr>
          <p:cNvPr id="20" name="톱니 모양의 오른쪽 화살표[N] 12">
            <a:extLst>
              <a:ext uri="{FF2B5EF4-FFF2-40B4-BE49-F238E27FC236}">
                <a16:creationId xmlns="" xmlns:a16="http://schemas.microsoft.com/office/drawing/2014/main" id="{132BD0E5-C4EA-E348-B5D8-F1E3A1A883E8}"/>
              </a:ext>
            </a:extLst>
          </p:cNvPr>
          <p:cNvSpPr/>
          <p:nvPr/>
        </p:nvSpPr>
        <p:spPr>
          <a:xfrm>
            <a:off x="3126912" y="4727984"/>
            <a:ext cx="1094014" cy="429208"/>
          </a:xfrm>
          <a:prstGeom prst="notched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prstClr val="black"/>
              </a:solidFill>
            </a:endParaRP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="" xmlns:a16="http://schemas.microsoft.com/office/drawing/2014/main" id="{E4EED841-607C-134F-A480-D44401723BDB}"/>
              </a:ext>
            </a:extLst>
          </p:cNvPr>
          <p:cNvSpPr/>
          <p:nvPr/>
        </p:nvSpPr>
        <p:spPr>
          <a:xfrm>
            <a:off x="4253632" y="5023913"/>
            <a:ext cx="2023542" cy="70934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>
                <a:solidFill>
                  <a:prstClr val="black"/>
                </a:solidFill>
              </a:rPr>
              <a:t>GIST IP </a:t>
            </a:r>
            <a:r>
              <a:rPr kumimoji="1" lang="ko-KR" altLang="en-US" sz="1200" dirty="0">
                <a:solidFill>
                  <a:prstClr val="black"/>
                </a:solidFill>
              </a:rPr>
              <a:t>기반 </a:t>
            </a:r>
            <a:endParaRPr kumimoji="1" lang="en-US" altLang="ko-KR" sz="1200" dirty="0">
              <a:solidFill>
                <a:prstClr val="black"/>
              </a:solidFill>
            </a:endParaRPr>
          </a:p>
          <a:p>
            <a:pPr algn="ctr"/>
            <a:r>
              <a:rPr kumimoji="1" lang="ko-KR" altLang="en-US" sz="1200" dirty="0">
                <a:solidFill>
                  <a:prstClr val="black"/>
                </a:solidFill>
              </a:rPr>
              <a:t>블록체인 시스템 개발</a:t>
            </a:r>
            <a:endParaRPr kumimoji="1" lang="en-US" altLang="ko-KR" sz="1200" dirty="0">
              <a:solidFill>
                <a:prstClr val="black"/>
              </a:solidFill>
            </a:endParaRPr>
          </a:p>
          <a:p>
            <a:pPr algn="ctr"/>
            <a:r>
              <a:rPr kumimoji="1" lang="en-US" altLang="ko-KR" sz="1200" dirty="0">
                <a:solidFill>
                  <a:srgbClr val="FF0000"/>
                </a:solidFill>
              </a:rPr>
              <a:t>&lt;</a:t>
            </a:r>
            <a:r>
              <a:rPr kumimoji="1" lang="en-US" altLang="ko-KR" sz="1200" dirty="0" err="1">
                <a:solidFill>
                  <a:srgbClr val="FF0000"/>
                </a:solidFill>
              </a:rPr>
              <a:t>DeSecure</a:t>
            </a:r>
            <a:r>
              <a:rPr kumimoji="1" lang="en-US" altLang="ko-KR" sz="1200" dirty="0">
                <a:solidFill>
                  <a:srgbClr val="FF0000"/>
                </a:solidFill>
              </a:rPr>
              <a:t> </a:t>
            </a:r>
            <a:r>
              <a:rPr kumimoji="1" lang="ko-KR" altLang="en-US" sz="1200" dirty="0">
                <a:solidFill>
                  <a:srgbClr val="FF0000"/>
                </a:solidFill>
              </a:rPr>
              <a:t>개발</a:t>
            </a:r>
            <a:r>
              <a:rPr kumimoji="1" lang="en-US" altLang="ko-KR" sz="1200" dirty="0">
                <a:solidFill>
                  <a:srgbClr val="FF0000"/>
                </a:solidFill>
              </a:rPr>
              <a:t>&gt;</a:t>
            </a:r>
            <a:endParaRPr kumimoji="1"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="" xmlns:a16="http://schemas.microsoft.com/office/drawing/2014/main" id="{DFFFE964-57C4-6A43-8D56-94F9A873D318}"/>
              </a:ext>
            </a:extLst>
          </p:cNvPr>
          <p:cNvSpPr/>
          <p:nvPr/>
        </p:nvSpPr>
        <p:spPr>
          <a:xfrm>
            <a:off x="6336238" y="4164607"/>
            <a:ext cx="2023542" cy="70934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dirty="0">
                <a:solidFill>
                  <a:prstClr val="black"/>
                </a:solidFill>
              </a:rPr>
              <a:t>기존 암호화폐에 적용</a:t>
            </a:r>
            <a:endParaRPr kumimoji="1" lang="en-US" altLang="ko-KR" sz="1200" dirty="0">
              <a:solidFill>
                <a:prstClr val="black"/>
              </a:solidFill>
            </a:endParaRPr>
          </a:p>
          <a:p>
            <a:pPr algn="ctr"/>
            <a:r>
              <a:rPr kumimoji="1" lang="en-US" altLang="ko-KR" sz="1200" dirty="0">
                <a:solidFill>
                  <a:prstClr val="black"/>
                </a:solidFill>
              </a:rPr>
              <a:t>(</a:t>
            </a:r>
            <a:r>
              <a:rPr kumimoji="1" lang="ko-KR" altLang="en-US" sz="1200" dirty="0">
                <a:solidFill>
                  <a:prstClr val="black"/>
                </a:solidFill>
              </a:rPr>
              <a:t>비트코인</a:t>
            </a:r>
            <a:r>
              <a:rPr kumimoji="1" lang="en-US" altLang="ko-KR" sz="1200" dirty="0">
                <a:solidFill>
                  <a:prstClr val="black"/>
                </a:solidFill>
              </a:rPr>
              <a:t>/</a:t>
            </a:r>
            <a:r>
              <a:rPr kumimoji="1" lang="ko-KR" altLang="en-US" sz="1200" dirty="0">
                <a:solidFill>
                  <a:prstClr val="black"/>
                </a:solidFill>
              </a:rPr>
              <a:t>이더리움</a:t>
            </a:r>
            <a:r>
              <a:rPr kumimoji="1" lang="en-US" altLang="ko-KR" sz="1200" dirty="0">
                <a:solidFill>
                  <a:prstClr val="black"/>
                </a:solidFill>
              </a:rPr>
              <a:t>)</a:t>
            </a:r>
          </a:p>
          <a:p>
            <a:pPr algn="ctr"/>
            <a:r>
              <a:rPr kumimoji="1" lang="en-US" altLang="ko-KR" sz="1200" dirty="0">
                <a:solidFill>
                  <a:srgbClr val="FF0000"/>
                </a:solidFill>
              </a:rPr>
              <a:t>&lt;BTCECC/ETCECC </a:t>
            </a:r>
            <a:r>
              <a:rPr kumimoji="1" lang="ko-KR" altLang="en-US" sz="1200" dirty="0">
                <a:solidFill>
                  <a:srgbClr val="FF0000"/>
                </a:solidFill>
              </a:rPr>
              <a:t>탄생</a:t>
            </a:r>
            <a:r>
              <a:rPr kumimoji="1" lang="en-US" altLang="ko-KR" sz="1200" dirty="0">
                <a:solidFill>
                  <a:srgbClr val="FF0000"/>
                </a:solidFill>
              </a:rPr>
              <a:t>&gt;</a:t>
            </a:r>
            <a:endParaRPr kumimoji="1"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="" xmlns:a16="http://schemas.microsoft.com/office/drawing/2014/main" id="{BD8BBEBB-25F4-C04B-AC48-63F4D3A33948}"/>
              </a:ext>
            </a:extLst>
          </p:cNvPr>
          <p:cNvSpPr/>
          <p:nvPr/>
        </p:nvSpPr>
        <p:spPr>
          <a:xfrm>
            <a:off x="4253632" y="4180011"/>
            <a:ext cx="2023542" cy="70934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4610" algn="ctr" fontAlgn="base" latinLnBrk="0">
              <a:lnSpc>
                <a:spcPct val="130000"/>
              </a:lnSpc>
            </a:pPr>
            <a:r>
              <a:rPr lang="ko-KR" altLang="en-US" sz="1200" kern="0" dirty="0">
                <a:solidFill>
                  <a:srgbClr val="000000"/>
                </a:solidFill>
              </a:rPr>
              <a:t>부호</a:t>
            </a:r>
            <a:r>
              <a:rPr lang="en-US" altLang="ko-KR" sz="1200" kern="0" dirty="0">
                <a:solidFill>
                  <a:srgbClr val="000000"/>
                </a:solidFill>
              </a:rPr>
              <a:t>-</a:t>
            </a:r>
            <a:r>
              <a:rPr lang="ko-KR" altLang="en-US" sz="1200" kern="0" dirty="0">
                <a:solidFill>
                  <a:srgbClr val="000000"/>
                </a:solidFill>
              </a:rPr>
              <a:t>암호 </a:t>
            </a:r>
            <a:r>
              <a:rPr lang="ko-KR" altLang="en-US" sz="1200" kern="0" dirty="0" err="1">
                <a:solidFill>
                  <a:srgbClr val="000000"/>
                </a:solidFill>
              </a:rPr>
              <a:t>작업증명</a:t>
            </a:r>
            <a:r>
              <a:rPr lang="ko-KR" altLang="en-US" sz="1200" kern="0" dirty="0">
                <a:solidFill>
                  <a:srgbClr val="000000"/>
                </a:solidFill>
              </a:rPr>
              <a:t> </a:t>
            </a:r>
            <a:r>
              <a:rPr lang="en-US" altLang="ko-KR" sz="1200" kern="0" dirty="0">
                <a:solidFill>
                  <a:srgbClr val="000000"/>
                </a:solidFill>
              </a:rPr>
              <a:t>1.0 </a:t>
            </a:r>
            <a:r>
              <a:rPr lang="ko-KR" altLang="en-US" sz="1200" kern="0" dirty="0">
                <a:solidFill>
                  <a:srgbClr val="000000"/>
                </a:solidFill>
              </a:rPr>
              <a:t>버전 시스템 개발</a:t>
            </a:r>
            <a:endParaRPr lang="en-US" altLang="ko-KR" sz="1200" kern="0" dirty="0">
              <a:solidFill>
                <a:srgbClr val="000000"/>
              </a:solidFill>
            </a:endParaRPr>
          </a:p>
          <a:p>
            <a:pPr marL="54610" algn="ctr" fontAlgn="base" latinLnBrk="0">
              <a:lnSpc>
                <a:spcPct val="130000"/>
              </a:lnSpc>
            </a:pPr>
            <a:r>
              <a:rPr lang="en-US" altLang="ko-KR" sz="1200" kern="0" dirty="0">
                <a:solidFill>
                  <a:srgbClr val="FF0000"/>
                </a:solidFill>
              </a:rPr>
              <a:t>&lt;ECCPoW </a:t>
            </a:r>
            <a:r>
              <a:rPr lang="ko-KR" altLang="en-US" sz="1200" kern="0" dirty="0">
                <a:solidFill>
                  <a:srgbClr val="FF0000"/>
                </a:solidFill>
              </a:rPr>
              <a:t>개발</a:t>
            </a:r>
            <a:r>
              <a:rPr lang="en-US" altLang="ko-KR" sz="1200" kern="0" dirty="0">
                <a:solidFill>
                  <a:srgbClr val="FF0000"/>
                </a:solidFill>
              </a:rPr>
              <a:t>&gt;</a:t>
            </a:r>
            <a:endParaRPr lang="ko-KR" altLang="en-US" sz="1200" kern="0" dirty="0">
              <a:solidFill>
                <a:srgbClr val="FF0000"/>
              </a:solidFill>
            </a:endParaRP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="" xmlns:a16="http://schemas.microsoft.com/office/drawing/2014/main" id="{E4EED841-607C-134F-A480-D44401723BDB}"/>
              </a:ext>
            </a:extLst>
          </p:cNvPr>
          <p:cNvSpPr/>
          <p:nvPr/>
        </p:nvSpPr>
        <p:spPr>
          <a:xfrm>
            <a:off x="6336238" y="5023913"/>
            <a:ext cx="2046560" cy="70934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dirty="0" err="1">
                <a:solidFill>
                  <a:prstClr val="black"/>
                </a:solidFill>
              </a:rPr>
              <a:t>리버밴스</a:t>
            </a:r>
            <a:r>
              <a:rPr kumimoji="1" lang="ko-KR" altLang="en-US" sz="1200" dirty="0">
                <a:solidFill>
                  <a:prstClr val="black"/>
                </a:solidFill>
              </a:rPr>
              <a:t> 설립</a:t>
            </a:r>
            <a:endParaRPr kumimoji="1" lang="en-US" altLang="ko-KR" sz="1200" dirty="0">
              <a:solidFill>
                <a:prstClr val="black"/>
              </a:solidFill>
            </a:endParaRPr>
          </a:p>
          <a:p>
            <a:pPr algn="ctr"/>
            <a:r>
              <a:rPr kumimoji="1" lang="en-US" altLang="ko-KR" sz="1200" dirty="0">
                <a:solidFill>
                  <a:prstClr val="black"/>
                </a:solidFill>
              </a:rPr>
              <a:t>(</a:t>
            </a:r>
            <a:r>
              <a:rPr kumimoji="1" lang="ko-KR" altLang="en-US" sz="1200" dirty="0">
                <a:solidFill>
                  <a:prstClr val="black"/>
                </a:solidFill>
              </a:rPr>
              <a:t>설립자</a:t>
            </a:r>
            <a:r>
              <a:rPr kumimoji="1" lang="en-US" altLang="ko-KR" sz="1200" dirty="0">
                <a:solidFill>
                  <a:prstClr val="black"/>
                </a:solidFill>
              </a:rPr>
              <a:t>: </a:t>
            </a:r>
            <a:r>
              <a:rPr kumimoji="1" lang="ko-KR" altLang="en-US" sz="1200" dirty="0" err="1">
                <a:solidFill>
                  <a:prstClr val="black"/>
                </a:solidFill>
              </a:rPr>
              <a:t>이흥노</a:t>
            </a:r>
            <a:r>
              <a:rPr kumimoji="1" lang="en-US" altLang="ko-KR" sz="1200" dirty="0">
                <a:solidFill>
                  <a:prstClr val="black"/>
                </a:solidFill>
              </a:rPr>
              <a:t> </a:t>
            </a:r>
            <a:r>
              <a:rPr kumimoji="1" lang="ko-KR" altLang="en-US" sz="1200" dirty="0">
                <a:solidFill>
                  <a:prstClr val="black"/>
                </a:solidFill>
              </a:rPr>
              <a:t>교수</a:t>
            </a:r>
            <a:r>
              <a:rPr kumimoji="1" lang="en-US" altLang="ko-KR" sz="1200" dirty="0">
                <a:solidFill>
                  <a:prstClr val="black"/>
                </a:solidFill>
              </a:rPr>
              <a:t>)</a:t>
            </a:r>
          </a:p>
          <a:p>
            <a:pPr algn="ctr"/>
            <a:r>
              <a:rPr kumimoji="1" lang="en-US" altLang="ko-KR" sz="1200" dirty="0">
                <a:solidFill>
                  <a:srgbClr val="FF0000"/>
                </a:solidFill>
              </a:rPr>
              <a:t>&lt;</a:t>
            </a:r>
            <a:r>
              <a:rPr kumimoji="1" lang="ko-KR" altLang="en-US" sz="1200" dirty="0">
                <a:solidFill>
                  <a:srgbClr val="FF0000"/>
                </a:solidFill>
              </a:rPr>
              <a:t>기술 이전 계획 중</a:t>
            </a:r>
            <a:r>
              <a:rPr kumimoji="1" lang="en-US" altLang="ko-KR" sz="1200" dirty="0">
                <a:solidFill>
                  <a:srgbClr val="FF0000"/>
                </a:solidFill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9103712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28650" y="74814"/>
            <a:ext cx="50624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smtClean="0">
                <a:solidFill>
                  <a:prstClr val="black"/>
                </a:solidFill>
              </a:rPr>
              <a:t>연구 핵심 아이디어</a:t>
            </a:r>
            <a:endParaRPr lang="ko-KR" altLang="en-US" sz="3200" b="1" dirty="0">
              <a:solidFill>
                <a:prstClr val="black"/>
              </a:solidFill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22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="" xmlns:a16="http://schemas.microsoft.com/office/drawing/2014/main" id="{4C70D3A6-2D13-4F22-9C06-C56F2B48E196}"/>
              </a:ext>
            </a:extLst>
          </p:cNvPr>
          <p:cNvSpPr/>
          <p:nvPr/>
        </p:nvSpPr>
        <p:spPr>
          <a:xfrm>
            <a:off x="336000" y="1268752"/>
            <a:ext cx="8556480" cy="41044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91995" lvl="0" indent="-191995">
              <a:buClr>
                <a:srgbClr val="363636"/>
              </a:buClr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363636"/>
                </a:solidFill>
              </a:rPr>
              <a:t>Items to consider for new PoW </a:t>
            </a:r>
            <a:endParaRPr lang="en-US" altLang="ko-KR" sz="2000" dirty="0">
              <a:solidFill>
                <a:srgbClr val="363636"/>
              </a:solidFill>
            </a:endParaRPr>
          </a:p>
          <a:p>
            <a:pPr marL="476239" lvl="0" indent="-234945" latinLnBrk="0">
              <a:buFont typeface="나눔스퀘어 Bold" panose="020B0600000101010101" pitchFamily="50" charset="-127"/>
              <a:buChar char="‐"/>
            </a:pPr>
            <a:r>
              <a:rPr lang="en-US" altLang="ko-KR" sz="2000" b="1" dirty="0">
                <a:solidFill>
                  <a:schemeClr val="tx1"/>
                </a:solidFill>
              </a:rPr>
              <a:t>One way is to diversify the puzzles and change them over time.</a:t>
            </a:r>
          </a:p>
          <a:p>
            <a:pPr marL="476239" lvl="0" indent="-234945" latinLnBrk="0">
              <a:buFont typeface="나눔스퀘어 Bold" panose="020B0600000101010101" pitchFamily="50" charset="-127"/>
              <a:buChar char="‐"/>
            </a:pPr>
            <a:r>
              <a:rPr lang="en-US" altLang="ko-KR" sz="2000" dirty="0">
                <a:solidFill>
                  <a:srgbClr val="363636"/>
                </a:solidFill>
              </a:rPr>
              <a:t>Considerations for new puzzles</a:t>
            </a:r>
            <a:r>
              <a:rPr lang="en-US" altLang="ko-KR" sz="2000" dirty="0" smtClean="0">
                <a:solidFill>
                  <a:srgbClr val="363636"/>
                </a:solidFill>
              </a:rPr>
              <a:t>.</a:t>
            </a:r>
          </a:p>
          <a:p>
            <a:pPr marL="476239" lvl="0" indent="-234945" latinLnBrk="0">
              <a:buFont typeface="나눔스퀘어 Bold" panose="020B0600000101010101" pitchFamily="50" charset="-127"/>
              <a:buChar char="‐"/>
            </a:pPr>
            <a:endParaRPr lang="en-US" altLang="ko-KR" sz="2000" dirty="0">
              <a:solidFill>
                <a:srgbClr val="363636"/>
              </a:solidFill>
            </a:endParaRPr>
          </a:p>
          <a:p>
            <a:pPr marL="191995" lvl="0" indent="-191995" latinLnBrk="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363636"/>
                </a:solidFill>
              </a:rPr>
              <a:t>A puzzle should be </a:t>
            </a:r>
            <a:r>
              <a:rPr lang="en-US" altLang="ko-KR" sz="2000" b="1" dirty="0">
                <a:solidFill>
                  <a:schemeClr val="tx1"/>
                </a:solidFill>
              </a:rPr>
              <a:t>difficult to solve</a:t>
            </a:r>
            <a:r>
              <a:rPr lang="en-US" altLang="ko-KR" sz="2000" dirty="0">
                <a:solidFill>
                  <a:srgbClr val="0070C0"/>
                </a:solidFill>
              </a:rPr>
              <a:t> </a:t>
            </a:r>
            <a:r>
              <a:rPr lang="en-US" altLang="ko-KR" sz="2000" dirty="0">
                <a:solidFill>
                  <a:srgbClr val="363636"/>
                </a:solidFill>
              </a:rPr>
              <a:t>but </a:t>
            </a:r>
            <a:r>
              <a:rPr lang="en-US" altLang="ko-KR" sz="2000" b="1" dirty="0">
                <a:solidFill>
                  <a:schemeClr val="tx1"/>
                </a:solidFill>
              </a:rPr>
              <a:t>very easy to check.</a:t>
            </a:r>
          </a:p>
          <a:p>
            <a:pPr marL="191995" lvl="0" indent="-191995" latinLnBrk="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363636"/>
                </a:solidFill>
              </a:rPr>
              <a:t>The puzzle should be </a:t>
            </a:r>
            <a:r>
              <a:rPr lang="en-US" altLang="ko-KR" sz="2000" b="1" dirty="0">
                <a:solidFill>
                  <a:schemeClr val="tx1"/>
                </a:solidFill>
              </a:rPr>
              <a:t>resistant to attacks</a:t>
            </a:r>
            <a:r>
              <a:rPr lang="en-US" altLang="ko-KR" sz="2000" dirty="0">
                <a:solidFill>
                  <a:srgbClr val="363636"/>
                </a:solidFill>
              </a:rPr>
              <a:t>.</a:t>
            </a:r>
          </a:p>
          <a:p>
            <a:pPr marL="191995" lvl="0" indent="-191995" latinLnBrk="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363636"/>
                </a:solidFill>
              </a:rPr>
              <a:t>Solution to the puzzle for a block </a:t>
            </a:r>
            <a:r>
              <a:rPr lang="en-US" altLang="ko-KR" sz="2000" b="1" dirty="0">
                <a:solidFill>
                  <a:schemeClr val="tx1"/>
                </a:solidFill>
              </a:rPr>
              <a:t>should not be reusable</a:t>
            </a:r>
            <a:r>
              <a:rPr lang="en-US" altLang="ko-KR" sz="2000" dirty="0">
                <a:solidFill>
                  <a:srgbClr val="363636"/>
                </a:solidFill>
              </a:rPr>
              <a:t>.</a:t>
            </a:r>
          </a:p>
          <a:p>
            <a:pPr marL="191995" lvl="0" indent="-191995" latinLnBrk="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363636"/>
                </a:solidFill>
              </a:rPr>
              <a:t>Puzzle </a:t>
            </a:r>
            <a:r>
              <a:rPr lang="en-US" altLang="ko-KR" sz="2000" b="1" dirty="0">
                <a:solidFill>
                  <a:schemeClr val="tx1"/>
                </a:solidFill>
              </a:rPr>
              <a:t>difficulty</a:t>
            </a:r>
            <a:r>
              <a:rPr lang="en-US" altLang="ko-KR" sz="2000" dirty="0">
                <a:solidFill>
                  <a:srgbClr val="363636"/>
                </a:solidFill>
              </a:rPr>
              <a:t> should be </a:t>
            </a:r>
            <a:r>
              <a:rPr lang="en-US" altLang="ko-KR" sz="2000" b="1" dirty="0">
                <a:solidFill>
                  <a:schemeClr val="tx1"/>
                </a:solidFill>
              </a:rPr>
              <a:t>adjustable</a:t>
            </a:r>
            <a:r>
              <a:rPr lang="en-US" altLang="ko-KR" sz="2000" dirty="0">
                <a:solidFill>
                  <a:srgbClr val="0070C0"/>
                </a:solidFill>
              </a:rPr>
              <a:t>.</a:t>
            </a:r>
          </a:p>
          <a:p>
            <a:pPr marL="191995" lvl="0" indent="-191995" latinLnBrk="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363636"/>
                </a:solidFill>
              </a:rPr>
              <a:t>Anyone with a CPU who wishes to participate should be able to join.</a:t>
            </a:r>
          </a:p>
          <a:p>
            <a:pPr marL="191995" lvl="0" indent="-191995" latinLnBrk="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363636"/>
                </a:solidFill>
              </a:rPr>
              <a:t>Consensus must eventually be reached; there must be a common rule to resolve forks and to determine the main blockchain</a:t>
            </a:r>
            <a:r>
              <a:rPr lang="en-US" altLang="ko-KR" sz="2000" dirty="0" smtClean="0">
                <a:solidFill>
                  <a:srgbClr val="363636"/>
                </a:solidFill>
              </a:rPr>
              <a:t>.</a:t>
            </a:r>
            <a:endParaRPr lang="en-US" altLang="ko-KR" sz="2000" dirty="0">
              <a:solidFill>
                <a:srgbClr val="363636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="" xmlns:a16="http://schemas.microsoft.com/office/drawing/2014/main" id="{C53D36E5-5476-4409-B7F7-5ECC3840BD36}"/>
              </a:ext>
            </a:extLst>
          </p:cNvPr>
          <p:cNvSpPr/>
          <p:nvPr/>
        </p:nvSpPr>
        <p:spPr>
          <a:xfrm>
            <a:off x="336000" y="1196752"/>
            <a:ext cx="8556480" cy="45719"/>
          </a:xfrm>
          <a:prstGeom prst="rect">
            <a:avLst/>
          </a:prstGeom>
          <a:solidFill>
            <a:srgbClr val="0255B8"/>
          </a:solidFill>
          <a:ln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ts val="600"/>
              </a:spcBef>
            </a:pPr>
            <a:endParaRPr lang="ko-KR" altLang="en-US" b="1" kern="0" dirty="0">
              <a:solidFill>
                <a:srgbClr val="0255B8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808534" y="723596"/>
            <a:ext cx="69847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b="1" dirty="0">
                <a:solidFill>
                  <a:srgbClr val="0000FF"/>
                </a:solidFill>
              </a:rPr>
              <a:t>Key New Idea is TV Puzzle System!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981551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23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827584" y="1412776"/>
            <a:ext cx="763284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ko-KR" altLang="en-US" b="1" dirty="0" smtClean="0">
                <a:solidFill>
                  <a:sysClr val="windowText" lastClr="000000"/>
                </a:solidFill>
              </a:rPr>
              <a:t>연구 수행 내역 요약</a:t>
            </a:r>
            <a:endParaRPr lang="en-US" altLang="ko-KR" b="1" dirty="0" smtClean="0">
              <a:solidFill>
                <a:sysClr val="windowText" lastClr="000000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altLang="ko-KR" b="1" dirty="0" smtClean="0">
              <a:solidFill>
                <a:sysClr val="windowText" lastClr="00000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ko-KR" altLang="en-US" b="1" dirty="0" smtClean="0">
                <a:solidFill>
                  <a:prstClr val="black"/>
                </a:solidFill>
              </a:rPr>
              <a:t>연구 성과 요약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ko-KR" altLang="en-US" b="1" dirty="0" smtClean="0">
                <a:solidFill>
                  <a:prstClr val="black"/>
                </a:solidFill>
              </a:rPr>
              <a:t>특허 및 프로그램 산출물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ko-KR" altLang="en-US" b="1" dirty="0" smtClean="0">
                <a:solidFill>
                  <a:prstClr val="black"/>
                </a:solidFill>
              </a:rPr>
              <a:t>기술 이전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ko-KR" altLang="en-US" b="1" dirty="0" smtClean="0">
                <a:solidFill>
                  <a:prstClr val="black"/>
                </a:solidFill>
              </a:rPr>
              <a:t>논문 실적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ko-KR" altLang="en-US" b="1" dirty="0" smtClean="0">
                <a:solidFill>
                  <a:prstClr val="black"/>
                </a:solidFill>
              </a:rPr>
              <a:t>국내외 확산 활동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altLang="ko-KR" b="1" dirty="0" smtClean="0">
              <a:solidFill>
                <a:prstClr val="black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ko-KR" altLang="en-US" b="1" dirty="0" smtClean="0">
                <a:solidFill>
                  <a:prstClr val="black"/>
                </a:solidFill>
              </a:rPr>
              <a:t>연구 비 사용 요약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altLang="ko-KR" b="1" dirty="0">
              <a:solidFill>
                <a:prstClr val="black"/>
              </a:solidFill>
            </a:endParaRPr>
          </a:p>
        </p:txBody>
      </p:sp>
      <p:sp>
        <p:nvSpPr>
          <p:cNvPr id="6" name="TextBox 18"/>
          <p:cNvSpPr txBox="1"/>
          <p:nvPr/>
        </p:nvSpPr>
        <p:spPr>
          <a:xfrm>
            <a:off x="628650" y="74814"/>
            <a:ext cx="75374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>
                <a:solidFill>
                  <a:prstClr val="black"/>
                </a:solidFill>
                <a:latin typeface="+mn-ea"/>
              </a:rPr>
              <a:t>Section II</a:t>
            </a:r>
            <a:endParaRPr lang="ko-KR" altLang="en-US" sz="3200" b="1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997403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28650" y="74814"/>
            <a:ext cx="6967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prstClr val="black"/>
                </a:solidFill>
              </a:rPr>
              <a:t>연구 </a:t>
            </a:r>
            <a:r>
              <a:rPr lang="ko-KR" altLang="en-US" sz="3200" b="1" dirty="0" smtClean="0">
                <a:solidFill>
                  <a:prstClr val="black"/>
                </a:solidFill>
              </a:rPr>
              <a:t>수행 </a:t>
            </a:r>
            <a:r>
              <a:rPr lang="ko-KR" altLang="en-US" sz="3200" b="1" dirty="0">
                <a:solidFill>
                  <a:prstClr val="black"/>
                </a:solidFill>
              </a:rPr>
              <a:t>내역 요약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21" name="표 20">
            <a:extLst>
              <a:ext uri="{FF2B5EF4-FFF2-40B4-BE49-F238E27FC236}">
                <a16:creationId xmlns="" xmlns:a16="http://schemas.microsoft.com/office/drawing/2014/main" id="{8B8D0C7A-3BF3-469F-894C-CDEC1B4AED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672861"/>
              </p:ext>
            </p:extLst>
          </p:nvPr>
        </p:nvGraphicFramePr>
        <p:xfrm>
          <a:off x="336000" y="1100841"/>
          <a:ext cx="8556480" cy="3581686"/>
        </p:xfrm>
        <a:graphic>
          <a:graphicData uri="http://schemas.openxmlformats.org/drawingml/2006/table">
            <a:tbl>
              <a:tblPr firstRow="1" firstCol="1" bandRow="1"/>
              <a:tblGrid>
                <a:gridCol w="1499696">
                  <a:extLst>
                    <a:ext uri="{9D8B030D-6E8A-4147-A177-3AD203B41FA5}">
                      <a16:colId xmlns="" xmlns:a16="http://schemas.microsoft.com/office/drawing/2014/main" val="1449899407"/>
                    </a:ext>
                  </a:extLst>
                </a:gridCol>
                <a:gridCol w="2664296">
                  <a:extLst>
                    <a:ext uri="{9D8B030D-6E8A-4147-A177-3AD203B41FA5}">
                      <a16:colId xmlns="" xmlns:a16="http://schemas.microsoft.com/office/drawing/2014/main" val="3134819482"/>
                    </a:ext>
                  </a:extLst>
                </a:gridCol>
                <a:gridCol w="2448272">
                  <a:extLst>
                    <a:ext uri="{9D8B030D-6E8A-4147-A177-3AD203B41FA5}">
                      <a16:colId xmlns="" xmlns:a16="http://schemas.microsoft.com/office/drawing/2014/main" val="600659448"/>
                    </a:ext>
                  </a:extLst>
                </a:gridCol>
                <a:gridCol w="1944216"/>
              </a:tblGrid>
              <a:tr h="250606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세부 연구 목표</a:t>
                      </a: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연구개발 수행 내용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연구 결과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실적</a:t>
                      </a:r>
                      <a:endParaRPr lang="ko-KR" altLang="en-US" sz="1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142255689"/>
                  </a:ext>
                </a:extLst>
              </a:tr>
              <a:tr h="989460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ECCPoW</a:t>
                      </a:r>
                      <a:r>
                        <a:rPr lang="en-US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버전</a:t>
                      </a:r>
                      <a:r>
                        <a:rPr lang="en-US" altLang="ko-KR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1.0 </a:t>
                      </a:r>
                      <a:r>
                        <a:rPr lang="ko-KR" altLang="en-US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개발 </a:t>
                      </a: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매 블록마다 바뀌는 암호 퍼즐 생성 연구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매 블록마다 바뀌는 암호 퍼즐 </a:t>
                      </a:r>
                      <a:r>
                        <a:rPr lang="ko-KR" altLang="en-US" sz="14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디코더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개발</a:t>
                      </a:r>
                    </a:p>
                  </a:txBody>
                  <a:tcPr marL="135000" marR="0" marT="7200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매 블록마다 바뀌는 암호 퍼즐 생성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4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디코더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개발 완료 </a:t>
                      </a:r>
                    </a:p>
                  </a:txBody>
                  <a:tcPr marL="135000" marR="0" marT="7200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1200" dirty="0" smtClean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논문 제출 준비</a:t>
                      </a:r>
                      <a:endParaRPr lang="en-US" altLang="ko-KR" sz="1400" kern="1200" dirty="0" smtClean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b="1" kern="1200" dirty="0" smtClean="0">
                          <a:solidFill>
                            <a:srgbClr val="FF0000"/>
                          </a:solidFill>
                          <a:latin typeface="+mj-lt"/>
                          <a:ea typeface="+mn-ea"/>
                          <a:cs typeface="+mn-cs"/>
                        </a:rPr>
                        <a:t>특허 국내</a:t>
                      </a:r>
                      <a:r>
                        <a:rPr lang="en-US" altLang="ko-KR" sz="1400" b="1" kern="1200" dirty="0" smtClean="0">
                          <a:solidFill>
                            <a:srgbClr val="FF0000"/>
                          </a:solidFill>
                          <a:latin typeface="+mj-lt"/>
                          <a:ea typeface="+mn-ea"/>
                          <a:cs typeface="+mn-cs"/>
                        </a:rPr>
                        <a:t>/PCT </a:t>
                      </a:r>
                      <a:r>
                        <a:rPr lang="ko-KR" altLang="en-US" sz="1400" b="1" kern="1200" dirty="0" smtClean="0">
                          <a:solidFill>
                            <a:srgbClr val="FF0000"/>
                          </a:solidFill>
                          <a:latin typeface="+mj-lt"/>
                          <a:ea typeface="+mn-ea"/>
                          <a:cs typeface="+mn-cs"/>
                        </a:rPr>
                        <a:t>출원</a:t>
                      </a:r>
                      <a:endParaRPr lang="en-US" altLang="ko-KR" sz="1400" b="1" kern="1200" dirty="0" smtClean="0">
                        <a:solidFill>
                          <a:srgbClr val="FF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1200" dirty="0" smtClean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특허를 </a:t>
                      </a:r>
                      <a:r>
                        <a:rPr lang="ko-KR" altLang="en-US" sz="1400" b="1" kern="1200" dirty="0" smtClean="0">
                          <a:solidFill>
                            <a:srgbClr val="FF0000"/>
                          </a:solidFill>
                          <a:latin typeface="+mj-lt"/>
                          <a:ea typeface="+mn-ea"/>
                          <a:cs typeface="+mn-cs"/>
                        </a:rPr>
                        <a:t>기술이전 </a:t>
                      </a:r>
                      <a:r>
                        <a:rPr lang="ko-KR" altLang="en-US" sz="1400" kern="1200" dirty="0" smtClean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준비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35000" marR="0" marT="7200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951504763"/>
                  </a:ext>
                </a:extLst>
              </a:tr>
              <a:tr h="989460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1200" dirty="0" err="1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ECCPoW</a:t>
                      </a:r>
                      <a:r>
                        <a:rPr lang="en-US" altLang="ko-KR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개발 및 기존의 암호화폐</a:t>
                      </a:r>
                      <a:r>
                        <a:rPr lang="en-US" altLang="ko-KR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1" kern="1200" dirty="0" err="1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비트코인</a:t>
                      </a:r>
                      <a:r>
                        <a:rPr lang="en-US" altLang="ko-KR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시스템에 적용</a:t>
                      </a: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블록 생성 주기 제어 방법 연구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시스템 테스트 및 고도화</a:t>
                      </a:r>
                    </a:p>
                  </a:txBody>
                  <a:tcPr marL="135000" marR="0" marT="7200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블록 생성 주기 제어 방법 연구 및 구현 완료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시스템 테스트 및 고도화 완료</a:t>
                      </a:r>
                    </a:p>
                  </a:txBody>
                  <a:tcPr marL="135000" marR="0" marT="7200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400" b="1" kern="1200" dirty="0" smtClean="0">
                          <a:solidFill>
                            <a:srgbClr val="FF0000"/>
                          </a:solidFill>
                          <a:latin typeface="+mj-lt"/>
                          <a:ea typeface="+mn-ea"/>
                          <a:cs typeface="+mn-cs"/>
                        </a:rPr>
                        <a:t>BTCECC </a:t>
                      </a:r>
                      <a:r>
                        <a:rPr lang="ko-KR" altLang="en-US" sz="1400" b="1" kern="1200" dirty="0" smtClean="0">
                          <a:solidFill>
                            <a:srgbClr val="FF0000"/>
                          </a:solidFill>
                          <a:latin typeface="+mj-lt"/>
                          <a:ea typeface="+mn-ea"/>
                          <a:cs typeface="+mn-cs"/>
                        </a:rPr>
                        <a:t>소프트웨어</a:t>
                      </a:r>
                      <a:endParaRPr lang="en-US" altLang="ko-KR" sz="1400" b="1" kern="1200" dirty="0" smtClean="0">
                        <a:solidFill>
                          <a:srgbClr val="FF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github.com/</a:t>
                      </a:r>
                      <a:r>
                        <a:rPr lang="en-US" altLang="ko-KR" sz="14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cryptoecc</a:t>
                      </a:r>
                      <a:r>
                        <a:rPr lang="en-US" altLang="ko-K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ko-KR" sz="14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bitcoin_ECC</a:t>
                      </a:r>
                      <a:endParaRPr lang="en-US" altLang="ko-KR" sz="14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5000" marR="0" marT="7200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309042792"/>
                  </a:ext>
                </a:extLst>
              </a:tr>
              <a:tr h="1178754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1200" dirty="0" err="1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ECCPoW</a:t>
                      </a:r>
                      <a:r>
                        <a:rPr lang="en-US" altLang="ko-KR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개발 및 기존의 암호화폐</a:t>
                      </a:r>
                      <a:r>
                        <a:rPr lang="en-US" altLang="ko-KR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1" kern="1200" dirty="0" err="1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이더리움</a:t>
                      </a:r>
                      <a:r>
                        <a:rPr lang="en-US" altLang="ko-KR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시스템에 </a:t>
                      </a:r>
                      <a:r>
                        <a:rPr lang="ko-KR" altLang="en-US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적용</a:t>
                      </a:r>
                      <a:endParaRPr lang="ko-KR" altLang="en-US" sz="14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go-</a:t>
                      </a:r>
                      <a:r>
                        <a:rPr lang="en-US" altLang="ko-KR" sz="14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ethereum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패키지 연구 및 분석 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합의 계층 내부구조 변경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공통 계층 최적화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응용 계층 개발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데이터 계층 개발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) 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블록 생성 주기 제어 방법 연구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시스템 테스트 및 고도화</a:t>
                      </a:r>
                    </a:p>
                  </a:txBody>
                  <a:tcPr marL="135000" marR="0" marT="7200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go-</a:t>
                      </a:r>
                      <a:r>
                        <a:rPr lang="en-US" altLang="ko-KR" sz="14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ethereum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에 </a:t>
                      </a:r>
                      <a:r>
                        <a:rPr lang="en-US" altLang="ko-KR" sz="14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ECCPoW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탑재 완료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블록 생성 주기 제어 방법 연구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구현 완료 시스템 테스트 및 고도화 완료</a:t>
                      </a:r>
                    </a:p>
                  </a:txBody>
                  <a:tcPr marL="135000" marR="0" marT="7200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400" b="1" kern="1200" dirty="0" smtClean="0">
                          <a:solidFill>
                            <a:srgbClr val="FF0000"/>
                          </a:solidFill>
                          <a:latin typeface="+mj-lt"/>
                          <a:ea typeface="+mn-ea"/>
                          <a:cs typeface="+mn-cs"/>
                        </a:rPr>
                        <a:t>ETHECC</a:t>
                      </a:r>
                      <a:r>
                        <a:rPr lang="en-US" altLang="ko-KR" sz="1400" b="1" kern="1200" baseline="0" dirty="0" smtClean="0">
                          <a:solidFill>
                            <a:srgbClr val="FF0000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dirty="0" smtClean="0">
                          <a:solidFill>
                            <a:srgbClr val="FF0000"/>
                          </a:solidFill>
                          <a:latin typeface="+mj-lt"/>
                          <a:ea typeface="+mn-ea"/>
                          <a:cs typeface="+mn-cs"/>
                        </a:rPr>
                        <a:t>소프트웨어</a:t>
                      </a:r>
                      <a:endParaRPr lang="en-US" altLang="ko-KR" sz="1400" b="1" kern="1200" baseline="0" dirty="0" smtClean="0">
                        <a:solidFill>
                          <a:srgbClr val="FF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github.com/</a:t>
                      </a:r>
                      <a:r>
                        <a:rPr lang="en-US" altLang="ko-KR" sz="14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cryptoecc</a:t>
                      </a:r>
                      <a:r>
                        <a:rPr lang="en-US" altLang="ko-K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/go-</a:t>
                      </a:r>
                      <a:r>
                        <a:rPr lang="en-US" altLang="ko-KR" sz="14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ethereum_ECC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5000" marR="0" marT="7200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712035702"/>
                  </a:ext>
                </a:extLst>
              </a:tr>
            </a:tbl>
          </a:graphicData>
        </a:graphic>
      </p:graphicFrame>
      <p:sp>
        <p:nvSpPr>
          <p:cNvPr id="22" name="직사각형 21">
            <a:extLst>
              <a:ext uri="{FF2B5EF4-FFF2-40B4-BE49-F238E27FC236}">
                <a16:creationId xmlns="" xmlns:a16="http://schemas.microsoft.com/office/drawing/2014/main" id="{4C70D3A6-2D13-4F22-9C06-C56F2B48E196}"/>
              </a:ext>
            </a:extLst>
          </p:cNvPr>
          <p:cNvSpPr/>
          <p:nvPr/>
        </p:nvSpPr>
        <p:spPr>
          <a:xfrm>
            <a:off x="336000" y="4941168"/>
            <a:ext cx="8556480" cy="10081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600" b="1" kern="0" spc="-50" dirty="0">
                <a:solidFill>
                  <a:srgbClr val="FF0000"/>
                </a:solidFill>
              </a:rPr>
              <a:t>ASIC </a:t>
            </a:r>
            <a:r>
              <a:rPr lang="ko-KR" altLang="en-US" sz="1600" b="1" kern="0" spc="-50" dirty="0">
                <a:solidFill>
                  <a:srgbClr val="FF0000"/>
                </a:solidFill>
              </a:rPr>
              <a:t>저항성</a:t>
            </a:r>
            <a:r>
              <a:rPr lang="ko-KR" altLang="en-US" sz="1600" kern="0" spc="-50" dirty="0">
                <a:solidFill>
                  <a:prstClr val="black"/>
                </a:solidFill>
              </a:rPr>
              <a:t>을 가지는 새로운 </a:t>
            </a:r>
            <a:r>
              <a:rPr lang="ko-KR" altLang="en-US" sz="1600" b="1" kern="0" spc="-50" dirty="0">
                <a:solidFill>
                  <a:srgbClr val="FF0000"/>
                </a:solidFill>
              </a:rPr>
              <a:t>작업증명 </a:t>
            </a:r>
            <a:r>
              <a:rPr lang="en-US" altLang="ko-KR" sz="1600" b="1" kern="0" spc="-50" dirty="0">
                <a:solidFill>
                  <a:srgbClr val="FF0000"/>
                </a:solidFill>
              </a:rPr>
              <a:t>(ECCPoW)</a:t>
            </a:r>
            <a:r>
              <a:rPr lang="ko-KR" altLang="en-US" sz="1600" b="1" kern="0" spc="-50" dirty="0">
                <a:solidFill>
                  <a:srgbClr val="FF0000"/>
                </a:solidFill>
              </a:rPr>
              <a:t>을 개발</a:t>
            </a:r>
            <a:r>
              <a:rPr lang="ko-KR" altLang="en-US" sz="1600" kern="0" spc="-50" dirty="0">
                <a:solidFill>
                  <a:prstClr val="black"/>
                </a:solidFill>
              </a:rPr>
              <a:t>함</a:t>
            </a:r>
            <a:r>
              <a:rPr lang="en-US" altLang="ko-KR" sz="1600" kern="0" spc="-50" dirty="0">
                <a:solidFill>
                  <a:prstClr val="black"/>
                </a:solidFill>
              </a:rPr>
              <a:t>.</a:t>
            </a:r>
          </a:p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kern="0" spc="-50" dirty="0">
                <a:solidFill>
                  <a:prstClr val="black"/>
                </a:solidFill>
              </a:rPr>
              <a:t>개발된 </a:t>
            </a:r>
            <a:r>
              <a:rPr lang="en-US" altLang="ko-KR" sz="1600" kern="0" spc="-50" dirty="0">
                <a:solidFill>
                  <a:prstClr val="black"/>
                </a:solidFill>
              </a:rPr>
              <a:t>ECCPoW</a:t>
            </a:r>
            <a:r>
              <a:rPr lang="ko-KR" altLang="en-US" sz="1600" kern="0" spc="-50" dirty="0">
                <a:solidFill>
                  <a:prstClr val="black"/>
                </a:solidFill>
              </a:rPr>
              <a:t>를 </a:t>
            </a:r>
            <a:r>
              <a:rPr lang="ko-KR" altLang="en-US" sz="1600" b="1" kern="0" spc="-50" dirty="0">
                <a:solidFill>
                  <a:srgbClr val="FF0000"/>
                </a:solidFill>
              </a:rPr>
              <a:t>비트코인</a:t>
            </a:r>
            <a:r>
              <a:rPr lang="en-US" altLang="ko-KR" sz="1600" b="1" kern="0" spc="-50" dirty="0">
                <a:solidFill>
                  <a:srgbClr val="FF0000"/>
                </a:solidFill>
              </a:rPr>
              <a:t>/</a:t>
            </a:r>
            <a:r>
              <a:rPr lang="ko-KR" altLang="en-US" sz="1600" b="1" kern="0" spc="-50" dirty="0">
                <a:solidFill>
                  <a:srgbClr val="FF0000"/>
                </a:solidFill>
              </a:rPr>
              <a:t>이더리움에 적용</a:t>
            </a:r>
            <a:r>
              <a:rPr lang="ko-KR" altLang="en-US" sz="1600" kern="0" spc="-50" dirty="0">
                <a:solidFill>
                  <a:prstClr val="black"/>
                </a:solidFill>
              </a:rPr>
              <a:t>함</a:t>
            </a:r>
            <a:r>
              <a:rPr lang="en-US" altLang="ko-KR" sz="1600" kern="0" spc="-50" dirty="0">
                <a:solidFill>
                  <a:prstClr val="black"/>
                </a:solidFill>
              </a:rPr>
              <a:t>.</a:t>
            </a:r>
          </a:p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kern="0" spc="-50" dirty="0">
                <a:solidFill>
                  <a:prstClr val="black"/>
                </a:solidFill>
              </a:rPr>
              <a:t>연구 실적 </a:t>
            </a:r>
            <a:r>
              <a:rPr lang="en-US" altLang="ko-KR" sz="1600" kern="0" spc="-50" dirty="0">
                <a:solidFill>
                  <a:prstClr val="black"/>
                </a:solidFill>
              </a:rPr>
              <a:t>– </a:t>
            </a:r>
            <a:r>
              <a:rPr lang="ko-KR" altLang="en-US" sz="1600" kern="0" spc="-50" dirty="0">
                <a:solidFill>
                  <a:prstClr val="black"/>
                </a:solidFill>
              </a:rPr>
              <a:t>국내</a:t>
            </a:r>
            <a:r>
              <a:rPr lang="en-US" altLang="ko-KR" sz="1600" kern="0" spc="-50" dirty="0">
                <a:solidFill>
                  <a:prstClr val="black"/>
                </a:solidFill>
              </a:rPr>
              <a:t>/</a:t>
            </a:r>
            <a:r>
              <a:rPr lang="ko-KR" altLang="en-US" sz="1600" kern="0" spc="-50" dirty="0">
                <a:solidFill>
                  <a:prstClr val="black"/>
                </a:solidFill>
              </a:rPr>
              <a:t>외 특허 </a:t>
            </a:r>
            <a:r>
              <a:rPr lang="en-US" altLang="ko-KR" sz="1600" kern="0" spc="-50" dirty="0">
                <a:solidFill>
                  <a:prstClr val="black"/>
                </a:solidFill>
              </a:rPr>
              <a:t>– </a:t>
            </a:r>
            <a:r>
              <a:rPr lang="ko-KR" altLang="en-US" sz="1600" kern="0" spc="-50" dirty="0">
                <a:solidFill>
                  <a:prstClr val="black"/>
                </a:solidFill>
              </a:rPr>
              <a:t>의 </a:t>
            </a:r>
            <a:r>
              <a:rPr lang="ko-KR" altLang="en-US" sz="1600" b="1" kern="0" spc="-50" dirty="0">
                <a:solidFill>
                  <a:srgbClr val="FF0000"/>
                </a:solidFill>
              </a:rPr>
              <a:t>기술 이전을 준비</a:t>
            </a:r>
            <a:r>
              <a:rPr lang="ko-KR" altLang="en-US" sz="1600" kern="0" spc="-50" dirty="0">
                <a:solidFill>
                  <a:prstClr val="black"/>
                </a:solidFill>
              </a:rPr>
              <a:t> 중임</a:t>
            </a:r>
            <a:r>
              <a:rPr lang="en-US" altLang="ko-KR" sz="1600" kern="0" spc="-50" dirty="0">
                <a:solidFill>
                  <a:prstClr val="black"/>
                </a:solidFill>
              </a:rPr>
              <a:t>.</a:t>
            </a:r>
            <a:endParaRPr lang="ko-KR" altLang="en-US" sz="1600" kern="0" spc="-50" dirty="0">
              <a:solidFill>
                <a:prstClr val="black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="" xmlns:a16="http://schemas.microsoft.com/office/drawing/2014/main" id="{C53D36E5-5476-4409-B7F7-5ECC3840BD36}"/>
              </a:ext>
            </a:extLst>
          </p:cNvPr>
          <p:cNvSpPr/>
          <p:nvPr/>
        </p:nvSpPr>
        <p:spPr>
          <a:xfrm>
            <a:off x="336000" y="4869160"/>
            <a:ext cx="8556480" cy="45719"/>
          </a:xfrm>
          <a:prstGeom prst="rect">
            <a:avLst/>
          </a:prstGeom>
          <a:solidFill>
            <a:srgbClr val="0255B8"/>
          </a:solidFill>
          <a:ln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ts val="600"/>
              </a:spcBef>
            </a:pPr>
            <a:endParaRPr lang="ko-KR" altLang="en-US" b="1" kern="0" dirty="0">
              <a:solidFill>
                <a:srgbClr val="0255B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03512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28650" y="74814"/>
            <a:ext cx="79037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smtClean="0">
                <a:solidFill>
                  <a:prstClr val="black"/>
                </a:solidFill>
              </a:rPr>
              <a:t>연구 성과 요약</a:t>
            </a:r>
            <a:endParaRPr lang="ko-KR" altLang="en-US" sz="3200" b="1" dirty="0">
              <a:solidFill>
                <a:prstClr val="black"/>
              </a:solidFill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25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="" xmlns:a16="http://schemas.microsoft.com/office/drawing/2014/main" id="{4C70D3A6-2D13-4F22-9C06-C56F2B48E196}"/>
              </a:ext>
            </a:extLst>
          </p:cNvPr>
          <p:cNvSpPr/>
          <p:nvPr/>
        </p:nvSpPr>
        <p:spPr>
          <a:xfrm>
            <a:off x="336000" y="1249702"/>
            <a:ext cx="8556480" cy="48435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600" b="1" kern="0" spc="-50" dirty="0" smtClean="0">
                <a:solidFill>
                  <a:srgbClr val="FF0000"/>
                </a:solidFill>
              </a:rPr>
              <a:t>3</a:t>
            </a:r>
            <a:r>
              <a:rPr lang="ko-KR" altLang="en-US" sz="1600" b="1" kern="0" spc="-50" dirty="0" smtClean="0">
                <a:solidFill>
                  <a:srgbClr val="FF0000"/>
                </a:solidFill>
              </a:rPr>
              <a:t>건의 특허 출원</a:t>
            </a:r>
            <a:r>
              <a:rPr lang="ko-KR" altLang="en-US" sz="1600" kern="0" spc="-50" dirty="0" smtClean="0">
                <a:solidFill>
                  <a:prstClr val="black"/>
                </a:solidFill>
              </a:rPr>
              <a:t> </a:t>
            </a:r>
            <a:r>
              <a:rPr lang="en-US" altLang="ko-KR" sz="1600" kern="0" spc="-50" dirty="0" smtClean="0">
                <a:solidFill>
                  <a:prstClr val="black"/>
                </a:solidFill>
              </a:rPr>
              <a:t>(</a:t>
            </a:r>
            <a:r>
              <a:rPr lang="ko-KR" altLang="en-US" sz="1600" kern="0" spc="-50" dirty="0" smtClean="0">
                <a:solidFill>
                  <a:prstClr val="black"/>
                </a:solidFill>
              </a:rPr>
              <a:t>국내 </a:t>
            </a:r>
            <a:r>
              <a:rPr lang="en-US" altLang="ko-KR" sz="1600" kern="0" spc="-50" dirty="0" smtClean="0">
                <a:solidFill>
                  <a:prstClr val="black"/>
                </a:solidFill>
              </a:rPr>
              <a:t>2/</a:t>
            </a:r>
            <a:r>
              <a:rPr lang="ko-KR" altLang="en-US" sz="1600" kern="0" spc="-50" dirty="0" smtClean="0">
                <a:solidFill>
                  <a:prstClr val="black"/>
                </a:solidFill>
              </a:rPr>
              <a:t>국외 </a:t>
            </a:r>
            <a:r>
              <a:rPr lang="en-US" altLang="ko-KR" sz="1600" kern="0" spc="-50" dirty="0" smtClean="0">
                <a:solidFill>
                  <a:prstClr val="black"/>
                </a:solidFill>
              </a:rPr>
              <a:t>PCT 1) </a:t>
            </a:r>
            <a:r>
              <a:rPr lang="ko-KR" altLang="en-US" sz="1600" kern="0" spc="-50" dirty="0" smtClean="0">
                <a:solidFill>
                  <a:prstClr val="black"/>
                </a:solidFill>
              </a:rPr>
              <a:t>완료</a:t>
            </a:r>
            <a:endParaRPr lang="en-US" altLang="ko-KR" sz="1600" kern="0" spc="-50" dirty="0" smtClean="0">
              <a:solidFill>
                <a:prstClr val="black"/>
              </a:solidFill>
            </a:endParaRPr>
          </a:p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ko-KR" sz="1600" kern="0" spc="-50" dirty="0" smtClean="0">
              <a:solidFill>
                <a:prstClr val="black"/>
              </a:solidFill>
            </a:endParaRPr>
          </a:p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600" b="1" kern="0" spc="-50" dirty="0" smtClean="0">
                <a:solidFill>
                  <a:srgbClr val="FF0000"/>
                </a:solidFill>
              </a:rPr>
              <a:t>2</a:t>
            </a:r>
            <a:r>
              <a:rPr lang="ko-KR" altLang="en-US" sz="1600" b="1" kern="0" spc="-50" dirty="0" smtClean="0">
                <a:solidFill>
                  <a:srgbClr val="FF0000"/>
                </a:solidFill>
              </a:rPr>
              <a:t>건의 프로그래밍 결과</a:t>
            </a:r>
            <a:r>
              <a:rPr lang="ko-KR" altLang="en-US" sz="1600" kern="0" spc="-50" dirty="0" smtClean="0">
                <a:solidFill>
                  <a:prstClr val="black"/>
                </a:solidFill>
              </a:rPr>
              <a:t>물 </a:t>
            </a:r>
            <a:r>
              <a:rPr lang="en-US" altLang="ko-KR" sz="1600" kern="0" spc="-50" dirty="0" smtClean="0">
                <a:solidFill>
                  <a:prstClr val="black"/>
                </a:solidFill>
              </a:rPr>
              <a:t>(BTCECC, ETHECC)</a:t>
            </a:r>
          </a:p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ko-KR" sz="1600" kern="0" spc="-50" dirty="0" smtClean="0">
              <a:solidFill>
                <a:prstClr val="black"/>
              </a:solidFill>
            </a:endParaRPr>
          </a:p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600" b="1" kern="0" spc="-50" dirty="0" smtClean="0">
                <a:solidFill>
                  <a:srgbClr val="FF0000"/>
                </a:solidFill>
              </a:rPr>
              <a:t>1</a:t>
            </a:r>
            <a:r>
              <a:rPr lang="ko-KR" altLang="en-US" sz="1600" b="1" kern="0" spc="-50" dirty="0" smtClean="0">
                <a:solidFill>
                  <a:srgbClr val="FF0000"/>
                </a:solidFill>
              </a:rPr>
              <a:t>건의 기술이전</a:t>
            </a:r>
            <a:r>
              <a:rPr lang="ko-KR" altLang="en-US" sz="1600" kern="0" spc="-50" dirty="0" smtClean="0">
                <a:solidFill>
                  <a:prstClr val="black"/>
                </a:solidFill>
              </a:rPr>
              <a:t> 준비 중 </a:t>
            </a:r>
            <a:r>
              <a:rPr lang="en-US" altLang="ko-KR" sz="1600" kern="0" spc="-50" dirty="0" smtClean="0">
                <a:solidFill>
                  <a:prstClr val="black"/>
                </a:solidFill>
              </a:rPr>
              <a:t>(</a:t>
            </a:r>
            <a:r>
              <a:rPr lang="ko-KR" altLang="en-US" sz="1600" kern="0" spc="-50" dirty="0" smtClean="0">
                <a:solidFill>
                  <a:prstClr val="black"/>
                </a:solidFill>
              </a:rPr>
              <a:t>현재 법인 창립 완료</a:t>
            </a:r>
            <a:r>
              <a:rPr lang="en-US" altLang="ko-KR" sz="1600" kern="0" spc="-50" dirty="0" smtClean="0">
                <a:solidFill>
                  <a:prstClr val="black"/>
                </a:solidFill>
              </a:rPr>
              <a:t>)</a:t>
            </a:r>
          </a:p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ko-KR" sz="1600" kern="0" spc="-50" dirty="0" smtClean="0">
              <a:solidFill>
                <a:prstClr val="black"/>
              </a:solidFill>
            </a:endParaRPr>
          </a:p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600" b="1" kern="0" spc="-50" dirty="0" smtClean="0">
                <a:solidFill>
                  <a:srgbClr val="FF0000"/>
                </a:solidFill>
              </a:rPr>
              <a:t>8</a:t>
            </a:r>
            <a:r>
              <a:rPr lang="ko-KR" altLang="en-US" sz="1600" b="1" kern="0" spc="-50" dirty="0" smtClean="0">
                <a:solidFill>
                  <a:srgbClr val="FF0000"/>
                </a:solidFill>
              </a:rPr>
              <a:t>건의 국내외 논문</a:t>
            </a:r>
            <a:r>
              <a:rPr lang="ko-KR" altLang="en-US" sz="1600" kern="0" spc="-50" dirty="0" smtClean="0">
                <a:solidFill>
                  <a:prstClr val="black"/>
                </a:solidFill>
              </a:rPr>
              <a:t> 게재 준비 중 </a:t>
            </a:r>
            <a:endParaRPr lang="en-US" altLang="ko-KR" sz="1600" kern="0" spc="-50" dirty="0" smtClean="0">
              <a:solidFill>
                <a:prstClr val="black"/>
              </a:solidFill>
            </a:endParaRPr>
          </a:p>
          <a:p>
            <a:pPr marL="742950" lvl="1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600" kern="0" spc="-50" dirty="0" smtClean="0">
                <a:solidFill>
                  <a:prstClr val="black"/>
                </a:solidFill>
              </a:rPr>
              <a:t>2</a:t>
            </a:r>
            <a:r>
              <a:rPr lang="ko-KR" altLang="en-US" sz="1600" kern="0" spc="-50" dirty="0" smtClean="0">
                <a:solidFill>
                  <a:prstClr val="black"/>
                </a:solidFill>
              </a:rPr>
              <a:t>건의 국낸 학술대회 논문</a:t>
            </a:r>
            <a:r>
              <a:rPr lang="en-US" altLang="ko-KR" sz="1600" kern="0" spc="-50" dirty="0" smtClean="0">
                <a:solidFill>
                  <a:prstClr val="black"/>
                </a:solidFill>
              </a:rPr>
              <a:t>, 2</a:t>
            </a:r>
            <a:r>
              <a:rPr lang="ko-KR" altLang="en-US" sz="1600" kern="0" spc="-50" dirty="0" smtClean="0">
                <a:solidFill>
                  <a:prstClr val="black"/>
                </a:solidFill>
              </a:rPr>
              <a:t>건의 학위 논문들은 게재 완료</a:t>
            </a:r>
            <a:endParaRPr lang="en-US" altLang="ko-KR" sz="1600" kern="0" spc="-50" dirty="0" smtClean="0">
              <a:solidFill>
                <a:prstClr val="black"/>
              </a:solidFill>
            </a:endParaRPr>
          </a:p>
          <a:p>
            <a:pPr marL="742950" lvl="1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600" kern="0" spc="-50" dirty="0" smtClean="0">
                <a:solidFill>
                  <a:prstClr val="black"/>
                </a:solidFill>
              </a:rPr>
              <a:t>4</a:t>
            </a:r>
            <a:r>
              <a:rPr lang="ko-KR" altLang="en-US" sz="1600" kern="0" spc="-50" dirty="0" smtClean="0">
                <a:solidFill>
                  <a:prstClr val="black"/>
                </a:solidFill>
              </a:rPr>
              <a:t>건의 국제 저널 논문 준비 중</a:t>
            </a:r>
            <a:endParaRPr lang="en-US" altLang="ko-KR" sz="1600" kern="0" spc="-50" dirty="0" smtClean="0">
              <a:solidFill>
                <a:prstClr val="black"/>
              </a:solidFill>
            </a:endParaRPr>
          </a:p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ko-KR" sz="1600" kern="0" spc="-50" dirty="0" smtClean="0">
              <a:solidFill>
                <a:prstClr val="black"/>
              </a:solidFill>
            </a:endParaRPr>
          </a:p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b="1" kern="0" spc="-50" dirty="0" smtClean="0">
                <a:solidFill>
                  <a:srgbClr val="FF0000"/>
                </a:solidFill>
              </a:rPr>
              <a:t>다수의 국내외 확산 활동 </a:t>
            </a:r>
            <a:r>
              <a:rPr lang="ko-KR" altLang="en-US" sz="1600" kern="0" spc="-50" dirty="0" smtClean="0">
                <a:solidFill>
                  <a:prstClr val="black"/>
                </a:solidFill>
              </a:rPr>
              <a:t>수행</a:t>
            </a:r>
            <a:endParaRPr lang="en-US" altLang="ko-KR" sz="1600" kern="0" spc="-50" dirty="0" smtClean="0">
              <a:solidFill>
                <a:prstClr val="black"/>
              </a:solidFill>
            </a:endParaRPr>
          </a:p>
          <a:p>
            <a:pPr marL="742950" lvl="1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600" kern="0" spc="-50" dirty="0" smtClean="0">
                <a:solidFill>
                  <a:prstClr val="black"/>
                </a:solidFill>
              </a:rPr>
              <a:t>8</a:t>
            </a:r>
            <a:r>
              <a:rPr lang="ko-KR" altLang="en-US" sz="1600" kern="0" spc="-50" dirty="0" smtClean="0">
                <a:solidFill>
                  <a:prstClr val="black"/>
                </a:solidFill>
              </a:rPr>
              <a:t>건의 국내 학술대회 발표</a:t>
            </a:r>
            <a:r>
              <a:rPr lang="en-US" altLang="ko-KR" sz="1600" kern="0" spc="-50" dirty="0" smtClean="0">
                <a:solidFill>
                  <a:prstClr val="black"/>
                </a:solidFill>
              </a:rPr>
              <a:t>., 1</a:t>
            </a:r>
            <a:r>
              <a:rPr lang="ko-KR" altLang="en-US" sz="1600" kern="0" spc="-50" dirty="0" smtClean="0">
                <a:solidFill>
                  <a:prstClr val="black"/>
                </a:solidFill>
              </a:rPr>
              <a:t>건의 국내 학술대회 조직</a:t>
            </a:r>
            <a:endParaRPr lang="en-US" altLang="ko-KR" sz="1600" kern="0" spc="-50" dirty="0" smtClean="0">
              <a:solidFill>
                <a:prstClr val="black"/>
              </a:solidFill>
            </a:endParaRPr>
          </a:p>
          <a:p>
            <a:pPr marL="742950" lvl="1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600" kern="0" spc="-50" dirty="0" smtClean="0">
                <a:solidFill>
                  <a:prstClr val="black"/>
                </a:solidFill>
              </a:rPr>
              <a:t>1</a:t>
            </a:r>
            <a:r>
              <a:rPr lang="ko-KR" altLang="en-US" sz="1600" kern="0" spc="-50" dirty="0" smtClean="0">
                <a:solidFill>
                  <a:prstClr val="black"/>
                </a:solidFill>
              </a:rPr>
              <a:t>건의 양해 각서 체결</a:t>
            </a:r>
            <a:endParaRPr lang="en-US" altLang="ko-KR" sz="1600" kern="0" spc="-50" dirty="0" smtClean="0">
              <a:solidFill>
                <a:prstClr val="black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="" xmlns:a16="http://schemas.microsoft.com/office/drawing/2014/main" id="{C53D36E5-5476-4409-B7F7-5ECC3840BD36}"/>
              </a:ext>
            </a:extLst>
          </p:cNvPr>
          <p:cNvSpPr/>
          <p:nvPr/>
        </p:nvSpPr>
        <p:spPr>
          <a:xfrm>
            <a:off x="336000" y="1196752"/>
            <a:ext cx="8556480" cy="45719"/>
          </a:xfrm>
          <a:prstGeom prst="rect">
            <a:avLst/>
          </a:prstGeom>
          <a:solidFill>
            <a:srgbClr val="0255B8"/>
          </a:solidFill>
          <a:ln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ts val="600"/>
              </a:spcBef>
            </a:pPr>
            <a:endParaRPr lang="ko-KR" altLang="en-US" b="1" kern="0" dirty="0">
              <a:solidFill>
                <a:srgbClr val="0255B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66274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28650" y="74814"/>
            <a:ext cx="81198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prstClr val="black"/>
                </a:solidFill>
              </a:rPr>
              <a:t>연구 </a:t>
            </a:r>
            <a:r>
              <a:rPr lang="ko-KR" altLang="en-US" sz="3200" b="1" dirty="0" smtClean="0">
                <a:solidFill>
                  <a:prstClr val="black"/>
                </a:solidFill>
              </a:rPr>
              <a:t>성과 </a:t>
            </a:r>
            <a:r>
              <a:rPr lang="en-US" altLang="ko-KR" sz="3200" b="1" dirty="0" smtClean="0">
                <a:solidFill>
                  <a:prstClr val="black"/>
                </a:solidFill>
              </a:rPr>
              <a:t>– </a:t>
            </a:r>
            <a:r>
              <a:rPr lang="ko-KR" altLang="en-US" sz="3200" b="1" dirty="0" smtClean="0">
                <a:solidFill>
                  <a:prstClr val="black"/>
                </a:solidFill>
              </a:rPr>
              <a:t>특허 및 프로그램 산출물</a:t>
            </a:r>
            <a:endParaRPr lang="ko-KR" altLang="en-US" sz="3200" b="1" dirty="0">
              <a:solidFill>
                <a:prstClr val="black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="" xmlns:a16="http://schemas.microsoft.com/office/drawing/2014/main" id="{81AB9C2E-974A-4D8A-9C83-5064FE5DC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4189051"/>
              </p:ext>
            </p:extLst>
          </p:nvPr>
        </p:nvGraphicFramePr>
        <p:xfrm>
          <a:off x="418766" y="1196752"/>
          <a:ext cx="8545722" cy="2136613"/>
        </p:xfrm>
        <a:graphic>
          <a:graphicData uri="http://schemas.openxmlformats.org/drawingml/2006/table">
            <a:tbl>
              <a:tblPr firstRow="1" firstCol="1" bandRow="1"/>
              <a:tblGrid>
                <a:gridCol w="359302">
                  <a:extLst>
                    <a:ext uri="{9D8B030D-6E8A-4147-A177-3AD203B41FA5}">
                      <a16:colId xmlns="" xmlns:a16="http://schemas.microsoft.com/office/drawing/2014/main" val="1449899407"/>
                    </a:ext>
                  </a:extLst>
                </a:gridCol>
                <a:gridCol w="3218525">
                  <a:extLst>
                    <a:ext uri="{9D8B030D-6E8A-4147-A177-3AD203B41FA5}">
                      <a16:colId xmlns="" xmlns:a16="http://schemas.microsoft.com/office/drawing/2014/main" val="3134819482"/>
                    </a:ext>
                  </a:extLst>
                </a:gridCol>
                <a:gridCol w="671513">
                  <a:extLst>
                    <a:ext uri="{9D8B030D-6E8A-4147-A177-3AD203B41FA5}">
                      <a16:colId xmlns="" xmlns:a16="http://schemas.microsoft.com/office/drawing/2014/main" val="3293162447"/>
                    </a:ext>
                  </a:extLst>
                </a:gridCol>
                <a:gridCol w="1471613">
                  <a:extLst>
                    <a:ext uri="{9D8B030D-6E8A-4147-A177-3AD203B41FA5}">
                      <a16:colId xmlns="" xmlns:a16="http://schemas.microsoft.com/office/drawing/2014/main" val="4146162452"/>
                    </a:ext>
                  </a:extLst>
                </a:gridCol>
                <a:gridCol w="1264444">
                  <a:extLst>
                    <a:ext uri="{9D8B030D-6E8A-4147-A177-3AD203B41FA5}">
                      <a16:colId xmlns="" xmlns:a16="http://schemas.microsoft.com/office/drawing/2014/main" val="4214586925"/>
                    </a:ext>
                  </a:extLst>
                </a:gridCol>
                <a:gridCol w="1560325">
                  <a:extLst>
                    <a:ext uri="{9D8B030D-6E8A-4147-A177-3AD203B41FA5}">
                      <a16:colId xmlns="" xmlns:a16="http://schemas.microsoft.com/office/drawing/2014/main" val="1709100997"/>
                    </a:ext>
                  </a:extLst>
                </a:gridCol>
              </a:tblGrid>
              <a:tr h="288153">
                <a:tc rowSpan="2"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600" b="1" kern="1200" dirty="0">
                          <a:solidFill>
                            <a:schemeClr val="bg1"/>
                          </a:solidFill>
                          <a:latin typeface="+mn-lt"/>
                          <a:ea typeface="+mj-ea"/>
                          <a:cs typeface="+mn-cs"/>
                        </a:rPr>
                        <a:t>번호</a:t>
                      </a: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600" b="1" kern="1200" dirty="0">
                          <a:solidFill>
                            <a:schemeClr val="bg1"/>
                          </a:solidFill>
                          <a:latin typeface="+mn-lt"/>
                          <a:ea typeface="+mj-ea"/>
                          <a:cs typeface="+mn-cs"/>
                        </a:rPr>
                        <a:t>지식재산권 등 명칭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600" b="1" kern="1200" dirty="0">
                          <a:solidFill>
                            <a:schemeClr val="bg1"/>
                          </a:solidFill>
                          <a:latin typeface="+mn-lt"/>
                          <a:ea typeface="+mj-ea"/>
                          <a:cs typeface="+mn-cs"/>
                        </a:rPr>
                        <a:t>국명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출원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altLang="en-US" sz="14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altLang="en-US" sz="14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142255689"/>
                  </a:ext>
                </a:extLst>
              </a:tr>
              <a:tr h="26671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출원인</a:t>
                      </a:r>
                    </a:p>
                  </a:txBody>
                  <a:tcPr marL="13430" marR="1343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출원일</a:t>
                      </a:r>
                    </a:p>
                  </a:txBody>
                  <a:tcPr marL="13430" marR="1343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출원번호</a:t>
                      </a:r>
                    </a:p>
                  </a:txBody>
                  <a:tcPr marL="13430" marR="1343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699851730"/>
                  </a:ext>
                </a:extLst>
              </a:tr>
              <a:tr h="521818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j-ea"/>
                          <a:cs typeface="+mn-cs"/>
                        </a:rPr>
                        <a:t>1</a:t>
                      </a:r>
                      <a:endParaRPr lang="ko-KR" altLang="en-US" sz="1600" b="1" kern="1200" dirty="0">
                        <a:solidFill>
                          <a:sysClr val="windowText" lastClr="000000"/>
                        </a:solidFill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부호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-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암호 화폐 </a:t>
                      </a: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시스템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13430" marR="1343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KOR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광주과학기술원</a:t>
                      </a:r>
                    </a:p>
                  </a:txBody>
                  <a:tcPr marL="13430" marR="1343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2019-11-12</a:t>
                      </a:r>
                    </a:p>
                  </a:txBody>
                  <a:tcPr marL="13430" marR="1343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10-2019-0151246</a:t>
                      </a:r>
                    </a:p>
                  </a:txBody>
                  <a:tcPr marL="13430" marR="1343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951504763"/>
                  </a:ext>
                </a:extLst>
              </a:tr>
              <a:tr h="521818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j-ea"/>
                          <a:cs typeface="+mn-cs"/>
                        </a:rPr>
                        <a:t>2</a:t>
                      </a:r>
                      <a:endParaRPr lang="ko-KR" altLang="en-US" sz="1600" b="1" kern="1200" dirty="0">
                        <a:solidFill>
                          <a:sysClr val="windowText" lastClr="000000"/>
                        </a:solidFill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블록체인의 거래검증시스템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 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및 </a:t>
                      </a:r>
                      <a:r>
                        <a:rPr lang="ko-KR" altLang="en-US" sz="1600" kern="1200" dirty="0" err="1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블록체인이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 </a:t>
                      </a: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거래검증방법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13430" marR="1343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j-ea"/>
                          <a:cs typeface="+mn-cs"/>
                        </a:rPr>
                        <a:t>KOR</a:t>
                      </a:r>
                      <a:endParaRPr kumimoji="0" lang="ko-KR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광주과학기술원</a:t>
                      </a:r>
                    </a:p>
                  </a:txBody>
                  <a:tcPr marL="13430" marR="1343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2019-09-30</a:t>
                      </a:r>
                    </a:p>
                  </a:txBody>
                  <a:tcPr marL="13430" marR="1343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10-2019-0120655</a:t>
                      </a:r>
                    </a:p>
                  </a:txBody>
                  <a:tcPr marL="13430" marR="1343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412720990"/>
                  </a:ext>
                </a:extLst>
              </a:tr>
              <a:tr h="521818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j-ea"/>
                          <a:cs typeface="+mn-cs"/>
                        </a:rPr>
                        <a:t>3</a:t>
                      </a:r>
                      <a:endParaRPr lang="ko-KR" altLang="en-US" sz="1600" b="1" kern="1200" dirty="0">
                        <a:solidFill>
                          <a:sysClr val="windowText" lastClr="000000"/>
                        </a:solidFill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블록체인의 거래검증시스템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, 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및 </a:t>
                      </a:r>
                      <a:r>
                        <a:rPr lang="ko-KR" altLang="en-US" sz="1600" kern="1200" dirty="0" err="1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블록체인이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 </a:t>
                      </a: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거래검증방법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13430" marR="1343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PCT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광주과학기술원</a:t>
                      </a:r>
                    </a:p>
                  </a:txBody>
                  <a:tcPr marL="13430" marR="1343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2019-12-12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13430" marR="1343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PCT/KR2019/017571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13430" marR="1343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800042542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="" xmlns:a16="http://schemas.microsoft.com/office/drawing/2014/main" id="{81AB9C2E-974A-4D8A-9C83-5064FE5DC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9176761"/>
              </p:ext>
            </p:extLst>
          </p:nvPr>
        </p:nvGraphicFramePr>
        <p:xfrm>
          <a:off x="418766" y="3587445"/>
          <a:ext cx="8545722" cy="2377634"/>
        </p:xfrm>
        <a:graphic>
          <a:graphicData uri="http://schemas.openxmlformats.org/drawingml/2006/table">
            <a:tbl>
              <a:tblPr firstRow="1" firstCol="1" bandRow="1"/>
              <a:tblGrid>
                <a:gridCol w="912874">
                  <a:extLst>
                    <a:ext uri="{9D8B030D-6E8A-4147-A177-3AD203B41FA5}">
                      <a16:colId xmlns="" xmlns:a16="http://schemas.microsoft.com/office/drawing/2014/main" val="1449899407"/>
                    </a:ext>
                  </a:extLst>
                </a:gridCol>
                <a:gridCol w="3528392">
                  <a:extLst>
                    <a:ext uri="{9D8B030D-6E8A-4147-A177-3AD203B41FA5}">
                      <a16:colId xmlns="" xmlns:a16="http://schemas.microsoft.com/office/drawing/2014/main" val="3134819482"/>
                    </a:ext>
                  </a:extLst>
                </a:gridCol>
                <a:gridCol w="4104456">
                  <a:extLst>
                    <a:ext uri="{9D8B030D-6E8A-4147-A177-3AD203B41FA5}">
                      <a16:colId xmlns="" xmlns:a16="http://schemas.microsoft.com/office/drawing/2014/main" val="3293162447"/>
                    </a:ext>
                  </a:extLst>
                </a:gridCol>
              </a:tblGrid>
              <a:tr h="340354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j-ea"/>
                          <a:cs typeface="+mn-cs"/>
                        </a:rPr>
                        <a:t>이름</a:t>
                      </a:r>
                      <a:endParaRPr lang="ko-KR" altLang="en-US" sz="1600" b="1" kern="1200" dirty="0">
                        <a:solidFill>
                          <a:schemeClr val="bg1"/>
                        </a:solidFill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j-ea"/>
                          <a:cs typeface="+mn-cs"/>
                        </a:rPr>
                        <a:t>목적</a:t>
                      </a:r>
                      <a:endParaRPr lang="ko-KR" altLang="en-US" sz="1600" b="1" kern="1200" dirty="0">
                        <a:solidFill>
                          <a:schemeClr val="bg1"/>
                        </a:solidFill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1" kern="1200" dirty="0" err="1" smtClean="0">
                          <a:solidFill>
                            <a:schemeClr val="bg1"/>
                          </a:solidFill>
                          <a:latin typeface="+mn-lt"/>
                          <a:ea typeface="+mj-ea"/>
                          <a:cs typeface="+mn-cs"/>
                        </a:rPr>
                        <a:t>Github</a:t>
                      </a:r>
                      <a:r>
                        <a:rPr lang="en-US" altLang="ko-KR" sz="1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j-ea"/>
                          <a:cs typeface="+mn-cs"/>
                        </a:rPr>
                        <a:t> </a:t>
                      </a:r>
                      <a:r>
                        <a:rPr lang="ko-KR" altLang="en-US" sz="1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j-ea"/>
                          <a:cs typeface="+mn-cs"/>
                        </a:rPr>
                        <a:t>주소</a:t>
                      </a:r>
                      <a:endParaRPr lang="ko-KR" altLang="en-US" sz="1600" b="1" kern="1200" dirty="0">
                        <a:solidFill>
                          <a:schemeClr val="bg1"/>
                        </a:solidFill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142255689"/>
                  </a:ext>
                </a:extLst>
              </a:tr>
              <a:tr h="45504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err="1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ECCPoW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 </a:t>
                      </a:r>
                    </a:p>
                  </a:txBody>
                  <a:tcPr marL="13994" marR="13994" marT="5159" marB="5159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암호 퍼즐 생성 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(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디코딩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)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암호 퍼즐 해결 유무 판단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암호 퍼즐 난이도 조절</a:t>
                      </a:r>
                    </a:p>
                  </a:txBody>
                  <a:tcPr marL="13994" marR="13994" marT="5159" marB="5159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github.com/</a:t>
                      </a:r>
                      <a:r>
                        <a:rPr lang="en-US" altLang="ko-KR" sz="16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cryptoecc</a:t>
                      </a: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/</a:t>
                      </a:r>
                      <a:r>
                        <a:rPr lang="en-US" altLang="ko-KR" sz="16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bitcoin_ECC</a:t>
                      </a: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/tree/ecc-0.1.2</a:t>
                      </a:r>
                      <a:endParaRPr lang="en-US" altLang="ko-KR" sz="1600" kern="1200" dirty="0" smtClean="0">
                        <a:solidFill>
                          <a:schemeClr val="tx1"/>
                        </a:solidFill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최초생성일 </a:t>
                      </a: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: 2019.5.23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c</a:t>
                      </a:r>
                      <a:r>
                        <a:rPr lang="en-US" altLang="ko-KR" sz="16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ommit</a:t>
                      </a: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 </a:t>
                      </a: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: 66</a:t>
                      </a: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회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951504763"/>
                  </a:ext>
                </a:extLst>
              </a:tr>
              <a:tr h="32008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BTCECC</a:t>
                      </a:r>
                    </a:p>
                  </a:txBody>
                  <a:tcPr marL="13994" marR="13994" marT="5159" marB="5159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1200" dirty="0" err="1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ECCPoW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가 탑재된 </a:t>
                      </a:r>
                      <a:r>
                        <a:rPr lang="ko-KR" altLang="en-US" sz="1600" kern="1200" dirty="0" err="1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비트코인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13994" marR="13994" marT="5159" marB="5159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412720990"/>
                  </a:ext>
                </a:extLst>
              </a:tr>
              <a:tr h="59828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ETHECC</a:t>
                      </a:r>
                    </a:p>
                  </a:txBody>
                  <a:tcPr marL="13994" marR="13994" marT="5159" marB="5159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1200" dirty="0" err="1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ECCPoW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가 탑재된 </a:t>
                      </a:r>
                      <a:r>
                        <a:rPr lang="ko-KR" altLang="en-US" sz="1600" kern="1200" dirty="0" err="1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이더리움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13994" marR="13994" marT="5159" marB="5159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github.com/</a:t>
                      </a:r>
                      <a:r>
                        <a:rPr lang="en-US" altLang="ko-KR" sz="16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cryptoecc</a:t>
                      </a: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/go-</a:t>
                      </a:r>
                      <a:r>
                        <a:rPr lang="en-US" altLang="ko-KR" sz="16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ethereum_ECC</a:t>
                      </a: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/tree/eccpow-1.9</a:t>
                      </a:r>
                      <a:endParaRPr lang="en-US" altLang="ko-KR" sz="1600" kern="1200" dirty="0" smtClean="0">
                        <a:solidFill>
                          <a:schemeClr val="tx1"/>
                        </a:solidFill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최초생성일 </a:t>
                      </a: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: 2019.5.20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c</a:t>
                      </a:r>
                      <a:r>
                        <a:rPr lang="en-US" altLang="ko-KR" sz="16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ommit</a:t>
                      </a: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 </a:t>
                      </a: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: 82</a:t>
                      </a: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회</a:t>
                      </a:r>
                      <a:endParaRPr lang="en-US" altLang="ko-KR" sz="1600" kern="1200" dirty="0">
                        <a:solidFill>
                          <a:schemeClr val="tx1"/>
                        </a:solidFill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8000425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87865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28650" y="74814"/>
            <a:ext cx="81198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prstClr val="black"/>
                </a:solidFill>
              </a:rPr>
              <a:t>연구 </a:t>
            </a:r>
            <a:r>
              <a:rPr lang="ko-KR" altLang="en-US" sz="3200" b="1" dirty="0" smtClean="0">
                <a:solidFill>
                  <a:prstClr val="black"/>
                </a:solidFill>
              </a:rPr>
              <a:t>성과 </a:t>
            </a:r>
            <a:r>
              <a:rPr lang="en-US" altLang="ko-KR" sz="3200" b="1" dirty="0" smtClean="0">
                <a:solidFill>
                  <a:prstClr val="black"/>
                </a:solidFill>
              </a:rPr>
              <a:t>– </a:t>
            </a:r>
            <a:r>
              <a:rPr lang="ko-KR" altLang="en-US" sz="3200" b="1" dirty="0" smtClean="0">
                <a:solidFill>
                  <a:prstClr val="black"/>
                </a:solidFill>
              </a:rPr>
              <a:t>기술이전</a:t>
            </a:r>
            <a:endParaRPr lang="ko-KR" altLang="en-US" sz="3200" b="1" dirty="0">
              <a:solidFill>
                <a:prstClr val="black"/>
              </a:solidFill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27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="" xmlns:a16="http://schemas.microsoft.com/office/drawing/2014/main" id="{4C70D3A6-2D13-4F22-9C06-C56F2B48E196}"/>
              </a:ext>
            </a:extLst>
          </p:cNvPr>
          <p:cNvSpPr/>
          <p:nvPr/>
        </p:nvSpPr>
        <p:spPr>
          <a:xfrm>
            <a:off x="336000" y="1249702"/>
            <a:ext cx="8556480" cy="13152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kern="0" spc="-50" dirty="0" smtClean="0">
                <a:solidFill>
                  <a:prstClr val="black"/>
                </a:solidFill>
              </a:rPr>
              <a:t>블록체인 거래 검증 시스템 및 블록체인의 거래 검증 방법 </a:t>
            </a:r>
            <a:r>
              <a:rPr lang="en-US" altLang="ko-KR" sz="1600" kern="0" spc="-50" dirty="0" smtClean="0">
                <a:solidFill>
                  <a:prstClr val="black"/>
                </a:solidFill>
              </a:rPr>
              <a:t>(</a:t>
            </a:r>
            <a:r>
              <a:rPr lang="ko-KR" altLang="en-US" sz="1600" kern="0" spc="-50" dirty="0" smtClean="0">
                <a:solidFill>
                  <a:prstClr val="black"/>
                </a:solidFill>
              </a:rPr>
              <a:t>국내</a:t>
            </a:r>
            <a:r>
              <a:rPr lang="en-US" altLang="ko-KR" sz="1600" kern="0" spc="-50" dirty="0" smtClean="0">
                <a:solidFill>
                  <a:prstClr val="black"/>
                </a:solidFill>
              </a:rPr>
              <a:t>/</a:t>
            </a:r>
            <a:r>
              <a:rPr lang="ko-KR" altLang="en-US" sz="1600" kern="0" spc="-50" dirty="0" smtClean="0">
                <a:solidFill>
                  <a:prstClr val="black"/>
                </a:solidFill>
              </a:rPr>
              <a:t>국외</a:t>
            </a:r>
            <a:r>
              <a:rPr lang="en-US" altLang="ko-KR" sz="1600" kern="0" spc="-50" dirty="0" smtClean="0">
                <a:solidFill>
                  <a:prstClr val="black"/>
                </a:solidFill>
              </a:rPr>
              <a:t>PCT) </a:t>
            </a:r>
            <a:r>
              <a:rPr lang="ko-KR" altLang="en-US" sz="1600" kern="0" spc="-50" dirty="0" smtClean="0">
                <a:solidFill>
                  <a:prstClr val="black"/>
                </a:solidFill>
              </a:rPr>
              <a:t>들이 본 실용화 과제의 실적임</a:t>
            </a:r>
            <a:r>
              <a:rPr lang="en-US" altLang="ko-KR" sz="1600" kern="0" spc="-50" dirty="0" smtClean="0">
                <a:solidFill>
                  <a:prstClr val="black"/>
                </a:solidFill>
              </a:rPr>
              <a:t>.</a:t>
            </a:r>
          </a:p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kern="0" spc="-50" dirty="0" smtClean="0">
                <a:solidFill>
                  <a:prstClr val="black"/>
                </a:solidFill>
              </a:rPr>
              <a:t>이것들을 기술이전 할 계획임</a:t>
            </a:r>
            <a:r>
              <a:rPr lang="en-US" altLang="ko-KR" sz="1600" kern="0" spc="-50" dirty="0" smtClean="0">
                <a:solidFill>
                  <a:prstClr val="black"/>
                </a:solidFill>
              </a:rPr>
              <a:t>. </a:t>
            </a:r>
          </a:p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kern="0" spc="-50" dirty="0" smtClean="0">
                <a:solidFill>
                  <a:prstClr val="black"/>
                </a:solidFill>
              </a:rPr>
              <a:t>현재 </a:t>
            </a:r>
            <a:r>
              <a:rPr lang="en-US" altLang="ko-KR" sz="1600" kern="0" spc="-50" dirty="0" err="1" smtClean="0">
                <a:solidFill>
                  <a:prstClr val="black"/>
                </a:solidFill>
              </a:rPr>
              <a:t>LiverVance</a:t>
            </a:r>
            <a:r>
              <a:rPr lang="en-US" altLang="ko-KR" sz="1600" kern="0" spc="-50" dirty="0" smtClean="0">
                <a:solidFill>
                  <a:prstClr val="black"/>
                </a:solidFill>
              </a:rPr>
              <a:t> </a:t>
            </a:r>
            <a:r>
              <a:rPr lang="ko-KR" altLang="en-US" sz="1600" kern="0" spc="-50" dirty="0" smtClean="0">
                <a:solidFill>
                  <a:prstClr val="black"/>
                </a:solidFill>
              </a:rPr>
              <a:t>회사 설립을 완료하였음</a:t>
            </a:r>
            <a:r>
              <a:rPr lang="en-US" altLang="ko-KR" sz="1600" kern="0" spc="-50" dirty="0" smtClean="0">
                <a:solidFill>
                  <a:prstClr val="black"/>
                </a:solidFill>
              </a:rPr>
              <a:t>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="" xmlns:a16="http://schemas.microsoft.com/office/drawing/2014/main" id="{C53D36E5-5476-4409-B7F7-5ECC3840BD36}"/>
              </a:ext>
            </a:extLst>
          </p:cNvPr>
          <p:cNvSpPr/>
          <p:nvPr/>
        </p:nvSpPr>
        <p:spPr>
          <a:xfrm>
            <a:off x="336000" y="1196752"/>
            <a:ext cx="8556480" cy="45719"/>
          </a:xfrm>
          <a:prstGeom prst="rect">
            <a:avLst/>
          </a:prstGeom>
          <a:solidFill>
            <a:srgbClr val="0255B8"/>
          </a:solidFill>
          <a:ln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ts val="600"/>
              </a:spcBef>
            </a:pPr>
            <a:endParaRPr lang="ko-KR" altLang="en-US" b="1" kern="0" dirty="0">
              <a:solidFill>
                <a:srgbClr val="0255B8"/>
              </a:solidFill>
            </a:endParaRPr>
          </a:p>
        </p:txBody>
      </p:sp>
      <p:pic>
        <p:nvPicPr>
          <p:cNvPr id="12289" name="Picture 1" descr="H:\ECCPoW 증빙자료\기술이전\기술이전의향서_이흥노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16" t="7797" r="4185" b="9928"/>
          <a:stretch/>
        </p:blipFill>
        <p:spPr bwMode="auto">
          <a:xfrm>
            <a:off x="596184" y="2753560"/>
            <a:ext cx="2297782" cy="326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2513" y="3212976"/>
            <a:ext cx="5279926" cy="137167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2" name="직사각형 11"/>
          <p:cNvSpPr/>
          <p:nvPr/>
        </p:nvSpPr>
        <p:spPr>
          <a:xfrm>
            <a:off x="3252514" y="4584654"/>
            <a:ext cx="527992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 smtClean="0">
                <a:latin typeface="+mn-ea"/>
                <a:hlinkClick r:id="rId5"/>
              </a:rPr>
              <a:t>출처</a:t>
            </a:r>
            <a:r>
              <a:rPr lang="en-US" altLang="ko-KR" sz="1600" dirty="0" smtClean="0">
                <a:latin typeface="+mn-ea"/>
                <a:hlinkClick r:id="rId5"/>
              </a:rPr>
              <a:t>: </a:t>
            </a:r>
            <a:r>
              <a:rPr lang="ko-KR" altLang="en-US" sz="1600" dirty="0">
                <a:latin typeface="+mn-ea"/>
              </a:rPr>
              <a:t>‘</a:t>
            </a:r>
            <a:r>
              <a:rPr lang="en-US" altLang="ko-KR" sz="1600" dirty="0">
                <a:latin typeface="+mn-ea"/>
              </a:rPr>
              <a:t>B</a:t>
            </a:r>
            <a:r>
              <a:rPr lang="ko-KR" altLang="en-US" sz="1600" dirty="0" err="1">
                <a:latin typeface="+mn-ea"/>
              </a:rPr>
              <a:t>캐피탈리스트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4</a:t>
            </a:r>
            <a:r>
              <a:rPr lang="ko-KR" altLang="en-US" sz="1600" dirty="0">
                <a:latin typeface="+mn-ea"/>
              </a:rPr>
              <a:t>기’ 워크숍</a:t>
            </a:r>
            <a:r>
              <a:rPr lang="en-US" altLang="ko-KR" sz="1600" dirty="0">
                <a:latin typeface="+mn-ea"/>
              </a:rPr>
              <a:t>…7</a:t>
            </a:r>
            <a:r>
              <a:rPr lang="ko-KR" altLang="en-US" sz="1600" dirty="0">
                <a:latin typeface="+mn-ea"/>
              </a:rPr>
              <a:t>개 블록체인 프로젝트 </a:t>
            </a:r>
            <a:r>
              <a:rPr lang="ko-KR" altLang="en-US" sz="1600" dirty="0" smtClean="0">
                <a:latin typeface="+mn-ea"/>
              </a:rPr>
              <a:t>발표</a:t>
            </a:r>
            <a:r>
              <a:rPr lang="en-US" altLang="ko-KR" sz="1600" dirty="0" smtClean="0">
                <a:latin typeface="+mn-ea"/>
              </a:rPr>
              <a:t>, </a:t>
            </a:r>
            <a:r>
              <a:rPr lang="en-US" altLang="ko-KR" sz="1600" dirty="0" smtClean="0">
                <a:latin typeface="+mn-ea"/>
                <a:hlinkClick r:id="rId5"/>
              </a:rPr>
              <a:t>https</a:t>
            </a:r>
            <a:r>
              <a:rPr lang="en-US" altLang="ko-KR" sz="1600" dirty="0">
                <a:latin typeface="+mn-ea"/>
                <a:hlinkClick r:id="rId5"/>
              </a:rPr>
              <a:t>://trendw.kr/2019-11185592.t1m</a:t>
            </a:r>
            <a:endParaRPr lang="ko-KR" altLang="en-US" sz="16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428061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28650" y="74814"/>
            <a:ext cx="81198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prstClr val="black"/>
                </a:solidFill>
              </a:rPr>
              <a:t>연구 </a:t>
            </a:r>
            <a:r>
              <a:rPr lang="ko-KR" altLang="en-US" sz="3200" b="1" dirty="0" smtClean="0">
                <a:solidFill>
                  <a:prstClr val="black"/>
                </a:solidFill>
              </a:rPr>
              <a:t>성과 </a:t>
            </a:r>
            <a:r>
              <a:rPr lang="en-US" altLang="ko-KR" sz="3200" b="1" dirty="0" smtClean="0">
                <a:solidFill>
                  <a:prstClr val="black"/>
                </a:solidFill>
              </a:rPr>
              <a:t>– </a:t>
            </a:r>
            <a:r>
              <a:rPr lang="ko-KR" altLang="en-US" sz="3200" b="1" dirty="0" smtClean="0">
                <a:solidFill>
                  <a:prstClr val="black"/>
                </a:solidFill>
              </a:rPr>
              <a:t>논문 실적</a:t>
            </a:r>
            <a:endParaRPr lang="ko-KR" altLang="en-US" sz="3200" b="1" dirty="0">
              <a:solidFill>
                <a:prstClr val="black"/>
              </a:solidFill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="" xmlns:a16="http://schemas.microsoft.com/office/drawing/2014/main" id="{4C70D3A6-2D13-4F22-9C06-C56F2B48E196}"/>
              </a:ext>
            </a:extLst>
          </p:cNvPr>
          <p:cNvSpPr/>
          <p:nvPr/>
        </p:nvSpPr>
        <p:spPr>
          <a:xfrm>
            <a:off x="336000" y="1249702"/>
            <a:ext cx="8556480" cy="8641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600" dirty="0" smtClean="0">
                <a:solidFill>
                  <a:schemeClr val="tx1"/>
                </a:solidFill>
              </a:rPr>
              <a:t>2</a:t>
            </a:r>
            <a:r>
              <a:rPr lang="ko-KR" altLang="en-US" sz="1600" dirty="0" smtClean="0">
                <a:solidFill>
                  <a:schemeClr val="tx1"/>
                </a:solidFill>
              </a:rPr>
              <a:t>건의 학위논문</a:t>
            </a:r>
            <a:r>
              <a:rPr lang="en-US" altLang="ko-KR" sz="1600" dirty="0" smtClean="0">
                <a:solidFill>
                  <a:schemeClr val="tx1"/>
                </a:solidFill>
              </a:rPr>
              <a:t>/2</a:t>
            </a:r>
            <a:r>
              <a:rPr lang="ko-KR" altLang="en-US" sz="1600" dirty="0" smtClean="0">
                <a:solidFill>
                  <a:schemeClr val="tx1"/>
                </a:solidFill>
              </a:rPr>
              <a:t>건의 학술대회 논문 게재 완료</a:t>
            </a:r>
            <a:endParaRPr lang="en-US" altLang="ko-KR" sz="1600" dirty="0" smtClean="0">
              <a:solidFill>
                <a:schemeClr val="tx1"/>
              </a:solidFill>
            </a:endParaRPr>
          </a:p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600" dirty="0" smtClean="0">
                <a:solidFill>
                  <a:schemeClr val="tx1"/>
                </a:solidFill>
              </a:rPr>
              <a:t>4</a:t>
            </a:r>
            <a:r>
              <a:rPr lang="ko-KR" altLang="en-US" sz="1600" dirty="0" smtClean="0">
                <a:solidFill>
                  <a:schemeClr val="tx1"/>
                </a:solidFill>
              </a:rPr>
              <a:t>건의 국외 저널 논문 게재 준비 중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="" xmlns:a16="http://schemas.microsoft.com/office/drawing/2014/main" id="{C53D36E5-5476-4409-B7F7-5ECC3840BD36}"/>
              </a:ext>
            </a:extLst>
          </p:cNvPr>
          <p:cNvSpPr/>
          <p:nvPr/>
        </p:nvSpPr>
        <p:spPr>
          <a:xfrm>
            <a:off x="336000" y="1196752"/>
            <a:ext cx="8556480" cy="45719"/>
          </a:xfrm>
          <a:prstGeom prst="rect">
            <a:avLst/>
          </a:prstGeom>
          <a:solidFill>
            <a:srgbClr val="0255B8"/>
          </a:solidFill>
          <a:ln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ts val="600"/>
              </a:spcBef>
            </a:pPr>
            <a:endParaRPr lang="ko-KR" altLang="en-US" b="1" kern="0" dirty="0">
              <a:solidFill>
                <a:srgbClr val="0255B8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xmlns="" id="{11D0D35D-B23D-49E0-BB23-A1077D7E4D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4886607"/>
              </p:ext>
            </p:extLst>
          </p:nvPr>
        </p:nvGraphicFramePr>
        <p:xfrm>
          <a:off x="348700" y="2329346"/>
          <a:ext cx="8543780" cy="3438930"/>
        </p:xfrm>
        <a:graphic>
          <a:graphicData uri="http://schemas.openxmlformats.org/drawingml/2006/table">
            <a:tbl>
              <a:tblPr firstRow="1" firstCol="1" bandRow="1"/>
              <a:tblGrid>
                <a:gridCol w="406659">
                  <a:extLst>
                    <a:ext uri="{9D8B030D-6E8A-4147-A177-3AD203B41FA5}">
                      <a16:colId xmlns:a16="http://schemas.microsoft.com/office/drawing/2014/main" xmlns="" val="1449899407"/>
                    </a:ext>
                  </a:extLst>
                </a:gridCol>
                <a:gridCol w="3168569">
                  <a:extLst>
                    <a:ext uri="{9D8B030D-6E8A-4147-A177-3AD203B41FA5}">
                      <a16:colId xmlns:a16="http://schemas.microsoft.com/office/drawing/2014/main" xmlns="" val="313481948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xmlns="" val="3293162447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600659448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xmlns="" val="3325294817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xmlns="" val="4040964989"/>
                    </a:ext>
                  </a:extLst>
                </a:gridCol>
                <a:gridCol w="1080120"/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3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번호</a:t>
                      </a: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3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논문명</a:t>
                      </a:r>
                      <a:endParaRPr lang="ko-KR" altLang="en-US" sz="13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3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학술지명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국명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발행기관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SCI </a:t>
                      </a:r>
                      <a:r>
                        <a:rPr lang="ko-KR" altLang="en-US" sz="13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여부</a:t>
                      </a:r>
                      <a:endParaRPr lang="en-US" sz="13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게재일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42255689"/>
                  </a:ext>
                </a:extLst>
              </a:tr>
              <a:tr h="93176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3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13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Blockchain For The Collision Avoidance And The Recovery of Crashed </a:t>
                      </a:r>
                      <a:r>
                        <a:rPr lang="en-US" sz="13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UAVs</a:t>
                      </a:r>
                      <a:endParaRPr lang="en-US" sz="13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180000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대한전자공학회</a:t>
                      </a:r>
                      <a:r>
                        <a:rPr lang="ko-KR" alt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2019</a:t>
                      </a:r>
                      <a:r>
                        <a:rPr lang="ko-KR" alt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년도 하계종합학술대회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국내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대한전자공학회</a:t>
                      </a:r>
                      <a:endParaRPr lang="ko-KR" altLang="en-US" sz="13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 </a:t>
                      </a:r>
                      <a:r>
                        <a:rPr lang="en-US" sz="13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SCI</a:t>
                      </a:r>
                      <a:endParaRPr lang="en-US" sz="13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2019-06-07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951504763"/>
                  </a:ext>
                </a:extLst>
              </a:tr>
              <a:tr h="93176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3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ko-KR" altLang="en-US" sz="13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Permissioned ISPs Blockchain For The End to End Quality of Service </a:t>
                      </a:r>
                      <a:r>
                        <a:rPr lang="en-US" sz="13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Enhancement</a:t>
                      </a:r>
                      <a:endParaRPr lang="en-US" sz="13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180000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휴먼명조" panose="02010504000101010101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휴먼명조" panose="02010504000101010101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휴먼명조" panose="02010504000101010101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 </a:t>
                      </a: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SCI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2019-06-07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412720990"/>
                  </a:ext>
                </a:extLst>
              </a:tr>
              <a:tr h="93176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3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13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Time-Variant Proof-of-work using Error-Correction codes</a:t>
                      </a:r>
                    </a:p>
                  </a:txBody>
                  <a:tcPr marL="180000" marR="180000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Under revision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국외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106626756"/>
                  </a:ext>
                </a:extLst>
              </a:tr>
              <a:tr h="93176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3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en-US" sz="13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Profitable Double-Spending Attacks</a:t>
                      </a:r>
                    </a:p>
                  </a:txBody>
                  <a:tcPr marL="180000" marR="180000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Under revision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국외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800042542"/>
                  </a:ext>
                </a:extLst>
              </a:tr>
              <a:tr h="93176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3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ko-KR" altLang="en-US" sz="13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Blockchain-Based Distributed Patient-Centric Image Management System</a:t>
                      </a:r>
                    </a:p>
                  </a:txBody>
                  <a:tcPr marL="180000" marR="180000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Under revision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국외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612420730"/>
                  </a:ext>
                </a:extLst>
              </a:tr>
              <a:tr h="93176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3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ko-KR" altLang="en-US" sz="13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Fine difficulty control for </a:t>
                      </a:r>
                      <a:r>
                        <a:rPr lang="en-US" sz="13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ECCPoWs</a:t>
                      </a:r>
                      <a:endParaRPr lang="en-US" sz="13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180000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Under revision 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국외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71047003"/>
                  </a:ext>
                </a:extLst>
              </a:tr>
              <a:tr h="93176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3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ko-KR" altLang="en-US" sz="13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Mydata</a:t>
                      </a: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3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blockchain</a:t>
                      </a:r>
                      <a:endParaRPr lang="en-US" sz="13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180000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석사 학위 논문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국내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광주과학기술원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 </a:t>
                      </a: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SCI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563089182"/>
                  </a:ext>
                </a:extLst>
              </a:tr>
              <a:tr h="93176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300" b="1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ko-KR" altLang="en-US" sz="13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Understanding Blockchain technology and applications: A review</a:t>
                      </a:r>
                      <a:endParaRPr lang="en-US" sz="13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180000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석사 학위 논문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국내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광주과학기술원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 </a:t>
                      </a: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SCI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743152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04242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28650" y="74814"/>
            <a:ext cx="81198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prstClr val="black"/>
                </a:solidFill>
              </a:rPr>
              <a:t>연구 </a:t>
            </a:r>
            <a:r>
              <a:rPr lang="ko-KR" altLang="en-US" sz="3200" b="1" dirty="0" smtClean="0">
                <a:solidFill>
                  <a:prstClr val="black"/>
                </a:solidFill>
              </a:rPr>
              <a:t>성과 </a:t>
            </a:r>
            <a:r>
              <a:rPr lang="en-US" altLang="ko-KR" sz="3200" b="1" dirty="0" smtClean="0">
                <a:solidFill>
                  <a:prstClr val="black"/>
                </a:solidFill>
              </a:rPr>
              <a:t>– </a:t>
            </a:r>
            <a:r>
              <a:rPr lang="ko-KR" altLang="en-US" sz="3200" b="1" dirty="0" smtClean="0">
                <a:solidFill>
                  <a:prstClr val="black"/>
                </a:solidFill>
              </a:rPr>
              <a:t>국내 확산 활동</a:t>
            </a:r>
            <a:endParaRPr lang="ko-KR" altLang="en-US" sz="3200" b="1" dirty="0">
              <a:solidFill>
                <a:prstClr val="black"/>
              </a:solidFill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="" xmlns:a16="http://schemas.microsoft.com/office/drawing/2014/main" id="{4C70D3A6-2D13-4F22-9C06-C56F2B48E196}"/>
              </a:ext>
            </a:extLst>
          </p:cNvPr>
          <p:cNvSpPr/>
          <p:nvPr/>
        </p:nvSpPr>
        <p:spPr>
          <a:xfrm>
            <a:off x="336000" y="1249701"/>
            <a:ext cx="8556480" cy="8111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kern="0" spc="-50" dirty="0" smtClean="0">
                <a:solidFill>
                  <a:prstClr val="black"/>
                </a:solidFill>
              </a:rPr>
              <a:t>연구 개발 성과물의 확산을 위해 다양한 사회 활동 수행</a:t>
            </a:r>
            <a:r>
              <a:rPr lang="en-US" altLang="ko-KR" sz="1600" kern="0" spc="-50" dirty="0" smtClean="0">
                <a:solidFill>
                  <a:prstClr val="black"/>
                </a:solidFill>
              </a:rPr>
              <a:t>.</a:t>
            </a:r>
          </a:p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600" kern="0" spc="-50" dirty="0" smtClean="0">
                <a:solidFill>
                  <a:prstClr val="black"/>
                </a:solidFill>
              </a:rPr>
              <a:t>8</a:t>
            </a:r>
            <a:r>
              <a:rPr lang="ko-KR" altLang="en-US" sz="1600" kern="0" spc="-50" dirty="0" smtClean="0">
                <a:solidFill>
                  <a:prstClr val="black"/>
                </a:solidFill>
              </a:rPr>
              <a:t>건의 국내 학술대회 발표 및 </a:t>
            </a:r>
            <a:r>
              <a:rPr lang="en-US" altLang="ko-KR" sz="1600" kern="0" spc="-50" dirty="0" smtClean="0">
                <a:solidFill>
                  <a:prstClr val="black"/>
                </a:solidFill>
              </a:rPr>
              <a:t>1 </a:t>
            </a:r>
            <a:r>
              <a:rPr lang="ko-KR" altLang="en-US" sz="1600" kern="0" spc="-50" dirty="0" smtClean="0">
                <a:solidFill>
                  <a:prstClr val="black"/>
                </a:solidFill>
              </a:rPr>
              <a:t>건의 학회 조직</a:t>
            </a:r>
            <a:endParaRPr lang="en-US" altLang="ko-KR" sz="1600" kern="0" spc="-50" dirty="0" smtClean="0">
              <a:solidFill>
                <a:prstClr val="black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="" xmlns:a16="http://schemas.microsoft.com/office/drawing/2014/main" id="{C53D36E5-5476-4409-B7F7-5ECC3840BD36}"/>
              </a:ext>
            </a:extLst>
          </p:cNvPr>
          <p:cNvSpPr/>
          <p:nvPr/>
        </p:nvSpPr>
        <p:spPr>
          <a:xfrm>
            <a:off x="336000" y="1196752"/>
            <a:ext cx="8556480" cy="45719"/>
          </a:xfrm>
          <a:prstGeom prst="rect">
            <a:avLst/>
          </a:prstGeom>
          <a:solidFill>
            <a:srgbClr val="0255B8"/>
          </a:solidFill>
          <a:ln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ts val="600"/>
              </a:spcBef>
            </a:pPr>
            <a:endParaRPr lang="ko-KR" altLang="en-US" b="1" kern="0" dirty="0">
              <a:solidFill>
                <a:srgbClr val="0255B8"/>
              </a:solidFill>
            </a:endParaRPr>
          </a:p>
        </p:txBody>
      </p:sp>
      <p:pic>
        <p:nvPicPr>
          <p:cNvPr id="7" name="Picture 2" descr="18일 '블록체인으로 여는 미래사회' 워크숍 개최, &quot;암호화폐 유형별 정책 필요&quot;">
            <a:extLst>
              <a:ext uri="{FF2B5EF4-FFF2-40B4-BE49-F238E27FC236}">
                <a16:creationId xmlns:a16="http://schemas.microsoft.com/office/drawing/2014/main" xmlns="" id="{CFD507E6-90F0-438B-913E-5CAFC72D9A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8" r="36641"/>
          <a:stretch/>
        </p:blipFill>
        <p:spPr bwMode="auto">
          <a:xfrm>
            <a:off x="6211388" y="2942374"/>
            <a:ext cx="2681388" cy="2525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7FBC998A-DC95-4504-B6AE-B044E7784AD0}"/>
              </a:ext>
            </a:extLst>
          </p:cNvPr>
          <p:cNvSpPr/>
          <p:nvPr/>
        </p:nvSpPr>
        <p:spPr>
          <a:xfrm>
            <a:off x="6211388" y="2348880"/>
            <a:ext cx="2686856" cy="3326768"/>
          </a:xfrm>
          <a:prstGeom prst="rect">
            <a:avLst/>
          </a:prstGeom>
          <a:noFill/>
          <a:ln w="19050"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xmlns="" id="{11D0D35D-B23D-49E0-BB23-A1077D7E4D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3954160"/>
              </p:ext>
            </p:extLst>
          </p:nvPr>
        </p:nvGraphicFramePr>
        <p:xfrm>
          <a:off x="339702" y="2204864"/>
          <a:ext cx="5816474" cy="3607480"/>
        </p:xfrm>
        <a:graphic>
          <a:graphicData uri="http://schemas.openxmlformats.org/drawingml/2006/table">
            <a:tbl>
              <a:tblPr firstRow="1" firstCol="1" bandRow="1"/>
              <a:tblGrid>
                <a:gridCol w="342701">
                  <a:extLst>
                    <a:ext uri="{9D8B030D-6E8A-4147-A177-3AD203B41FA5}">
                      <a16:colId xmlns:a16="http://schemas.microsoft.com/office/drawing/2014/main" xmlns="" val="1449899407"/>
                    </a:ext>
                  </a:extLst>
                </a:gridCol>
                <a:gridCol w="2462784">
                  <a:extLst>
                    <a:ext uri="{9D8B030D-6E8A-4147-A177-3AD203B41FA5}">
                      <a16:colId xmlns:a16="http://schemas.microsoft.com/office/drawing/2014/main" xmlns="" val="3134819482"/>
                    </a:ext>
                  </a:extLst>
                </a:gridCol>
                <a:gridCol w="1003663">
                  <a:extLst>
                    <a:ext uri="{9D8B030D-6E8A-4147-A177-3AD203B41FA5}">
                      <a16:colId xmlns:a16="http://schemas.microsoft.com/office/drawing/2014/main" xmlns="" val="3293162447"/>
                    </a:ext>
                  </a:extLst>
                </a:gridCol>
                <a:gridCol w="1003663">
                  <a:extLst>
                    <a:ext uri="{9D8B030D-6E8A-4147-A177-3AD203B41FA5}">
                      <a16:colId xmlns:a16="http://schemas.microsoft.com/office/drawing/2014/main" xmlns="" val="600659448"/>
                    </a:ext>
                  </a:extLst>
                </a:gridCol>
                <a:gridCol w="1003663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147746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2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번호</a:t>
                      </a: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2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논문명</a:t>
                      </a:r>
                      <a:endParaRPr lang="ko-KR" altLang="en-US" sz="12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2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발표자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발표일시</a:t>
                      </a:r>
                    </a:p>
                  </a:txBody>
                  <a:tcPr marL="11209" marR="11209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장소</a:t>
                      </a:r>
                    </a:p>
                  </a:txBody>
                  <a:tcPr marL="11209" marR="11209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42255689"/>
                  </a:ext>
                </a:extLst>
              </a:tr>
              <a:tr h="193949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2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12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블록체인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법학회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컨퍼런스</a:t>
                      </a:r>
                    </a:p>
                  </a:txBody>
                  <a:tcPr marL="13430" marR="1343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이흥노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430" marR="1343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2019.10.22</a:t>
                      </a:r>
                    </a:p>
                  </a:txBody>
                  <a:tcPr marL="13430" marR="1343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서울</a:t>
                      </a:r>
                    </a:p>
                  </a:txBody>
                  <a:tcPr marL="13430" marR="1343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951504763"/>
                  </a:ext>
                </a:extLst>
              </a:tr>
              <a:tr h="193949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2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ko-KR" altLang="en-US" sz="12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블록체인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법학회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컨퍼런스</a:t>
                      </a:r>
                    </a:p>
                  </a:txBody>
                  <a:tcPr marL="13430" marR="1343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이흥노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430" marR="1343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2019.08.28</a:t>
                      </a:r>
                    </a:p>
                  </a:txBody>
                  <a:tcPr marL="13430" marR="1343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서울</a:t>
                      </a:r>
                    </a:p>
                  </a:txBody>
                  <a:tcPr marL="13430" marR="1343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412720990"/>
                  </a:ext>
                </a:extLst>
              </a:tr>
              <a:tr h="269374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2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12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대한전자공학회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2019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년도 하계종합학술대회</a:t>
                      </a:r>
                    </a:p>
                  </a:txBody>
                  <a:tcPr marL="13430" marR="1343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Yaseen Jabarulla</a:t>
                      </a:r>
                    </a:p>
                  </a:txBody>
                  <a:tcPr marL="13430" marR="1343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2019.06.27</a:t>
                      </a:r>
                    </a:p>
                  </a:txBody>
                  <a:tcPr marL="13430" marR="1343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제주도</a:t>
                      </a:r>
                    </a:p>
                  </a:txBody>
                  <a:tcPr marL="13430" marR="1343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106626756"/>
                  </a:ext>
                </a:extLst>
              </a:tr>
              <a:tr h="269374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2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en-US" sz="12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대한전자공학회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2019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년도 하계종합학술대회</a:t>
                      </a:r>
                    </a:p>
                  </a:txBody>
                  <a:tcPr marL="13430" marR="1343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Michele Scarlato</a:t>
                      </a:r>
                    </a:p>
                  </a:txBody>
                  <a:tcPr marL="13430" marR="1343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2019.06.27</a:t>
                      </a:r>
                    </a:p>
                  </a:txBody>
                  <a:tcPr marL="13430" marR="1343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제주도</a:t>
                      </a:r>
                    </a:p>
                  </a:txBody>
                  <a:tcPr marL="13430" marR="1343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800042542"/>
                  </a:ext>
                </a:extLst>
              </a:tr>
              <a:tr h="269374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2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ko-KR" altLang="en-US" sz="12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블록체인으로 여는 미래사회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Workshop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430" marR="1343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이흥노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430" marR="1343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2019.06.17</a:t>
                      </a:r>
                    </a:p>
                  </a:txBody>
                  <a:tcPr marL="13430" marR="1343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서울</a:t>
                      </a:r>
                    </a:p>
                  </a:txBody>
                  <a:tcPr marL="13430" marR="1343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612420730"/>
                  </a:ext>
                </a:extLst>
              </a:tr>
              <a:tr h="193949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2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ko-KR" altLang="en-US" sz="12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ETHcon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Korea 2019</a:t>
                      </a:r>
                    </a:p>
                  </a:txBody>
                  <a:tcPr marL="13430" marR="1343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이흥노</a:t>
                      </a:r>
                    </a:p>
                  </a:txBody>
                  <a:tcPr marL="13430" marR="1343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2019.05.27</a:t>
                      </a:r>
                    </a:p>
                  </a:txBody>
                  <a:tcPr marL="13430" marR="1343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서울</a:t>
                      </a:r>
                    </a:p>
                  </a:txBody>
                  <a:tcPr marL="13430" marR="1343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193564353"/>
                  </a:ext>
                </a:extLst>
              </a:tr>
              <a:tr h="193949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2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ko-KR" altLang="en-US" sz="12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ETHcon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Korea 2019</a:t>
                      </a:r>
                    </a:p>
                  </a:txBody>
                  <a:tcPr marL="13430" marR="1343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장재혁</a:t>
                      </a:r>
                    </a:p>
                  </a:txBody>
                  <a:tcPr marL="13430" marR="1343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2019.05.27</a:t>
                      </a:r>
                    </a:p>
                  </a:txBody>
                  <a:tcPr marL="13430" marR="1343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서울</a:t>
                      </a:r>
                    </a:p>
                  </a:txBody>
                  <a:tcPr marL="13430" marR="1343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35692016"/>
                  </a:ext>
                </a:extLst>
              </a:tr>
              <a:tr h="193949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2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ko-KR" altLang="en-US" sz="12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JCCI 2019</a:t>
                      </a:r>
                    </a:p>
                  </a:txBody>
                  <a:tcPr marL="13430" marR="1343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이흥노</a:t>
                      </a:r>
                    </a:p>
                  </a:txBody>
                  <a:tcPr marL="13430" marR="1343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2019.05.01</a:t>
                      </a:r>
                    </a:p>
                  </a:txBody>
                  <a:tcPr marL="13430" marR="1343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강릉</a:t>
                      </a:r>
                    </a:p>
                  </a:txBody>
                  <a:tcPr marL="13430" marR="1343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71047003"/>
                  </a:ext>
                </a:extLst>
              </a:tr>
              <a:tr h="137788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2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ko-KR" altLang="en-US" sz="12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한국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ICT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금융학회 세미나</a:t>
                      </a:r>
                    </a:p>
                  </a:txBody>
                  <a:tcPr marL="13430" marR="1343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이흥노</a:t>
                      </a:r>
                    </a:p>
                  </a:txBody>
                  <a:tcPr marL="13430" marR="1343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2019.04.19</a:t>
                      </a:r>
                    </a:p>
                  </a:txBody>
                  <a:tcPr marL="13430" marR="1343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국회 도서관</a:t>
                      </a:r>
                    </a:p>
                  </a:txBody>
                  <a:tcPr marL="13430" marR="1343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563089182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E70FE71E-D6D6-4CEB-B575-2DA1F40D05F4}"/>
              </a:ext>
            </a:extLst>
          </p:cNvPr>
          <p:cNvSpPr/>
          <p:nvPr/>
        </p:nvSpPr>
        <p:spPr>
          <a:xfrm>
            <a:off x="6217154" y="2363279"/>
            <a:ext cx="2675326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1400" b="1" dirty="0">
                <a:solidFill>
                  <a:srgbClr val="0255B8"/>
                </a:solidFill>
                <a:latin typeface="+mj-lt"/>
              </a:rPr>
              <a:t>블록체인으로 여는 미래 사회</a:t>
            </a:r>
            <a:endParaRPr lang="en-US" altLang="ko-KR" sz="1400" b="1" dirty="0">
              <a:solidFill>
                <a:srgbClr val="0255B8"/>
              </a:solidFill>
              <a:latin typeface="+mj-lt"/>
            </a:endParaRPr>
          </a:p>
          <a:p>
            <a:pPr algn="ctr">
              <a:defRPr/>
            </a:pPr>
            <a:r>
              <a:rPr lang="en-US" altLang="ko-KR" sz="1400" b="1" dirty="0">
                <a:solidFill>
                  <a:srgbClr val="0255B8"/>
                </a:solidFill>
                <a:latin typeface="+mj-lt"/>
              </a:rPr>
              <a:t>Workshop</a:t>
            </a:r>
          </a:p>
        </p:txBody>
      </p:sp>
    </p:spTree>
    <p:extLst>
      <p:ext uri="{BB962C8B-B14F-4D97-AF65-F5344CB8AC3E}">
        <p14:creationId xmlns:p14="http://schemas.microsoft.com/office/powerpoint/2010/main" val="41981055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28650" y="74814"/>
            <a:ext cx="81198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prstClr val="black"/>
                </a:solidFill>
              </a:rPr>
              <a:t>연구 </a:t>
            </a:r>
            <a:r>
              <a:rPr lang="ko-KR" altLang="en-US" sz="3200" b="1" dirty="0" smtClean="0">
                <a:solidFill>
                  <a:prstClr val="black"/>
                </a:solidFill>
              </a:rPr>
              <a:t>성과 </a:t>
            </a:r>
            <a:r>
              <a:rPr lang="en-US" altLang="ko-KR" sz="3200" b="1" dirty="0" smtClean="0">
                <a:solidFill>
                  <a:prstClr val="black"/>
                </a:solidFill>
              </a:rPr>
              <a:t>– </a:t>
            </a:r>
            <a:r>
              <a:rPr lang="ko-KR" altLang="en-US" sz="3200" b="1" dirty="0" smtClean="0">
                <a:solidFill>
                  <a:prstClr val="black"/>
                </a:solidFill>
              </a:rPr>
              <a:t>국외 확산 활동</a:t>
            </a:r>
            <a:endParaRPr lang="ko-KR" altLang="en-US" sz="3200" b="1" dirty="0">
              <a:solidFill>
                <a:prstClr val="black"/>
              </a:solidFill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30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="" xmlns:a16="http://schemas.microsoft.com/office/drawing/2014/main" id="{4C70D3A6-2D13-4F22-9C06-C56F2B48E196}"/>
              </a:ext>
            </a:extLst>
          </p:cNvPr>
          <p:cNvSpPr/>
          <p:nvPr/>
        </p:nvSpPr>
        <p:spPr>
          <a:xfrm>
            <a:off x="336000" y="1249701"/>
            <a:ext cx="8556480" cy="8111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solidFill>
                  <a:schemeClr val="tx1"/>
                </a:solidFill>
              </a:rPr>
              <a:t>세계적 블록체인 기업인 </a:t>
            </a:r>
            <a:r>
              <a:rPr lang="en-US" altLang="ko-KR" sz="1600" dirty="0" err="1" smtClean="0">
                <a:solidFill>
                  <a:schemeClr val="tx1"/>
                </a:solidFill>
              </a:rPr>
              <a:t>ConsenSys</a:t>
            </a:r>
            <a:r>
              <a:rPr lang="en-US" altLang="ko-KR" sz="1600" dirty="0" smtClean="0">
                <a:solidFill>
                  <a:schemeClr val="tx1"/>
                </a:solidFill>
              </a:rPr>
              <a:t>(</a:t>
            </a:r>
            <a:r>
              <a:rPr lang="ko-KR" altLang="en-US" sz="1600" dirty="0" smtClean="0">
                <a:solidFill>
                  <a:schemeClr val="tx1"/>
                </a:solidFill>
              </a:rPr>
              <a:t>미국</a:t>
            </a:r>
            <a:r>
              <a:rPr lang="en-US" altLang="ko-KR" sz="1600" dirty="0" smtClean="0">
                <a:solidFill>
                  <a:schemeClr val="tx1"/>
                </a:solidFill>
              </a:rPr>
              <a:t>)</a:t>
            </a:r>
            <a:r>
              <a:rPr lang="ko-KR" altLang="en-US" sz="1600" dirty="0" smtClean="0">
                <a:solidFill>
                  <a:schemeClr val="tx1"/>
                </a:solidFill>
              </a:rPr>
              <a:t>와 양해각서 체결을 완료함</a:t>
            </a:r>
            <a:r>
              <a:rPr lang="en-US" altLang="ko-KR" sz="1600" dirty="0" smtClean="0">
                <a:solidFill>
                  <a:schemeClr val="tx1"/>
                </a:solidFill>
              </a:rPr>
              <a:t>. (2019.7.18.)</a:t>
            </a:r>
          </a:p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solidFill>
                  <a:schemeClr val="tx1"/>
                </a:solidFill>
              </a:rPr>
              <a:t>전 세계적으로 연구결과물 </a:t>
            </a:r>
            <a:r>
              <a:rPr lang="en-US" altLang="ko-KR" sz="1600" dirty="0" smtClean="0">
                <a:solidFill>
                  <a:schemeClr val="tx1"/>
                </a:solidFill>
              </a:rPr>
              <a:t>(ECCPoW)</a:t>
            </a:r>
            <a:r>
              <a:rPr lang="ko-KR" altLang="en-US" sz="1600" dirty="0" smtClean="0">
                <a:solidFill>
                  <a:schemeClr val="tx1"/>
                </a:solidFill>
              </a:rPr>
              <a:t>을 확산 하기 위한 기초를 마련함</a:t>
            </a:r>
            <a:r>
              <a:rPr lang="en-US" altLang="ko-KR" sz="1600" dirty="0" smtClean="0">
                <a:solidFill>
                  <a:schemeClr val="tx1"/>
                </a:solidFill>
              </a:rPr>
              <a:t>.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="" xmlns:a16="http://schemas.microsoft.com/office/drawing/2014/main" id="{C53D36E5-5476-4409-B7F7-5ECC3840BD36}"/>
              </a:ext>
            </a:extLst>
          </p:cNvPr>
          <p:cNvSpPr/>
          <p:nvPr/>
        </p:nvSpPr>
        <p:spPr>
          <a:xfrm>
            <a:off x="336000" y="1196752"/>
            <a:ext cx="8556480" cy="45719"/>
          </a:xfrm>
          <a:prstGeom prst="rect">
            <a:avLst/>
          </a:prstGeom>
          <a:solidFill>
            <a:srgbClr val="0255B8"/>
          </a:solidFill>
          <a:ln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ts val="600"/>
              </a:spcBef>
            </a:pPr>
            <a:endParaRPr lang="ko-KR" altLang="en-US" b="1" kern="0" dirty="0">
              <a:solidFill>
                <a:srgbClr val="0255B8"/>
              </a:solidFill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20" name="표 19">
            <a:extLst>
              <a:ext uri="{FF2B5EF4-FFF2-40B4-BE49-F238E27FC236}">
                <a16:creationId xmlns="" xmlns:a16="http://schemas.microsoft.com/office/drawing/2014/main" id="{81AB9C2E-974A-4D8A-9C83-5064FE5DC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687758"/>
              </p:ext>
            </p:extLst>
          </p:nvPr>
        </p:nvGraphicFramePr>
        <p:xfrm>
          <a:off x="336000" y="2186296"/>
          <a:ext cx="8556480" cy="1920240"/>
        </p:xfrm>
        <a:graphic>
          <a:graphicData uri="http://schemas.openxmlformats.org/drawingml/2006/table">
            <a:tbl>
              <a:tblPr firstRow="1" firstCol="1" bandRow="1"/>
              <a:tblGrid>
                <a:gridCol w="563592">
                  <a:extLst>
                    <a:ext uri="{9D8B030D-6E8A-4147-A177-3AD203B41FA5}">
                      <a16:colId xmlns="" xmlns:a16="http://schemas.microsoft.com/office/drawing/2014/main" val="1449899407"/>
                    </a:ext>
                  </a:extLst>
                </a:gridCol>
                <a:gridCol w="792088">
                  <a:extLst>
                    <a:ext uri="{9D8B030D-6E8A-4147-A177-3AD203B41FA5}">
                      <a16:colId xmlns="" xmlns:a16="http://schemas.microsoft.com/office/drawing/2014/main" val="3134819482"/>
                    </a:ext>
                  </a:extLst>
                </a:gridCol>
                <a:gridCol w="7200800">
                  <a:extLst>
                    <a:ext uri="{9D8B030D-6E8A-4147-A177-3AD203B41FA5}">
                      <a16:colId xmlns="" xmlns:a16="http://schemas.microsoft.com/office/drawing/2014/main" val="32931624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4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MOU </a:t>
                      </a:r>
                      <a:r>
                        <a:rPr lang="ko-KR" altLang="en-US" sz="14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업체</a:t>
                      </a:r>
                      <a:endParaRPr lang="ko-KR" altLang="en-US" sz="1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4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대표</a:t>
                      </a:r>
                      <a:endParaRPr lang="ko-KR" altLang="en-US" sz="1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4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목적</a:t>
                      </a:r>
                      <a:endParaRPr lang="ko-KR" altLang="en-US" sz="1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142255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ConsenSys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994" marR="13994" marT="5159" marB="5159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Joseph</a:t>
                      </a:r>
                      <a:r>
                        <a:rPr lang="en-US" altLang="ko-KR" sz="14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Lubin</a:t>
                      </a:r>
                      <a:r>
                        <a:rPr lang="en-US" altLang="ko-KR" sz="14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CEO)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994" marR="13994" marT="5159" marB="5159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7350" marR="0" indent="-285750" algn="just" fontAlgn="base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kern="0" spc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인공지능</a:t>
                      </a:r>
                      <a:r>
                        <a:rPr lang="en-US" altLang="ko-KR" sz="1400" kern="0" spc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lang="ko-KR" altLang="en-US" sz="1400" kern="0" spc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블록체인 및 기타 영역에서의 연구개발과 협력을 위하여 전문가의 상호교환을 강화</a:t>
                      </a:r>
                      <a:r>
                        <a:rPr lang="en-US" altLang="ko-KR" sz="1400" kern="0" spc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lang="ko-KR" altLang="en-US" sz="1400" kern="0" spc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확대하고 기술적 컨설팅 적 측면에서 고객들과 파트너들에게 시너지 제공</a:t>
                      </a:r>
                    </a:p>
                    <a:p>
                      <a:pPr marL="387350" marR="0" indent="-285750" algn="just" fontAlgn="base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kern="0" spc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공개세미나</a:t>
                      </a:r>
                      <a:r>
                        <a:rPr lang="en-US" altLang="ko-KR" sz="1400" kern="0" spc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lang="ko-KR" altLang="en-US" sz="1400" kern="0" spc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유사한 행사를 통해 각자의 브랜드 파워 홍보</a:t>
                      </a:r>
                    </a:p>
                    <a:p>
                      <a:pPr marL="387350" marR="0" indent="-285750" algn="just" fontAlgn="base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kern="0" spc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상호간의 이익을 극대화할 수 있는 상호협력의 형태 모색</a:t>
                      </a:r>
                    </a:p>
                    <a:p>
                      <a:pPr marL="387350" marR="0" indent="-285750" algn="just" fontAlgn="base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kern="0" spc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상호협력을 언론매체에 홍보함으로써 공통의 고객 및 브랜드 효과 창출에 기여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951504763"/>
                  </a:ext>
                </a:extLst>
              </a:tr>
            </a:tbl>
          </a:graphicData>
        </a:graphic>
      </p:graphicFrame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pSp>
        <p:nvGrpSpPr>
          <p:cNvPr id="19" name="그룹 18"/>
          <p:cNvGrpSpPr/>
          <p:nvPr/>
        </p:nvGrpSpPr>
        <p:grpSpPr>
          <a:xfrm>
            <a:off x="1842533" y="4074628"/>
            <a:ext cx="5647888" cy="2143804"/>
            <a:chOff x="1475656" y="3987932"/>
            <a:chExt cx="6305441" cy="2393396"/>
          </a:xfrm>
        </p:grpSpPr>
        <p:pic>
          <p:nvPicPr>
            <p:cNvPr id="15372" name="Picture 1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75656" y="3987932"/>
              <a:ext cx="3024292" cy="2393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" name="_x64140280" descr="EMB000004745f09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12127" y="4050097"/>
              <a:ext cx="3268970" cy="22690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062879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28650" y="74814"/>
            <a:ext cx="81198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smtClean="0">
                <a:solidFill>
                  <a:prstClr val="black"/>
                </a:solidFill>
              </a:rPr>
              <a:t>연구 비 사용 요약</a:t>
            </a:r>
            <a:endParaRPr lang="ko-KR" altLang="en-US" sz="3200" b="1" dirty="0">
              <a:solidFill>
                <a:prstClr val="black"/>
              </a:solidFill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31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15" name="그룹 14"/>
          <p:cNvGrpSpPr/>
          <p:nvPr/>
        </p:nvGrpSpPr>
        <p:grpSpPr>
          <a:xfrm>
            <a:off x="4800496" y="1196752"/>
            <a:ext cx="4163992" cy="3960440"/>
            <a:chOff x="4800496" y="1196752"/>
            <a:chExt cx="8556480" cy="3960440"/>
          </a:xfrm>
        </p:grpSpPr>
        <p:sp>
          <p:nvSpPr>
            <p:cNvPr id="8" name="직사각형 7">
              <a:extLst>
                <a:ext uri="{FF2B5EF4-FFF2-40B4-BE49-F238E27FC236}">
                  <a16:creationId xmlns="" xmlns:a16="http://schemas.microsoft.com/office/drawing/2014/main" id="{4C70D3A6-2D13-4F22-9C06-C56F2B48E196}"/>
                </a:ext>
              </a:extLst>
            </p:cNvPr>
            <p:cNvSpPr/>
            <p:nvPr/>
          </p:nvSpPr>
          <p:spPr>
            <a:xfrm>
              <a:off x="4800496" y="1249702"/>
              <a:ext cx="8556480" cy="390749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285750" indent="-285750" fontAlgn="base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ko-KR" altLang="en-US" sz="1600" dirty="0" smtClean="0">
                  <a:solidFill>
                    <a:schemeClr val="tx1"/>
                  </a:solidFill>
                  <a:latin typeface="+mn-ea"/>
                </a:rPr>
                <a:t>인건비</a:t>
              </a:r>
              <a:r>
                <a:rPr lang="en-US" altLang="ko-KR" sz="1600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600" dirty="0" smtClean="0">
                  <a:solidFill>
                    <a:schemeClr val="tx1"/>
                  </a:solidFill>
                  <a:latin typeface="+mn-ea"/>
                </a:rPr>
                <a:t>33.7%</a:t>
              </a:r>
            </a:p>
            <a:p>
              <a:pPr marL="285750" indent="-285750" fontAlgn="base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ko-KR" altLang="en-US" sz="1600" dirty="0" smtClean="0">
                  <a:solidFill>
                    <a:schemeClr val="tx1"/>
                  </a:solidFill>
                  <a:latin typeface="+mn-ea"/>
                </a:rPr>
                <a:t>연구 장비</a:t>
              </a:r>
              <a:r>
                <a:rPr lang="en-US" altLang="ko-KR" sz="1600" dirty="0" smtClean="0">
                  <a:solidFill>
                    <a:schemeClr val="tx1"/>
                  </a:solidFill>
                  <a:latin typeface="+mn-ea"/>
                </a:rPr>
                <a:t>/</a:t>
              </a:r>
              <a:r>
                <a:rPr lang="ko-KR" altLang="en-US" sz="1600" dirty="0" smtClean="0">
                  <a:solidFill>
                    <a:schemeClr val="tx1"/>
                  </a:solidFill>
                  <a:latin typeface="+mn-ea"/>
                </a:rPr>
                <a:t>재료비 </a:t>
              </a:r>
              <a:r>
                <a:rPr lang="en-US" altLang="ko-KR" sz="1600" dirty="0" smtClean="0">
                  <a:solidFill>
                    <a:schemeClr val="tx1"/>
                  </a:solidFill>
                  <a:latin typeface="+mn-ea"/>
                </a:rPr>
                <a:t>11.4%</a:t>
              </a:r>
            </a:p>
            <a:p>
              <a:pPr marL="285750" indent="-285750" fontAlgn="base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ko-KR" altLang="en-US" sz="1600" dirty="0" smtClean="0">
                  <a:solidFill>
                    <a:schemeClr val="tx1"/>
                  </a:solidFill>
                  <a:latin typeface="+mn-ea"/>
                </a:rPr>
                <a:t>연구활동비</a:t>
              </a:r>
              <a:r>
                <a:rPr lang="en-US" altLang="ko-KR" sz="1600" dirty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600" dirty="0" smtClean="0">
                  <a:solidFill>
                    <a:schemeClr val="tx1"/>
                  </a:solidFill>
                  <a:latin typeface="+mn-ea"/>
                </a:rPr>
                <a:t>49.7%</a:t>
              </a:r>
            </a:p>
            <a:p>
              <a:pPr marL="285750" indent="-285750" fontAlgn="base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ko-KR" altLang="en-US" sz="1600" dirty="0" smtClean="0">
                  <a:solidFill>
                    <a:schemeClr val="tx1"/>
                  </a:solidFill>
                  <a:latin typeface="+mn-ea"/>
                </a:rPr>
                <a:t>연구과제추진비</a:t>
              </a:r>
              <a:r>
                <a:rPr lang="en-US" altLang="ko-KR" sz="1600" dirty="0" smtClean="0">
                  <a:solidFill>
                    <a:schemeClr val="tx1"/>
                  </a:solidFill>
                  <a:latin typeface="+mn-ea"/>
                </a:rPr>
                <a:t>: 10%</a:t>
              </a:r>
            </a:p>
            <a:p>
              <a:pPr marL="285750" indent="-285750" fontAlgn="base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endParaRPr lang="en-US" altLang="ko-KR" sz="1600" dirty="0">
                <a:solidFill>
                  <a:schemeClr val="tx1"/>
                </a:solidFill>
                <a:latin typeface="+mn-ea"/>
              </a:endParaRPr>
            </a:p>
            <a:p>
              <a:pPr marL="285750" indent="-285750" fontAlgn="base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ko-KR" altLang="en-US" sz="1600" dirty="0" smtClean="0">
                  <a:solidFill>
                    <a:schemeClr val="tx1"/>
                  </a:solidFill>
                  <a:latin typeface="+mn-ea"/>
                </a:rPr>
                <a:t>총합 </a:t>
              </a:r>
              <a:r>
                <a:rPr lang="en-US" altLang="ko-KR" sz="1600" dirty="0" smtClean="0">
                  <a:solidFill>
                    <a:schemeClr val="tx1"/>
                  </a:solidFill>
                  <a:latin typeface="+mn-ea"/>
                </a:rPr>
                <a:t>100% </a:t>
              </a:r>
              <a:r>
                <a:rPr lang="ko-KR" altLang="en-US" sz="1600" dirty="0" smtClean="0">
                  <a:solidFill>
                    <a:schemeClr val="tx1"/>
                  </a:solidFill>
                  <a:latin typeface="+mn-ea"/>
                </a:rPr>
                <a:t>사용</a:t>
              </a:r>
              <a:r>
                <a:rPr lang="en-US" altLang="ko-KR" sz="1600" dirty="0" smtClean="0">
                  <a:solidFill>
                    <a:schemeClr val="tx1"/>
                  </a:solidFill>
                  <a:latin typeface="+mn-ea"/>
                </a:rPr>
                <a:t> (</a:t>
              </a:r>
              <a:r>
                <a:rPr lang="ko-KR" altLang="en-US" sz="1600" dirty="0" smtClean="0">
                  <a:solidFill>
                    <a:schemeClr val="tx1"/>
                  </a:solidFill>
                  <a:latin typeface="+mn-ea"/>
                </a:rPr>
                <a:t>소수 </a:t>
              </a:r>
              <a:r>
                <a:rPr lang="en-US" altLang="ko-KR" sz="1600" dirty="0" smtClean="0">
                  <a:solidFill>
                    <a:schemeClr val="tx1"/>
                  </a:solidFill>
                  <a:latin typeface="+mn-ea"/>
                </a:rPr>
                <a:t>2</a:t>
              </a:r>
              <a:r>
                <a:rPr lang="ko-KR" altLang="en-US" sz="1600" dirty="0" smtClean="0">
                  <a:solidFill>
                    <a:schemeClr val="tx1"/>
                  </a:solidFill>
                  <a:latin typeface="+mn-ea"/>
                </a:rPr>
                <a:t>째 자리에서 버림</a:t>
              </a:r>
              <a:r>
                <a:rPr lang="en-US" altLang="ko-KR" sz="1600" dirty="0" smtClean="0">
                  <a:solidFill>
                    <a:schemeClr val="tx1"/>
                  </a:solidFill>
                  <a:latin typeface="+mn-ea"/>
                </a:rPr>
                <a:t>)</a:t>
              </a:r>
            </a:p>
            <a:p>
              <a:pPr marL="285750" indent="-285750" fontAlgn="base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endParaRPr lang="en-US" altLang="ko-KR" sz="1600" dirty="0">
                <a:solidFill>
                  <a:schemeClr val="tx1"/>
                </a:solidFill>
                <a:latin typeface="+mn-ea"/>
              </a:endParaRPr>
            </a:p>
            <a:p>
              <a:pPr marL="285750" indent="-285750" fontAlgn="base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endParaRPr lang="en-US" altLang="ko-KR" sz="1600" dirty="0" smtClean="0">
                <a:solidFill>
                  <a:schemeClr val="tx1"/>
                </a:solidFill>
                <a:latin typeface="+mn-ea"/>
              </a:endParaRPr>
            </a:p>
            <a:p>
              <a:pPr marL="285750" indent="-285750" fontAlgn="base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ko-KR" altLang="en-US" sz="1600" dirty="0" err="1" smtClean="0">
                  <a:solidFill>
                    <a:schemeClr val="tx1"/>
                  </a:solidFill>
                  <a:latin typeface="+mn-ea"/>
                </a:rPr>
                <a:t>특허출원비는</a:t>
              </a:r>
              <a:r>
                <a:rPr lang="ko-KR" altLang="en-US" sz="1600" dirty="0" smtClean="0">
                  <a:solidFill>
                    <a:schemeClr val="tx1"/>
                  </a:solidFill>
                  <a:latin typeface="+mn-ea"/>
                </a:rPr>
                <a:t> 타 계정에서 처리함</a:t>
              </a:r>
              <a:r>
                <a:rPr lang="en-US" altLang="ko-KR" sz="1600" dirty="0" smtClean="0">
                  <a:solidFill>
                    <a:schemeClr val="tx1"/>
                  </a:solidFill>
                  <a:latin typeface="+mn-ea"/>
                </a:rPr>
                <a:t>. </a:t>
              </a:r>
              <a:r>
                <a:rPr lang="en-US" altLang="ko-KR" sz="1600" dirty="0" smtClean="0"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1600" dirty="0" smtClean="0">
                  <a:solidFill>
                    <a:schemeClr val="tx1"/>
                  </a:solidFill>
                  <a:latin typeface="+mn-ea"/>
                </a:rPr>
                <a:t>내부인건비 </a:t>
              </a:r>
              <a:r>
                <a:rPr lang="ko-KR" altLang="en-US" sz="1600" dirty="0" err="1" smtClean="0">
                  <a:solidFill>
                    <a:schemeClr val="tx1"/>
                  </a:solidFill>
                  <a:latin typeface="+mn-ea"/>
                </a:rPr>
                <a:t>현금계상</a:t>
              </a:r>
              <a:r>
                <a:rPr lang="ko-KR" altLang="en-US" sz="1600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600" dirty="0" smtClean="0">
                  <a:solidFill>
                    <a:schemeClr val="tx1"/>
                  </a:solidFill>
                  <a:latin typeface="+mn-ea"/>
                </a:rPr>
                <a:t>(25%)</a:t>
              </a:r>
              <a:r>
                <a:rPr lang="ko-KR" altLang="en-US" sz="1600" dirty="0" smtClean="0">
                  <a:solidFill>
                    <a:schemeClr val="tx1"/>
                  </a:solidFill>
                  <a:latin typeface="+mn-ea"/>
                </a:rPr>
                <a:t>로 인해 간접비가 </a:t>
              </a:r>
              <a:r>
                <a:rPr lang="en-US" altLang="ko-KR" sz="1600" dirty="0" smtClean="0">
                  <a:solidFill>
                    <a:schemeClr val="tx1"/>
                  </a:solidFill>
                  <a:latin typeface="+mn-ea"/>
                </a:rPr>
                <a:t>0</a:t>
              </a:r>
              <a:r>
                <a:rPr lang="ko-KR" altLang="en-US" sz="1600" dirty="0" smtClean="0">
                  <a:solidFill>
                    <a:schemeClr val="tx1"/>
                  </a:solidFill>
                  <a:latin typeface="+mn-ea"/>
                </a:rPr>
                <a:t>원으로 </a:t>
              </a:r>
              <a:r>
                <a:rPr lang="ko-KR" altLang="en-US" sz="1600" dirty="0">
                  <a:solidFill>
                    <a:schemeClr val="tx1"/>
                  </a:solidFill>
                  <a:latin typeface="+mn-ea"/>
                </a:rPr>
                <a:t>예</a:t>
              </a:r>
              <a:r>
                <a:rPr lang="ko-KR" altLang="en-US" sz="1600" dirty="0" smtClean="0">
                  <a:solidFill>
                    <a:schemeClr val="tx1"/>
                  </a:solidFill>
                  <a:latin typeface="+mn-ea"/>
                </a:rPr>
                <a:t>산을 편성함</a:t>
              </a:r>
              <a:r>
                <a:rPr lang="en-US" altLang="ko-KR" sz="1600" dirty="0" smtClean="0">
                  <a:solidFill>
                    <a:schemeClr val="tx1"/>
                  </a:solidFill>
                  <a:latin typeface="+mn-ea"/>
                </a:rPr>
                <a:t>.)</a:t>
              </a:r>
              <a:endParaRPr lang="en-US" altLang="ko-KR" sz="1600" dirty="0" smtClean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="" xmlns:a16="http://schemas.microsoft.com/office/drawing/2014/main" id="{C53D36E5-5476-4409-B7F7-5ECC3840BD36}"/>
                </a:ext>
              </a:extLst>
            </p:cNvPr>
            <p:cNvSpPr/>
            <p:nvPr/>
          </p:nvSpPr>
          <p:spPr>
            <a:xfrm>
              <a:off x="4800496" y="1196752"/>
              <a:ext cx="8556480" cy="45719"/>
            </a:xfrm>
            <a:prstGeom prst="rect">
              <a:avLst/>
            </a:prstGeom>
            <a:solidFill>
              <a:srgbClr val="0255B8"/>
            </a:solidFill>
            <a:ln>
              <a:solidFill>
                <a:srgbClr val="0255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spcBef>
                  <a:spcPts val="600"/>
                </a:spcBef>
              </a:pPr>
              <a:endParaRPr lang="ko-KR" altLang="en-US" b="1" kern="0" dirty="0">
                <a:solidFill>
                  <a:srgbClr val="0255B8"/>
                </a:solidFill>
              </a:endParaRPr>
            </a:p>
          </p:txBody>
        </p:sp>
      </p:grp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7781170"/>
              </p:ext>
            </p:extLst>
          </p:nvPr>
        </p:nvGraphicFramePr>
        <p:xfrm>
          <a:off x="683568" y="1196754"/>
          <a:ext cx="3988551" cy="4493821"/>
        </p:xfrm>
        <a:graphic>
          <a:graphicData uri="http://schemas.openxmlformats.org/drawingml/2006/table">
            <a:tbl>
              <a:tblPr/>
              <a:tblGrid>
                <a:gridCol w="775428"/>
                <a:gridCol w="775428"/>
                <a:gridCol w="775428"/>
                <a:gridCol w="841387"/>
                <a:gridCol w="820880"/>
              </a:tblGrid>
              <a:tr h="623442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한컴바탕"/>
                        </a:rPr>
                        <a:t>구 분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한컴바탕"/>
                        </a:rPr>
                        <a:t>집행금액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한컴바탕"/>
                        </a:rPr>
                        <a:t>잔액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</a:tr>
              <a:tr h="373192">
                <a:tc rowSpan="6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휴먼명조"/>
                        </a:rPr>
                        <a:t>직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휴먼명조"/>
                        </a:rPr>
                        <a:t>접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휴먼명조"/>
                        </a:rPr>
                        <a:t>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휴먼명조"/>
                        </a:rPr>
                        <a:t>①인건비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휴먼명조"/>
                        </a:rPr>
                        <a:t>내부인건비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휴먼명조"/>
                        </a:rPr>
                        <a:t>25,000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휴먼명조"/>
                        </a:rPr>
                        <a:t>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319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휴먼명조"/>
                        </a:rPr>
                        <a:t>외부인건비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휴먼명조"/>
                        </a:rPr>
                        <a:t>3,783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휴먼명조"/>
                        </a:rPr>
                        <a:t>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319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휴먼명조"/>
                        </a:rPr>
                        <a:t>②연구장비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ea typeface="휴먼명조"/>
                        </a:rPr>
                        <a:t>․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휴먼명조"/>
                        </a:rPr>
                        <a:t>재료비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휴먼명조"/>
                        </a:rPr>
                        <a:t>11,443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휴먼명조"/>
                        </a:rPr>
                        <a:t>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319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휴먼명조"/>
                        </a:rPr>
                        <a:t>③연구활동비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휴먼명조"/>
                        </a:rPr>
                        <a:t>49,774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휴먼명조"/>
                        </a:rPr>
                        <a:t>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84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휴먼명조"/>
                        </a:rPr>
                        <a:t>④연구과제추진비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휴먼명조"/>
                        </a:rPr>
                        <a:t>10,000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휴먼명조"/>
                        </a:rPr>
                        <a:t>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319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1094740" marR="0" indent="-109474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08000" algn="l"/>
                          <a:tab pos="1016000" algn="l"/>
                          <a:tab pos="11049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휴먼명조"/>
                        </a:rPr>
                        <a:t>⑤ 연구수당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휴먼명조"/>
                        </a:rPr>
                        <a:t>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휴먼명조"/>
                        </a:rPr>
                        <a:t>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3192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휴먼명조"/>
                        </a:rPr>
                        <a:t>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휴먼명조"/>
                        </a:rPr>
                        <a:t>접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휴먼명조"/>
                        </a:rPr>
                        <a:t>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휴먼명조"/>
                        </a:rPr>
                        <a:t>①간접경비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휴먼명조"/>
                        </a:rPr>
                        <a:t>(</a:t>
                      </a: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휴먼명조"/>
                        </a:rPr>
                        <a:t>O/H)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휴먼명조"/>
                        </a:rPr>
                        <a:t>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휴먼명조"/>
                        </a:rPr>
                        <a:t>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319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휴먼명조"/>
                        </a:rPr>
                        <a:t>②</a:t>
                      </a:r>
                      <a:r>
                        <a:rPr lang="ko-KR" altLang="en-US" sz="1000" kern="0" spc="-180" dirty="0">
                          <a:solidFill>
                            <a:srgbClr val="000000"/>
                          </a:solidFill>
                          <a:effectLst/>
                          <a:ea typeface="휴먼명조"/>
                        </a:rPr>
                        <a:t>지식재산권출원</a:t>
                      </a:r>
                      <a:r>
                        <a:rPr lang="en-US" altLang="ko-KR" sz="1000" kern="0" spc="-180" dirty="0">
                          <a:solidFill>
                            <a:srgbClr val="000000"/>
                          </a:solidFill>
                          <a:effectLst/>
                          <a:ea typeface="휴먼명조"/>
                        </a:rPr>
                        <a:t>․</a:t>
                      </a:r>
                      <a:r>
                        <a:rPr lang="ko-KR" altLang="en-US" sz="1000" kern="0" spc="-180" dirty="0">
                          <a:solidFill>
                            <a:srgbClr val="000000"/>
                          </a:solidFill>
                          <a:effectLst/>
                          <a:ea typeface="휴먼명조"/>
                        </a:rPr>
                        <a:t>등록비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휴먼명조"/>
                        </a:rPr>
                        <a:t>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휴먼명조"/>
                        </a:rPr>
                        <a:t>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319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휴먼명조"/>
                        </a:rPr>
                        <a:t>③연구실안전관리비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휴먼명조"/>
                        </a:rPr>
                        <a:t>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휴먼명조"/>
                        </a:rPr>
                        <a:t>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6378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ea typeface="휴먼명조"/>
                        </a:rPr>
                        <a:t>연구비 총액</a:t>
                      </a: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휴먼명조"/>
                        </a:rPr>
                        <a:t>100,000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>
                          <a:solidFill>
                            <a:srgbClr val="000000"/>
                          </a:solidFill>
                          <a:effectLst/>
                          <a:latin typeface="휴먼명조"/>
                        </a:rPr>
                        <a:t>0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00295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32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827584" y="1412776"/>
            <a:ext cx="763284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ko-KR" altLang="en-US" b="1" dirty="0" smtClean="0">
                <a:solidFill>
                  <a:sysClr val="windowText" lastClr="000000"/>
                </a:solidFill>
              </a:rPr>
              <a:t>시연 화면</a:t>
            </a:r>
            <a:endParaRPr lang="en-US" altLang="ko-KR" b="1" dirty="0" smtClean="0">
              <a:solidFill>
                <a:sysClr val="windowText" lastClr="000000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ko-KR" b="1" dirty="0" smtClean="0">
                <a:solidFill>
                  <a:sysClr val="windowText" lastClr="000000"/>
                </a:solidFill>
              </a:rPr>
              <a:t>BTCECC </a:t>
            </a:r>
            <a:r>
              <a:rPr lang="ko-KR" altLang="en-US" b="1" dirty="0" smtClean="0">
                <a:solidFill>
                  <a:sysClr val="windowText" lastClr="000000"/>
                </a:solidFill>
              </a:rPr>
              <a:t>탐색기</a:t>
            </a:r>
            <a:endParaRPr lang="en-US" altLang="ko-KR" b="1" dirty="0" smtClean="0">
              <a:solidFill>
                <a:sysClr val="windowText" lastClr="000000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ko-KR" b="1" dirty="0" smtClean="0">
                <a:solidFill>
                  <a:sysClr val="windowText" lastClr="000000"/>
                </a:solidFill>
              </a:rPr>
              <a:t>ETHECC </a:t>
            </a:r>
            <a:r>
              <a:rPr lang="ko-KR" altLang="en-US" b="1" dirty="0" smtClean="0">
                <a:solidFill>
                  <a:sysClr val="windowText" lastClr="000000"/>
                </a:solidFill>
              </a:rPr>
              <a:t>탐색기</a:t>
            </a:r>
            <a:endParaRPr lang="en-US" altLang="ko-KR" b="1" dirty="0" smtClean="0">
              <a:solidFill>
                <a:sysClr val="windowText" lastClr="000000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altLang="ko-KR" b="1" dirty="0" smtClean="0">
              <a:solidFill>
                <a:sysClr val="windowText" lastClr="00000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ko-KR" altLang="en-US" b="1" dirty="0" smtClean="0">
                <a:solidFill>
                  <a:prstClr val="black"/>
                </a:solidFill>
              </a:rPr>
              <a:t>평가 방</a:t>
            </a:r>
            <a:r>
              <a:rPr lang="ko-KR" altLang="en-US" b="1" dirty="0">
                <a:solidFill>
                  <a:prstClr val="black"/>
                </a:solidFill>
              </a:rPr>
              <a:t>안</a:t>
            </a:r>
            <a:r>
              <a:rPr lang="ko-KR" altLang="en-US" b="1" dirty="0" smtClean="0">
                <a:solidFill>
                  <a:prstClr val="black"/>
                </a:solidFill>
              </a:rPr>
              <a:t> 설명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altLang="ko-KR" b="1" dirty="0" smtClean="0">
              <a:solidFill>
                <a:prstClr val="black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ko-KR" b="1" dirty="0">
                <a:solidFill>
                  <a:prstClr val="black"/>
                </a:solidFill>
              </a:rPr>
              <a:t>ECCPoW</a:t>
            </a:r>
            <a:r>
              <a:rPr lang="ko-KR" altLang="en-US" b="1" dirty="0">
                <a:solidFill>
                  <a:prstClr val="black"/>
                </a:solidFill>
              </a:rPr>
              <a:t>를 적용한 비트코인 </a:t>
            </a:r>
            <a:r>
              <a:rPr lang="ko-KR" altLang="en-US" b="1" dirty="0" smtClean="0">
                <a:solidFill>
                  <a:prstClr val="black"/>
                </a:solidFill>
              </a:rPr>
              <a:t>평가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ko-KR" altLang="en-US" b="1" dirty="0" smtClean="0">
                <a:solidFill>
                  <a:prstClr val="black"/>
                </a:solidFill>
              </a:rPr>
              <a:t>공인 인증 </a:t>
            </a:r>
            <a:r>
              <a:rPr lang="en-US" altLang="ko-KR" b="1" dirty="0" smtClean="0">
                <a:solidFill>
                  <a:prstClr val="black"/>
                </a:solidFill>
              </a:rPr>
              <a:t>KOLAS </a:t>
            </a:r>
            <a:r>
              <a:rPr lang="ko-KR" altLang="en-US" b="1" dirty="0" smtClean="0">
                <a:solidFill>
                  <a:prstClr val="black"/>
                </a:solidFill>
              </a:rPr>
              <a:t>평가 결과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ko-KR" altLang="en-US" b="1" dirty="0" smtClean="0">
                <a:solidFill>
                  <a:prstClr val="black"/>
                </a:solidFill>
              </a:rPr>
              <a:t>자체 평가 결과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altLang="ko-KR" b="1" dirty="0">
              <a:solidFill>
                <a:prstClr val="black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ko-KR" b="1" dirty="0" smtClean="0">
                <a:solidFill>
                  <a:prstClr val="black"/>
                </a:solidFill>
              </a:rPr>
              <a:t>ECCPoW</a:t>
            </a:r>
            <a:r>
              <a:rPr lang="ko-KR" altLang="en-US" b="1" dirty="0">
                <a:solidFill>
                  <a:prstClr val="black"/>
                </a:solidFill>
              </a:rPr>
              <a:t>를 적용한 </a:t>
            </a:r>
            <a:r>
              <a:rPr lang="ko-KR" altLang="en-US" b="1" dirty="0" smtClean="0">
                <a:solidFill>
                  <a:prstClr val="black"/>
                </a:solidFill>
              </a:rPr>
              <a:t>이더리움 평가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ko-KR" altLang="en-US" b="1" dirty="0">
                <a:solidFill>
                  <a:prstClr val="black"/>
                </a:solidFill>
              </a:rPr>
              <a:t>공인 인증 </a:t>
            </a:r>
            <a:r>
              <a:rPr lang="en-US" altLang="ko-KR" b="1" dirty="0">
                <a:solidFill>
                  <a:prstClr val="black"/>
                </a:solidFill>
              </a:rPr>
              <a:t>KOLAS </a:t>
            </a:r>
            <a:r>
              <a:rPr lang="ko-KR" altLang="en-US" b="1" dirty="0">
                <a:solidFill>
                  <a:prstClr val="black"/>
                </a:solidFill>
              </a:rPr>
              <a:t>평가 </a:t>
            </a:r>
            <a:r>
              <a:rPr lang="ko-KR" altLang="en-US" b="1" dirty="0" smtClean="0">
                <a:solidFill>
                  <a:prstClr val="black"/>
                </a:solidFill>
              </a:rPr>
              <a:t>결과</a:t>
            </a:r>
            <a:endParaRPr lang="en-US" altLang="ko-KR" b="1" dirty="0">
              <a:solidFill>
                <a:prstClr val="black"/>
              </a:solidFill>
            </a:endParaRPr>
          </a:p>
        </p:txBody>
      </p:sp>
      <p:sp>
        <p:nvSpPr>
          <p:cNvPr id="6" name="TextBox 18"/>
          <p:cNvSpPr txBox="1"/>
          <p:nvPr/>
        </p:nvSpPr>
        <p:spPr>
          <a:xfrm>
            <a:off x="628650" y="74814"/>
            <a:ext cx="75374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>
                <a:solidFill>
                  <a:prstClr val="black"/>
                </a:solidFill>
                <a:latin typeface="+mn-ea"/>
              </a:rPr>
              <a:t>Section III</a:t>
            </a:r>
            <a:endParaRPr lang="ko-KR" altLang="en-US" sz="3200" b="1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117101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33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628650" y="74814"/>
            <a:ext cx="82638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>
                <a:solidFill>
                  <a:prstClr val="black"/>
                </a:solidFill>
              </a:rPr>
              <a:t>ECCPoW</a:t>
            </a:r>
            <a:r>
              <a:rPr lang="ko-KR" altLang="en-US" sz="3200" b="1" dirty="0" smtClean="0">
                <a:solidFill>
                  <a:prstClr val="black"/>
                </a:solidFill>
              </a:rPr>
              <a:t>가 적용된 비트코인 </a:t>
            </a:r>
            <a:r>
              <a:rPr lang="en-US" altLang="ko-KR" sz="3200" b="1" dirty="0" smtClean="0">
                <a:solidFill>
                  <a:prstClr val="black"/>
                </a:solidFill>
              </a:rPr>
              <a:t>(BTCECC)</a:t>
            </a:r>
            <a:r>
              <a:rPr lang="ko-KR" altLang="en-US" sz="3200" b="1" dirty="0" smtClean="0">
                <a:solidFill>
                  <a:prstClr val="black"/>
                </a:solidFill>
              </a:rPr>
              <a:t> 탐색기</a:t>
            </a:r>
            <a:endParaRPr lang="ko-KR" altLang="en-US" sz="3200" b="1" dirty="0">
              <a:solidFill>
                <a:prstClr val="black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811754" y="2652896"/>
            <a:ext cx="5699122" cy="3450294"/>
            <a:chOff x="359762" y="2457635"/>
            <a:chExt cx="8494618" cy="5142710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xmlns="" id="{CC484506-7A4A-4E15-A5AD-3C36E328E6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1" b="29575"/>
            <a:stretch/>
          </p:blipFill>
          <p:spPr>
            <a:xfrm>
              <a:off x="359764" y="2457635"/>
              <a:ext cx="8494616" cy="1877247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</p:pic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xmlns="" id="{7EDD72F6-D7EF-4D49-8A42-603E6707A18B}"/>
                </a:ext>
              </a:extLst>
            </p:cNvPr>
            <p:cNvGrpSpPr/>
            <p:nvPr/>
          </p:nvGrpSpPr>
          <p:grpSpPr>
            <a:xfrm>
              <a:off x="359763" y="5031277"/>
              <a:ext cx="8494615" cy="2287434"/>
              <a:chOff x="1374472" y="3850764"/>
              <a:chExt cx="8363404" cy="2287434"/>
            </a:xfrm>
          </p:grpSpPr>
          <p:pic>
            <p:nvPicPr>
              <p:cNvPr id="16" name="그림 15">
                <a:extLst>
                  <a:ext uri="{FF2B5EF4-FFF2-40B4-BE49-F238E27FC236}">
                    <a16:creationId xmlns:a16="http://schemas.microsoft.com/office/drawing/2014/main" xmlns="" id="{9A3E74F0-BBF0-4768-9A2B-69ED7FC3B69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14581" b="70045"/>
              <a:stretch/>
            </p:blipFill>
            <p:spPr>
              <a:xfrm>
                <a:off x="1374472" y="3850764"/>
                <a:ext cx="4104456" cy="2287434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</p:pic>
          <p:pic>
            <p:nvPicPr>
              <p:cNvPr id="17" name="그림 16">
                <a:extLst>
                  <a:ext uri="{FF2B5EF4-FFF2-40B4-BE49-F238E27FC236}">
                    <a16:creationId xmlns:a16="http://schemas.microsoft.com/office/drawing/2014/main" xmlns="" id="{616E2E59-A3B4-4F5D-83A0-4023EAB377B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t="30646" r="2922" b="33443"/>
              <a:stretch/>
            </p:blipFill>
            <p:spPr>
              <a:xfrm>
                <a:off x="5633420" y="3850764"/>
                <a:ext cx="4104456" cy="2287434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</p:pic>
        </p:grp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xmlns="" id="{1A6B6B4C-B337-4268-B124-1AC239D54B2D}"/>
                </a:ext>
              </a:extLst>
            </p:cNvPr>
            <p:cNvSpPr/>
            <p:nvPr/>
          </p:nvSpPr>
          <p:spPr>
            <a:xfrm>
              <a:off x="359763" y="3261862"/>
              <a:ext cx="476498" cy="374468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E6D45F2F-FD75-4D12-A0C8-B5A6315C07AC}"/>
                </a:ext>
              </a:extLst>
            </p:cNvPr>
            <p:cNvSpPr/>
            <p:nvPr/>
          </p:nvSpPr>
          <p:spPr>
            <a:xfrm>
              <a:off x="359763" y="5020993"/>
              <a:ext cx="607126" cy="182880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xmlns="" id="{7E867010-88D4-49C3-9635-D4C2BB3E40CA}"/>
                </a:ext>
              </a:extLst>
            </p:cNvPr>
            <p:cNvSpPr/>
            <p:nvPr/>
          </p:nvSpPr>
          <p:spPr>
            <a:xfrm>
              <a:off x="359762" y="5203873"/>
              <a:ext cx="4168849" cy="182880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xmlns="" id="{D987D8F0-BBD3-4819-BCF4-3F5AC5802FF9}"/>
                </a:ext>
              </a:extLst>
            </p:cNvPr>
            <p:cNvSpPr/>
            <p:nvPr/>
          </p:nvSpPr>
          <p:spPr>
            <a:xfrm>
              <a:off x="4687923" y="5020993"/>
              <a:ext cx="607126" cy="182880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xmlns="" id="{49B1F1DE-68E1-4FB4-8847-6BD645D5E1D2}"/>
                </a:ext>
              </a:extLst>
            </p:cNvPr>
            <p:cNvSpPr/>
            <p:nvPr/>
          </p:nvSpPr>
          <p:spPr>
            <a:xfrm>
              <a:off x="3141490" y="5412399"/>
              <a:ext cx="1484702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n-US" altLang="ko-KR" sz="1100" b="1" dirty="0">
                  <a:solidFill>
                    <a:srgbClr val="C00000"/>
                  </a:solidFill>
                  <a:latin typeface="+mj-lt"/>
                  <a:ea typeface="+mj-ea"/>
                </a:rPr>
                <a:t>100</a:t>
              </a:r>
              <a:r>
                <a:rPr lang="ko-KR" altLang="en-US" sz="1100" b="1" dirty="0">
                  <a:solidFill>
                    <a:srgbClr val="C00000"/>
                  </a:solidFill>
                  <a:latin typeface="+mj-lt"/>
                  <a:ea typeface="+mj-ea"/>
                </a:rPr>
                <a:t>번째 블록 </a:t>
              </a:r>
              <a:r>
                <a:rPr lang="ko-KR" altLang="en-US" sz="1100" b="1" dirty="0" err="1">
                  <a:solidFill>
                    <a:srgbClr val="C00000"/>
                  </a:solidFill>
                  <a:latin typeface="+mj-lt"/>
                  <a:ea typeface="+mj-ea"/>
                </a:rPr>
                <a:t>해쉬</a:t>
              </a:r>
              <a:r>
                <a:rPr lang="ko-KR" altLang="en-US" sz="1100" b="1" dirty="0">
                  <a:solidFill>
                    <a:srgbClr val="C00000"/>
                  </a:solidFill>
                  <a:latin typeface="+mj-lt"/>
                  <a:ea typeface="+mj-ea"/>
                </a:rPr>
                <a:t> 값</a:t>
              </a: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xmlns="" id="{8770F0C4-551E-426F-88AE-83519CA4AC36}"/>
                </a:ext>
              </a:extLst>
            </p:cNvPr>
            <p:cNvSpPr/>
            <p:nvPr/>
          </p:nvSpPr>
          <p:spPr>
            <a:xfrm>
              <a:off x="572570" y="4516287"/>
              <a:ext cx="1184940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100" b="1" dirty="0">
                  <a:solidFill>
                    <a:srgbClr val="C00000"/>
                  </a:solidFill>
                  <a:latin typeface="휴먼명조" panose="02010504000101010101" pitchFamily="2" charset="-127"/>
                  <a:ea typeface="휴먼명조" panose="02010504000101010101" pitchFamily="2" charset="-127"/>
                </a:rPr>
                <a:t>100</a:t>
              </a:r>
              <a:r>
                <a:rPr lang="ko-KR" altLang="en-US" sz="1100" b="1" dirty="0">
                  <a:solidFill>
                    <a:srgbClr val="C00000"/>
                  </a:solidFill>
                  <a:latin typeface="휴먼명조" panose="02010504000101010101" pitchFamily="2" charset="-127"/>
                  <a:ea typeface="휴먼명조" panose="02010504000101010101" pitchFamily="2" charset="-127"/>
                </a:rPr>
                <a:t>번째의 블록</a:t>
              </a:r>
            </a:p>
          </p:txBody>
        </p:sp>
        <p:sp>
          <p:nvSpPr>
            <p:cNvPr id="24" name="자유형: 도형 5">
              <a:extLst>
                <a:ext uri="{FF2B5EF4-FFF2-40B4-BE49-F238E27FC236}">
                  <a16:creationId xmlns:a16="http://schemas.microsoft.com/office/drawing/2014/main" xmlns="" id="{BA5103CF-5AAD-4559-9A6F-D1D4C5EED713}"/>
                </a:ext>
              </a:extLst>
            </p:cNvPr>
            <p:cNvSpPr/>
            <p:nvPr/>
          </p:nvSpPr>
          <p:spPr>
            <a:xfrm>
              <a:off x="577616" y="3637201"/>
              <a:ext cx="0" cy="1359408"/>
            </a:xfrm>
            <a:custGeom>
              <a:avLst/>
              <a:gdLst>
                <a:gd name="connsiteX0" fmla="*/ 0 w 0"/>
                <a:gd name="connsiteY0" fmla="*/ 0 h 1359408"/>
                <a:gd name="connsiteX1" fmla="*/ 0 w 0"/>
                <a:gd name="connsiteY1" fmla="*/ 1359408 h 1359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1359408">
                  <a:moveTo>
                    <a:pt x="0" y="0"/>
                  </a:moveTo>
                  <a:lnTo>
                    <a:pt x="0" y="1359408"/>
                  </a:lnTo>
                </a:path>
              </a:pathLst>
            </a:custGeom>
            <a:noFill/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EC3EFCBD-9376-4508-A90D-E8D694F4C3FB}"/>
                </a:ext>
              </a:extLst>
            </p:cNvPr>
            <p:cNvSpPr/>
            <p:nvPr/>
          </p:nvSpPr>
          <p:spPr>
            <a:xfrm>
              <a:off x="359762" y="5941489"/>
              <a:ext cx="4168849" cy="1377222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xmlns="" id="{1627E701-E15A-4998-BC1F-44288252A52D}"/>
                </a:ext>
              </a:extLst>
            </p:cNvPr>
            <p:cNvSpPr/>
            <p:nvPr/>
          </p:nvSpPr>
          <p:spPr>
            <a:xfrm>
              <a:off x="3495754" y="7338735"/>
              <a:ext cx="1130438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ko-KR" altLang="en-US" sz="1100" b="1" dirty="0">
                  <a:solidFill>
                    <a:srgbClr val="C00000"/>
                  </a:solidFill>
                  <a:latin typeface="+mj-lt"/>
                  <a:ea typeface="+mj-ea"/>
                </a:rPr>
                <a:t>블록 상세 정보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xmlns="" id="{FEA5961A-D0A5-4142-A419-AC01561EB6CB}"/>
                </a:ext>
              </a:extLst>
            </p:cNvPr>
            <p:cNvSpPr/>
            <p:nvPr/>
          </p:nvSpPr>
          <p:spPr>
            <a:xfrm>
              <a:off x="4549012" y="4717455"/>
              <a:ext cx="2222083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100" b="1" dirty="0">
                  <a:solidFill>
                    <a:srgbClr val="C00000"/>
                  </a:solidFill>
                  <a:latin typeface="+mj-lt"/>
                  <a:ea typeface="+mj-ea"/>
                </a:rPr>
                <a:t>100</a:t>
              </a:r>
              <a:r>
                <a:rPr lang="ko-KR" altLang="en-US" sz="1100" b="1" dirty="0">
                  <a:solidFill>
                    <a:srgbClr val="C00000"/>
                  </a:solidFill>
                  <a:latin typeface="+mj-lt"/>
                  <a:ea typeface="+mj-ea"/>
                </a:rPr>
                <a:t>번째 블록에 담긴 트랜잭션 수</a:t>
              </a:r>
            </a:p>
          </p:txBody>
        </p:sp>
      </p:grpSp>
      <p:sp>
        <p:nvSpPr>
          <p:cNvPr id="28" name="직사각형 27">
            <a:extLst>
              <a:ext uri="{FF2B5EF4-FFF2-40B4-BE49-F238E27FC236}">
                <a16:creationId xmlns="" xmlns:a16="http://schemas.microsoft.com/office/drawing/2014/main" id="{4C70D3A6-2D13-4F22-9C06-C56F2B48E196}"/>
              </a:ext>
            </a:extLst>
          </p:cNvPr>
          <p:cNvSpPr/>
          <p:nvPr/>
        </p:nvSpPr>
        <p:spPr>
          <a:xfrm>
            <a:off x="336000" y="1249701"/>
            <a:ext cx="8556480" cy="10991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dirty="0" err="1" smtClean="0">
                <a:solidFill>
                  <a:schemeClr val="tx1"/>
                </a:solidFill>
              </a:rPr>
              <a:t>오픈소스</a:t>
            </a:r>
            <a:r>
              <a:rPr lang="ko-KR" altLang="en-US" sz="1600" dirty="0" smtClean="0">
                <a:solidFill>
                  <a:schemeClr val="tx1"/>
                </a:solidFill>
              </a:rPr>
              <a:t> 코드를 이용하여 만든 탐색기임</a:t>
            </a:r>
            <a:r>
              <a:rPr lang="en-US" altLang="ko-KR" sz="1600" dirty="0" smtClean="0">
                <a:solidFill>
                  <a:schemeClr val="tx1"/>
                </a:solidFill>
              </a:rPr>
              <a:t>. </a:t>
            </a:r>
          </a:p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solidFill>
                  <a:schemeClr val="tx1"/>
                </a:solidFill>
              </a:rPr>
              <a:t>인터넷을 통해 접근하여 </a:t>
            </a:r>
            <a:r>
              <a:rPr lang="en-US" altLang="ko-KR" sz="1600" dirty="0" smtClean="0">
                <a:solidFill>
                  <a:schemeClr val="tx1"/>
                </a:solidFill>
              </a:rPr>
              <a:t>BTCECC</a:t>
            </a:r>
            <a:r>
              <a:rPr lang="ko-KR" altLang="en-US" sz="1600" dirty="0" smtClean="0">
                <a:solidFill>
                  <a:schemeClr val="tx1"/>
                </a:solidFill>
              </a:rPr>
              <a:t>의 블록 채굴 현황</a:t>
            </a:r>
            <a:r>
              <a:rPr lang="en-US" altLang="ko-KR" sz="1600" dirty="0" smtClean="0">
                <a:solidFill>
                  <a:schemeClr val="tx1"/>
                </a:solidFill>
              </a:rPr>
              <a:t>, </a:t>
            </a:r>
            <a:r>
              <a:rPr lang="ko-KR" altLang="en-US" sz="1600" dirty="0" smtClean="0">
                <a:solidFill>
                  <a:schemeClr val="tx1"/>
                </a:solidFill>
              </a:rPr>
              <a:t>트랜잭션 현황 및 처리 속도 등을 열람할 수 있음</a:t>
            </a:r>
            <a:r>
              <a:rPr lang="en-US" altLang="ko-KR" sz="1600" dirty="0" smtClean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="" xmlns:a16="http://schemas.microsoft.com/office/drawing/2014/main" id="{C53D36E5-5476-4409-B7F7-5ECC3840BD36}"/>
              </a:ext>
            </a:extLst>
          </p:cNvPr>
          <p:cNvSpPr/>
          <p:nvPr/>
        </p:nvSpPr>
        <p:spPr>
          <a:xfrm>
            <a:off x="336000" y="1196752"/>
            <a:ext cx="8556480" cy="45719"/>
          </a:xfrm>
          <a:prstGeom prst="rect">
            <a:avLst/>
          </a:prstGeom>
          <a:solidFill>
            <a:srgbClr val="0255B8"/>
          </a:solidFill>
          <a:ln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ts val="600"/>
              </a:spcBef>
            </a:pPr>
            <a:endParaRPr lang="ko-KR" altLang="en-US" b="1" kern="0" dirty="0">
              <a:solidFill>
                <a:srgbClr val="0255B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53574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34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628650" y="74814"/>
            <a:ext cx="82638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>
                <a:solidFill>
                  <a:prstClr val="black"/>
                </a:solidFill>
              </a:rPr>
              <a:t>BTCECC </a:t>
            </a:r>
            <a:r>
              <a:rPr lang="ko-KR" altLang="en-US" sz="3200" b="1" dirty="0" smtClean="0">
                <a:solidFill>
                  <a:prstClr val="black"/>
                </a:solidFill>
              </a:rPr>
              <a:t>난이도 조절 기능 검증</a:t>
            </a:r>
            <a:endParaRPr lang="ko-KR" altLang="en-US" sz="3200" b="1" dirty="0">
              <a:solidFill>
                <a:prstClr val="black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="" xmlns:a16="http://schemas.microsoft.com/office/drawing/2014/main" id="{4C70D3A6-2D13-4F22-9C06-C56F2B48E196}"/>
              </a:ext>
            </a:extLst>
          </p:cNvPr>
          <p:cNvSpPr/>
          <p:nvPr/>
        </p:nvSpPr>
        <p:spPr>
          <a:xfrm>
            <a:off x="336000" y="1249701"/>
            <a:ext cx="8556480" cy="13872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spcBef>
                <a:spcPts val="5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600" dirty="0" smtClean="0">
                <a:solidFill>
                  <a:schemeClr val="tx1"/>
                </a:solidFill>
              </a:rPr>
              <a:t>목표 블록 생성 시간 </a:t>
            </a:r>
            <a:r>
              <a:rPr lang="en-US" altLang="ko-KR" sz="1600" dirty="0" smtClean="0">
                <a:solidFill>
                  <a:schemeClr val="tx1"/>
                </a:solidFill>
              </a:rPr>
              <a:t>2</a:t>
            </a:r>
            <a:r>
              <a:rPr lang="ko-KR" altLang="en-US" sz="1600" dirty="0" smtClean="0">
                <a:solidFill>
                  <a:schemeClr val="tx1"/>
                </a:solidFill>
              </a:rPr>
              <a:t>분</a:t>
            </a:r>
            <a:r>
              <a:rPr lang="en-US" altLang="ko-KR" sz="1600" dirty="0" smtClean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spcBef>
                <a:spcPts val="5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600" dirty="0" smtClean="0">
                <a:solidFill>
                  <a:schemeClr val="tx1"/>
                </a:solidFill>
              </a:rPr>
              <a:t>난이도 </a:t>
            </a:r>
            <a:r>
              <a:rPr lang="ko-KR" altLang="en-US" sz="1600" dirty="0">
                <a:solidFill>
                  <a:schemeClr val="tx1"/>
                </a:solidFill>
              </a:rPr>
              <a:t>변경 높이 이전의 총 블록 생성시간을 계산하여 생성시간이 빠르면 난이도를 증가시키고 낮으면 난이도를 </a:t>
            </a:r>
            <a:r>
              <a:rPr lang="ko-KR" altLang="en-US" sz="1600" dirty="0" smtClean="0">
                <a:solidFill>
                  <a:schemeClr val="tx1"/>
                </a:solidFill>
              </a:rPr>
              <a:t>감소시킴</a:t>
            </a:r>
            <a:r>
              <a:rPr lang="en-US" altLang="ko-KR" sz="1600" dirty="0" smtClean="0">
                <a:solidFill>
                  <a:schemeClr val="tx1"/>
                </a:solidFill>
              </a:rPr>
              <a:t>.</a:t>
            </a:r>
            <a:endParaRPr lang="ko-KR" altLang="en-US" sz="1600" dirty="0">
              <a:solidFill>
                <a:schemeClr val="tx1"/>
              </a:solidFill>
            </a:endParaRPr>
          </a:p>
          <a:p>
            <a:pPr marL="285750" indent="-285750">
              <a:spcBef>
                <a:spcPts val="5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600" dirty="0">
                <a:solidFill>
                  <a:schemeClr val="tx1"/>
                </a:solidFill>
              </a:rPr>
              <a:t>난이도 증감을 통해 목표 시간 접근 </a:t>
            </a:r>
            <a:r>
              <a:rPr lang="ko-KR" altLang="en-US" sz="1600" dirty="0" smtClean="0">
                <a:solidFill>
                  <a:schemeClr val="tx1"/>
                </a:solidFill>
              </a:rPr>
              <a:t>구간에 접근하는 것을 확인함</a:t>
            </a:r>
            <a:r>
              <a:rPr lang="en-US" altLang="ko-KR" sz="1600" dirty="0" smtClean="0">
                <a:solidFill>
                  <a:schemeClr val="tx1"/>
                </a:solidFill>
              </a:rPr>
              <a:t>.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="" xmlns:a16="http://schemas.microsoft.com/office/drawing/2014/main" id="{C53D36E5-5476-4409-B7F7-5ECC3840BD36}"/>
              </a:ext>
            </a:extLst>
          </p:cNvPr>
          <p:cNvSpPr/>
          <p:nvPr/>
        </p:nvSpPr>
        <p:spPr>
          <a:xfrm>
            <a:off x="336000" y="1196752"/>
            <a:ext cx="8556480" cy="45719"/>
          </a:xfrm>
          <a:prstGeom prst="rect">
            <a:avLst/>
          </a:prstGeom>
          <a:solidFill>
            <a:srgbClr val="0255B8"/>
          </a:solidFill>
          <a:ln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ts val="600"/>
              </a:spcBef>
            </a:pPr>
            <a:endParaRPr lang="ko-KR" altLang="en-US" b="1" kern="0" dirty="0">
              <a:solidFill>
                <a:srgbClr val="0255B8"/>
              </a:solidFill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433224" y="2996343"/>
            <a:ext cx="8528139" cy="2664905"/>
            <a:chOff x="334963" y="1891377"/>
            <a:chExt cx="11529361" cy="2983503"/>
          </a:xfrm>
        </p:grpSpPr>
        <p:sp>
          <p:nvSpPr>
            <p:cNvPr id="35" name="모서리가 둥근 직사각형 26">
              <a:extLst>
                <a:ext uri="{FF2B5EF4-FFF2-40B4-BE49-F238E27FC236}">
                  <a16:creationId xmlns="" xmlns:a16="http://schemas.microsoft.com/office/drawing/2014/main" id="{6A2F844D-50AA-4DC9-B1EC-57B8DC9369FF}"/>
                </a:ext>
              </a:extLst>
            </p:cNvPr>
            <p:cNvSpPr/>
            <p:nvPr/>
          </p:nvSpPr>
          <p:spPr>
            <a:xfrm>
              <a:off x="10110651" y="2173644"/>
              <a:ext cx="1746385" cy="1841007"/>
            </a:xfrm>
            <a:prstGeom prst="rect">
              <a:avLst/>
            </a:prstGeom>
            <a:solidFill>
              <a:srgbClr val="4472C4">
                <a:lumMod val="20000"/>
                <a:lumOff val="80000"/>
              </a:srgbClr>
            </a:solidFill>
            <a:ln w="12700" cap="flat" cmpd="sng" algn="ctr">
              <a:solidFill>
                <a:srgbClr val="0255B8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graphicFrame>
          <p:nvGraphicFramePr>
            <p:cNvPr id="36" name="차트 35">
              <a:extLst>
                <a:ext uri="{FF2B5EF4-FFF2-40B4-BE49-F238E27FC236}">
                  <a16:creationId xmlns="" xmlns:a16="http://schemas.microsoft.com/office/drawing/2014/main" id="{C95DD6D2-A25F-4ECA-98F9-BCAB246AE0A6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089331793"/>
                </p:ext>
              </p:extLst>
            </p:nvPr>
          </p:nvGraphicFramePr>
          <p:xfrm>
            <a:off x="334963" y="1891377"/>
            <a:ext cx="11529361" cy="298350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</p:grpSp>
      <p:sp>
        <p:nvSpPr>
          <p:cNvPr id="5" name="TextBox 4"/>
          <p:cNvSpPr txBox="1"/>
          <p:nvPr/>
        </p:nvSpPr>
        <p:spPr>
          <a:xfrm>
            <a:off x="35496" y="2793122"/>
            <a:ext cx="17877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/>
              <a:t>블록 생성 속도</a:t>
            </a:r>
            <a:endParaRPr lang="ko-KR" alt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3923928" y="5301208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>
                <a:latin typeface="+mn-ea"/>
              </a:rPr>
              <a:t>블록 높이</a:t>
            </a:r>
            <a:endParaRPr lang="ko-KR" altLang="en-US" dirty="0">
              <a:latin typeface="+mn-ea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619785" y="3306470"/>
            <a:ext cx="20485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/>
              <a:t>목표 시간 접근 구간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9718628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35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628650" y="74814"/>
            <a:ext cx="82638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>
                <a:solidFill>
                  <a:prstClr val="black"/>
                </a:solidFill>
              </a:rPr>
              <a:t>ECCPoW</a:t>
            </a:r>
            <a:r>
              <a:rPr lang="ko-KR" altLang="en-US" sz="3200" b="1" dirty="0" smtClean="0">
                <a:solidFill>
                  <a:prstClr val="black"/>
                </a:solidFill>
              </a:rPr>
              <a:t>가 적용된 이더리움 </a:t>
            </a:r>
            <a:r>
              <a:rPr lang="en-US" altLang="ko-KR" sz="3200" b="1" dirty="0" smtClean="0">
                <a:solidFill>
                  <a:prstClr val="black"/>
                </a:solidFill>
              </a:rPr>
              <a:t>(ETHECC)</a:t>
            </a:r>
            <a:r>
              <a:rPr lang="ko-KR" altLang="en-US" sz="3200" b="1" dirty="0" smtClean="0">
                <a:solidFill>
                  <a:prstClr val="black"/>
                </a:solidFill>
              </a:rPr>
              <a:t> 탐색기</a:t>
            </a:r>
            <a:endParaRPr lang="ko-KR" altLang="en-US" sz="3200" b="1" dirty="0">
              <a:solidFill>
                <a:prstClr val="black"/>
              </a:solidFill>
            </a:endParaRPr>
          </a:p>
        </p:txBody>
      </p:sp>
      <p:pic>
        <p:nvPicPr>
          <p:cNvPr id="6" name="Google Shape;1819;g7a6da0afd1_0_116">
            <a:extLst>
              <a:ext uri="{FF2B5EF4-FFF2-40B4-BE49-F238E27FC236}">
                <a16:creationId xmlns="" xmlns:a16="http://schemas.microsoft.com/office/drawing/2014/main" id="{DAE4C482-8B51-934A-A873-2CA5C351C33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7585" y="3257802"/>
            <a:ext cx="7488830" cy="269147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직사각형 6">
            <a:extLst>
              <a:ext uri="{FF2B5EF4-FFF2-40B4-BE49-F238E27FC236}">
                <a16:creationId xmlns="" xmlns:a16="http://schemas.microsoft.com/office/drawing/2014/main" id="{4C70D3A6-2D13-4F22-9C06-C56F2B48E196}"/>
              </a:ext>
            </a:extLst>
          </p:cNvPr>
          <p:cNvSpPr/>
          <p:nvPr/>
        </p:nvSpPr>
        <p:spPr>
          <a:xfrm>
            <a:off x="336000" y="1249701"/>
            <a:ext cx="8556480" cy="17472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600" dirty="0" err="1" smtClean="0">
                <a:solidFill>
                  <a:schemeClr val="tx1"/>
                </a:solidFill>
              </a:rPr>
              <a:t>Puppeth</a:t>
            </a:r>
            <a:r>
              <a:rPr lang="ko-KR" altLang="en-US" sz="1600" dirty="0">
                <a:solidFill>
                  <a:schemeClr val="tx1"/>
                </a:solidFill>
              </a:rPr>
              <a:t>를 통해 배포된 </a:t>
            </a:r>
            <a:r>
              <a:rPr lang="en-US" altLang="ko-KR" sz="1600" dirty="0">
                <a:solidFill>
                  <a:schemeClr val="tx1"/>
                </a:solidFill>
              </a:rPr>
              <a:t>ETHECC</a:t>
            </a:r>
            <a:r>
              <a:rPr lang="ko-KR" altLang="en-US" sz="1600" dirty="0">
                <a:solidFill>
                  <a:schemeClr val="tx1"/>
                </a:solidFill>
              </a:rPr>
              <a:t>의 </a:t>
            </a:r>
            <a:r>
              <a:rPr lang="ko-KR" altLang="en-US" sz="1600" dirty="0" err="1" smtClean="0">
                <a:solidFill>
                  <a:schemeClr val="tx1"/>
                </a:solidFill>
              </a:rPr>
              <a:t>대시보드임</a:t>
            </a:r>
            <a:r>
              <a:rPr lang="en-US" altLang="ko-KR" sz="1600" dirty="0" smtClean="0">
                <a:solidFill>
                  <a:schemeClr val="tx1"/>
                </a:solidFill>
              </a:rPr>
              <a:t>.</a:t>
            </a:r>
          </a:p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solidFill>
                  <a:schemeClr val="tx1"/>
                </a:solidFill>
              </a:rPr>
              <a:t>평균 </a:t>
            </a:r>
            <a:r>
              <a:rPr lang="ko-KR" altLang="en-US" sz="1600" dirty="0">
                <a:solidFill>
                  <a:schemeClr val="tx1"/>
                </a:solidFill>
              </a:rPr>
              <a:t>블록 생성시간 현재 블록 넘버</a:t>
            </a:r>
            <a:r>
              <a:rPr lang="en-US" altLang="ko-KR" sz="1600" dirty="0">
                <a:solidFill>
                  <a:schemeClr val="tx1"/>
                </a:solidFill>
              </a:rPr>
              <a:t>, </a:t>
            </a:r>
            <a:r>
              <a:rPr lang="ko-KR" altLang="en-US" sz="1600" dirty="0">
                <a:solidFill>
                  <a:schemeClr val="tx1"/>
                </a:solidFill>
              </a:rPr>
              <a:t>마지막 블록 생성 후 경과한 시간 등을 확인 </a:t>
            </a:r>
            <a:r>
              <a:rPr lang="ko-KR" altLang="en-US" sz="1600" dirty="0" smtClean="0">
                <a:solidFill>
                  <a:schemeClr val="tx1"/>
                </a:solidFill>
              </a:rPr>
              <a:t>가능함</a:t>
            </a:r>
            <a:r>
              <a:rPr lang="en-US" altLang="ko-KR" sz="1600" dirty="0" smtClean="0">
                <a:solidFill>
                  <a:schemeClr val="tx1"/>
                </a:solidFill>
              </a:rPr>
              <a:t>.</a:t>
            </a:r>
          </a:p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dirty="0" err="1" smtClean="0">
                <a:solidFill>
                  <a:schemeClr val="tx1"/>
                </a:solidFill>
              </a:rPr>
              <a:t>대시보드와</a:t>
            </a:r>
            <a:r>
              <a:rPr lang="ko-KR" altLang="en-US" sz="1600" dirty="0" smtClean="0">
                <a:solidFill>
                  <a:schemeClr val="tx1"/>
                </a:solidFill>
              </a:rPr>
              <a:t> </a:t>
            </a:r>
            <a:r>
              <a:rPr lang="ko-KR" altLang="en-US" sz="1600" dirty="0">
                <a:solidFill>
                  <a:schemeClr val="tx1"/>
                </a:solidFill>
              </a:rPr>
              <a:t>통신하고 있는 여러 노드들의 상태를 한번에 관찰 </a:t>
            </a:r>
            <a:r>
              <a:rPr lang="ko-KR" altLang="en-US" sz="1600" dirty="0" smtClean="0">
                <a:solidFill>
                  <a:schemeClr val="tx1"/>
                </a:solidFill>
              </a:rPr>
              <a:t>가능함</a:t>
            </a:r>
            <a:r>
              <a:rPr lang="en-US" altLang="ko-KR" sz="1600" dirty="0" smtClean="0">
                <a:solidFill>
                  <a:schemeClr val="tx1"/>
                </a:solidFill>
              </a:rPr>
              <a:t>. </a:t>
            </a:r>
          </a:p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solidFill>
                  <a:schemeClr val="tx1"/>
                </a:solidFill>
              </a:rPr>
              <a:t>노드숫자 </a:t>
            </a:r>
            <a:r>
              <a:rPr lang="en-US" altLang="ko-KR" sz="1600" dirty="0">
                <a:solidFill>
                  <a:schemeClr val="tx1"/>
                </a:solidFill>
              </a:rPr>
              <a:t>4</a:t>
            </a:r>
            <a:r>
              <a:rPr lang="ko-KR" altLang="en-US" sz="1600" dirty="0">
                <a:solidFill>
                  <a:schemeClr val="tx1"/>
                </a:solidFill>
              </a:rPr>
              <a:t>대</a:t>
            </a:r>
            <a:r>
              <a:rPr lang="en-US" altLang="ko-KR" sz="1600" dirty="0">
                <a:solidFill>
                  <a:schemeClr val="tx1"/>
                </a:solidFill>
              </a:rPr>
              <a:t>, </a:t>
            </a:r>
            <a:r>
              <a:rPr lang="ko-KR" altLang="en-US" sz="1600" dirty="0">
                <a:solidFill>
                  <a:schemeClr val="tx1"/>
                </a:solidFill>
              </a:rPr>
              <a:t>네트워크 생성초기라 </a:t>
            </a:r>
            <a:r>
              <a:rPr lang="en-US" altLang="ko-KR" sz="1600" dirty="0">
                <a:solidFill>
                  <a:schemeClr val="tx1"/>
                </a:solidFill>
              </a:rPr>
              <a:t>29.37</a:t>
            </a:r>
            <a:r>
              <a:rPr lang="ko-KR" altLang="en-US" sz="1600" dirty="0">
                <a:solidFill>
                  <a:schemeClr val="tx1"/>
                </a:solidFill>
              </a:rPr>
              <a:t>초이며 시간에 </a:t>
            </a:r>
            <a:r>
              <a:rPr lang="ko-KR" altLang="en-US" sz="1600" dirty="0" smtClean="0">
                <a:solidFill>
                  <a:schemeClr val="tx1"/>
                </a:solidFill>
              </a:rPr>
              <a:t>지남에 따라 </a:t>
            </a:r>
            <a:r>
              <a:rPr lang="en-US" altLang="ko-KR" sz="1600" dirty="0">
                <a:solidFill>
                  <a:schemeClr val="tx1"/>
                </a:solidFill>
              </a:rPr>
              <a:t>10~15</a:t>
            </a:r>
            <a:r>
              <a:rPr lang="ko-KR" altLang="en-US" sz="1600" dirty="0">
                <a:solidFill>
                  <a:schemeClr val="tx1"/>
                </a:solidFill>
              </a:rPr>
              <a:t>초 </a:t>
            </a:r>
            <a:r>
              <a:rPr lang="ko-KR" altLang="en-US" sz="1600" dirty="0" smtClean="0">
                <a:solidFill>
                  <a:schemeClr val="tx1"/>
                </a:solidFill>
              </a:rPr>
              <a:t>형성하는 것을 확인함</a:t>
            </a:r>
            <a:r>
              <a:rPr lang="en-US" altLang="ko-KR" sz="1600" dirty="0" smtClean="0">
                <a:solidFill>
                  <a:schemeClr val="tx1"/>
                </a:solidFill>
              </a:rPr>
              <a:t>.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="" xmlns:a16="http://schemas.microsoft.com/office/drawing/2014/main" id="{C53D36E5-5476-4409-B7F7-5ECC3840BD36}"/>
              </a:ext>
            </a:extLst>
          </p:cNvPr>
          <p:cNvSpPr/>
          <p:nvPr/>
        </p:nvSpPr>
        <p:spPr>
          <a:xfrm>
            <a:off x="336000" y="1196752"/>
            <a:ext cx="8556480" cy="45719"/>
          </a:xfrm>
          <a:prstGeom prst="rect">
            <a:avLst/>
          </a:prstGeom>
          <a:solidFill>
            <a:srgbClr val="0255B8"/>
          </a:solidFill>
          <a:ln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ts val="600"/>
              </a:spcBef>
            </a:pPr>
            <a:endParaRPr lang="ko-KR" altLang="en-US" b="1" kern="0" dirty="0">
              <a:solidFill>
                <a:srgbClr val="0255B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51470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36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628650" y="74814"/>
            <a:ext cx="82638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smtClean="0">
                <a:solidFill>
                  <a:prstClr val="black"/>
                </a:solidFill>
              </a:rPr>
              <a:t>평가 방안</a:t>
            </a:r>
            <a:endParaRPr lang="ko-KR" altLang="en-US" sz="3200" b="1" dirty="0">
              <a:solidFill>
                <a:prstClr val="black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="" xmlns:a16="http://schemas.microsoft.com/office/drawing/2014/main" id="{4C70D3A6-2D13-4F22-9C06-C56F2B48E196}"/>
              </a:ext>
            </a:extLst>
          </p:cNvPr>
          <p:cNvSpPr/>
          <p:nvPr/>
        </p:nvSpPr>
        <p:spPr>
          <a:xfrm>
            <a:off x="336000" y="1249701"/>
            <a:ext cx="8556480" cy="17472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kern="0" spc="-50" dirty="0" smtClean="0">
                <a:solidFill>
                  <a:schemeClr val="tx1"/>
                </a:solidFill>
                <a:latin typeface="+mn-ea"/>
              </a:rPr>
              <a:t>세계 최고 수준인 비트코인과 </a:t>
            </a:r>
            <a:r>
              <a:rPr lang="en-US" altLang="ko-KR" sz="1600" kern="0" spc="-50" dirty="0" smtClean="0">
                <a:solidFill>
                  <a:schemeClr val="tx1"/>
                </a:solidFill>
                <a:latin typeface="+mn-ea"/>
              </a:rPr>
              <a:t>ECCPoW</a:t>
            </a:r>
            <a:r>
              <a:rPr lang="ko-KR" altLang="en-US" sz="1600" kern="0" spc="-50" dirty="0" smtClean="0">
                <a:solidFill>
                  <a:schemeClr val="tx1"/>
                </a:solidFill>
                <a:latin typeface="+mn-ea"/>
              </a:rPr>
              <a:t>가 탑재된 </a:t>
            </a:r>
            <a:r>
              <a:rPr lang="en-US" altLang="ko-KR" sz="1600" b="1" kern="0" spc="-50" dirty="0" smtClean="0">
                <a:solidFill>
                  <a:srgbClr val="FF0000"/>
                </a:solidFill>
                <a:latin typeface="+mn-ea"/>
              </a:rPr>
              <a:t>BTCECC</a:t>
            </a:r>
            <a:r>
              <a:rPr lang="ko-KR" altLang="en-US" sz="1600" b="1" kern="0" spc="-50" dirty="0" smtClean="0">
                <a:solidFill>
                  <a:srgbClr val="FF0000"/>
                </a:solidFill>
                <a:latin typeface="+mn-ea"/>
              </a:rPr>
              <a:t>를 비교 평가</a:t>
            </a:r>
            <a:r>
              <a:rPr lang="ko-KR" altLang="en-US" sz="1600" kern="0" spc="-50" dirty="0" smtClean="0">
                <a:solidFill>
                  <a:schemeClr val="tx1"/>
                </a:solidFill>
                <a:latin typeface="+mn-ea"/>
              </a:rPr>
              <a:t>함</a:t>
            </a:r>
            <a:r>
              <a:rPr lang="en-US" altLang="ko-KR" sz="1600" kern="0" spc="-50" dirty="0" smtClean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kern="0" spc="-50" dirty="0" smtClean="0">
                <a:solidFill>
                  <a:schemeClr val="tx1"/>
                </a:solidFill>
                <a:latin typeface="+mn-ea"/>
              </a:rPr>
              <a:t>동일한 평가 환경 </a:t>
            </a:r>
            <a:r>
              <a:rPr lang="en-US" altLang="ko-KR" sz="1600" kern="0" spc="-50" dirty="0" smtClean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600" kern="0" spc="-50" dirty="0" smtClean="0">
                <a:solidFill>
                  <a:schemeClr val="tx1"/>
                </a:solidFill>
                <a:latin typeface="+mn-ea"/>
              </a:rPr>
              <a:t>난이도 변경 수준</a:t>
            </a:r>
            <a:r>
              <a:rPr lang="en-US" altLang="ko-KR" sz="1600" kern="0" spc="-50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600" kern="0" spc="-50" dirty="0" smtClean="0">
                <a:solidFill>
                  <a:schemeClr val="tx1"/>
                </a:solidFill>
                <a:latin typeface="+mn-ea"/>
              </a:rPr>
              <a:t>목표 블록 생성 시간</a:t>
            </a:r>
            <a:r>
              <a:rPr lang="en-US" altLang="ko-KR" sz="1600" kern="0" spc="-50" dirty="0" smtClean="0">
                <a:solidFill>
                  <a:schemeClr val="tx1"/>
                </a:solidFill>
                <a:latin typeface="+mn-ea"/>
              </a:rPr>
              <a:t>, 23</a:t>
            </a:r>
            <a:r>
              <a:rPr lang="ko-KR" altLang="en-US" sz="1600" kern="0" spc="-50" dirty="0" smtClean="0">
                <a:solidFill>
                  <a:schemeClr val="tx1"/>
                </a:solidFill>
                <a:latin typeface="+mn-ea"/>
              </a:rPr>
              <a:t>개의 노드</a:t>
            </a:r>
            <a:r>
              <a:rPr lang="en-US" altLang="ko-KR" sz="1600" kern="0" spc="-50" dirty="0" smtClean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600" kern="0" spc="-50" dirty="0" smtClean="0">
                <a:solidFill>
                  <a:schemeClr val="tx1"/>
                </a:solidFill>
                <a:latin typeface="+mn-ea"/>
              </a:rPr>
              <a:t>에서 비교함</a:t>
            </a:r>
            <a:r>
              <a:rPr lang="en-US" altLang="ko-KR" sz="1600" kern="0" spc="-50" dirty="0" smtClean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kern="0" spc="-50" dirty="0" smtClean="0">
                <a:solidFill>
                  <a:schemeClr val="tx1"/>
                </a:solidFill>
                <a:latin typeface="+mn-ea"/>
              </a:rPr>
              <a:t>평가의 객관성을 위해 </a:t>
            </a:r>
            <a:r>
              <a:rPr lang="en-US" altLang="ko-KR" sz="1600" b="1" kern="0" spc="-50" dirty="0" smtClean="0">
                <a:solidFill>
                  <a:srgbClr val="FF0000"/>
                </a:solidFill>
                <a:latin typeface="+mn-ea"/>
              </a:rPr>
              <a:t>KOLAS </a:t>
            </a:r>
            <a:r>
              <a:rPr lang="ko-KR" altLang="en-US" sz="1600" b="1" kern="0" spc="-50" dirty="0" smtClean="0">
                <a:solidFill>
                  <a:srgbClr val="FF0000"/>
                </a:solidFill>
                <a:latin typeface="+mn-ea"/>
              </a:rPr>
              <a:t>공인 인증</a:t>
            </a:r>
            <a:r>
              <a:rPr lang="ko-KR" altLang="en-US" sz="1600" kern="0" spc="-50" dirty="0" smtClean="0">
                <a:solidFill>
                  <a:schemeClr val="tx1"/>
                </a:solidFill>
                <a:latin typeface="+mn-ea"/>
              </a:rPr>
              <a:t>에 의뢰함</a:t>
            </a:r>
            <a:r>
              <a:rPr lang="en-US" altLang="ko-KR" sz="1600" kern="0" spc="-50" dirty="0" smtClean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kern="0" spc="-50" dirty="0" smtClean="0">
                <a:solidFill>
                  <a:schemeClr val="tx1"/>
                </a:solidFill>
                <a:latin typeface="+mn-ea"/>
              </a:rPr>
              <a:t>성능의 척도는 </a:t>
            </a:r>
            <a:r>
              <a:rPr lang="en-US" altLang="ko-KR" sz="1600" kern="0" spc="-5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ko-KR" altLang="en-US" sz="1600" kern="0" spc="-50" dirty="0" smtClean="0">
                <a:solidFill>
                  <a:schemeClr val="tx1"/>
                </a:solidFill>
                <a:latin typeface="+mn-ea"/>
              </a:rPr>
              <a:t>가지 요소들 </a:t>
            </a:r>
            <a:r>
              <a:rPr lang="en-US" altLang="ko-KR" sz="1600" kern="0" spc="-50" dirty="0" smtClean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600" b="1" kern="0" spc="-50" dirty="0" err="1" smtClean="0">
                <a:solidFill>
                  <a:srgbClr val="FF0000"/>
                </a:solidFill>
                <a:latin typeface="+mn-ea"/>
              </a:rPr>
              <a:t>분산성</a:t>
            </a:r>
            <a:r>
              <a:rPr lang="en-US" altLang="ko-KR" sz="1600" b="1" kern="0" spc="-50" dirty="0" smtClean="0">
                <a:solidFill>
                  <a:srgbClr val="FF0000"/>
                </a:solidFill>
                <a:latin typeface="+mn-ea"/>
              </a:rPr>
              <a:t>/</a:t>
            </a:r>
            <a:r>
              <a:rPr lang="ko-KR" altLang="en-US" sz="1600" b="1" kern="0" spc="-50" dirty="0" err="1" smtClean="0">
                <a:solidFill>
                  <a:srgbClr val="FF0000"/>
                </a:solidFill>
                <a:latin typeface="+mn-ea"/>
              </a:rPr>
              <a:t>보안성</a:t>
            </a:r>
            <a:r>
              <a:rPr lang="en-US" altLang="ko-KR" sz="1600" kern="0" spc="-50" dirty="0" smtClean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600" kern="0" spc="-50" dirty="0" smtClean="0">
                <a:solidFill>
                  <a:schemeClr val="tx1"/>
                </a:solidFill>
                <a:latin typeface="+mn-ea"/>
              </a:rPr>
              <a:t>을 이용해 평가함</a:t>
            </a:r>
            <a:r>
              <a:rPr lang="en-US" altLang="ko-KR" sz="1600" kern="0" spc="-50" dirty="0" smtClean="0">
                <a:solidFill>
                  <a:schemeClr val="tx1"/>
                </a:solidFill>
                <a:latin typeface="+mn-ea"/>
              </a:rPr>
              <a:t>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="" xmlns:a16="http://schemas.microsoft.com/office/drawing/2014/main" id="{C53D36E5-5476-4409-B7F7-5ECC3840BD36}"/>
              </a:ext>
            </a:extLst>
          </p:cNvPr>
          <p:cNvSpPr/>
          <p:nvPr/>
        </p:nvSpPr>
        <p:spPr>
          <a:xfrm>
            <a:off x="336000" y="1196752"/>
            <a:ext cx="8556480" cy="45719"/>
          </a:xfrm>
          <a:prstGeom prst="rect">
            <a:avLst/>
          </a:prstGeom>
          <a:solidFill>
            <a:srgbClr val="0255B8"/>
          </a:solidFill>
          <a:ln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ts val="600"/>
              </a:spcBef>
            </a:pPr>
            <a:endParaRPr lang="ko-KR" altLang="en-US" b="1" kern="0" dirty="0">
              <a:solidFill>
                <a:srgbClr val="0255B8"/>
              </a:solidFill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="" xmlns:a16="http://schemas.microsoft.com/office/drawing/2014/main" id="{81AB9C2E-974A-4D8A-9C83-5064FE5DC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024985"/>
              </p:ext>
            </p:extLst>
          </p:nvPr>
        </p:nvGraphicFramePr>
        <p:xfrm>
          <a:off x="336228" y="3472986"/>
          <a:ext cx="8545722" cy="1900230"/>
        </p:xfrm>
        <a:graphic>
          <a:graphicData uri="http://schemas.openxmlformats.org/drawingml/2006/table">
            <a:tbl>
              <a:tblPr firstRow="1" firstCol="1" bandRow="1"/>
              <a:tblGrid>
                <a:gridCol w="912874">
                  <a:extLst>
                    <a:ext uri="{9D8B030D-6E8A-4147-A177-3AD203B41FA5}">
                      <a16:colId xmlns="" xmlns:a16="http://schemas.microsoft.com/office/drawing/2014/main" val="1449899407"/>
                    </a:ext>
                  </a:extLst>
                </a:gridCol>
                <a:gridCol w="7632848">
                  <a:extLst>
                    <a:ext uri="{9D8B030D-6E8A-4147-A177-3AD203B41FA5}">
                      <a16:colId xmlns="" xmlns:a16="http://schemas.microsoft.com/office/drawing/2014/main" val="3134819482"/>
                    </a:ext>
                  </a:extLst>
                </a:gridCol>
              </a:tblGrid>
              <a:tr h="340354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j-ea"/>
                          <a:cs typeface="+mn-cs"/>
                        </a:rPr>
                        <a:t>이름</a:t>
                      </a:r>
                      <a:endParaRPr lang="ko-KR" altLang="en-US" sz="1600" b="1" kern="1200" dirty="0">
                        <a:solidFill>
                          <a:schemeClr val="bg1"/>
                        </a:solidFill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j-ea"/>
                          <a:cs typeface="+mn-cs"/>
                        </a:rPr>
                        <a:t>설명</a:t>
                      </a:r>
                      <a:endParaRPr lang="ko-KR" altLang="en-US" sz="1600" b="1" kern="1200" dirty="0">
                        <a:solidFill>
                          <a:schemeClr val="bg1"/>
                        </a:solidFill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142255689"/>
                  </a:ext>
                </a:extLst>
              </a:tr>
              <a:tr h="77512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분산성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13994" marR="13994" marT="5159" marB="5159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ko-KR" altLang="en-US" sz="1600" kern="1200" dirty="0" smtClea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각 채굴 노드들이 전체 채굴량에 대해 일정하게 채굴하는 정도를 의미함</a:t>
                      </a:r>
                      <a:r>
                        <a:rPr lang="en-US" altLang="ko-KR" sz="1600" kern="1200" dirty="0" smtClea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85750" indent="-285750" algn="l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ko-KR" altLang="en-US" sz="1600" kern="1200" dirty="0" err="1" smtClea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분산성</a:t>
                      </a:r>
                      <a:r>
                        <a:rPr lang="ko-KR" altLang="en-US" sz="1600" kern="1200" dirty="0" smtClea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 수치가 </a:t>
                      </a:r>
                      <a:r>
                        <a:rPr lang="en-US" altLang="ko-KR" sz="1600" kern="1200" dirty="0" smtClea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100%</a:t>
                      </a:r>
                      <a:r>
                        <a:rPr lang="ko-KR" altLang="en-US" sz="1600" kern="1200" dirty="0" smtClea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에 가까울 수록</a:t>
                      </a:r>
                      <a:r>
                        <a:rPr lang="en-US" altLang="ko-KR" sz="1600" kern="1200" dirty="0" smtClea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600" kern="1200" dirty="0" smtClea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각 채굴자들의 채굴 확률이 균등하게 분포 된 것을 뜻함</a:t>
                      </a:r>
                      <a:r>
                        <a:rPr lang="en-US" altLang="ko-KR" sz="1600" kern="1200" dirty="0" smtClea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altLang="ko-KR" sz="1600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994" marR="13994" marT="5159" marB="5159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951504763"/>
                  </a:ext>
                </a:extLst>
              </a:tr>
              <a:tr h="59828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보안성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13994" marR="13994" marT="5159" marB="5159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ko-KR" altLang="en-US" sz="1600" kern="1200" dirty="0" smtClea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이중 지불 공격의 원인인 고아 블록의 출현을 방지하고 이를 보안을 유지할 수 있는 것을 의미함</a:t>
                      </a:r>
                      <a:r>
                        <a:rPr lang="en-US" altLang="ko-KR" sz="1600" kern="1200" dirty="0" smtClea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85750" indent="-285750" algn="l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ko-KR" altLang="en-US" sz="1600" kern="1200" dirty="0" smtClea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즉</a:t>
                      </a:r>
                      <a:r>
                        <a:rPr lang="en-US" altLang="ko-KR" sz="1600" kern="1200" dirty="0" smtClea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600" kern="1200" dirty="0" smtClea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고아 블록 비율이 낮으면 </a:t>
                      </a:r>
                      <a:r>
                        <a:rPr lang="ko-KR" altLang="en-US" sz="1600" kern="1200" dirty="0" err="1" smtClea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보안성이</a:t>
                      </a:r>
                      <a:r>
                        <a:rPr lang="ko-KR" altLang="en-US" sz="1600" kern="1200" dirty="0" smtClea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 좋다고 할 수 있음</a:t>
                      </a:r>
                      <a:r>
                        <a:rPr lang="en-US" altLang="ko-KR" sz="1600" kern="1200" dirty="0" smtClea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600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994" marR="13994" marT="5159" marB="5159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8000425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09316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37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pSp>
        <p:nvGrpSpPr>
          <p:cNvPr id="2" name="그룹 1"/>
          <p:cNvGrpSpPr/>
          <p:nvPr/>
        </p:nvGrpSpPr>
        <p:grpSpPr>
          <a:xfrm>
            <a:off x="439119" y="2852936"/>
            <a:ext cx="5388491" cy="3397196"/>
            <a:chOff x="611560" y="908720"/>
            <a:chExt cx="7994241" cy="5040000"/>
          </a:xfrm>
        </p:grpSpPr>
        <p:pic>
          <p:nvPicPr>
            <p:cNvPr id="10241" name="_x64142760" descr="EMB000004745e8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1560" y="908720"/>
              <a:ext cx="4091736" cy="50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43" name="_x147157040" descr="EMB000004745e8c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53950" y="908720"/>
              <a:ext cx="3851851" cy="50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" name="TextBox 12"/>
          <p:cNvSpPr txBox="1"/>
          <p:nvPr/>
        </p:nvSpPr>
        <p:spPr>
          <a:xfrm>
            <a:off x="628650" y="74814"/>
            <a:ext cx="82638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>
                <a:solidFill>
                  <a:prstClr val="black"/>
                </a:solidFill>
              </a:rPr>
              <a:t>ECCPoW</a:t>
            </a:r>
            <a:r>
              <a:rPr lang="ko-KR" altLang="en-US" sz="3200" b="1" dirty="0" smtClean="0">
                <a:solidFill>
                  <a:prstClr val="black"/>
                </a:solidFill>
              </a:rPr>
              <a:t>를 적용한 비트코인 평가 결과 </a:t>
            </a:r>
            <a:r>
              <a:rPr lang="en-US" altLang="ko-KR" sz="3200" b="1" dirty="0" smtClean="0">
                <a:solidFill>
                  <a:prstClr val="black"/>
                </a:solidFill>
              </a:rPr>
              <a:t>– 1</a:t>
            </a:r>
            <a:endParaRPr lang="ko-KR" altLang="en-US" sz="3200" b="1" dirty="0">
              <a:solidFill>
                <a:prstClr val="black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="" xmlns:a16="http://schemas.microsoft.com/office/drawing/2014/main" id="{4C70D3A6-2D13-4F22-9C06-C56F2B48E196}"/>
              </a:ext>
            </a:extLst>
          </p:cNvPr>
          <p:cNvSpPr/>
          <p:nvPr/>
        </p:nvSpPr>
        <p:spPr>
          <a:xfrm>
            <a:off x="336000" y="1249702"/>
            <a:ext cx="8556480" cy="15312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b="1" kern="0" spc="-50" dirty="0">
                <a:solidFill>
                  <a:srgbClr val="FF0000"/>
                </a:solidFill>
                <a:latin typeface="+mn-ea"/>
              </a:rPr>
              <a:t>공인 인증기관인 </a:t>
            </a:r>
            <a:r>
              <a:rPr lang="en-US" altLang="ko-KR" sz="1600" b="1" kern="0" spc="-50" dirty="0">
                <a:solidFill>
                  <a:srgbClr val="FF0000"/>
                </a:solidFill>
                <a:latin typeface="+mn-ea"/>
              </a:rPr>
              <a:t>KOLAS</a:t>
            </a:r>
            <a:r>
              <a:rPr lang="ko-KR" altLang="en-US" sz="1600" kern="0" spc="-50" dirty="0">
                <a:solidFill>
                  <a:prstClr val="black"/>
                </a:solidFill>
                <a:latin typeface="+mn-ea"/>
              </a:rPr>
              <a:t>에 의뢰하여 </a:t>
            </a:r>
            <a:r>
              <a:rPr lang="ko-KR" altLang="en-US" sz="1600" kern="0" spc="-50" dirty="0" smtClean="0">
                <a:solidFill>
                  <a:prstClr val="black"/>
                </a:solidFill>
                <a:latin typeface="+mn-ea"/>
              </a:rPr>
              <a:t>개발된 </a:t>
            </a:r>
            <a:r>
              <a:rPr lang="en-US" altLang="ko-KR" sz="1600" kern="0" spc="-50" dirty="0" smtClean="0">
                <a:solidFill>
                  <a:prstClr val="black"/>
                </a:solidFill>
                <a:latin typeface="+mn-ea"/>
              </a:rPr>
              <a:t>BTCECC</a:t>
            </a:r>
            <a:r>
              <a:rPr lang="ko-KR" altLang="en-US" sz="1600" kern="0" spc="-50" dirty="0" smtClean="0">
                <a:solidFill>
                  <a:prstClr val="black"/>
                </a:solidFill>
                <a:latin typeface="+mn-ea"/>
              </a:rPr>
              <a:t>의 우수성을 인증 받음 </a:t>
            </a:r>
            <a:endParaRPr lang="en-US" altLang="ko-KR" sz="1600" kern="0" spc="-50" dirty="0" smtClean="0">
              <a:solidFill>
                <a:prstClr val="black"/>
              </a:solidFill>
              <a:latin typeface="+mn-ea"/>
            </a:endParaRPr>
          </a:p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600" kern="0" spc="-50" dirty="0" smtClean="0">
                <a:solidFill>
                  <a:prstClr val="black"/>
                </a:solidFill>
                <a:latin typeface="+mn-ea"/>
              </a:rPr>
              <a:t>BTCECC</a:t>
            </a:r>
            <a:r>
              <a:rPr lang="ko-KR" altLang="en-US" sz="1600" kern="0" spc="-50" dirty="0" smtClean="0">
                <a:solidFill>
                  <a:prstClr val="black"/>
                </a:solidFill>
                <a:latin typeface="+mn-ea"/>
              </a:rPr>
              <a:t>가 비트코인과 대비하였을 때</a:t>
            </a:r>
            <a:r>
              <a:rPr lang="en-US" altLang="ko-KR" sz="1600" kern="0" spc="-50" dirty="0" smtClean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600" b="1" kern="0" spc="-50" dirty="0" smtClean="0">
                <a:solidFill>
                  <a:srgbClr val="FF0000"/>
                </a:solidFill>
                <a:latin typeface="+mn-ea"/>
              </a:rPr>
              <a:t>동일한 </a:t>
            </a:r>
            <a:r>
              <a:rPr lang="ko-KR" altLang="en-US" sz="1600" b="1" kern="0" spc="-50" dirty="0" err="1" smtClean="0">
                <a:solidFill>
                  <a:srgbClr val="FF0000"/>
                </a:solidFill>
                <a:latin typeface="+mn-ea"/>
              </a:rPr>
              <a:t>보안성을</a:t>
            </a:r>
            <a:r>
              <a:rPr lang="ko-KR" altLang="en-US" sz="1600" b="1" kern="0" spc="-50" dirty="0" smtClean="0">
                <a:solidFill>
                  <a:srgbClr val="FF0000"/>
                </a:solidFill>
                <a:latin typeface="+mn-ea"/>
              </a:rPr>
              <a:t> </a:t>
            </a:r>
            <a:r>
              <a:rPr lang="ko-KR" altLang="en-US" sz="1600" kern="0" spc="-50" dirty="0" smtClean="0">
                <a:solidFill>
                  <a:prstClr val="black"/>
                </a:solidFill>
                <a:latin typeface="+mn-ea"/>
              </a:rPr>
              <a:t>가지는 것을 인증 받음</a:t>
            </a:r>
            <a:r>
              <a:rPr lang="en-US" altLang="ko-KR" sz="1600" kern="0" spc="-50" dirty="0" smtClean="0">
                <a:solidFill>
                  <a:prstClr val="black"/>
                </a:solidFill>
                <a:latin typeface="+mn-ea"/>
              </a:rPr>
              <a:t>. (</a:t>
            </a:r>
            <a:r>
              <a:rPr lang="ko-KR" altLang="en-US" sz="1600" kern="0" spc="-50" dirty="0" smtClean="0">
                <a:solidFill>
                  <a:prstClr val="black"/>
                </a:solidFill>
                <a:latin typeface="+mn-ea"/>
              </a:rPr>
              <a:t>중</a:t>
            </a:r>
            <a:r>
              <a:rPr lang="ko-KR" altLang="en-US" sz="1600" kern="0" spc="-50" dirty="0">
                <a:solidFill>
                  <a:prstClr val="black"/>
                </a:solidFill>
                <a:latin typeface="+mn-ea"/>
              </a:rPr>
              <a:t>간</a:t>
            </a:r>
            <a:r>
              <a:rPr lang="ko-KR" altLang="en-US" sz="1600" kern="0" spc="-50" dirty="0" smtClean="0">
                <a:solidFill>
                  <a:prstClr val="black"/>
                </a:solidFill>
                <a:latin typeface="+mn-ea"/>
              </a:rPr>
              <a:t>그림 참고</a:t>
            </a:r>
            <a:r>
              <a:rPr lang="en-US" altLang="ko-KR" sz="1600" kern="0" spc="-50" dirty="0" smtClean="0">
                <a:solidFill>
                  <a:prstClr val="black"/>
                </a:solidFill>
                <a:latin typeface="+mn-ea"/>
              </a:rPr>
              <a:t>)</a:t>
            </a:r>
          </a:p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600" kern="0" spc="-50" dirty="0" smtClean="0">
                <a:solidFill>
                  <a:prstClr val="black"/>
                </a:solidFill>
                <a:latin typeface="+mn-ea"/>
              </a:rPr>
              <a:t>BTCECC</a:t>
            </a:r>
            <a:r>
              <a:rPr lang="ko-KR" altLang="en-US" sz="1600" kern="0" spc="-50" dirty="0" smtClean="0">
                <a:solidFill>
                  <a:prstClr val="black"/>
                </a:solidFill>
                <a:latin typeface="+mn-ea"/>
              </a:rPr>
              <a:t>의 </a:t>
            </a:r>
            <a:r>
              <a:rPr lang="ko-KR" altLang="en-US" sz="1600" kern="0" spc="-50" dirty="0" err="1" smtClean="0">
                <a:solidFill>
                  <a:prstClr val="black"/>
                </a:solidFill>
                <a:latin typeface="+mn-ea"/>
              </a:rPr>
              <a:t>분산성이</a:t>
            </a:r>
            <a:r>
              <a:rPr lang="ko-KR" altLang="en-US" sz="1600" kern="0" spc="-50" dirty="0" smtClean="0">
                <a:solidFill>
                  <a:prstClr val="black"/>
                </a:solidFill>
                <a:latin typeface="+mn-ea"/>
              </a:rPr>
              <a:t> 우수하다는 것 </a:t>
            </a:r>
            <a:r>
              <a:rPr lang="en-US" altLang="ko-KR" sz="1600" kern="0" spc="-50" dirty="0" smtClean="0">
                <a:solidFill>
                  <a:prstClr val="black"/>
                </a:solidFill>
                <a:latin typeface="+mn-ea"/>
              </a:rPr>
              <a:t>- </a:t>
            </a:r>
            <a:r>
              <a:rPr lang="ko-KR" altLang="en-US" sz="1600" b="1" kern="0" spc="-50" dirty="0" smtClean="0">
                <a:solidFill>
                  <a:srgbClr val="FF0000"/>
                </a:solidFill>
                <a:latin typeface="+mn-ea"/>
              </a:rPr>
              <a:t>채굴 노드들이 고르게 채굴 </a:t>
            </a:r>
            <a:r>
              <a:rPr lang="en-US" altLang="ko-KR" sz="1600" kern="0" spc="-50" dirty="0" smtClean="0">
                <a:solidFill>
                  <a:schemeClr val="tx1"/>
                </a:solidFill>
                <a:latin typeface="+mn-ea"/>
              </a:rPr>
              <a:t>–</a:t>
            </a:r>
            <a:r>
              <a:rPr lang="en-US" altLang="ko-KR" sz="1600" b="1" kern="0" spc="-50" dirty="0" smtClean="0">
                <a:solidFill>
                  <a:srgbClr val="FF0000"/>
                </a:solidFill>
                <a:latin typeface="+mn-ea"/>
              </a:rPr>
              <a:t> </a:t>
            </a:r>
            <a:r>
              <a:rPr lang="ko-KR" altLang="en-US" sz="1600" kern="0" spc="-50" dirty="0" smtClean="0">
                <a:solidFill>
                  <a:prstClr val="black"/>
                </a:solidFill>
                <a:latin typeface="+mn-ea"/>
              </a:rPr>
              <a:t>을 인증 받음</a:t>
            </a:r>
            <a:r>
              <a:rPr lang="en-US" altLang="ko-KR" sz="1600" kern="0" spc="-50" dirty="0" smtClean="0">
                <a:solidFill>
                  <a:prstClr val="black"/>
                </a:solidFill>
                <a:latin typeface="+mn-ea"/>
              </a:rPr>
              <a:t>. (</a:t>
            </a:r>
            <a:r>
              <a:rPr lang="ko-KR" altLang="en-US" sz="1600" kern="0" spc="-50" dirty="0" smtClean="0">
                <a:solidFill>
                  <a:prstClr val="black"/>
                </a:solidFill>
                <a:latin typeface="+mn-ea"/>
              </a:rPr>
              <a:t>왼쪽 그림 참고</a:t>
            </a:r>
            <a:r>
              <a:rPr lang="en-US" altLang="ko-KR" sz="1600" kern="0" spc="-50" dirty="0" smtClean="0">
                <a:solidFill>
                  <a:prstClr val="black"/>
                </a:solidFill>
                <a:latin typeface="+mn-ea"/>
              </a:rPr>
              <a:t>)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="" xmlns:a16="http://schemas.microsoft.com/office/drawing/2014/main" id="{C53D36E5-5476-4409-B7F7-5ECC3840BD36}"/>
              </a:ext>
            </a:extLst>
          </p:cNvPr>
          <p:cNvSpPr/>
          <p:nvPr/>
        </p:nvSpPr>
        <p:spPr>
          <a:xfrm>
            <a:off x="336000" y="1196752"/>
            <a:ext cx="8556480" cy="45719"/>
          </a:xfrm>
          <a:prstGeom prst="rect">
            <a:avLst/>
          </a:prstGeom>
          <a:solidFill>
            <a:srgbClr val="0255B8"/>
          </a:solidFill>
          <a:ln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ts val="600"/>
              </a:spcBef>
            </a:pPr>
            <a:endParaRPr lang="ko-KR" altLang="en-US" b="1" kern="0" dirty="0">
              <a:solidFill>
                <a:srgbClr val="0255B8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xmlns:lc="http://schemas.openxmlformats.org/drawingml/2006/lockedCanvas" id="{5535D30D-CA98-48F1-BF5D-632403CA6BE3}"/>
              </a:ext>
            </a:extLst>
          </p:cNvPr>
          <p:cNvSpPr/>
          <p:nvPr/>
        </p:nvSpPr>
        <p:spPr>
          <a:xfrm>
            <a:off x="5870587" y="2863975"/>
            <a:ext cx="3002843" cy="201194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lIns="0" tIns="0" rIns="0" bIns="0" anchor="ctr" anchorCtr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ko-KR" altLang="en-US" sz="1600">
              <a:solidFill>
                <a:prstClr val="black"/>
              </a:solidFill>
            </a:endParaRPr>
          </a:p>
        </p:txBody>
      </p:sp>
      <p:pic>
        <p:nvPicPr>
          <p:cNvPr id="18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03" t="5265" r="1777"/>
          <a:stretch/>
        </p:blipFill>
        <p:spPr bwMode="auto">
          <a:xfrm>
            <a:off x="6044498" y="2895410"/>
            <a:ext cx="2770348" cy="1941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889637" y="4875923"/>
            <a:ext cx="30028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/>
              <a:t>출처</a:t>
            </a:r>
            <a:r>
              <a:rPr lang="en-US" altLang="ko-KR" sz="1600" dirty="0" smtClean="0"/>
              <a:t>: </a:t>
            </a:r>
            <a:r>
              <a:rPr lang="en-US" altLang="ko-KR" sz="1600" dirty="0">
                <a:hlinkClick r:id="rId5"/>
              </a:rPr>
              <a:t>https://btc.com/stats/pool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8188900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38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628650" y="74814"/>
            <a:ext cx="82638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>
                <a:solidFill>
                  <a:prstClr val="black"/>
                </a:solidFill>
              </a:rPr>
              <a:t>ECCPoW</a:t>
            </a:r>
            <a:r>
              <a:rPr lang="ko-KR" altLang="en-US" sz="3200" b="1" dirty="0" smtClean="0">
                <a:solidFill>
                  <a:prstClr val="black"/>
                </a:solidFill>
              </a:rPr>
              <a:t>를 적용한 비트코인 평가 결과 </a:t>
            </a:r>
            <a:r>
              <a:rPr lang="en-US" altLang="ko-KR" sz="3200" b="1" dirty="0" smtClean="0">
                <a:solidFill>
                  <a:prstClr val="black"/>
                </a:solidFill>
              </a:rPr>
              <a:t>– 2</a:t>
            </a:r>
            <a:endParaRPr lang="ko-KR" altLang="en-US" sz="3200" b="1" dirty="0">
              <a:solidFill>
                <a:prstClr val="black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="" xmlns:a16="http://schemas.microsoft.com/office/drawing/2014/main" id="{4C70D3A6-2D13-4F22-9C06-C56F2B48E196}"/>
              </a:ext>
            </a:extLst>
          </p:cNvPr>
          <p:cNvSpPr/>
          <p:nvPr/>
        </p:nvSpPr>
        <p:spPr>
          <a:xfrm>
            <a:off x="336000" y="1249702"/>
            <a:ext cx="8556480" cy="21792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kern="0" spc="-50" dirty="0" smtClean="0">
                <a:solidFill>
                  <a:prstClr val="black"/>
                </a:solidFill>
                <a:latin typeface="+mn-ea"/>
              </a:rPr>
              <a:t>공인 인증기관인 </a:t>
            </a:r>
            <a:r>
              <a:rPr lang="en-US" altLang="ko-KR" sz="1600" kern="0" spc="-50" dirty="0" smtClean="0">
                <a:solidFill>
                  <a:prstClr val="black"/>
                </a:solidFill>
                <a:latin typeface="+mn-ea"/>
              </a:rPr>
              <a:t>KOLAS</a:t>
            </a:r>
            <a:r>
              <a:rPr lang="ko-KR" altLang="en-US" sz="1600" kern="0" spc="-50" dirty="0" smtClean="0">
                <a:solidFill>
                  <a:prstClr val="black"/>
                </a:solidFill>
                <a:latin typeface="+mn-ea"/>
              </a:rPr>
              <a:t>로 부터 다음 </a:t>
            </a:r>
            <a:r>
              <a:rPr lang="en-US" altLang="ko-KR" sz="1600" kern="0" spc="-50" dirty="0" smtClean="0">
                <a:solidFill>
                  <a:prstClr val="black"/>
                </a:solidFill>
                <a:latin typeface="+mn-ea"/>
              </a:rPr>
              <a:t>2</a:t>
            </a:r>
            <a:r>
              <a:rPr lang="ko-KR" altLang="en-US" sz="1600" kern="0" spc="-50" dirty="0" smtClean="0">
                <a:solidFill>
                  <a:prstClr val="black"/>
                </a:solidFill>
                <a:latin typeface="+mn-ea"/>
              </a:rPr>
              <a:t>가지 항목들을 인증 받음</a:t>
            </a:r>
            <a:endParaRPr lang="en-US" altLang="ko-KR" sz="1600" kern="0" spc="-50" dirty="0" smtClean="0">
              <a:solidFill>
                <a:prstClr val="black"/>
              </a:solidFill>
              <a:latin typeface="+mn-ea"/>
            </a:endParaRPr>
          </a:p>
          <a:p>
            <a:pPr marL="742950" lvl="1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kern="0" spc="-50" dirty="0" err="1" smtClean="0">
                <a:solidFill>
                  <a:prstClr val="black"/>
                </a:solidFill>
                <a:latin typeface="+mn-ea"/>
              </a:rPr>
              <a:t>분산성</a:t>
            </a:r>
            <a:r>
              <a:rPr lang="en-US" altLang="ko-KR" sz="1600" kern="0" spc="-50" dirty="0" smtClean="0">
                <a:solidFill>
                  <a:prstClr val="black"/>
                </a:solidFill>
                <a:latin typeface="+mn-ea"/>
              </a:rPr>
              <a:t>: </a:t>
            </a:r>
            <a:r>
              <a:rPr lang="ko-KR" altLang="en-US" sz="1600" kern="0" spc="-50" dirty="0" smtClean="0">
                <a:solidFill>
                  <a:prstClr val="black"/>
                </a:solidFill>
                <a:latin typeface="+mn-ea"/>
              </a:rPr>
              <a:t>채굴노드들의 성공 확률들이 고르게 분포됨</a:t>
            </a:r>
            <a:r>
              <a:rPr lang="en-US" altLang="ko-KR" sz="1600" kern="0" spc="-50" dirty="0" smtClean="0">
                <a:solidFill>
                  <a:prstClr val="black"/>
                </a:solidFill>
                <a:latin typeface="+mn-ea"/>
              </a:rPr>
              <a:t>. </a:t>
            </a:r>
            <a:r>
              <a:rPr lang="ko-KR" altLang="en-US" sz="1600" kern="0" spc="-50" dirty="0" smtClean="0">
                <a:solidFill>
                  <a:prstClr val="black"/>
                </a:solidFill>
                <a:latin typeface="+mn-ea"/>
              </a:rPr>
              <a:t>즉</a:t>
            </a:r>
            <a:r>
              <a:rPr lang="en-US" altLang="ko-KR" sz="1600" kern="0" spc="-50" dirty="0" smtClean="0">
                <a:solidFill>
                  <a:prstClr val="black"/>
                </a:solidFill>
                <a:latin typeface="+mn-ea"/>
              </a:rPr>
              <a:t>, BTCECC</a:t>
            </a:r>
            <a:r>
              <a:rPr lang="ko-KR" altLang="en-US" sz="1600" kern="0" spc="-50" dirty="0" smtClean="0">
                <a:solidFill>
                  <a:prstClr val="black"/>
                </a:solidFill>
                <a:latin typeface="+mn-ea"/>
              </a:rPr>
              <a:t>는 </a:t>
            </a:r>
            <a:r>
              <a:rPr lang="ko-KR" altLang="en-US" sz="1600" kern="0" spc="-50" dirty="0" err="1" smtClean="0">
                <a:solidFill>
                  <a:prstClr val="black"/>
                </a:solidFill>
                <a:latin typeface="+mn-ea"/>
              </a:rPr>
              <a:t>탈중앙화된</a:t>
            </a:r>
            <a:r>
              <a:rPr lang="ko-KR" altLang="en-US" sz="1600" kern="0" spc="-50" dirty="0" smtClean="0">
                <a:solidFill>
                  <a:prstClr val="black"/>
                </a:solidFill>
                <a:latin typeface="+mn-ea"/>
              </a:rPr>
              <a:t> 네트워크임</a:t>
            </a:r>
            <a:r>
              <a:rPr lang="en-US" altLang="ko-KR" sz="1600" kern="0" spc="-50" dirty="0" smtClean="0">
                <a:solidFill>
                  <a:prstClr val="black"/>
                </a:solidFill>
                <a:latin typeface="+mn-ea"/>
              </a:rPr>
              <a:t>. </a:t>
            </a:r>
          </a:p>
          <a:p>
            <a:pPr marL="742950" lvl="1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kern="0" spc="-50" dirty="0" err="1" smtClean="0">
                <a:solidFill>
                  <a:prstClr val="black"/>
                </a:solidFill>
                <a:latin typeface="+mn-ea"/>
              </a:rPr>
              <a:t>보안성</a:t>
            </a:r>
            <a:r>
              <a:rPr lang="en-US" altLang="ko-KR" sz="1600" kern="0" spc="-50" dirty="0" smtClean="0">
                <a:solidFill>
                  <a:prstClr val="black"/>
                </a:solidFill>
                <a:latin typeface="+mn-ea"/>
              </a:rPr>
              <a:t>: ECCPoW</a:t>
            </a:r>
            <a:r>
              <a:rPr lang="ko-KR" altLang="en-US" sz="1600" kern="0" spc="-50" dirty="0" smtClean="0">
                <a:solidFill>
                  <a:prstClr val="black"/>
                </a:solidFill>
                <a:latin typeface="+mn-ea"/>
              </a:rPr>
              <a:t>를 추가하였음에도</a:t>
            </a:r>
            <a:r>
              <a:rPr lang="en-US" altLang="ko-KR" sz="1600" kern="0" spc="-50" dirty="0" smtClean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600" kern="0" spc="-50" dirty="0" smtClean="0">
                <a:solidFill>
                  <a:prstClr val="black"/>
                </a:solidFill>
                <a:latin typeface="+mn-ea"/>
              </a:rPr>
              <a:t>고아 블록이 발생하지 않았음</a:t>
            </a:r>
            <a:r>
              <a:rPr lang="en-US" altLang="ko-KR" sz="1600" kern="0" spc="-50" dirty="0" smtClean="0">
                <a:solidFill>
                  <a:prstClr val="black"/>
                </a:solidFill>
                <a:latin typeface="+mn-ea"/>
              </a:rPr>
              <a:t>. </a:t>
            </a:r>
            <a:r>
              <a:rPr lang="ko-KR" altLang="en-US" sz="1600" kern="0" spc="-50" dirty="0" smtClean="0">
                <a:solidFill>
                  <a:prstClr val="black"/>
                </a:solidFill>
                <a:latin typeface="+mn-ea"/>
              </a:rPr>
              <a:t>즉 비트코인과 동등한 </a:t>
            </a:r>
            <a:r>
              <a:rPr lang="ko-KR" altLang="en-US" sz="1600" kern="0" spc="-50" dirty="0" err="1" smtClean="0">
                <a:solidFill>
                  <a:prstClr val="black"/>
                </a:solidFill>
                <a:latin typeface="+mn-ea"/>
              </a:rPr>
              <a:t>보안성을</a:t>
            </a:r>
            <a:r>
              <a:rPr lang="ko-KR" altLang="en-US" sz="1600" kern="0" spc="-50" dirty="0" smtClean="0">
                <a:solidFill>
                  <a:prstClr val="black"/>
                </a:solidFill>
                <a:latin typeface="+mn-ea"/>
              </a:rPr>
              <a:t> 가지고 있다는 것임</a:t>
            </a:r>
            <a:r>
              <a:rPr lang="en-US" altLang="ko-KR" sz="1600" kern="0" spc="-50" dirty="0" smtClean="0">
                <a:solidFill>
                  <a:prstClr val="black"/>
                </a:solidFill>
                <a:latin typeface="+mn-ea"/>
              </a:rPr>
              <a:t>. </a:t>
            </a:r>
          </a:p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kern="0" spc="-50" dirty="0" smtClean="0">
                <a:solidFill>
                  <a:prstClr val="black"/>
                </a:solidFill>
                <a:latin typeface="+mn-ea"/>
              </a:rPr>
              <a:t>위 내용을 기초로 아래 표와 같이 </a:t>
            </a:r>
            <a:r>
              <a:rPr lang="ko-KR" altLang="en-US" sz="1600" b="1" kern="0" spc="-50" dirty="0" smtClean="0">
                <a:solidFill>
                  <a:srgbClr val="FF0000"/>
                </a:solidFill>
                <a:latin typeface="+mn-ea"/>
              </a:rPr>
              <a:t>자체적으로 평가하였음</a:t>
            </a:r>
            <a:r>
              <a:rPr lang="en-US" altLang="ko-KR" sz="1600" b="1" kern="0" spc="-50" dirty="0" smtClean="0">
                <a:solidFill>
                  <a:srgbClr val="FF0000"/>
                </a:solidFill>
                <a:latin typeface="+mn-ea"/>
              </a:rPr>
              <a:t>.</a:t>
            </a:r>
          </a:p>
          <a:p>
            <a:pPr marL="285750" lvl="1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kern="0" spc="-50" dirty="0" smtClean="0">
                <a:solidFill>
                  <a:prstClr val="black"/>
                </a:solidFill>
                <a:latin typeface="+mn-ea"/>
              </a:rPr>
              <a:t>참고</a:t>
            </a:r>
            <a:r>
              <a:rPr lang="en-US" altLang="ko-KR" sz="1600" kern="0" spc="-50" dirty="0" smtClean="0">
                <a:solidFill>
                  <a:prstClr val="black"/>
                </a:solidFill>
                <a:latin typeface="+mn-ea"/>
              </a:rPr>
              <a:t>: </a:t>
            </a:r>
            <a:r>
              <a:rPr lang="ko-KR" altLang="en-US" sz="1600" kern="0" spc="-50" dirty="0" smtClean="0">
                <a:solidFill>
                  <a:prstClr val="black"/>
                </a:solidFill>
                <a:latin typeface="+mn-ea"/>
              </a:rPr>
              <a:t>국내에서는 </a:t>
            </a:r>
            <a:r>
              <a:rPr lang="ko-KR" altLang="en-US" sz="1600" kern="0" spc="-50" dirty="0" err="1">
                <a:solidFill>
                  <a:prstClr val="black"/>
                </a:solidFill>
                <a:latin typeface="+mn-ea"/>
              </a:rPr>
              <a:t>탈중앙화된</a:t>
            </a:r>
            <a:r>
              <a:rPr lang="ko-KR" altLang="en-US" sz="1600" kern="0" spc="-50" dirty="0">
                <a:solidFill>
                  <a:prstClr val="black"/>
                </a:solidFill>
                <a:latin typeface="+mn-ea"/>
              </a:rPr>
              <a:t> 작업증명 기반의 </a:t>
            </a:r>
            <a:r>
              <a:rPr lang="ko-KR" altLang="en-US" sz="1600" kern="0" spc="-50" dirty="0" smtClean="0">
                <a:solidFill>
                  <a:prstClr val="black"/>
                </a:solidFill>
                <a:latin typeface="+mn-ea"/>
              </a:rPr>
              <a:t>블록체인에 </a:t>
            </a:r>
            <a:r>
              <a:rPr lang="ko-KR" altLang="en-US" sz="1600" kern="0" spc="-50" dirty="0">
                <a:solidFill>
                  <a:prstClr val="black"/>
                </a:solidFill>
                <a:latin typeface="+mn-ea"/>
              </a:rPr>
              <a:t>관심이 없는 것으로 파악</a:t>
            </a:r>
            <a:r>
              <a:rPr lang="en-US" altLang="ko-KR" sz="1600" kern="0" spc="-50" dirty="0" smtClean="0">
                <a:solidFill>
                  <a:prstClr val="black"/>
                </a:solidFill>
                <a:latin typeface="+mn-ea"/>
              </a:rPr>
              <a:t>)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="" xmlns:a16="http://schemas.microsoft.com/office/drawing/2014/main" id="{C53D36E5-5476-4409-B7F7-5ECC3840BD36}"/>
              </a:ext>
            </a:extLst>
          </p:cNvPr>
          <p:cNvSpPr/>
          <p:nvPr/>
        </p:nvSpPr>
        <p:spPr>
          <a:xfrm>
            <a:off x="336000" y="1196752"/>
            <a:ext cx="8556480" cy="45719"/>
          </a:xfrm>
          <a:prstGeom prst="rect">
            <a:avLst/>
          </a:prstGeom>
          <a:solidFill>
            <a:srgbClr val="0255B8"/>
          </a:solidFill>
          <a:ln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ts val="600"/>
              </a:spcBef>
            </a:pPr>
            <a:endParaRPr lang="ko-KR" altLang="en-US" b="1" kern="0" dirty="0">
              <a:solidFill>
                <a:srgbClr val="0255B8"/>
              </a:solidFill>
            </a:endParaRPr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3885870"/>
              </p:ext>
            </p:extLst>
          </p:nvPr>
        </p:nvGraphicFramePr>
        <p:xfrm>
          <a:off x="347911" y="3531580"/>
          <a:ext cx="8544569" cy="2618232"/>
        </p:xfrm>
        <a:graphic>
          <a:graphicData uri="http://schemas.openxmlformats.org/drawingml/2006/table">
            <a:tbl>
              <a:tblPr/>
              <a:tblGrid>
                <a:gridCol w="1703809">
                  <a:extLst>
                    <a:ext uri="{9D8B030D-6E8A-4147-A177-3AD203B41FA5}">
                      <a16:colId xmlns="" xmlns:a16="http://schemas.microsoft.com/office/drawing/2014/main" val="3478640238"/>
                    </a:ext>
                  </a:extLst>
                </a:gridCol>
                <a:gridCol w="792088">
                  <a:extLst>
                    <a:ext uri="{9D8B030D-6E8A-4147-A177-3AD203B41FA5}">
                      <a16:colId xmlns="" xmlns:a16="http://schemas.microsoft.com/office/drawing/2014/main" val="3699512016"/>
                    </a:ext>
                  </a:extLst>
                </a:gridCol>
                <a:gridCol w="1800200">
                  <a:extLst>
                    <a:ext uri="{9D8B030D-6E8A-4147-A177-3AD203B41FA5}">
                      <a16:colId xmlns="" xmlns:a16="http://schemas.microsoft.com/office/drawing/2014/main" val="177982987"/>
                    </a:ext>
                  </a:extLst>
                </a:gridCol>
                <a:gridCol w="1440160">
                  <a:extLst>
                    <a:ext uri="{9D8B030D-6E8A-4147-A177-3AD203B41FA5}">
                      <a16:colId xmlns="" xmlns:a16="http://schemas.microsoft.com/office/drawing/2014/main" val="3570136534"/>
                    </a:ext>
                  </a:extLst>
                </a:gridCol>
                <a:gridCol w="936104">
                  <a:extLst>
                    <a:ext uri="{9D8B030D-6E8A-4147-A177-3AD203B41FA5}">
                      <a16:colId xmlns="" xmlns:a16="http://schemas.microsoft.com/office/drawing/2014/main" val="3158973439"/>
                    </a:ext>
                  </a:extLst>
                </a:gridCol>
                <a:gridCol w="864096">
                  <a:extLst>
                    <a:ext uri="{9D8B030D-6E8A-4147-A177-3AD203B41FA5}">
                      <a16:colId xmlns="" xmlns:a16="http://schemas.microsoft.com/office/drawing/2014/main" val="5176231"/>
                    </a:ext>
                  </a:extLst>
                </a:gridCol>
                <a:gridCol w="1008112">
                  <a:extLst>
                    <a:ext uri="{9D8B030D-6E8A-4147-A177-3AD203B41FA5}">
                      <a16:colId xmlns="" xmlns:a16="http://schemas.microsoft.com/office/drawing/2014/main" val="3693796053"/>
                    </a:ext>
                  </a:extLst>
                </a:gridCol>
              </a:tblGrid>
              <a:tr h="274208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평가 항목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400" kern="0" spc="-5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주요성능</a:t>
                      </a:r>
                      <a:r>
                        <a:rPr lang="ko-KR" altLang="en-US" sz="1400" kern="0" spc="-5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ko-KR" sz="1400" kern="0" spc="-5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Spec)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단위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9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세계최고 수준</a:t>
                      </a:r>
                      <a:r>
                        <a:rPr lang="en-US" altLang="ko-KR" sz="1400" kern="0" spc="-9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lang="ko-KR" altLang="en-US" sz="1400" kern="0" spc="-9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보유국</a:t>
                      </a:r>
                      <a:r>
                        <a:rPr lang="en-US" altLang="ko-KR" sz="1400" kern="0" spc="-9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lang="ko-KR" altLang="en-US" sz="1400" kern="0" spc="-9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보유기업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9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400" kern="0" spc="-9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미국</a:t>
                      </a:r>
                      <a:r>
                        <a:rPr lang="en-US" altLang="ko-KR" sz="1400" kern="0" spc="-9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lang="ko-KR" altLang="en-US" sz="1400" kern="0" spc="-9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비트코인 재단</a:t>
                      </a:r>
                      <a:r>
                        <a:rPr lang="en-US" altLang="ko-KR" sz="1400" kern="0" spc="-9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연구개발전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국내수준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연구개발 목표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020215321"/>
                  </a:ext>
                </a:extLst>
              </a:tr>
              <a:tr h="929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성능수준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성능수준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계획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실적 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달성도 </a:t>
                      </a:r>
                      <a:r>
                        <a:rPr lang="en-US" altLang="ko-KR" sz="1400" kern="0" spc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(%)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637092980"/>
                  </a:ext>
                </a:extLst>
              </a:tr>
              <a:tr h="220183">
                <a:tc>
                  <a:txBody>
                    <a:bodyPr/>
                    <a:lstStyle/>
                    <a:p>
                      <a:pPr marL="6350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암호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-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부호 작업증명 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1.0 </a:t>
                      </a:r>
                      <a:r>
                        <a:rPr lang="ko-KR" altLang="en-US" sz="1400" kern="0" spc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버전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50%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중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하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상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중 이상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100%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537217597"/>
                  </a:ext>
                </a:extLst>
              </a:tr>
              <a:tr h="233308">
                <a:tc>
                  <a:txBody>
                    <a:bodyPr/>
                    <a:lstStyle/>
                    <a:p>
                      <a:pPr marL="6350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암호</a:t>
                      </a:r>
                      <a:r>
                        <a:rPr lang="en-US" altLang="ko-KR" sz="1400" kern="0" spc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-</a:t>
                      </a: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부호 블록체인 개발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50%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중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하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상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중 이상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100%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689218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23563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28650" y="74814"/>
            <a:ext cx="83358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prstClr val="black"/>
                </a:solidFill>
              </a:rPr>
              <a:t>ECCPoW</a:t>
            </a:r>
            <a:r>
              <a:rPr lang="ko-KR" altLang="en-US" sz="3200" b="1" dirty="0">
                <a:solidFill>
                  <a:prstClr val="black"/>
                </a:solidFill>
              </a:rPr>
              <a:t>를 적용한 </a:t>
            </a:r>
            <a:r>
              <a:rPr lang="ko-KR" altLang="en-US" sz="3200" b="1" dirty="0" smtClean="0">
                <a:solidFill>
                  <a:prstClr val="black"/>
                </a:solidFill>
              </a:rPr>
              <a:t>이더리움 </a:t>
            </a:r>
            <a:r>
              <a:rPr lang="ko-KR" altLang="en-US" sz="3200" b="1" dirty="0">
                <a:solidFill>
                  <a:prstClr val="black"/>
                </a:solidFill>
              </a:rPr>
              <a:t>평가 결과 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39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="" xmlns:a16="http://schemas.microsoft.com/office/drawing/2014/main" id="{4C70D3A6-2D13-4F22-9C06-C56F2B48E196}"/>
              </a:ext>
            </a:extLst>
          </p:cNvPr>
          <p:cNvSpPr/>
          <p:nvPr/>
        </p:nvSpPr>
        <p:spPr>
          <a:xfrm>
            <a:off x="336000" y="1404142"/>
            <a:ext cx="8556480" cy="12327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600" kern="0" spc="-50" dirty="0" smtClean="0">
                <a:solidFill>
                  <a:prstClr val="black"/>
                </a:solidFill>
              </a:rPr>
              <a:t>ETHECC</a:t>
            </a:r>
            <a:r>
              <a:rPr lang="ko-KR" altLang="en-US" sz="1600" kern="0" spc="-50" dirty="0" smtClean="0">
                <a:solidFill>
                  <a:prstClr val="black"/>
                </a:solidFill>
              </a:rPr>
              <a:t>와 </a:t>
            </a:r>
            <a:r>
              <a:rPr lang="en-US" altLang="ko-KR" sz="1600" kern="0" spc="-50" dirty="0" smtClean="0">
                <a:solidFill>
                  <a:prstClr val="black"/>
                </a:solidFill>
              </a:rPr>
              <a:t>BTCECC</a:t>
            </a:r>
            <a:r>
              <a:rPr lang="ko-KR" altLang="en-US" sz="1600" kern="0" spc="-50" dirty="0">
                <a:solidFill>
                  <a:prstClr val="black"/>
                </a:solidFill>
              </a:rPr>
              <a:t>는</a:t>
            </a:r>
            <a:r>
              <a:rPr lang="ko-KR" altLang="en-US" sz="1600" kern="0" spc="-50" dirty="0" smtClean="0">
                <a:solidFill>
                  <a:prstClr val="black"/>
                </a:solidFill>
              </a:rPr>
              <a:t> 동일한 </a:t>
            </a:r>
            <a:r>
              <a:rPr lang="en-US" altLang="ko-KR" sz="1600" kern="0" spc="-50" dirty="0" smtClean="0">
                <a:solidFill>
                  <a:prstClr val="black"/>
                </a:solidFill>
              </a:rPr>
              <a:t>ECCPoW </a:t>
            </a:r>
            <a:r>
              <a:rPr lang="ko-KR" altLang="en-US" sz="1600" kern="0" spc="-50" dirty="0" smtClean="0">
                <a:solidFill>
                  <a:prstClr val="black"/>
                </a:solidFill>
              </a:rPr>
              <a:t>작업증명을 사용하였기 때문에 </a:t>
            </a:r>
            <a:r>
              <a:rPr lang="ko-KR" altLang="en-US" sz="1600" b="1" kern="0" spc="-50" dirty="0" err="1" smtClean="0">
                <a:solidFill>
                  <a:srgbClr val="FF0000"/>
                </a:solidFill>
              </a:rPr>
              <a:t>분산성</a:t>
            </a:r>
            <a:r>
              <a:rPr lang="ko-KR" altLang="en-US" sz="1600" b="1" kern="0" spc="-50" dirty="0" smtClean="0">
                <a:solidFill>
                  <a:srgbClr val="FF0000"/>
                </a:solidFill>
              </a:rPr>
              <a:t> 및 보안성은 비슷할 것으로 판단함</a:t>
            </a:r>
            <a:r>
              <a:rPr lang="en-US" altLang="ko-KR" sz="1600" kern="0" spc="-50" dirty="0" smtClean="0">
                <a:solidFill>
                  <a:prstClr val="black"/>
                </a:solidFill>
              </a:rPr>
              <a:t>.</a:t>
            </a:r>
          </a:p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kern="0" spc="-50" dirty="0" smtClean="0">
                <a:solidFill>
                  <a:prstClr val="black"/>
                </a:solidFill>
              </a:rPr>
              <a:t>추후 연구를 위해 </a:t>
            </a:r>
            <a:r>
              <a:rPr lang="ko-KR" altLang="en-US" sz="1600" b="1" kern="0" spc="-50" dirty="0" smtClean="0">
                <a:solidFill>
                  <a:srgbClr val="FF0000"/>
                </a:solidFill>
              </a:rPr>
              <a:t>초당 얼마만큼의 트랜잭션 </a:t>
            </a:r>
            <a:r>
              <a:rPr lang="en-US" altLang="ko-KR" sz="1600" b="1" kern="0" spc="-50" dirty="0" smtClean="0">
                <a:solidFill>
                  <a:srgbClr val="FF0000"/>
                </a:solidFill>
              </a:rPr>
              <a:t>(TPS)</a:t>
            </a:r>
            <a:r>
              <a:rPr lang="ko-KR" altLang="en-US" sz="1600" kern="0" spc="-50" dirty="0" smtClean="0">
                <a:solidFill>
                  <a:prstClr val="black"/>
                </a:solidFill>
              </a:rPr>
              <a:t>을 처리 할 수 있는지를 조사함</a:t>
            </a:r>
            <a:r>
              <a:rPr lang="en-US" altLang="ko-KR" sz="1600" kern="0" spc="-50" dirty="0" smtClean="0">
                <a:solidFill>
                  <a:prstClr val="black"/>
                </a:solidFill>
              </a:rPr>
              <a:t>. </a:t>
            </a:r>
          </a:p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600" kern="0" spc="-50" dirty="0" smtClean="0">
                <a:solidFill>
                  <a:prstClr val="black"/>
                </a:solidFill>
              </a:rPr>
              <a:t>BTCECC</a:t>
            </a:r>
            <a:r>
              <a:rPr lang="ko-KR" altLang="en-US" sz="1600" kern="0" spc="-50" dirty="0" smtClean="0">
                <a:solidFill>
                  <a:prstClr val="black"/>
                </a:solidFill>
              </a:rPr>
              <a:t>와 마찬가지로</a:t>
            </a:r>
            <a:r>
              <a:rPr lang="en-US" altLang="ko-KR" sz="1600" kern="0" spc="-50" dirty="0" smtClean="0">
                <a:solidFill>
                  <a:prstClr val="black"/>
                </a:solidFill>
              </a:rPr>
              <a:t>, </a:t>
            </a:r>
            <a:r>
              <a:rPr lang="en-US" altLang="ko-KR" sz="1600" b="1" kern="0" spc="-50" dirty="0" smtClean="0">
                <a:solidFill>
                  <a:srgbClr val="FF0000"/>
                </a:solidFill>
              </a:rPr>
              <a:t>KOLAS </a:t>
            </a:r>
            <a:r>
              <a:rPr lang="ko-KR" altLang="en-US" sz="1600" b="1" kern="0" spc="-50" dirty="0" smtClean="0">
                <a:solidFill>
                  <a:srgbClr val="FF0000"/>
                </a:solidFill>
              </a:rPr>
              <a:t>공인 인증 기관에 의뢰 하여 평가</a:t>
            </a:r>
            <a:r>
              <a:rPr lang="ko-KR" altLang="en-US" sz="1600" kern="0" spc="-50" dirty="0" smtClean="0">
                <a:solidFill>
                  <a:prstClr val="black"/>
                </a:solidFill>
              </a:rPr>
              <a:t> 받음</a:t>
            </a:r>
            <a:r>
              <a:rPr lang="en-US" altLang="ko-KR" sz="1600" kern="0" spc="-50" dirty="0" smtClean="0">
                <a:solidFill>
                  <a:prstClr val="black"/>
                </a:solidFill>
              </a:rPr>
              <a:t>.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="" xmlns:a16="http://schemas.microsoft.com/office/drawing/2014/main" id="{C53D36E5-5476-4409-B7F7-5ECC3840BD36}"/>
              </a:ext>
            </a:extLst>
          </p:cNvPr>
          <p:cNvSpPr/>
          <p:nvPr/>
        </p:nvSpPr>
        <p:spPr>
          <a:xfrm>
            <a:off x="336000" y="1340768"/>
            <a:ext cx="8556480" cy="45719"/>
          </a:xfrm>
          <a:prstGeom prst="rect">
            <a:avLst/>
          </a:prstGeom>
          <a:solidFill>
            <a:srgbClr val="0255B8"/>
          </a:solidFill>
          <a:ln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ts val="600"/>
              </a:spcBef>
            </a:pPr>
            <a:endParaRPr lang="ko-KR" altLang="en-US" b="1" kern="0" dirty="0">
              <a:solidFill>
                <a:srgbClr val="0255B8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63" t="4813" r="6595" b="2665"/>
          <a:stretch/>
        </p:blipFill>
        <p:spPr bwMode="auto">
          <a:xfrm>
            <a:off x="1115616" y="2708920"/>
            <a:ext cx="2493622" cy="374441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grpSp>
        <p:nvGrpSpPr>
          <p:cNvPr id="10" name="그룹 9"/>
          <p:cNvGrpSpPr/>
          <p:nvPr/>
        </p:nvGrpSpPr>
        <p:grpSpPr>
          <a:xfrm>
            <a:off x="3877776" y="3015749"/>
            <a:ext cx="3718560" cy="531220"/>
            <a:chOff x="683568" y="1340986"/>
            <a:chExt cx="3718560" cy="531220"/>
          </a:xfrm>
        </p:grpSpPr>
        <p:sp>
          <p:nvSpPr>
            <p:cNvPr id="11" name="직사각형 10">
              <a:extLst>
                <a:ext uri="{FF2B5EF4-FFF2-40B4-BE49-F238E27FC236}">
                  <a16:creationId xmlns="" xmlns:a16="http://schemas.microsoft.com/office/drawing/2014/main" id="{12780CB0-F156-4A6B-A8BA-9F7DA225E04E}"/>
                </a:ext>
              </a:extLst>
            </p:cNvPr>
            <p:cNvSpPr/>
            <p:nvPr/>
          </p:nvSpPr>
          <p:spPr>
            <a:xfrm>
              <a:off x="970948" y="1340986"/>
              <a:ext cx="3431180" cy="531220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fontAlgn="base"/>
              <a:r>
                <a:rPr lang="ko-KR" altLang="en-US" sz="1600" dirty="0" smtClean="0"/>
                <a:t>이더리움의 </a:t>
              </a:r>
              <a:r>
                <a:rPr lang="en-US" altLang="ko-KR" sz="1600" dirty="0" smtClean="0"/>
                <a:t>TPS : 21.681</a:t>
              </a:r>
              <a:r>
                <a:rPr lang="ko-KR" altLang="en-US" sz="1600" dirty="0" smtClean="0"/>
                <a:t>건</a:t>
              </a:r>
              <a:r>
                <a:rPr lang="en-US" altLang="ko-KR" sz="1600" dirty="0" smtClean="0"/>
                <a:t>/</a:t>
              </a:r>
              <a:r>
                <a:rPr lang="ko-KR" altLang="en-US" sz="1600" dirty="0" smtClean="0"/>
                <a:t>초</a:t>
              </a:r>
              <a:endParaRPr lang="ko-KR" altLang="en-US" sz="1600" dirty="0"/>
            </a:p>
          </p:txBody>
        </p:sp>
        <p:sp>
          <p:nvSpPr>
            <p:cNvPr id="12" name="타원 11">
              <a:extLst>
                <a:ext uri="{FF2B5EF4-FFF2-40B4-BE49-F238E27FC236}">
                  <a16:creationId xmlns="" xmlns:a16="http://schemas.microsoft.com/office/drawing/2014/main" id="{33933F02-7E6C-48C4-BBCA-94D2B6A28723}"/>
                </a:ext>
              </a:extLst>
            </p:cNvPr>
            <p:cNvSpPr/>
            <p:nvPr/>
          </p:nvSpPr>
          <p:spPr>
            <a:xfrm>
              <a:off x="683568" y="1340988"/>
              <a:ext cx="531220" cy="531218"/>
            </a:xfrm>
            <a:prstGeom prst="ellipse">
              <a:avLst/>
            </a:prstGeom>
            <a:solidFill>
              <a:srgbClr val="0255B8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800" dirty="0">
                  <a:solidFill>
                    <a:prstClr val="white"/>
                  </a:solidFill>
                </a:rPr>
                <a:t>01</a:t>
              </a:r>
              <a:endParaRPr lang="ko-KR" altLang="en-US" sz="28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그룹 12"/>
          <p:cNvGrpSpPr/>
          <p:nvPr/>
        </p:nvGrpSpPr>
        <p:grpSpPr>
          <a:xfrm>
            <a:off x="3877776" y="3679981"/>
            <a:ext cx="3718560" cy="531220"/>
            <a:chOff x="683568" y="2002744"/>
            <a:chExt cx="3718560" cy="531220"/>
          </a:xfrm>
        </p:grpSpPr>
        <p:sp>
          <p:nvSpPr>
            <p:cNvPr id="14" name="직사각형 13">
              <a:extLst>
                <a:ext uri="{FF2B5EF4-FFF2-40B4-BE49-F238E27FC236}">
                  <a16:creationId xmlns="" xmlns:a16="http://schemas.microsoft.com/office/drawing/2014/main" id="{E9FB9D2B-C7F1-4804-B968-DD7653B0D33D}"/>
                </a:ext>
              </a:extLst>
            </p:cNvPr>
            <p:cNvSpPr/>
            <p:nvPr/>
          </p:nvSpPr>
          <p:spPr>
            <a:xfrm>
              <a:off x="970948" y="2002744"/>
              <a:ext cx="3431180" cy="531220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fontAlgn="base"/>
              <a:r>
                <a:rPr lang="en-US" altLang="ko-KR" sz="1600" dirty="0" smtClean="0"/>
                <a:t>ETHECC</a:t>
              </a:r>
              <a:r>
                <a:rPr lang="ko-KR" altLang="en-US" sz="1600" dirty="0" smtClean="0"/>
                <a:t>의 </a:t>
              </a:r>
              <a:r>
                <a:rPr lang="en-US" altLang="ko-KR" sz="1600" dirty="0" smtClean="0"/>
                <a:t>TPS: </a:t>
              </a:r>
              <a:r>
                <a:rPr lang="en-US" altLang="ko-KR" sz="1600" b="1" dirty="0" smtClean="0">
                  <a:solidFill>
                    <a:srgbClr val="FF0000"/>
                  </a:solidFill>
                </a:rPr>
                <a:t>22.325</a:t>
              </a:r>
              <a:r>
                <a:rPr lang="ko-KR" altLang="en-US" sz="1600" dirty="0" smtClean="0"/>
                <a:t>건</a:t>
              </a:r>
              <a:r>
                <a:rPr lang="en-US" altLang="ko-KR" sz="1600" dirty="0" smtClean="0"/>
                <a:t>/</a:t>
              </a:r>
              <a:r>
                <a:rPr lang="ko-KR" altLang="en-US" sz="1600" dirty="0" smtClean="0"/>
                <a:t>초</a:t>
              </a:r>
              <a:endParaRPr lang="en-US" altLang="ko-KR" sz="1600" dirty="0" smtClean="0"/>
            </a:p>
          </p:txBody>
        </p:sp>
        <p:sp>
          <p:nvSpPr>
            <p:cNvPr id="15" name="타원 14">
              <a:extLst>
                <a:ext uri="{FF2B5EF4-FFF2-40B4-BE49-F238E27FC236}">
                  <a16:creationId xmlns="" xmlns:a16="http://schemas.microsoft.com/office/drawing/2014/main" id="{63512C16-B679-4E11-AEAD-B9149C3E3780}"/>
                </a:ext>
              </a:extLst>
            </p:cNvPr>
            <p:cNvSpPr/>
            <p:nvPr/>
          </p:nvSpPr>
          <p:spPr>
            <a:xfrm>
              <a:off x="683568" y="2002746"/>
              <a:ext cx="531220" cy="531218"/>
            </a:xfrm>
            <a:prstGeom prst="ellipse">
              <a:avLst/>
            </a:prstGeom>
            <a:solidFill>
              <a:srgbClr val="0255B8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800" dirty="0">
                  <a:solidFill>
                    <a:prstClr val="white"/>
                  </a:solidFill>
                </a:rPr>
                <a:t>02</a:t>
              </a:r>
              <a:endParaRPr lang="ko-KR" altLang="en-US" sz="28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6" name="그룹 15"/>
          <p:cNvGrpSpPr/>
          <p:nvPr/>
        </p:nvGrpSpPr>
        <p:grpSpPr>
          <a:xfrm>
            <a:off x="3877776" y="4342005"/>
            <a:ext cx="3718560" cy="531220"/>
            <a:chOff x="683568" y="2636912"/>
            <a:chExt cx="3718560" cy="531220"/>
          </a:xfrm>
        </p:grpSpPr>
        <p:sp>
          <p:nvSpPr>
            <p:cNvPr id="17" name="직사각형 16">
              <a:extLst>
                <a:ext uri="{FF2B5EF4-FFF2-40B4-BE49-F238E27FC236}">
                  <a16:creationId xmlns="" xmlns:a16="http://schemas.microsoft.com/office/drawing/2014/main" id="{5089B46B-1598-401A-851D-BF4ABCECE316}"/>
                </a:ext>
              </a:extLst>
            </p:cNvPr>
            <p:cNvSpPr/>
            <p:nvPr/>
          </p:nvSpPr>
          <p:spPr>
            <a:xfrm>
              <a:off x="970948" y="2636912"/>
              <a:ext cx="3431180" cy="531220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fontAlgn="base"/>
              <a:r>
                <a:rPr lang="ko-KR" altLang="en-US" sz="1600" dirty="0" smtClean="0"/>
                <a:t>약 </a:t>
              </a:r>
              <a:r>
                <a:rPr lang="en-US" altLang="ko-KR" sz="1600" dirty="0" smtClean="0"/>
                <a:t>3%</a:t>
              </a:r>
              <a:r>
                <a:rPr lang="ko-KR" altLang="en-US" sz="1600" dirty="0" smtClean="0"/>
                <a:t>정도의 </a:t>
              </a:r>
              <a:r>
                <a:rPr lang="en-US" altLang="ko-KR" sz="1600" dirty="0" smtClean="0"/>
                <a:t>TPS</a:t>
              </a:r>
              <a:r>
                <a:rPr lang="ko-KR" altLang="en-US" sz="1600" dirty="0" smtClean="0"/>
                <a:t> 향상을 확인함</a:t>
              </a:r>
              <a:r>
                <a:rPr lang="en-US" altLang="ko-KR" sz="1600" dirty="0" smtClean="0"/>
                <a:t>.</a:t>
              </a:r>
              <a:endParaRPr lang="ko-KR" altLang="en-US" sz="1600" dirty="0"/>
            </a:p>
          </p:txBody>
        </p:sp>
        <p:sp>
          <p:nvSpPr>
            <p:cNvPr id="20" name="타원 19">
              <a:extLst>
                <a:ext uri="{FF2B5EF4-FFF2-40B4-BE49-F238E27FC236}">
                  <a16:creationId xmlns="" xmlns:a16="http://schemas.microsoft.com/office/drawing/2014/main" id="{AA8B0128-76F1-40E5-92EA-48A394A33BCA}"/>
                </a:ext>
              </a:extLst>
            </p:cNvPr>
            <p:cNvSpPr/>
            <p:nvPr/>
          </p:nvSpPr>
          <p:spPr>
            <a:xfrm>
              <a:off x="683568" y="2636914"/>
              <a:ext cx="531220" cy="531218"/>
            </a:xfrm>
            <a:prstGeom prst="ellipse">
              <a:avLst/>
            </a:prstGeom>
            <a:solidFill>
              <a:srgbClr val="0255B8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800" dirty="0">
                  <a:solidFill>
                    <a:prstClr val="white"/>
                  </a:solidFill>
                </a:rPr>
                <a:t>03</a:t>
              </a:r>
              <a:endParaRPr lang="ko-KR" altLang="en-US" sz="2800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814909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40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827584" y="1412776"/>
            <a:ext cx="763284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ko-KR" altLang="en-US" b="1" dirty="0" smtClean="0">
                <a:solidFill>
                  <a:sysClr val="windowText" lastClr="000000"/>
                </a:solidFill>
                <a:latin typeface="+mn-ea"/>
              </a:rPr>
              <a:t>기대 효과</a:t>
            </a:r>
            <a:endParaRPr lang="en-US" altLang="ko-KR" b="1" dirty="0" smtClean="0">
              <a:solidFill>
                <a:sysClr val="windowText" lastClr="000000"/>
              </a:solidFill>
              <a:latin typeface="+mn-ea"/>
            </a:endParaRPr>
          </a:p>
          <a:p>
            <a:pPr marL="457200" indent="-457200">
              <a:buFont typeface="+mj-lt"/>
              <a:buAutoNum type="arabicPeriod"/>
            </a:pPr>
            <a:endParaRPr lang="en-US" altLang="ko-KR" b="1" dirty="0">
              <a:solidFill>
                <a:sysClr val="windowText" lastClr="000000"/>
              </a:solidFill>
              <a:latin typeface="+mn-ea"/>
            </a:endParaRPr>
          </a:p>
          <a:p>
            <a:pPr marL="457200" indent="-457200">
              <a:buFont typeface="+mj-lt"/>
              <a:buAutoNum type="arabicPeriod"/>
            </a:pPr>
            <a:r>
              <a:rPr lang="ko-KR" altLang="en-US" b="1" dirty="0" smtClean="0">
                <a:solidFill>
                  <a:sysClr val="windowText" lastClr="000000"/>
                </a:solidFill>
                <a:latin typeface="+mn-ea"/>
              </a:rPr>
              <a:t>사업화 전략</a:t>
            </a:r>
            <a:endParaRPr lang="en-US" altLang="ko-KR" b="1" dirty="0" smtClean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6" name="TextBox 18"/>
          <p:cNvSpPr txBox="1"/>
          <p:nvPr/>
        </p:nvSpPr>
        <p:spPr>
          <a:xfrm>
            <a:off x="628650" y="74814"/>
            <a:ext cx="75374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>
                <a:solidFill>
                  <a:prstClr val="black"/>
                </a:solidFill>
                <a:latin typeface="+mn-ea"/>
              </a:rPr>
              <a:t>Section IV</a:t>
            </a:r>
            <a:endParaRPr lang="ko-KR" altLang="en-US" sz="3200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49806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28650" y="74814"/>
            <a:ext cx="81198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smtClean="0">
                <a:solidFill>
                  <a:prstClr val="black"/>
                </a:solidFill>
              </a:rPr>
              <a:t>기대효과</a:t>
            </a:r>
            <a:endParaRPr lang="ko-KR" altLang="en-US" sz="3200" b="1" dirty="0">
              <a:solidFill>
                <a:prstClr val="black"/>
              </a:solidFill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41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="" xmlns:a16="http://schemas.microsoft.com/office/drawing/2014/main" id="{4C70D3A6-2D13-4F22-9C06-C56F2B48E196}"/>
              </a:ext>
            </a:extLst>
          </p:cNvPr>
          <p:cNvSpPr/>
          <p:nvPr/>
        </p:nvSpPr>
        <p:spPr>
          <a:xfrm>
            <a:off x="336000" y="1249701"/>
            <a:ext cx="8556480" cy="16032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solidFill>
                  <a:schemeClr val="tx1"/>
                </a:solidFill>
                <a:latin typeface="+mn-ea"/>
              </a:rPr>
              <a:t>표준화 된 다중 멀티 체인 생태계 추동을 위한 기초 마련함</a:t>
            </a:r>
            <a:r>
              <a:rPr lang="en-US" altLang="ko-KR" sz="1600" dirty="0" smtClean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800100" lvl="1" indent="-342900">
              <a:spcBef>
                <a:spcPts val="600"/>
              </a:spcBef>
              <a:buFont typeface="+mj-lt"/>
              <a:buAutoNum type="arabicPeriod"/>
              <a:defRPr/>
            </a:pPr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표준 </a:t>
            </a:r>
            <a:r>
              <a:rPr lang="ko-KR" altLang="en-US" sz="1600" dirty="0" err="1">
                <a:solidFill>
                  <a:schemeClr val="tx1"/>
                </a:solidFill>
                <a:latin typeface="+mn-ea"/>
              </a:rPr>
              <a:t>독립형</a:t>
            </a:r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600" dirty="0" err="1">
                <a:solidFill>
                  <a:schemeClr val="tx1"/>
                </a:solidFill>
                <a:latin typeface="+mn-ea"/>
              </a:rPr>
              <a:t>DeSecure</a:t>
            </a:r>
            <a:r>
              <a:rPr lang="en-US" altLang="ko-KR" sz="16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블록체인 </a:t>
            </a:r>
            <a:r>
              <a:rPr lang="en-US" altLang="ko-KR" sz="1600" dirty="0">
                <a:solidFill>
                  <a:schemeClr val="tx1"/>
                </a:solidFill>
                <a:latin typeface="+mn-ea"/>
              </a:rPr>
              <a:t>BTCECC, ETHECC </a:t>
            </a:r>
            <a:r>
              <a:rPr lang="ko-KR" altLang="en-US" sz="1600" dirty="0" smtClean="0">
                <a:solidFill>
                  <a:schemeClr val="tx1"/>
                </a:solidFill>
                <a:latin typeface="+mn-ea"/>
              </a:rPr>
              <a:t>보급함</a:t>
            </a:r>
            <a:r>
              <a:rPr lang="en-US" altLang="ko-KR" sz="1600" dirty="0" smtClean="0">
                <a:solidFill>
                  <a:schemeClr val="tx1"/>
                </a:solidFill>
                <a:latin typeface="+mn-ea"/>
              </a:rPr>
              <a:t>.</a:t>
            </a:r>
            <a:endParaRPr lang="en-US" altLang="ko-KR" sz="1600" dirty="0">
              <a:solidFill>
                <a:schemeClr val="tx1"/>
              </a:solidFill>
              <a:latin typeface="+mn-ea"/>
            </a:endParaRPr>
          </a:p>
          <a:p>
            <a:pPr marL="800100" lvl="1" indent="-342900">
              <a:spcBef>
                <a:spcPts val="600"/>
              </a:spcBef>
              <a:buFont typeface="+mj-lt"/>
              <a:buAutoNum type="arabicPeriod"/>
              <a:defRPr/>
            </a:pPr>
            <a:r>
              <a:rPr lang="ko-KR" altLang="en-US" sz="1600" dirty="0" err="1">
                <a:solidFill>
                  <a:schemeClr val="tx1"/>
                </a:solidFill>
                <a:latin typeface="+mn-ea"/>
              </a:rPr>
              <a:t>다층형</a:t>
            </a:r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 블록체인 생태계 자연적 </a:t>
            </a:r>
            <a:r>
              <a:rPr lang="ko-KR" altLang="en-US" sz="1600" dirty="0" smtClean="0">
                <a:solidFill>
                  <a:schemeClr val="tx1"/>
                </a:solidFill>
                <a:latin typeface="+mn-ea"/>
              </a:rPr>
              <a:t>구축됨</a:t>
            </a:r>
            <a:r>
              <a:rPr lang="en-US" altLang="ko-KR" sz="16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800100" lvl="1" indent="-342900">
              <a:spcBef>
                <a:spcPts val="600"/>
              </a:spcBef>
              <a:buFont typeface="+mj-lt"/>
              <a:buAutoNum type="arabicPeriod"/>
              <a:defRPr/>
            </a:pPr>
            <a:r>
              <a:rPr lang="ko-KR" altLang="en-US" sz="1600" dirty="0" err="1">
                <a:solidFill>
                  <a:schemeClr val="tx1"/>
                </a:solidFill>
                <a:latin typeface="+mn-ea"/>
              </a:rPr>
              <a:t>확장성</a:t>
            </a:r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 문제 해결 </a:t>
            </a:r>
            <a:r>
              <a:rPr lang="ko-KR" altLang="en-US" sz="1600" dirty="0" smtClean="0">
                <a:solidFill>
                  <a:schemeClr val="tx1"/>
                </a:solidFill>
                <a:latin typeface="+mn-ea"/>
              </a:rPr>
              <a:t>기대함</a:t>
            </a:r>
            <a:r>
              <a:rPr lang="en-US" altLang="ko-KR" sz="1600" dirty="0" smtClean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="" xmlns:a16="http://schemas.microsoft.com/office/drawing/2014/main" id="{C53D36E5-5476-4409-B7F7-5ECC3840BD36}"/>
              </a:ext>
            </a:extLst>
          </p:cNvPr>
          <p:cNvSpPr/>
          <p:nvPr/>
        </p:nvSpPr>
        <p:spPr>
          <a:xfrm>
            <a:off x="336000" y="1196752"/>
            <a:ext cx="8556480" cy="45719"/>
          </a:xfrm>
          <a:prstGeom prst="rect">
            <a:avLst/>
          </a:prstGeom>
          <a:solidFill>
            <a:srgbClr val="0255B8"/>
          </a:solidFill>
          <a:ln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ts val="600"/>
              </a:spcBef>
            </a:pPr>
            <a:endParaRPr lang="ko-KR" altLang="en-US" b="1" kern="0" dirty="0">
              <a:solidFill>
                <a:srgbClr val="0255B8"/>
              </a:solidFill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3553" name="_x64141480" descr="EMB000004745f1d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49"/>
          <a:stretch/>
        </p:blipFill>
        <p:spPr bwMode="auto">
          <a:xfrm>
            <a:off x="1466950" y="2924944"/>
            <a:ext cx="5985370" cy="2801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1466950" y="5707454"/>
            <a:ext cx="598537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dirty="0" smtClean="0">
                <a:latin typeface="+mn-ea"/>
              </a:rPr>
              <a:t>다중 복합구조 블록체인을 통한 </a:t>
            </a:r>
            <a:r>
              <a:rPr lang="ko-KR" altLang="en-US" dirty="0" err="1" smtClean="0">
                <a:latin typeface="+mn-ea"/>
              </a:rPr>
              <a:t>확장성</a:t>
            </a:r>
            <a:r>
              <a:rPr lang="ko-KR" altLang="en-US" dirty="0" smtClean="0">
                <a:latin typeface="+mn-ea"/>
              </a:rPr>
              <a:t> 향상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904380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28650" y="74814"/>
            <a:ext cx="81198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smtClean="0">
                <a:solidFill>
                  <a:prstClr val="black"/>
                </a:solidFill>
              </a:rPr>
              <a:t>사업화 전략</a:t>
            </a:r>
            <a:endParaRPr lang="ko-KR" altLang="en-US" sz="3200" b="1" dirty="0">
              <a:solidFill>
                <a:prstClr val="black"/>
              </a:solidFill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42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="" xmlns:a16="http://schemas.microsoft.com/office/drawing/2014/main" id="{4C70D3A6-2D13-4F22-9C06-C56F2B48E196}"/>
              </a:ext>
            </a:extLst>
          </p:cNvPr>
          <p:cNvSpPr/>
          <p:nvPr/>
        </p:nvSpPr>
        <p:spPr>
          <a:xfrm>
            <a:off x="336000" y="1249701"/>
            <a:ext cx="8556480" cy="44835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600" dirty="0" smtClean="0">
                <a:solidFill>
                  <a:schemeClr val="tx1"/>
                </a:solidFill>
                <a:latin typeface="+mn-ea"/>
              </a:rPr>
              <a:t>ECCPoW </a:t>
            </a:r>
            <a:r>
              <a:rPr lang="ko-KR" altLang="en-US" sz="1600" dirty="0" smtClean="0">
                <a:solidFill>
                  <a:schemeClr val="tx1"/>
                </a:solidFill>
                <a:latin typeface="+mn-ea"/>
              </a:rPr>
              <a:t>블록체인 유저 확대 방안</a:t>
            </a:r>
            <a:endParaRPr lang="en-US" altLang="ko-KR" sz="1600" dirty="0" smtClean="0">
              <a:solidFill>
                <a:schemeClr val="tx1"/>
              </a:solidFill>
              <a:latin typeface="+mn-ea"/>
            </a:endParaRP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444500" algn="l"/>
              </a:tabLst>
              <a:defRPr/>
            </a:pPr>
            <a:r>
              <a:rPr lang="ko-KR" altLang="en-US" sz="1400" dirty="0" smtClean="0">
                <a:solidFill>
                  <a:schemeClr val="tx1"/>
                </a:solidFill>
              </a:rPr>
              <a:t>국내외 </a:t>
            </a:r>
            <a:r>
              <a:rPr lang="ko-KR" altLang="en-US" sz="1400" dirty="0">
                <a:solidFill>
                  <a:schemeClr val="tx1"/>
                </a:solidFill>
              </a:rPr>
              <a:t>유수 대학에 연구용 </a:t>
            </a:r>
            <a:r>
              <a:rPr lang="en-US" altLang="ko-KR" sz="1400" dirty="0" err="1">
                <a:solidFill>
                  <a:schemeClr val="tx1"/>
                </a:solidFill>
              </a:rPr>
              <a:t>DeSecure</a:t>
            </a:r>
            <a:r>
              <a:rPr lang="en-US" altLang="ko-KR" sz="1400" dirty="0">
                <a:solidFill>
                  <a:schemeClr val="tx1"/>
                </a:solidFill>
              </a:rPr>
              <a:t> </a:t>
            </a:r>
            <a:r>
              <a:rPr lang="ko-KR" altLang="en-US" sz="1400" dirty="0">
                <a:solidFill>
                  <a:schemeClr val="tx1"/>
                </a:solidFill>
              </a:rPr>
              <a:t>블록체인 </a:t>
            </a:r>
            <a:r>
              <a:rPr lang="en-US" altLang="ko-KR" sz="1400" dirty="0">
                <a:solidFill>
                  <a:schemeClr val="tx1"/>
                </a:solidFill>
              </a:rPr>
              <a:t>SW </a:t>
            </a:r>
            <a:r>
              <a:rPr lang="ko-KR" altLang="en-US" sz="1400" dirty="0" smtClean="0">
                <a:solidFill>
                  <a:schemeClr val="tx1"/>
                </a:solidFill>
              </a:rPr>
              <a:t>보급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444500" algn="l"/>
              </a:tabLst>
              <a:defRPr/>
            </a:pPr>
            <a:r>
              <a:rPr lang="en-US" altLang="ko-KR" sz="1400" dirty="0" err="1" smtClean="0">
                <a:solidFill>
                  <a:schemeClr val="tx1"/>
                </a:solidFill>
              </a:rPr>
              <a:t>ConsenSys</a:t>
            </a:r>
            <a:r>
              <a:rPr lang="ko-KR" altLang="en-US" sz="1400" dirty="0" smtClean="0">
                <a:solidFill>
                  <a:schemeClr val="tx1"/>
                </a:solidFill>
              </a:rPr>
              <a:t> 양해 각서 체결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444500" algn="l"/>
              </a:tabLst>
              <a:defRPr/>
            </a:pPr>
            <a:endParaRPr lang="en-US" altLang="ko-KR" sz="1600" dirty="0" smtClean="0">
              <a:solidFill>
                <a:schemeClr val="tx1"/>
              </a:solidFill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444500" algn="l"/>
              </a:tabLst>
              <a:defRPr/>
            </a:pPr>
            <a:r>
              <a:rPr lang="ko-KR" altLang="en-US" sz="1600" dirty="0" smtClean="0">
                <a:solidFill>
                  <a:schemeClr val="tx1"/>
                </a:solidFill>
              </a:rPr>
              <a:t>기반 기술과 경험 활용 비즈니스 확장 전략</a:t>
            </a:r>
            <a:endParaRPr lang="en-US" altLang="ko-KR" sz="1600" dirty="0" smtClean="0">
              <a:solidFill>
                <a:schemeClr val="tx1"/>
              </a:solidFill>
            </a:endParaRP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444500" algn="l"/>
              </a:tabLst>
              <a:defRPr/>
            </a:pPr>
            <a:r>
              <a:rPr lang="ko-KR" altLang="en-US" sz="1400" dirty="0" smtClean="0">
                <a:solidFill>
                  <a:schemeClr val="tx1"/>
                </a:solidFill>
              </a:rPr>
              <a:t>주식회사 </a:t>
            </a:r>
            <a:r>
              <a:rPr lang="ko-KR" altLang="en-US" sz="1400" dirty="0" err="1" smtClean="0">
                <a:solidFill>
                  <a:schemeClr val="tx1"/>
                </a:solidFill>
              </a:rPr>
              <a:t>리버밴스</a:t>
            </a:r>
            <a:r>
              <a:rPr lang="ko-KR" altLang="en-US" sz="1400" dirty="0" smtClean="0">
                <a:solidFill>
                  <a:schemeClr val="tx1"/>
                </a:solidFill>
              </a:rPr>
              <a:t> 창업하여 </a:t>
            </a:r>
            <a:r>
              <a:rPr lang="en-US" altLang="ko-KR" sz="1400" dirty="0" smtClean="0">
                <a:solidFill>
                  <a:schemeClr val="tx1"/>
                </a:solidFill>
              </a:rPr>
              <a:t>ECCPoW</a:t>
            </a:r>
            <a:r>
              <a:rPr lang="ko-KR" altLang="en-US" sz="1400" dirty="0" smtClean="0">
                <a:solidFill>
                  <a:schemeClr val="tx1"/>
                </a:solidFill>
              </a:rPr>
              <a:t>를 국내외에 소개할 계획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444500" algn="l"/>
              </a:tabLst>
              <a:defRPr/>
            </a:pPr>
            <a:r>
              <a:rPr lang="en-US" altLang="ko-KR" sz="1400" dirty="0" smtClean="0">
                <a:solidFill>
                  <a:schemeClr val="tx1"/>
                </a:solidFill>
              </a:rPr>
              <a:t>ECCPoW </a:t>
            </a:r>
            <a:r>
              <a:rPr lang="ko-KR" altLang="en-US" sz="1400" dirty="0" smtClean="0">
                <a:solidFill>
                  <a:schemeClr val="tx1"/>
                </a:solidFill>
              </a:rPr>
              <a:t>블록체인 플랫폼 구축관련 컨설팅 및 교육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444500" algn="l"/>
              </a:tabLst>
              <a:defRPr/>
            </a:pPr>
            <a:r>
              <a:rPr lang="ko-KR" altLang="en-US" sz="1400" dirty="0" smtClean="0">
                <a:solidFill>
                  <a:schemeClr val="tx1"/>
                </a:solidFill>
              </a:rPr>
              <a:t>이더리움의 </a:t>
            </a:r>
            <a:r>
              <a:rPr lang="en-US" altLang="ko-KR" sz="1400" dirty="0" err="1" smtClean="0">
                <a:solidFill>
                  <a:schemeClr val="tx1"/>
                </a:solidFill>
              </a:rPr>
              <a:t>dApp</a:t>
            </a:r>
            <a:r>
              <a:rPr lang="ko-KR" altLang="en-US" sz="1400" dirty="0" smtClean="0">
                <a:solidFill>
                  <a:schemeClr val="tx1"/>
                </a:solidFill>
              </a:rPr>
              <a:t>을 </a:t>
            </a:r>
            <a:r>
              <a:rPr lang="en-US" altLang="ko-KR" sz="1400" dirty="0" smtClean="0">
                <a:solidFill>
                  <a:schemeClr val="tx1"/>
                </a:solidFill>
              </a:rPr>
              <a:t>ECCPoW</a:t>
            </a:r>
            <a:r>
              <a:rPr lang="ko-KR" altLang="en-US" sz="1400" dirty="0" smtClean="0">
                <a:solidFill>
                  <a:schemeClr val="tx1"/>
                </a:solidFill>
              </a:rPr>
              <a:t>가 탑재된 블록체인으로 유도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444500" algn="l"/>
              </a:tabLst>
              <a:defRPr/>
            </a:pPr>
            <a:endParaRPr lang="en-US" altLang="ko-KR" sz="1600" dirty="0">
              <a:solidFill>
                <a:schemeClr val="tx1"/>
              </a:solidFill>
              <a:latin typeface="+mn-ea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444500" algn="l"/>
              </a:tabLst>
              <a:defRPr/>
            </a:pPr>
            <a:r>
              <a:rPr lang="en-US" altLang="ko-KR" sz="1600" dirty="0" smtClean="0">
                <a:solidFill>
                  <a:schemeClr val="tx1"/>
                </a:solidFill>
                <a:latin typeface="+mn-ea"/>
              </a:rPr>
              <a:t>GIST </a:t>
            </a:r>
            <a:r>
              <a:rPr lang="ko-KR" altLang="en-US" sz="1600" dirty="0" smtClean="0">
                <a:solidFill>
                  <a:schemeClr val="tx1"/>
                </a:solidFill>
                <a:latin typeface="+mn-ea"/>
              </a:rPr>
              <a:t>캠퍼스 블록체인 활용</a:t>
            </a:r>
            <a:endParaRPr lang="en-US" altLang="ko-KR" sz="1600" dirty="0" smtClean="0">
              <a:solidFill>
                <a:schemeClr val="tx1"/>
              </a:solidFill>
              <a:latin typeface="+mn-ea"/>
            </a:endParaRP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444500" algn="l"/>
              </a:tabLst>
              <a:defRPr/>
            </a:pPr>
            <a:r>
              <a:rPr lang="ko-KR" altLang="en-US" sz="1400" dirty="0" smtClean="0">
                <a:solidFill>
                  <a:schemeClr val="tx1"/>
                </a:solidFill>
              </a:rPr>
              <a:t>연구노트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상품권코인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성적표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강의평가 등 시범 네트워크 구축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444500" algn="l"/>
              </a:tabLst>
              <a:defRPr/>
            </a:pPr>
            <a:r>
              <a:rPr lang="en-US" altLang="ko-KR" sz="1400" dirty="0">
                <a:solidFill>
                  <a:schemeClr val="tx1"/>
                </a:solidFill>
              </a:rPr>
              <a:t>GIST </a:t>
            </a:r>
            <a:r>
              <a:rPr lang="ko-KR" altLang="en-US" sz="1400" dirty="0">
                <a:solidFill>
                  <a:schemeClr val="tx1"/>
                </a:solidFill>
              </a:rPr>
              <a:t>스캔 서버 운용 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블록크기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속도</a:t>
            </a:r>
            <a:r>
              <a:rPr lang="en-US" altLang="ko-KR" sz="1400" dirty="0">
                <a:solidFill>
                  <a:schemeClr val="tx1"/>
                </a:solidFill>
              </a:rPr>
              <a:t>, TPS </a:t>
            </a:r>
            <a:r>
              <a:rPr lang="ko-KR" altLang="en-US" sz="1400" dirty="0">
                <a:solidFill>
                  <a:schemeClr val="tx1"/>
                </a:solidFill>
              </a:rPr>
              <a:t>등을 모니터링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444500" algn="l"/>
              </a:tabLst>
              <a:defRPr/>
            </a:pPr>
            <a:r>
              <a:rPr lang="en-US" altLang="ko-KR" sz="1400" dirty="0">
                <a:solidFill>
                  <a:schemeClr val="tx1"/>
                </a:solidFill>
              </a:rPr>
              <a:t>(Living Lab.) </a:t>
            </a:r>
            <a:r>
              <a:rPr lang="ko-KR" altLang="en-US" sz="1400" dirty="0">
                <a:solidFill>
                  <a:schemeClr val="tx1"/>
                </a:solidFill>
              </a:rPr>
              <a:t>학내 구성원으로부터 </a:t>
            </a:r>
            <a:r>
              <a:rPr lang="en-US" altLang="ko-KR" sz="1400" dirty="0">
                <a:solidFill>
                  <a:schemeClr val="tx1"/>
                </a:solidFill>
              </a:rPr>
              <a:t>GIST </a:t>
            </a:r>
            <a:r>
              <a:rPr lang="ko-KR" altLang="en-US" sz="1400" dirty="0">
                <a:solidFill>
                  <a:schemeClr val="tx1"/>
                </a:solidFill>
              </a:rPr>
              <a:t>캠퍼스 블록체인 평가를 수집하고 평가 결과를 반영하여 시스템을 고도화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444500" algn="l"/>
              </a:tabLst>
              <a:defRPr/>
            </a:pPr>
            <a:r>
              <a:rPr lang="en-US" altLang="ko-KR" sz="1400" dirty="0">
                <a:solidFill>
                  <a:schemeClr val="tx1"/>
                </a:solidFill>
              </a:rPr>
              <a:t>GIST </a:t>
            </a:r>
            <a:r>
              <a:rPr lang="ko-KR" altLang="en-US" sz="1400" dirty="0">
                <a:solidFill>
                  <a:schemeClr val="tx1"/>
                </a:solidFill>
              </a:rPr>
              <a:t>블록체인 </a:t>
            </a:r>
            <a:r>
              <a:rPr lang="en-US" altLang="ko-KR" sz="1400" dirty="0" err="1">
                <a:solidFill>
                  <a:schemeClr val="tx1"/>
                </a:solidFill>
              </a:rPr>
              <a:t>dApp</a:t>
            </a:r>
            <a:r>
              <a:rPr lang="en-US" altLang="ko-KR" sz="1400" dirty="0">
                <a:solidFill>
                  <a:schemeClr val="tx1"/>
                </a:solidFill>
              </a:rPr>
              <a:t> </a:t>
            </a:r>
            <a:r>
              <a:rPr lang="ko-KR" altLang="en-US" sz="1400" dirty="0">
                <a:solidFill>
                  <a:schemeClr val="tx1"/>
                </a:solidFill>
              </a:rPr>
              <a:t>개발 경진대회 운용 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 err="1">
                <a:solidFill>
                  <a:schemeClr val="tx1"/>
                </a:solidFill>
              </a:rPr>
              <a:t>해커톤</a:t>
            </a:r>
            <a:r>
              <a:rPr lang="en-US" altLang="ko-KR" sz="1400" dirty="0" smtClean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="" xmlns:a16="http://schemas.microsoft.com/office/drawing/2014/main" id="{C53D36E5-5476-4409-B7F7-5ECC3840BD36}"/>
              </a:ext>
            </a:extLst>
          </p:cNvPr>
          <p:cNvSpPr/>
          <p:nvPr/>
        </p:nvSpPr>
        <p:spPr>
          <a:xfrm>
            <a:off x="336000" y="1196752"/>
            <a:ext cx="8556480" cy="45719"/>
          </a:xfrm>
          <a:prstGeom prst="rect">
            <a:avLst/>
          </a:prstGeom>
          <a:solidFill>
            <a:srgbClr val="0255B8"/>
          </a:solidFill>
          <a:ln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ts val="600"/>
              </a:spcBef>
            </a:pPr>
            <a:endParaRPr lang="ko-KR" altLang="en-US" b="1" kern="0" dirty="0">
              <a:solidFill>
                <a:srgbClr val="0255B8"/>
              </a:solidFill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32860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9956" y="274320"/>
            <a:ext cx="4954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prstClr val="black"/>
                </a:solidFill>
              </a:rPr>
              <a:t>2019</a:t>
            </a:r>
            <a:r>
              <a:rPr lang="ko-KR" altLang="en-US" b="1" dirty="0">
                <a:solidFill>
                  <a:prstClr val="black"/>
                </a:solidFill>
              </a:rPr>
              <a:t> 혁신 실용화 과제 보고 발표자료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94210" y="3068960"/>
            <a:ext cx="6421584" cy="67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lnSpc>
                <a:spcPct val="150000"/>
              </a:lnSpc>
            </a:pPr>
            <a:r>
              <a:rPr lang="ko-KR" altLang="en-US" sz="2800" b="1" dirty="0" smtClean="0">
                <a:solidFill>
                  <a:prstClr val="black"/>
                </a:solidFill>
              </a:rPr>
              <a:t>감사합니다</a:t>
            </a:r>
            <a:endParaRPr lang="ko-KR" altLang="en-US" sz="28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48797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28650" y="74814"/>
            <a:ext cx="79037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smtClean="0">
                <a:solidFill>
                  <a:prstClr val="black"/>
                </a:solidFill>
              </a:rPr>
              <a:t>별첨 자료 </a:t>
            </a:r>
            <a:r>
              <a:rPr lang="en-US" altLang="ko-KR" sz="3200" b="1" dirty="0" smtClean="0">
                <a:solidFill>
                  <a:prstClr val="black"/>
                </a:solidFill>
              </a:rPr>
              <a:t>– </a:t>
            </a:r>
            <a:r>
              <a:rPr lang="ko-KR" altLang="en-US" sz="3200" b="1" dirty="0" smtClean="0">
                <a:solidFill>
                  <a:prstClr val="black"/>
                </a:solidFill>
              </a:rPr>
              <a:t>세부 연구 내역 상세 설명 </a:t>
            </a:r>
            <a:endParaRPr lang="ko-KR" altLang="en-US" sz="3200" b="1" dirty="0">
              <a:solidFill>
                <a:prstClr val="black"/>
              </a:solidFill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44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827584" y="1412776"/>
            <a:ext cx="763284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ko-KR" sz="2000" b="1" dirty="0">
                <a:solidFill>
                  <a:sysClr val="windowText" lastClr="000000"/>
                </a:solidFill>
              </a:rPr>
              <a:t>ECCPoW </a:t>
            </a:r>
            <a:r>
              <a:rPr lang="ko-KR" altLang="en-US" sz="2000" b="1" dirty="0">
                <a:solidFill>
                  <a:sysClr val="windowText" lastClr="000000"/>
                </a:solidFill>
              </a:rPr>
              <a:t>버전</a:t>
            </a:r>
            <a:r>
              <a:rPr lang="en-US" altLang="ko-KR" sz="2000" b="1" dirty="0">
                <a:solidFill>
                  <a:sysClr val="windowText" lastClr="000000"/>
                </a:solidFill>
              </a:rPr>
              <a:t>1.0 </a:t>
            </a:r>
            <a:r>
              <a:rPr lang="ko-KR" altLang="en-US" sz="2000" b="1" dirty="0">
                <a:solidFill>
                  <a:sysClr val="windowText" lastClr="000000"/>
                </a:solidFill>
              </a:rPr>
              <a:t>개발 </a:t>
            </a:r>
            <a:endParaRPr lang="en-US" altLang="ko-KR" sz="2000" b="1" dirty="0" smtClean="0">
              <a:solidFill>
                <a:sysClr val="windowText" lastClr="000000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altLang="ko-KR" sz="2000" b="1" dirty="0" smtClean="0">
              <a:solidFill>
                <a:sysClr val="windowText" lastClr="00000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ko-KR" altLang="en-US" sz="2000" b="1" dirty="0" smtClean="0">
                <a:solidFill>
                  <a:prstClr val="black"/>
                </a:solidFill>
              </a:rPr>
              <a:t>매 </a:t>
            </a:r>
            <a:r>
              <a:rPr lang="ko-KR" altLang="en-US" sz="2000" b="1" dirty="0">
                <a:solidFill>
                  <a:prstClr val="black"/>
                </a:solidFill>
              </a:rPr>
              <a:t>블록마다 바뀌는 암호 퍼즐 생성 </a:t>
            </a:r>
            <a:r>
              <a:rPr lang="ko-KR" altLang="en-US" sz="2000" b="1" dirty="0" smtClean="0">
                <a:solidFill>
                  <a:prstClr val="black"/>
                </a:solidFill>
              </a:rPr>
              <a:t>연구</a:t>
            </a:r>
            <a:endParaRPr lang="en-US" altLang="ko-KR" sz="2000" b="1" dirty="0" smtClean="0">
              <a:solidFill>
                <a:prstClr val="black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altLang="ko-KR" sz="2000" b="1" dirty="0" smtClean="0">
              <a:solidFill>
                <a:prstClr val="black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ko-KR" altLang="en-US" sz="2000" b="1" dirty="0" smtClean="0">
                <a:solidFill>
                  <a:prstClr val="black"/>
                </a:solidFill>
              </a:rPr>
              <a:t>매 </a:t>
            </a:r>
            <a:r>
              <a:rPr lang="ko-KR" altLang="en-US" sz="2000" b="1" dirty="0">
                <a:solidFill>
                  <a:prstClr val="black"/>
                </a:solidFill>
              </a:rPr>
              <a:t>블록마다 바뀌는 암호 퍼즐 </a:t>
            </a:r>
            <a:r>
              <a:rPr lang="ko-KR" altLang="en-US" sz="2000" b="1" dirty="0" err="1">
                <a:solidFill>
                  <a:prstClr val="black"/>
                </a:solidFill>
              </a:rPr>
              <a:t>디코더</a:t>
            </a:r>
            <a:r>
              <a:rPr lang="ko-KR" altLang="en-US" sz="2000" b="1" dirty="0">
                <a:solidFill>
                  <a:prstClr val="black"/>
                </a:solidFill>
              </a:rPr>
              <a:t> </a:t>
            </a:r>
            <a:r>
              <a:rPr lang="ko-KR" altLang="en-US" sz="2000" b="1" dirty="0" smtClean="0">
                <a:solidFill>
                  <a:prstClr val="black"/>
                </a:solidFill>
              </a:rPr>
              <a:t>개발</a:t>
            </a:r>
            <a:endParaRPr lang="en-US" altLang="ko-KR" sz="2000" b="1" dirty="0" smtClean="0">
              <a:solidFill>
                <a:prstClr val="black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altLang="ko-KR" sz="2000" b="1" dirty="0" smtClean="0">
              <a:solidFill>
                <a:prstClr val="black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ko-KR" altLang="en-US" sz="2000" b="1" dirty="0" smtClean="0">
                <a:solidFill>
                  <a:prstClr val="black"/>
                </a:solidFill>
              </a:rPr>
              <a:t>암호 </a:t>
            </a:r>
            <a:r>
              <a:rPr lang="ko-KR" altLang="en-US" sz="2000" b="1" dirty="0">
                <a:solidFill>
                  <a:prstClr val="black"/>
                </a:solidFill>
              </a:rPr>
              <a:t>퍼즐 난이도 조절 </a:t>
            </a:r>
            <a:r>
              <a:rPr lang="ko-KR" altLang="en-US" sz="2000" b="1" dirty="0" smtClean="0">
                <a:solidFill>
                  <a:prstClr val="black"/>
                </a:solidFill>
              </a:rPr>
              <a:t>방법</a:t>
            </a:r>
            <a:endParaRPr lang="en-US" altLang="ko-KR" sz="2000" b="1" dirty="0" smtClean="0">
              <a:solidFill>
                <a:prstClr val="black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altLang="ko-KR" sz="2000" b="1" dirty="0" smtClean="0">
              <a:solidFill>
                <a:prstClr val="black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ko-KR" sz="2000" b="1" dirty="0" smtClean="0">
                <a:solidFill>
                  <a:sysClr val="windowText" lastClr="000000"/>
                </a:solidFill>
              </a:rPr>
              <a:t>ECCPoW </a:t>
            </a:r>
            <a:r>
              <a:rPr lang="ko-KR" altLang="en-US" sz="2000" b="1" dirty="0">
                <a:solidFill>
                  <a:sysClr val="windowText" lastClr="000000"/>
                </a:solidFill>
              </a:rPr>
              <a:t>개발 및 기존의 암호화폐</a:t>
            </a:r>
            <a:r>
              <a:rPr lang="en-US" altLang="ko-KR" sz="2000" b="1" dirty="0">
                <a:solidFill>
                  <a:sysClr val="windowText" lastClr="000000"/>
                </a:solidFill>
              </a:rPr>
              <a:t>(</a:t>
            </a:r>
            <a:r>
              <a:rPr lang="ko-KR" altLang="en-US" sz="2000" b="1" dirty="0">
                <a:solidFill>
                  <a:sysClr val="windowText" lastClr="000000"/>
                </a:solidFill>
              </a:rPr>
              <a:t>비트코인</a:t>
            </a:r>
            <a:r>
              <a:rPr lang="en-US" altLang="ko-KR" sz="2000" b="1" dirty="0">
                <a:solidFill>
                  <a:sysClr val="windowText" lastClr="000000"/>
                </a:solidFill>
              </a:rPr>
              <a:t>) </a:t>
            </a:r>
            <a:r>
              <a:rPr lang="ko-KR" altLang="en-US" sz="2000" b="1" dirty="0">
                <a:solidFill>
                  <a:sysClr val="windowText" lastClr="000000"/>
                </a:solidFill>
              </a:rPr>
              <a:t>시스템에 </a:t>
            </a:r>
            <a:r>
              <a:rPr lang="ko-KR" altLang="en-US" sz="2000" b="1" dirty="0" smtClean="0">
                <a:solidFill>
                  <a:sysClr val="windowText" lastClr="000000"/>
                </a:solidFill>
              </a:rPr>
              <a:t>적용</a:t>
            </a:r>
            <a:endParaRPr lang="en-US" altLang="ko-KR" sz="2000" b="1" dirty="0" smtClean="0">
              <a:solidFill>
                <a:sysClr val="windowText" lastClr="000000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altLang="ko-KR" sz="2000" b="1" dirty="0" smtClean="0">
              <a:solidFill>
                <a:sysClr val="windowText" lastClr="00000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ko-KR" sz="2000" b="1" dirty="0" smtClean="0">
                <a:solidFill>
                  <a:sysClr val="windowText" lastClr="000000"/>
                </a:solidFill>
              </a:rPr>
              <a:t>ECCPoW </a:t>
            </a:r>
            <a:r>
              <a:rPr lang="ko-KR" altLang="en-US" sz="2000" b="1" dirty="0">
                <a:solidFill>
                  <a:sysClr val="windowText" lastClr="000000"/>
                </a:solidFill>
              </a:rPr>
              <a:t>개발 및 기존의 암호화폐</a:t>
            </a:r>
            <a:r>
              <a:rPr lang="en-US" altLang="ko-KR" sz="2000" b="1" dirty="0">
                <a:solidFill>
                  <a:sysClr val="windowText" lastClr="000000"/>
                </a:solidFill>
              </a:rPr>
              <a:t>(</a:t>
            </a:r>
            <a:r>
              <a:rPr lang="ko-KR" altLang="en-US" sz="2000" b="1" dirty="0">
                <a:solidFill>
                  <a:sysClr val="windowText" lastClr="000000"/>
                </a:solidFill>
              </a:rPr>
              <a:t>이더리움</a:t>
            </a:r>
            <a:r>
              <a:rPr lang="en-US" altLang="ko-KR" sz="2000" b="1" dirty="0">
                <a:solidFill>
                  <a:sysClr val="windowText" lastClr="000000"/>
                </a:solidFill>
              </a:rPr>
              <a:t>) </a:t>
            </a:r>
            <a:r>
              <a:rPr lang="ko-KR" altLang="en-US" sz="2000" b="1" dirty="0">
                <a:solidFill>
                  <a:sysClr val="windowText" lastClr="000000"/>
                </a:solidFill>
              </a:rPr>
              <a:t>시스템에 </a:t>
            </a:r>
            <a:r>
              <a:rPr lang="ko-KR" altLang="en-US" sz="2000" b="1" dirty="0" smtClean="0">
                <a:solidFill>
                  <a:sysClr val="windowText" lastClr="000000"/>
                </a:solidFill>
              </a:rPr>
              <a:t>적용</a:t>
            </a:r>
            <a:endParaRPr lang="en-US" altLang="ko-KR" sz="2000" b="1" dirty="0" smtClean="0">
              <a:solidFill>
                <a:sysClr val="windowText" lastClr="000000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altLang="ko-KR" sz="2000" b="1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48850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28650" y="74814"/>
            <a:ext cx="79037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prstClr val="black"/>
                </a:solidFill>
              </a:rPr>
              <a:t>세부 연구 </a:t>
            </a:r>
            <a:r>
              <a:rPr lang="ko-KR" altLang="en-US" sz="3200" b="1" dirty="0" smtClean="0">
                <a:solidFill>
                  <a:prstClr val="black"/>
                </a:solidFill>
              </a:rPr>
              <a:t>내역</a:t>
            </a:r>
            <a:endParaRPr lang="ko-KR" altLang="en-US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45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="" xmlns:a16="http://schemas.microsoft.com/office/drawing/2014/main" id="{4C70D3A6-2D13-4F22-9C06-C56F2B48E196}"/>
              </a:ext>
            </a:extLst>
          </p:cNvPr>
          <p:cNvSpPr/>
          <p:nvPr/>
        </p:nvSpPr>
        <p:spPr>
          <a:xfrm>
            <a:off x="336000" y="1382288"/>
            <a:ext cx="8556480" cy="1068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prstClr val="black"/>
                </a:solidFill>
              </a:rPr>
              <a:t>부호</a:t>
            </a:r>
            <a:r>
              <a:rPr lang="en-US" altLang="ko-KR" sz="1600" dirty="0">
                <a:solidFill>
                  <a:prstClr val="black"/>
                </a:solidFill>
              </a:rPr>
              <a:t>-</a:t>
            </a:r>
            <a:r>
              <a:rPr lang="ko-KR" altLang="en-US" sz="1600" dirty="0">
                <a:solidFill>
                  <a:prstClr val="black"/>
                </a:solidFill>
              </a:rPr>
              <a:t>암호 작업증명 </a:t>
            </a:r>
            <a:r>
              <a:rPr lang="en-US" altLang="ko-KR" sz="1600" dirty="0">
                <a:solidFill>
                  <a:prstClr val="black"/>
                </a:solidFill>
              </a:rPr>
              <a:t>(ECCPoW)</a:t>
            </a:r>
            <a:r>
              <a:rPr lang="ko-KR" altLang="en-US" sz="1600" dirty="0">
                <a:solidFill>
                  <a:prstClr val="black"/>
                </a:solidFill>
              </a:rPr>
              <a:t> 정의 </a:t>
            </a:r>
            <a:r>
              <a:rPr lang="en-US" altLang="ko-KR" sz="1600" dirty="0">
                <a:solidFill>
                  <a:prstClr val="black"/>
                </a:solidFill>
              </a:rPr>
              <a:t>: </a:t>
            </a:r>
            <a:r>
              <a:rPr lang="ko-KR" altLang="en-US" sz="1600" b="1" dirty="0">
                <a:solidFill>
                  <a:srgbClr val="FF0000"/>
                </a:solidFill>
              </a:rPr>
              <a:t>오류</a:t>
            </a:r>
            <a:r>
              <a:rPr lang="en-US" altLang="ko-KR" sz="1600" b="1" dirty="0">
                <a:solidFill>
                  <a:srgbClr val="FF0000"/>
                </a:solidFill>
              </a:rPr>
              <a:t> </a:t>
            </a:r>
            <a:r>
              <a:rPr lang="ko-KR" altLang="en-US" sz="1600" b="1" dirty="0">
                <a:solidFill>
                  <a:srgbClr val="FF0000"/>
                </a:solidFill>
              </a:rPr>
              <a:t>정정 부호와 작업증명을 동시에 사용</a:t>
            </a:r>
            <a:r>
              <a:rPr lang="ko-KR" altLang="en-US" sz="1600" dirty="0">
                <a:solidFill>
                  <a:prstClr val="black"/>
                </a:solidFill>
              </a:rPr>
              <a:t>하여 </a:t>
            </a:r>
            <a:r>
              <a:rPr lang="ko-KR" altLang="en-US" sz="1600" dirty="0" err="1">
                <a:solidFill>
                  <a:prstClr val="black"/>
                </a:solidFill>
              </a:rPr>
              <a:t>분산성</a:t>
            </a:r>
            <a:r>
              <a:rPr lang="en-US" altLang="ko-KR" sz="1600" dirty="0">
                <a:solidFill>
                  <a:prstClr val="black"/>
                </a:solidFill>
              </a:rPr>
              <a:t>/</a:t>
            </a:r>
            <a:r>
              <a:rPr lang="ko-KR" altLang="en-US" sz="1600" dirty="0" err="1">
                <a:solidFill>
                  <a:prstClr val="black"/>
                </a:solidFill>
              </a:rPr>
              <a:t>보안성을</a:t>
            </a:r>
            <a:r>
              <a:rPr lang="ko-KR" altLang="en-US" sz="1600" dirty="0">
                <a:solidFill>
                  <a:prstClr val="black"/>
                </a:solidFill>
              </a:rPr>
              <a:t> 확보하기 위해 개발된 새로운 작업증명 기술임</a:t>
            </a:r>
            <a:r>
              <a:rPr lang="en-US" altLang="ko-KR" sz="1600" dirty="0">
                <a:solidFill>
                  <a:prstClr val="black"/>
                </a:solidFill>
              </a:rPr>
              <a:t>.</a:t>
            </a:r>
          </a:p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prstClr val="black"/>
                </a:solidFill>
              </a:rPr>
              <a:t>ECCPoW</a:t>
            </a:r>
            <a:r>
              <a:rPr lang="ko-KR" altLang="en-US" sz="1600" dirty="0">
                <a:solidFill>
                  <a:prstClr val="black"/>
                </a:solidFill>
              </a:rPr>
              <a:t>는 매 블록 마다 무작위로 변화하는 합성 함수를 사용함</a:t>
            </a:r>
            <a:endParaRPr lang="ko-KR" altLang="en-US" sz="1600" kern="0" spc="-50" dirty="0">
              <a:solidFill>
                <a:srgbClr val="FF0000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="" xmlns:a16="http://schemas.microsoft.com/office/drawing/2014/main" id="{C53D36E5-5476-4409-B7F7-5ECC3840BD36}"/>
              </a:ext>
            </a:extLst>
          </p:cNvPr>
          <p:cNvSpPr/>
          <p:nvPr/>
        </p:nvSpPr>
        <p:spPr>
          <a:xfrm>
            <a:off x="343620" y="1340768"/>
            <a:ext cx="8548860" cy="45719"/>
          </a:xfrm>
          <a:prstGeom prst="rect">
            <a:avLst/>
          </a:prstGeom>
          <a:solidFill>
            <a:srgbClr val="0255B8"/>
          </a:solidFill>
          <a:ln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ts val="600"/>
              </a:spcBef>
            </a:pPr>
            <a:endParaRPr lang="ko-KR" altLang="en-US" b="1" kern="0" dirty="0">
              <a:solidFill>
                <a:srgbClr val="0255B8"/>
              </a:solidFill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="" xmlns:a16="http://schemas.microsoft.com/office/drawing/2014/main" id="{33974BC1-1E3C-4569-A55A-3052DD2D3858}"/>
              </a:ext>
            </a:extLst>
          </p:cNvPr>
          <p:cNvGrpSpPr/>
          <p:nvPr/>
        </p:nvGrpSpPr>
        <p:grpSpPr>
          <a:xfrm>
            <a:off x="1130131" y="2492896"/>
            <a:ext cx="7186285" cy="2263314"/>
            <a:chOff x="1195193" y="2608609"/>
            <a:chExt cx="9971030" cy="2355277"/>
          </a:xfrm>
        </p:grpSpPr>
        <p:sp>
          <p:nvSpPr>
            <p:cNvPr id="17" name="직사각형 16">
              <a:extLst>
                <a:ext uri="{FF2B5EF4-FFF2-40B4-BE49-F238E27FC236}">
                  <a16:creationId xmlns="" xmlns:a16="http://schemas.microsoft.com/office/drawing/2014/main" id="{8201890C-5D31-402B-BE33-70328041F883}"/>
                </a:ext>
              </a:extLst>
            </p:cNvPr>
            <p:cNvSpPr/>
            <p:nvPr/>
          </p:nvSpPr>
          <p:spPr>
            <a:xfrm>
              <a:off x="2666358" y="3526972"/>
              <a:ext cx="6477642" cy="143691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255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="" xmlns:a16="http://schemas.microsoft.com/office/drawing/2014/main" id="{6A56943A-FD78-4374-8700-9F89C472F09D}"/>
                </a:ext>
              </a:extLst>
            </p:cNvPr>
            <p:cNvSpPr/>
            <p:nvPr/>
          </p:nvSpPr>
          <p:spPr>
            <a:xfrm>
              <a:off x="6741751" y="3884023"/>
              <a:ext cx="2178595" cy="770864"/>
            </a:xfrm>
            <a:prstGeom prst="rect">
              <a:avLst/>
            </a:prstGeom>
            <a:solidFill>
              <a:srgbClr val="0255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prstClr val="white"/>
                  </a:solidFill>
                </a:rPr>
                <a:t>오류 정정 부호 </a:t>
              </a:r>
              <a:endParaRPr lang="en-US" altLang="ko-KR" sz="1400" dirty="0">
                <a:solidFill>
                  <a:prstClr val="white"/>
                </a:solidFill>
              </a:endParaRPr>
            </a:p>
            <a:p>
              <a:pPr algn="ctr"/>
              <a:r>
                <a:rPr lang="ko-KR" altLang="en-US" sz="1400" dirty="0" err="1">
                  <a:solidFill>
                    <a:prstClr val="white"/>
                  </a:solidFill>
                </a:rPr>
                <a:t>디코더</a:t>
              </a:r>
              <a:endParaRPr lang="en-US" altLang="ko-KR" sz="1400" dirty="0">
                <a:solidFill>
                  <a:prstClr val="white"/>
                </a:solidFill>
              </a:endParaRPr>
            </a:p>
            <a:p>
              <a:pPr algn="ctr"/>
              <a:r>
                <a:rPr lang="en-US" altLang="ko-KR" sz="1400" dirty="0">
                  <a:solidFill>
                    <a:prstClr val="white"/>
                  </a:solidFill>
                </a:rPr>
                <a:t>e.g. LDPC </a:t>
              </a:r>
              <a:r>
                <a:rPr lang="ko-KR" altLang="en-US" sz="1400" dirty="0" err="1">
                  <a:solidFill>
                    <a:prstClr val="white"/>
                  </a:solidFill>
                </a:rPr>
                <a:t>디코더</a:t>
              </a:r>
              <a:endParaRPr lang="ko-KR" altLang="en-US" sz="1400" dirty="0">
                <a:solidFill>
                  <a:prstClr val="white"/>
                </a:solidFill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="" xmlns:a16="http://schemas.microsoft.com/office/drawing/2014/main" id="{D6B1140E-209C-428D-AE1B-7A5BBA6AF3F2}"/>
                </a:ext>
              </a:extLst>
            </p:cNvPr>
            <p:cNvSpPr/>
            <p:nvPr/>
          </p:nvSpPr>
          <p:spPr>
            <a:xfrm>
              <a:off x="2890014" y="3884023"/>
              <a:ext cx="2178595" cy="77086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 err="1">
                  <a:solidFill>
                    <a:prstClr val="white"/>
                  </a:solidFill>
                </a:rPr>
                <a:t>해쉬</a:t>
              </a:r>
              <a:r>
                <a:rPr lang="ko-KR" altLang="en-US" sz="1400" dirty="0">
                  <a:solidFill>
                    <a:prstClr val="white"/>
                  </a:solidFill>
                </a:rPr>
                <a:t> 함수</a:t>
              </a:r>
              <a:endParaRPr lang="en-US" altLang="ko-KR" sz="1400" dirty="0">
                <a:solidFill>
                  <a:prstClr val="white"/>
                </a:solidFill>
              </a:endParaRPr>
            </a:p>
            <a:p>
              <a:pPr algn="ctr"/>
              <a:r>
                <a:rPr lang="en-US" altLang="ko-KR" sz="1400" dirty="0">
                  <a:solidFill>
                    <a:prstClr val="white"/>
                  </a:solidFill>
                </a:rPr>
                <a:t>e.g., SHA256</a:t>
              </a:r>
              <a:endParaRPr lang="ko-KR" altLang="en-US" sz="1400" dirty="0">
                <a:solidFill>
                  <a:prstClr val="white"/>
                </a:solidFill>
              </a:endParaRPr>
            </a:p>
          </p:txBody>
        </p:sp>
        <p:cxnSp>
          <p:nvCxnSpPr>
            <p:cNvPr id="28" name="직선 연결선 27">
              <a:extLst>
                <a:ext uri="{FF2B5EF4-FFF2-40B4-BE49-F238E27FC236}">
                  <a16:creationId xmlns="" xmlns:a16="http://schemas.microsoft.com/office/drawing/2014/main" id="{22C58FE1-9E0B-4DCB-881C-8BEB351992FF}"/>
                </a:ext>
              </a:extLst>
            </p:cNvPr>
            <p:cNvCxnSpPr>
              <a:stCxn id="27" idx="3"/>
              <a:endCxn id="26" idx="1"/>
            </p:cNvCxnSpPr>
            <p:nvPr/>
          </p:nvCxnSpPr>
          <p:spPr>
            <a:xfrm>
              <a:off x="5068609" y="4269455"/>
              <a:ext cx="1673142" cy="0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="" xmlns:a16="http://schemas.microsoft.com/office/drawing/2014/main" id="{52A88CD0-ECD7-44BF-933B-55852EA25310}"/>
                </a:ext>
              </a:extLst>
            </p:cNvPr>
            <p:cNvCxnSpPr/>
            <p:nvPr/>
          </p:nvCxnSpPr>
          <p:spPr>
            <a:xfrm>
              <a:off x="1913558" y="4269455"/>
              <a:ext cx="976456" cy="0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="" xmlns:a16="http://schemas.microsoft.com/office/drawing/2014/main" id="{E4A7403F-B7B7-497C-9A38-5B4A4BA5F8A2}"/>
                </a:ext>
              </a:extLst>
            </p:cNvPr>
            <p:cNvCxnSpPr/>
            <p:nvPr/>
          </p:nvCxnSpPr>
          <p:spPr>
            <a:xfrm>
              <a:off x="8920346" y="4269455"/>
              <a:ext cx="976456" cy="0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직사각형 33">
              <a:extLst>
                <a:ext uri="{FF2B5EF4-FFF2-40B4-BE49-F238E27FC236}">
                  <a16:creationId xmlns="" xmlns:a16="http://schemas.microsoft.com/office/drawing/2014/main" id="{B419D569-FF55-44AB-93E7-BC52ED70979A}"/>
                </a:ext>
              </a:extLst>
            </p:cNvPr>
            <p:cNvSpPr/>
            <p:nvPr/>
          </p:nvSpPr>
          <p:spPr>
            <a:xfrm>
              <a:off x="3093568" y="2608609"/>
              <a:ext cx="3218834" cy="54447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400" dirty="0" err="1">
                  <a:solidFill>
                    <a:prstClr val="black"/>
                  </a:solidFill>
                </a:rPr>
                <a:t>논스를</a:t>
              </a:r>
              <a:r>
                <a:rPr lang="ko-KR" altLang="en-US" sz="1400" dirty="0">
                  <a:solidFill>
                    <a:prstClr val="black"/>
                  </a:solidFill>
                </a:rPr>
                <a:t> 제외한 블록 헤더 값</a:t>
              </a:r>
              <a:endParaRPr lang="en-US" altLang="ko-KR" sz="1400" dirty="0">
                <a:solidFill>
                  <a:prstClr val="black"/>
                </a:solidFill>
              </a:endParaRPr>
            </a:p>
            <a:p>
              <a:r>
                <a:rPr lang="en-US" altLang="ko-KR" sz="1400" dirty="0">
                  <a:solidFill>
                    <a:prstClr val="black"/>
                  </a:solidFill>
                </a:rPr>
                <a:t>e.g., version, difficulty…</a:t>
              </a:r>
              <a:endParaRPr lang="ko-KR" altLang="en-US" sz="1400" dirty="0">
                <a:solidFill>
                  <a:prstClr val="black"/>
                </a:solidFill>
              </a:endParaRPr>
            </a:p>
          </p:txBody>
        </p:sp>
        <p:sp>
          <p:nvSpPr>
            <p:cNvPr id="35" name="자유형: 도형 15">
              <a:extLst>
                <a:ext uri="{FF2B5EF4-FFF2-40B4-BE49-F238E27FC236}">
                  <a16:creationId xmlns="" xmlns:a16="http://schemas.microsoft.com/office/drawing/2014/main" id="{7C078CBE-1A9C-434B-8C83-CDB3B02E21F2}"/>
                </a:ext>
              </a:extLst>
            </p:cNvPr>
            <p:cNvSpPr/>
            <p:nvPr/>
          </p:nvSpPr>
          <p:spPr>
            <a:xfrm>
              <a:off x="3092311" y="2656114"/>
              <a:ext cx="0" cy="1227909"/>
            </a:xfrm>
            <a:custGeom>
              <a:avLst/>
              <a:gdLst>
                <a:gd name="connsiteX0" fmla="*/ 0 w 0"/>
                <a:gd name="connsiteY0" fmla="*/ 1227909 h 1227909"/>
                <a:gd name="connsiteX1" fmla="*/ 0 w 0"/>
                <a:gd name="connsiteY1" fmla="*/ 0 h 1227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1227909">
                  <a:moveTo>
                    <a:pt x="0" y="1227909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chemeClr val="tx1">
                  <a:lumMod val="95000"/>
                  <a:lumOff val="5000"/>
                </a:schemeClr>
              </a:solidFill>
              <a:headEnd type="triangle" w="lg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="" xmlns:a16="http://schemas.microsoft.com/office/drawing/2014/main" id="{AA766913-B7C0-4C7A-8BC5-03A9F858BAB7}"/>
                </a:ext>
              </a:extLst>
            </p:cNvPr>
            <p:cNvSpPr/>
            <p:nvPr/>
          </p:nvSpPr>
          <p:spPr>
            <a:xfrm>
              <a:off x="1195193" y="3941022"/>
              <a:ext cx="2149087" cy="3202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1400" b="1" dirty="0" err="1">
                  <a:solidFill>
                    <a:prstClr val="black"/>
                  </a:solidFill>
                </a:rPr>
                <a:t>논스</a:t>
              </a:r>
              <a:r>
                <a:rPr lang="en-US" altLang="ko-KR" sz="1400" b="1" dirty="0">
                  <a:solidFill>
                    <a:prstClr val="black"/>
                  </a:solidFill>
                </a:rPr>
                <a:t>(nonce)</a:t>
              </a:r>
              <a:endParaRPr lang="ko-KR" altLang="en-US" sz="1400" b="1" dirty="0">
                <a:solidFill>
                  <a:prstClr val="black"/>
                </a:solidFill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="" xmlns:a16="http://schemas.microsoft.com/office/drawing/2014/main" id="{DD47D50D-3C3F-463F-AD2D-065AFA463A01}"/>
                </a:ext>
              </a:extLst>
            </p:cNvPr>
            <p:cNvSpPr/>
            <p:nvPr/>
          </p:nvSpPr>
          <p:spPr>
            <a:xfrm>
              <a:off x="5303318" y="4347110"/>
              <a:ext cx="1203726" cy="32028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400" b="1" dirty="0" err="1">
                  <a:solidFill>
                    <a:prstClr val="black"/>
                  </a:solidFill>
                </a:rPr>
                <a:t>해쉬</a:t>
              </a:r>
              <a:r>
                <a:rPr lang="ko-KR" altLang="en-US" sz="1400" b="1" dirty="0">
                  <a:solidFill>
                    <a:prstClr val="black"/>
                  </a:solidFill>
                </a:rPr>
                <a:t> 값 </a:t>
              </a:r>
              <a:r>
                <a:rPr lang="en-US" altLang="ko-KR" sz="1400" b="1" dirty="0">
                  <a:solidFill>
                    <a:prstClr val="black"/>
                  </a:solidFill>
                </a:rPr>
                <a:t>r</a:t>
              </a:r>
              <a:endParaRPr lang="ko-KR" altLang="en-US" sz="1400" b="1" dirty="0">
                <a:solidFill>
                  <a:prstClr val="black"/>
                </a:solidFill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="" xmlns:a16="http://schemas.microsoft.com/office/drawing/2014/main" id="{DB40D734-5F42-42BE-BCBA-765E68BDB7DA}"/>
                </a:ext>
              </a:extLst>
            </p:cNvPr>
            <p:cNvSpPr/>
            <p:nvPr/>
          </p:nvSpPr>
          <p:spPr>
            <a:xfrm>
              <a:off x="9143999" y="4351060"/>
              <a:ext cx="2022224" cy="32028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400" b="1" dirty="0" err="1">
                  <a:solidFill>
                    <a:prstClr val="black"/>
                  </a:solidFill>
                </a:rPr>
                <a:t>디코더</a:t>
              </a:r>
              <a:r>
                <a:rPr lang="ko-KR" altLang="en-US" sz="1400" b="1" dirty="0">
                  <a:solidFill>
                    <a:prstClr val="black"/>
                  </a:solidFill>
                </a:rPr>
                <a:t> 출력 값 </a:t>
              </a:r>
              <a:r>
                <a:rPr lang="en-US" altLang="ko-KR" sz="1400" b="1" dirty="0">
                  <a:solidFill>
                    <a:prstClr val="black"/>
                  </a:solidFill>
                </a:rPr>
                <a:t>c</a:t>
              </a:r>
              <a:endParaRPr lang="ko-KR" altLang="en-US" sz="1400" b="1" dirty="0">
                <a:solidFill>
                  <a:prstClr val="black"/>
                </a:solidFill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="" xmlns:a16="http://schemas.microsoft.com/office/drawing/2014/main" id="{CBC6E22C-F358-4CAE-BF82-FDC3508E3453}"/>
                </a:ext>
              </a:extLst>
            </p:cNvPr>
            <p:cNvSpPr/>
            <p:nvPr/>
          </p:nvSpPr>
          <p:spPr>
            <a:xfrm>
              <a:off x="6968882" y="2608609"/>
              <a:ext cx="2322489" cy="32028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400" dirty="0">
                  <a:solidFill>
                    <a:prstClr val="black"/>
                  </a:solidFill>
                </a:rPr>
                <a:t>패리티 체크 행렬 </a:t>
              </a:r>
              <a:r>
                <a:rPr lang="en-US" altLang="ko-KR" sz="1400" dirty="0">
                  <a:solidFill>
                    <a:prstClr val="black"/>
                  </a:solidFill>
                </a:rPr>
                <a:t>H</a:t>
              </a:r>
              <a:endParaRPr lang="ko-KR" altLang="en-US" sz="1400" dirty="0">
                <a:solidFill>
                  <a:prstClr val="black"/>
                </a:solidFill>
              </a:endParaRPr>
            </a:p>
          </p:txBody>
        </p:sp>
        <p:sp>
          <p:nvSpPr>
            <p:cNvPr id="40" name="자유형: 도형 23">
              <a:extLst>
                <a:ext uri="{FF2B5EF4-FFF2-40B4-BE49-F238E27FC236}">
                  <a16:creationId xmlns="" xmlns:a16="http://schemas.microsoft.com/office/drawing/2014/main" id="{6432F061-7164-4768-AC48-ED0618B9CA29}"/>
                </a:ext>
              </a:extLst>
            </p:cNvPr>
            <p:cNvSpPr/>
            <p:nvPr/>
          </p:nvSpPr>
          <p:spPr>
            <a:xfrm>
              <a:off x="6967625" y="2656114"/>
              <a:ext cx="0" cy="1227909"/>
            </a:xfrm>
            <a:custGeom>
              <a:avLst/>
              <a:gdLst>
                <a:gd name="connsiteX0" fmla="*/ 0 w 0"/>
                <a:gd name="connsiteY0" fmla="*/ 1227909 h 1227909"/>
                <a:gd name="connsiteX1" fmla="*/ 0 w 0"/>
                <a:gd name="connsiteY1" fmla="*/ 0 h 1227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1227909">
                  <a:moveTo>
                    <a:pt x="0" y="1227909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chemeClr val="tx1">
                  <a:lumMod val="95000"/>
                  <a:lumOff val="5000"/>
                </a:schemeClr>
              </a:solidFill>
              <a:headEnd type="triangle" w="lg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="" xmlns:a16="http://schemas.microsoft.com/office/drawing/2014/main" id="{6068A905-8A86-48B3-9133-10FD2BFEACC3}"/>
                </a:ext>
              </a:extLst>
            </p:cNvPr>
            <p:cNvSpPr/>
            <p:nvPr/>
          </p:nvSpPr>
          <p:spPr>
            <a:xfrm>
              <a:off x="5251049" y="3598173"/>
              <a:ext cx="1308264" cy="32028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400" b="1" dirty="0">
                  <a:solidFill>
                    <a:prstClr val="black"/>
                  </a:solidFill>
                </a:rPr>
                <a:t>합성 함수</a:t>
              </a:r>
            </a:p>
          </p:txBody>
        </p:sp>
      </p:grpSp>
      <p:sp>
        <p:nvSpPr>
          <p:cNvPr id="42" name="직사각형 41">
            <a:extLst>
              <a:ext uri="{FF2B5EF4-FFF2-40B4-BE49-F238E27FC236}">
                <a16:creationId xmlns="" xmlns:a16="http://schemas.microsoft.com/office/drawing/2014/main" id="{4C70D3A6-2D13-4F22-9C06-C56F2B48E196}"/>
              </a:ext>
            </a:extLst>
          </p:cNvPr>
          <p:cNvSpPr/>
          <p:nvPr/>
        </p:nvSpPr>
        <p:spPr>
          <a:xfrm>
            <a:off x="336000" y="5047782"/>
            <a:ext cx="8556480" cy="10990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prstClr val="black"/>
                </a:solidFill>
              </a:rPr>
              <a:t>(</a:t>
            </a:r>
            <a:r>
              <a:rPr lang="ko-KR" altLang="en-US" sz="1600" b="1" dirty="0" err="1">
                <a:solidFill>
                  <a:srgbClr val="FF0000"/>
                </a:solidFill>
              </a:rPr>
              <a:t>시변성</a:t>
            </a:r>
            <a:r>
              <a:rPr lang="en-US" altLang="ko-KR" sz="1600" dirty="0">
                <a:solidFill>
                  <a:prstClr val="black"/>
                </a:solidFill>
              </a:rPr>
              <a:t>) </a:t>
            </a:r>
            <a:r>
              <a:rPr lang="ko-KR" altLang="en-US" sz="1600" dirty="0">
                <a:solidFill>
                  <a:prstClr val="black"/>
                </a:solidFill>
              </a:rPr>
              <a:t>패리티 체크 행렬을 매 블록 마다 변경함으로써</a:t>
            </a:r>
            <a:r>
              <a:rPr lang="en-US" altLang="ko-KR" sz="1600" dirty="0">
                <a:solidFill>
                  <a:prstClr val="black"/>
                </a:solidFill>
              </a:rPr>
              <a:t>, </a:t>
            </a:r>
            <a:r>
              <a:rPr lang="ko-KR" altLang="en-US" sz="1600" dirty="0">
                <a:solidFill>
                  <a:prstClr val="black"/>
                </a:solidFill>
              </a:rPr>
              <a:t>함성 함수를 매 블록 마다 변경 할 수 있음</a:t>
            </a:r>
            <a:r>
              <a:rPr lang="en-US" altLang="ko-KR" sz="1600" dirty="0">
                <a:solidFill>
                  <a:prstClr val="black"/>
                </a:solidFill>
              </a:rPr>
              <a:t>.</a:t>
            </a:r>
          </a:p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prstClr val="black"/>
                </a:solidFill>
              </a:rPr>
              <a:t>(</a:t>
            </a:r>
            <a:r>
              <a:rPr lang="ko-KR" altLang="en-US" sz="1600" b="1" dirty="0">
                <a:solidFill>
                  <a:srgbClr val="FF0000"/>
                </a:solidFill>
              </a:rPr>
              <a:t>무한성</a:t>
            </a:r>
            <a:r>
              <a:rPr lang="en-US" altLang="ko-KR" sz="1600" dirty="0">
                <a:solidFill>
                  <a:prstClr val="black"/>
                </a:solidFill>
              </a:rPr>
              <a:t>) </a:t>
            </a:r>
            <a:r>
              <a:rPr lang="ko-KR" altLang="en-US" sz="1600" dirty="0">
                <a:solidFill>
                  <a:prstClr val="black"/>
                </a:solidFill>
              </a:rPr>
              <a:t>무한히 많은 패리티 체크 행렬을 사용하면</a:t>
            </a:r>
            <a:r>
              <a:rPr lang="en-US" altLang="ko-KR" sz="1600" dirty="0">
                <a:solidFill>
                  <a:prstClr val="black"/>
                </a:solidFill>
              </a:rPr>
              <a:t>, </a:t>
            </a:r>
            <a:r>
              <a:rPr lang="ko-KR" altLang="en-US" sz="1600" dirty="0">
                <a:solidFill>
                  <a:prstClr val="black"/>
                </a:solidFill>
              </a:rPr>
              <a:t>무한히 많은 합성 함수를 생성 할 수 있음</a:t>
            </a:r>
            <a:r>
              <a:rPr lang="en-US" altLang="ko-KR" sz="1600" dirty="0">
                <a:solidFill>
                  <a:prstClr val="black"/>
                </a:solidFill>
              </a:rPr>
              <a:t>.</a:t>
            </a:r>
            <a:endParaRPr lang="ko-KR" altLang="en-US" sz="1600" kern="0" spc="-50" dirty="0">
              <a:solidFill>
                <a:prstClr val="black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="" xmlns:a16="http://schemas.microsoft.com/office/drawing/2014/main" id="{C53D36E5-5476-4409-B7F7-5ECC3840BD36}"/>
              </a:ext>
            </a:extLst>
          </p:cNvPr>
          <p:cNvSpPr/>
          <p:nvPr/>
        </p:nvSpPr>
        <p:spPr>
          <a:xfrm>
            <a:off x="336000" y="4992293"/>
            <a:ext cx="8556480" cy="45719"/>
          </a:xfrm>
          <a:prstGeom prst="rect">
            <a:avLst/>
          </a:prstGeom>
          <a:solidFill>
            <a:srgbClr val="0255B8"/>
          </a:solidFill>
          <a:ln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ts val="600"/>
              </a:spcBef>
            </a:pPr>
            <a:endParaRPr lang="ko-KR" altLang="en-US" b="1" kern="0" dirty="0">
              <a:solidFill>
                <a:srgbClr val="0255B8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827584" y="899428"/>
            <a:ext cx="48245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 latinLnBrk="0"/>
            <a:r>
              <a:rPr lang="en-US" altLang="ko-KR" b="1" dirty="0">
                <a:solidFill>
                  <a:sysClr val="windowText" lastClr="000000"/>
                </a:solidFill>
              </a:rPr>
              <a:t>ECCPoW </a:t>
            </a:r>
            <a:r>
              <a:rPr lang="ko-KR" altLang="en-US" b="1" dirty="0">
                <a:solidFill>
                  <a:sysClr val="windowText" lastClr="000000"/>
                </a:solidFill>
              </a:rPr>
              <a:t>버전</a:t>
            </a:r>
            <a:r>
              <a:rPr lang="en-US" altLang="ko-KR" b="1" dirty="0">
                <a:solidFill>
                  <a:sysClr val="windowText" lastClr="000000"/>
                </a:solidFill>
              </a:rPr>
              <a:t>1.0 </a:t>
            </a:r>
            <a:r>
              <a:rPr lang="ko-KR" altLang="en-US" b="1" dirty="0">
                <a:solidFill>
                  <a:sysClr val="windowText" lastClr="000000"/>
                </a:solidFill>
              </a:rPr>
              <a:t>개발 </a:t>
            </a:r>
            <a:r>
              <a:rPr lang="en-US" altLang="ko-KR" b="1" dirty="0" smtClean="0">
                <a:solidFill>
                  <a:sysClr val="windowText" lastClr="000000"/>
                </a:solidFill>
              </a:rPr>
              <a:t>– 1</a:t>
            </a:r>
            <a:endParaRPr lang="ko-KR" altLang="en-US" b="1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49172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28650" y="74814"/>
            <a:ext cx="79037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prstClr val="black"/>
                </a:solidFill>
              </a:rPr>
              <a:t>세부 연구 내역</a:t>
            </a:r>
            <a:endParaRPr lang="ko-KR" altLang="en-US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46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="" xmlns:a16="http://schemas.microsoft.com/office/drawing/2014/main" id="{4C70D3A6-2D13-4F22-9C06-C56F2B48E196}"/>
              </a:ext>
            </a:extLst>
          </p:cNvPr>
          <p:cNvSpPr/>
          <p:nvPr/>
        </p:nvSpPr>
        <p:spPr>
          <a:xfrm>
            <a:off x="336000" y="1382808"/>
            <a:ext cx="8556480" cy="534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prstClr val="black"/>
                </a:solidFill>
              </a:rPr>
              <a:t>개발된 부호</a:t>
            </a:r>
            <a:r>
              <a:rPr lang="en-US" altLang="ko-KR" sz="1600" dirty="0">
                <a:solidFill>
                  <a:prstClr val="black"/>
                </a:solidFill>
              </a:rPr>
              <a:t>-</a:t>
            </a:r>
            <a:r>
              <a:rPr lang="ko-KR" altLang="en-US" sz="1600" dirty="0">
                <a:solidFill>
                  <a:prstClr val="black"/>
                </a:solidFill>
              </a:rPr>
              <a:t>암호 작업증명 </a:t>
            </a:r>
            <a:r>
              <a:rPr lang="en-US" altLang="ko-KR" sz="1600" dirty="0">
                <a:solidFill>
                  <a:prstClr val="black"/>
                </a:solidFill>
              </a:rPr>
              <a:t>(ECCPoW)</a:t>
            </a:r>
            <a:r>
              <a:rPr lang="ko-KR" altLang="en-US" sz="1600" dirty="0">
                <a:solidFill>
                  <a:prstClr val="black"/>
                </a:solidFill>
              </a:rPr>
              <a:t>는 다음 </a:t>
            </a:r>
            <a:r>
              <a:rPr lang="en-US" altLang="ko-KR" sz="1600" dirty="0">
                <a:solidFill>
                  <a:prstClr val="black"/>
                </a:solidFill>
              </a:rPr>
              <a:t>5</a:t>
            </a:r>
            <a:r>
              <a:rPr lang="ko-KR" altLang="en-US" sz="1600" dirty="0">
                <a:solidFill>
                  <a:prstClr val="black"/>
                </a:solidFill>
              </a:rPr>
              <a:t>가지 요건들을 만족함</a:t>
            </a:r>
            <a:r>
              <a:rPr lang="en-US" altLang="ko-KR" sz="1600" dirty="0">
                <a:solidFill>
                  <a:prstClr val="black"/>
                </a:solidFill>
              </a:rPr>
              <a:t>.</a:t>
            </a:r>
            <a:endParaRPr lang="ko-KR" altLang="en-US" sz="1600" kern="0" spc="-50" dirty="0">
              <a:solidFill>
                <a:srgbClr val="FF0000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="" xmlns:a16="http://schemas.microsoft.com/office/drawing/2014/main" id="{C53D36E5-5476-4409-B7F7-5ECC3840BD36}"/>
              </a:ext>
            </a:extLst>
          </p:cNvPr>
          <p:cNvSpPr/>
          <p:nvPr/>
        </p:nvSpPr>
        <p:spPr>
          <a:xfrm>
            <a:off x="336000" y="1328060"/>
            <a:ext cx="8556480" cy="45719"/>
          </a:xfrm>
          <a:prstGeom prst="rect">
            <a:avLst/>
          </a:prstGeom>
          <a:solidFill>
            <a:srgbClr val="0255B8"/>
          </a:solidFill>
          <a:ln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ts val="600"/>
              </a:spcBef>
            </a:pPr>
            <a:endParaRPr lang="ko-KR" altLang="en-US" b="1" kern="0" dirty="0">
              <a:solidFill>
                <a:srgbClr val="0255B8"/>
              </a:solidFill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="" xmlns:a16="http://schemas.microsoft.com/office/drawing/2014/main" id="{02FE22CD-B54B-4B38-8B76-B4EBBCD2AF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8926142"/>
              </p:ext>
            </p:extLst>
          </p:nvPr>
        </p:nvGraphicFramePr>
        <p:xfrm>
          <a:off x="336000" y="2123332"/>
          <a:ext cx="8556480" cy="2304255"/>
        </p:xfrm>
        <a:graphic>
          <a:graphicData uri="http://schemas.openxmlformats.org/drawingml/2006/table">
            <a:tbl>
              <a:tblPr firstRow="1" firstCol="1" bandRow="1"/>
              <a:tblGrid>
                <a:gridCol w="1332237">
                  <a:extLst>
                    <a:ext uri="{9D8B030D-6E8A-4147-A177-3AD203B41FA5}">
                      <a16:colId xmlns="" xmlns:a16="http://schemas.microsoft.com/office/drawing/2014/main" val="1449899407"/>
                    </a:ext>
                  </a:extLst>
                </a:gridCol>
                <a:gridCol w="7224243">
                  <a:extLst>
                    <a:ext uri="{9D8B030D-6E8A-4147-A177-3AD203B41FA5}">
                      <a16:colId xmlns="" xmlns:a16="http://schemas.microsoft.com/office/drawing/2014/main" val="600659448"/>
                    </a:ext>
                  </a:extLst>
                </a:gridCol>
              </a:tblGrid>
              <a:tr h="34480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kern="1200" dirty="0">
                          <a:solidFill>
                            <a:sysClr val="windowText" lastClr="000000"/>
                          </a:solidFill>
                          <a:latin typeface="+mj-lt"/>
                          <a:ea typeface="+mn-ea"/>
                          <a:cs typeface="+mn-cs"/>
                        </a:rPr>
                        <a:t>요건 </a:t>
                      </a:r>
                      <a:r>
                        <a:rPr lang="en-US" altLang="ko-KR" sz="1800" b="1" kern="1200" dirty="0">
                          <a:solidFill>
                            <a:sysClr val="windowText" lastClr="000000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ko-KR" altLang="en-US" sz="1800" b="1" kern="1200" dirty="0">
                        <a:solidFill>
                          <a:sysClr val="windowText" lastClr="0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4949" marR="34949" marT="12883" marB="12883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암호 퍼즐은 풀기 어려우나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반대로 검증은 쉬워야 함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4949" marR="34949" marT="12883" marB="12883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951504763"/>
                  </a:ext>
                </a:extLst>
              </a:tr>
              <a:tr h="34480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kern="1200" dirty="0">
                          <a:solidFill>
                            <a:sysClr val="windowText" lastClr="000000"/>
                          </a:solidFill>
                          <a:latin typeface="+mj-lt"/>
                          <a:ea typeface="+mn-ea"/>
                          <a:cs typeface="+mn-cs"/>
                        </a:rPr>
                        <a:t>요건 </a:t>
                      </a:r>
                      <a:r>
                        <a:rPr lang="en-US" altLang="ko-KR" sz="1800" b="1" kern="1200" dirty="0">
                          <a:solidFill>
                            <a:sysClr val="windowText" lastClr="000000"/>
                          </a:solidFill>
                          <a:latin typeface="+mj-lt"/>
                          <a:ea typeface="+mn-ea"/>
                          <a:cs typeface="+mn-cs"/>
                        </a:rPr>
                        <a:t>2</a:t>
                      </a:r>
                      <a:endParaRPr lang="ko-KR" altLang="en-US" sz="1800" b="1" kern="1200" dirty="0">
                        <a:solidFill>
                          <a:sysClr val="windowText" lastClr="0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4949" marR="34949" marT="12883" marB="12883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암호 퍼즐은 외부 공격으로부터 견고한 저항성을 가져야 함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4949" marR="34949" marT="12883" marB="12883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627760784"/>
                  </a:ext>
                </a:extLst>
              </a:tr>
              <a:tr h="34480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kern="1200" dirty="0">
                          <a:solidFill>
                            <a:sysClr val="windowText" lastClr="000000"/>
                          </a:solidFill>
                          <a:latin typeface="+mj-lt"/>
                          <a:ea typeface="+mn-ea"/>
                          <a:cs typeface="+mn-cs"/>
                        </a:rPr>
                        <a:t>요건 </a:t>
                      </a:r>
                      <a:r>
                        <a:rPr lang="en-US" altLang="ko-KR" sz="1800" b="1" kern="1200" dirty="0">
                          <a:solidFill>
                            <a:sysClr val="windowText" lastClr="000000"/>
                          </a:solidFill>
                          <a:latin typeface="+mj-lt"/>
                          <a:ea typeface="+mn-ea"/>
                          <a:cs typeface="+mn-cs"/>
                        </a:rPr>
                        <a:t>3</a:t>
                      </a:r>
                      <a:endParaRPr lang="ko-KR" altLang="en-US" sz="1800" b="1" kern="1200" dirty="0">
                        <a:solidFill>
                          <a:sysClr val="windowText" lastClr="0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4949" marR="34949" marT="12883" marB="12883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풀린 암호 퍼즐의 정답은 재사용되지 않아야 함</a:t>
                      </a: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4949" marR="34949" marT="12883" marB="12883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01072770"/>
                  </a:ext>
                </a:extLst>
              </a:tr>
              <a:tr h="34480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kern="1200" dirty="0">
                          <a:solidFill>
                            <a:sysClr val="windowText" lastClr="000000"/>
                          </a:solidFill>
                          <a:latin typeface="+mj-lt"/>
                          <a:ea typeface="+mn-ea"/>
                          <a:cs typeface="+mn-cs"/>
                        </a:rPr>
                        <a:t>요건 </a:t>
                      </a:r>
                      <a:r>
                        <a:rPr lang="en-US" altLang="ko-KR" sz="1800" b="1" kern="1200" dirty="0">
                          <a:solidFill>
                            <a:sysClr val="windowText" lastClr="000000"/>
                          </a:solidFill>
                          <a:latin typeface="+mj-lt"/>
                          <a:ea typeface="+mn-ea"/>
                          <a:cs typeface="+mn-cs"/>
                        </a:rPr>
                        <a:t>4</a:t>
                      </a:r>
                      <a:endParaRPr lang="ko-KR" altLang="en-US" sz="1800" b="1" kern="1200" dirty="0">
                        <a:solidFill>
                          <a:sysClr val="windowText" lastClr="0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4949" marR="34949" marT="12883" marB="12883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암호 퍼즐의 난이도는 조절 가능해야 함</a:t>
                      </a: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4949" marR="34949" marT="12883" marB="12883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132711799"/>
                  </a:ext>
                </a:extLst>
              </a:tr>
              <a:tr h="92503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kern="1200" dirty="0">
                          <a:solidFill>
                            <a:sysClr val="windowText" lastClr="000000"/>
                          </a:solidFill>
                          <a:latin typeface="+mj-lt"/>
                          <a:ea typeface="+mn-ea"/>
                          <a:cs typeface="+mn-cs"/>
                        </a:rPr>
                        <a:t>요건 </a:t>
                      </a:r>
                      <a:r>
                        <a:rPr lang="en-US" altLang="ko-KR" sz="1800" b="1" kern="1200" dirty="0">
                          <a:solidFill>
                            <a:sysClr val="windowText" lastClr="000000"/>
                          </a:solidFill>
                          <a:latin typeface="+mj-lt"/>
                          <a:ea typeface="+mn-ea"/>
                          <a:cs typeface="+mn-cs"/>
                        </a:rPr>
                        <a:t>5</a:t>
                      </a:r>
                      <a:endParaRPr lang="ko-KR" altLang="en-US" sz="1800" b="1" kern="1200" dirty="0">
                        <a:solidFill>
                          <a:sysClr val="windowText" lastClr="0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4949" marR="34949" marT="12883" marB="12883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1200" dirty="0" smtClean="0">
                          <a:solidFill>
                            <a:srgbClr val="0255B8"/>
                          </a:solidFill>
                          <a:latin typeface="+mj-lt"/>
                          <a:ea typeface="+mn-ea"/>
                          <a:cs typeface="+mn-cs"/>
                        </a:rPr>
                        <a:t>작업증명에 </a:t>
                      </a:r>
                      <a:r>
                        <a:rPr lang="ko-KR" altLang="en-US" sz="1600" b="1" kern="1200" dirty="0">
                          <a:solidFill>
                            <a:srgbClr val="0255B8"/>
                          </a:solidFill>
                          <a:latin typeface="+mj-lt"/>
                          <a:ea typeface="+mn-ea"/>
                          <a:cs typeface="+mn-cs"/>
                        </a:rPr>
                        <a:t>쓰이는 함수는 매 블록마다 변화하여 바꿀 수 있어야 함</a:t>
                      </a:r>
                      <a:r>
                        <a:rPr lang="en-US" altLang="ko-KR" sz="1600" b="1" kern="1200" dirty="0" smtClean="0">
                          <a:solidFill>
                            <a:srgbClr val="0255B8"/>
                          </a:solidFill>
                          <a:latin typeface="+mj-lt"/>
                          <a:ea typeface="+mn-ea"/>
                          <a:cs typeface="+mn-cs"/>
                        </a:rPr>
                        <a:t>. </a:t>
                      </a:r>
                      <a:r>
                        <a:rPr lang="en-US" altLang="ko-KR" sz="1600" b="1" kern="1200" dirty="0" smtClean="0">
                          <a:solidFill>
                            <a:srgbClr val="0255B8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600" b="1" kern="1200" dirty="0" err="1" smtClean="0">
                          <a:solidFill>
                            <a:srgbClr val="0255B8"/>
                          </a:solidFill>
                          <a:latin typeface="+mn-lt"/>
                          <a:ea typeface="+mn-ea"/>
                          <a:cs typeface="+mn-cs"/>
                        </a:rPr>
                        <a:t>시변성</a:t>
                      </a:r>
                      <a:r>
                        <a:rPr lang="en-US" altLang="ko-KR" sz="1600" b="1" kern="1200" dirty="0" smtClean="0">
                          <a:solidFill>
                            <a:srgbClr val="0255B8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600" b="1" kern="1200" dirty="0" smtClean="0">
                          <a:solidFill>
                            <a:srgbClr val="0255B8"/>
                          </a:solidFill>
                          <a:latin typeface="+mn-lt"/>
                          <a:ea typeface="+mn-ea"/>
                          <a:cs typeface="+mn-cs"/>
                        </a:rPr>
                        <a:t>무한성</a:t>
                      </a:r>
                      <a:r>
                        <a:rPr lang="en-US" altLang="ko-KR" sz="1600" b="1" kern="1200" dirty="0" smtClean="0">
                          <a:solidFill>
                            <a:srgbClr val="0255B8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endParaRPr lang="en-US" altLang="ko-KR" sz="1600" b="1" kern="1200" dirty="0">
                        <a:solidFill>
                          <a:srgbClr val="0255B8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4949" marR="34949" marT="12883" marB="12883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825805427"/>
                  </a:ext>
                </a:extLst>
              </a:tr>
            </a:tbl>
          </a:graphicData>
        </a:graphic>
      </p:graphicFrame>
      <p:sp>
        <p:nvSpPr>
          <p:cNvPr id="25" name="직사각형 24">
            <a:extLst>
              <a:ext uri="{FF2B5EF4-FFF2-40B4-BE49-F238E27FC236}">
                <a16:creationId xmlns="" xmlns:a16="http://schemas.microsoft.com/office/drawing/2014/main" id="{4C70D3A6-2D13-4F22-9C06-C56F2B48E196}"/>
              </a:ext>
            </a:extLst>
          </p:cNvPr>
          <p:cNvSpPr/>
          <p:nvPr/>
        </p:nvSpPr>
        <p:spPr>
          <a:xfrm>
            <a:off x="336000" y="4714975"/>
            <a:ext cx="8556480" cy="13063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prstClr val="black"/>
                </a:solidFill>
              </a:rPr>
              <a:t>요건 </a:t>
            </a:r>
            <a:r>
              <a:rPr lang="en-US" altLang="ko-KR" sz="1600" dirty="0">
                <a:solidFill>
                  <a:prstClr val="black"/>
                </a:solidFill>
              </a:rPr>
              <a:t>1 – 4</a:t>
            </a:r>
            <a:r>
              <a:rPr lang="ko-KR" altLang="en-US" sz="1600" dirty="0">
                <a:solidFill>
                  <a:prstClr val="black"/>
                </a:solidFill>
              </a:rPr>
              <a:t>는 작업증명이라면 가져야 할 기본 요건</a:t>
            </a:r>
            <a:r>
              <a:rPr lang="en-US" altLang="ko-KR" sz="1600" dirty="0">
                <a:solidFill>
                  <a:prstClr val="black"/>
                </a:solidFill>
              </a:rPr>
              <a:t>.</a:t>
            </a:r>
          </a:p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prstClr val="black"/>
                </a:solidFill>
              </a:rPr>
              <a:t>요건 </a:t>
            </a:r>
            <a:r>
              <a:rPr lang="en-US" altLang="ko-KR" sz="1600" dirty="0">
                <a:solidFill>
                  <a:prstClr val="black"/>
                </a:solidFill>
              </a:rPr>
              <a:t>5</a:t>
            </a:r>
            <a:r>
              <a:rPr lang="ko-KR" altLang="en-US" sz="1600" dirty="0">
                <a:solidFill>
                  <a:prstClr val="black"/>
                </a:solidFill>
              </a:rPr>
              <a:t>는 고유 특징으로써 </a:t>
            </a:r>
            <a:r>
              <a:rPr lang="ko-KR" altLang="en-US" sz="1600" b="1" dirty="0" err="1">
                <a:solidFill>
                  <a:srgbClr val="FF0000"/>
                </a:solidFill>
              </a:rPr>
              <a:t>시변성과</a:t>
            </a:r>
            <a:r>
              <a:rPr lang="ko-KR" altLang="en-US" sz="1600" b="1" dirty="0">
                <a:solidFill>
                  <a:srgbClr val="FF0000"/>
                </a:solidFill>
              </a:rPr>
              <a:t> 무한성을 뜻함</a:t>
            </a:r>
            <a:r>
              <a:rPr lang="en-US" altLang="ko-KR" sz="1600" dirty="0">
                <a:solidFill>
                  <a:prstClr val="black"/>
                </a:solidFill>
              </a:rPr>
              <a:t>.</a:t>
            </a:r>
          </a:p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prstClr val="black"/>
                </a:solidFill>
              </a:rPr>
              <a:t>패리티 체크 행렬은 “블록 길이”</a:t>
            </a:r>
            <a:r>
              <a:rPr lang="en-US" altLang="ko-KR" sz="1600" dirty="0">
                <a:solidFill>
                  <a:prstClr val="black"/>
                </a:solidFill>
              </a:rPr>
              <a:t>, “</a:t>
            </a:r>
            <a:r>
              <a:rPr lang="ko-KR" altLang="en-US" sz="1600" dirty="0">
                <a:solidFill>
                  <a:prstClr val="black"/>
                </a:solidFill>
              </a:rPr>
              <a:t>부호 비율” 등을 변경함으로써 </a:t>
            </a:r>
            <a:r>
              <a:rPr lang="ko-KR" altLang="en-US" sz="1600" b="1" dirty="0">
                <a:solidFill>
                  <a:srgbClr val="FF0000"/>
                </a:solidFill>
              </a:rPr>
              <a:t>서로 다른 행렬들을 무한히 많이 생성 가능함</a:t>
            </a:r>
            <a:r>
              <a:rPr lang="en-US" altLang="ko-KR" sz="1600" dirty="0">
                <a:solidFill>
                  <a:prstClr val="black"/>
                </a:solidFill>
              </a:rPr>
              <a:t>.</a:t>
            </a:r>
            <a:endParaRPr lang="ko-KR" altLang="en-US" sz="1600" kern="0" spc="-50" dirty="0">
              <a:solidFill>
                <a:prstClr val="black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="" xmlns:a16="http://schemas.microsoft.com/office/drawing/2014/main" id="{C53D36E5-5476-4409-B7F7-5ECC3840BD36}"/>
              </a:ext>
            </a:extLst>
          </p:cNvPr>
          <p:cNvSpPr/>
          <p:nvPr/>
        </p:nvSpPr>
        <p:spPr>
          <a:xfrm>
            <a:off x="336000" y="4666852"/>
            <a:ext cx="8556480" cy="45719"/>
          </a:xfrm>
          <a:prstGeom prst="rect">
            <a:avLst/>
          </a:prstGeom>
          <a:solidFill>
            <a:srgbClr val="0255B8"/>
          </a:solidFill>
          <a:ln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ts val="600"/>
              </a:spcBef>
            </a:pPr>
            <a:endParaRPr lang="ko-KR" altLang="en-US" b="1" kern="0" dirty="0">
              <a:solidFill>
                <a:srgbClr val="0255B8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827584" y="899428"/>
            <a:ext cx="48245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 latinLnBrk="0"/>
            <a:r>
              <a:rPr lang="en-US" altLang="ko-KR" b="1" dirty="0">
                <a:solidFill>
                  <a:sysClr val="windowText" lastClr="000000"/>
                </a:solidFill>
              </a:rPr>
              <a:t>ECCPoW </a:t>
            </a:r>
            <a:r>
              <a:rPr lang="ko-KR" altLang="en-US" b="1" dirty="0">
                <a:solidFill>
                  <a:sysClr val="windowText" lastClr="000000"/>
                </a:solidFill>
              </a:rPr>
              <a:t>버전</a:t>
            </a:r>
            <a:r>
              <a:rPr lang="en-US" altLang="ko-KR" b="1" dirty="0">
                <a:solidFill>
                  <a:sysClr val="windowText" lastClr="000000"/>
                </a:solidFill>
              </a:rPr>
              <a:t>1.0 </a:t>
            </a:r>
            <a:r>
              <a:rPr lang="ko-KR" altLang="en-US" b="1" dirty="0">
                <a:solidFill>
                  <a:sysClr val="windowText" lastClr="000000"/>
                </a:solidFill>
              </a:rPr>
              <a:t>개발 </a:t>
            </a:r>
            <a:r>
              <a:rPr lang="en-US" altLang="ko-KR" b="1" dirty="0" smtClean="0">
                <a:solidFill>
                  <a:sysClr val="windowText" lastClr="000000"/>
                </a:solidFill>
              </a:rPr>
              <a:t>– 2</a:t>
            </a:r>
            <a:endParaRPr lang="ko-KR" altLang="en-US" b="1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281449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28650" y="74814"/>
            <a:ext cx="50624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prstClr val="black"/>
                </a:solidFill>
              </a:rPr>
              <a:t>세부 연구 </a:t>
            </a:r>
            <a:r>
              <a:rPr lang="ko-KR" altLang="en-US" sz="3200" b="1" dirty="0" smtClean="0">
                <a:solidFill>
                  <a:prstClr val="black"/>
                </a:solidFill>
              </a:rPr>
              <a:t>내역</a:t>
            </a:r>
            <a:endParaRPr lang="ko-KR" altLang="en-US" sz="3200" b="1" dirty="0">
              <a:solidFill>
                <a:prstClr val="black"/>
              </a:solidFill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47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827584" y="899428"/>
            <a:ext cx="2705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 latinLnBrk="0"/>
            <a:r>
              <a:rPr lang="en-US" altLang="ko-KR" b="1" dirty="0">
                <a:solidFill>
                  <a:sysClr val="windowText" lastClr="000000"/>
                </a:solidFill>
              </a:rPr>
              <a:t>ECCPoW </a:t>
            </a:r>
            <a:r>
              <a:rPr lang="ko-KR" altLang="en-US" b="1" dirty="0">
                <a:solidFill>
                  <a:sysClr val="windowText" lastClr="000000"/>
                </a:solidFill>
              </a:rPr>
              <a:t>버전</a:t>
            </a:r>
            <a:r>
              <a:rPr lang="en-US" altLang="ko-KR" b="1" dirty="0">
                <a:solidFill>
                  <a:sysClr val="windowText" lastClr="000000"/>
                </a:solidFill>
              </a:rPr>
              <a:t>1.0 </a:t>
            </a:r>
            <a:r>
              <a:rPr lang="ko-KR" altLang="en-US" b="1" dirty="0">
                <a:solidFill>
                  <a:sysClr val="windowText" lastClr="000000"/>
                </a:solidFill>
              </a:rPr>
              <a:t>개발 </a:t>
            </a:r>
            <a:r>
              <a:rPr lang="en-US" altLang="ko-KR" b="1" dirty="0" smtClean="0">
                <a:solidFill>
                  <a:sysClr val="windowText" lastClr="000000"/>
                </a:solidFill>
              </a:rPr>
              <a:t>– 3</a:t>
            </a:r>
            <a:endParaRPr lang="ko-KR" altLang="en-US" b="1" dirty="0">
              <a:solidFill>
                <a:sysClr val="windowText" lastClr="000000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20" y="2564904"/>
            <a:ext cx="4500210" cy="35802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0" name="직사각형 149">
            <a:extLst>
              <a:ext uri="{FF2B5EF4-FFF2-40B4-BE49-F238E27FC236}">
                <a16:creationId xmlns="" xmlns:a16="http://schemas.microsoft.com/office/drawing/2014/main" id="{4C70D3A6-2D13-4F22-9C06-C56F2B48E196}"/>
              </a:ext>
            </a:extLst>
          </p:cNvPr>
          <p:cNvSpPr/>
          <p:nvPr/>
        </p:nvSpPr>
        <p:spPr>
          <a:xfrm>
            <a:off x="336000" y="1404142"/>
            <a:ext cx="8556480" cy="10167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b="1" kern="0" spc="-50" dirty="0" err="1" smtClean="0">
                <a:solidFill>
                  <a:srgbClr val="FF0000"/>
                </a:solidFill>
              </a:rPr>
              <a:t>시변성과</a:t>
            </a:r>
            <a:r>
              <a:rPr lang="ko-KR" altLang="en-US" sz="1600" b="1" kern="0" spc="-50" dirty="0" smtClean="0">
                <a:solidFill>
                  <a:srgbClr val="FF0000"/>
                </a:solidFill>
              </a:rPr>
              <a:t> 무한성</a:t>
            </a:r>
            <a:r>
              <a:rPr lang="ko-KR" altLang="en-US" sz="1600" kern="0" spc="-50" dirty="0" smtClean="0">
                <a:solidFill>
                  <a:prstClr val="black"/>
                </a:solidFill>
              </a:rPr>
              <a:t>으로 인해 디코더를 실행시킬 수 있는 </a:t>
            </a:r>
            <a:r>
              <a:rPr lang="en-US" altLang="ko-KR" sz="1600" kern="0" spc="-50" dirty="0" smtClean="0">
                <a:solidFill>
                  <a:prstClr val="black"/>
                </a:solidFill>
              </a:rPr>
              <a:t>ASIC </a:t>
            </a:r>
            <a:r>
              <a:rPr lang="ko-KR" altLang="en-US" sz="1600" kern="0" spc="-50" dirty="0" smtClean="0">
                <a:solidFill>
                  <a:prstClr val="black"/>
                </a:solidFill>
              </a:rPr>
              <a:t>장치를 만드는 것이 </a:t>
            </a:r>
            <a:r>
              <a:rPr lang="ko-KR" altLang="en-US" sz="1600" b="1" kern="0" spc="-50" dirty="0" smtClean="0">
                <a:solidFill>
                  <a:srgbClr val="FF0000"/>
                </a:solidFill>
              </a:rPr>
              <a:t>현실적으로 불가능함</a:t>
            </a:r>
            <a:r>
              <a:rPr lang="en-US" altLang="ko-KR" sz="1600" kern="0" spc="-50" dirty="0" smtClean="0">
                <a:solidFill>
                  <a:prstClr val="black"/>
                </a:solidFill>
              </a:rPr>
              <a:t>.</a:t>
            </a:r>
          </a:p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kern="0" spc="-50" dirty="0" smtClean="0">
                <a:solidFill>
                  <a:prstClr val="black"/>
                </a:solidFill>
              </a:rPr>
              <a:t>즉</a:t>
            </a:r>
            <a:r>
              <a:rPr lang="en-US" altLang="ko-KR" sz="1600" kern="0" spc="-50" dirty="0" smtClean="0">
                <a:solidFill>
                  <a:prstClr val="black"/>
                </a:solidFill>
              </a:rPr>
              <a:t>, </a:t>
            </a:r>
            <a:r>
              <a:rPr lang="ko-KR" altLang="en-US" sz="1600" b="1" kern="0" spc="-50" dirty="0" smtClean="0">
                <a:solidFill>
                  <a:srgbClr val="FF0000"/>
                </a:solidFill>
              </a:rPr>
              <a:t>불특정 다수의 패리티 체크 행렬</a:t>
            </a:r>
            <a:r>
              <a:rPr lang="ko-KR" altLang="en-US" sz="1600" kern="0" spc="-50" dirty="0" smtClean="0">
                <a:solidFill>
                  <a:prstClr val="black"/>
                </a:solidFill>
              </a:rPr>
              <a:t>을 지원하는 디코더는 만들기가 매우 어려움</a:t>
            </a:r>
            <a:r>
              <a:rPr lang="en-US" altLang="ko-KR" sz="1600" kern="0" spc="-50" dirty="0" smtClean="0">
                <a:solidFill>
                  <a:prstClr val="black"/>
                </a:solidFill>
              </a:rPr>
              <a:t>.</a:t>
            </a:r>
            <a:endParaRPr lang="en-US" altLang="ko-KR" sz="1600" kern="0" spc="-50" dirty="0">
              <a:solidFill>
                <a:prstClr val="black"/>
              </a:solidFill>
            </a:endParaRPr>
          </a:p>
        </p:txBody>
      </p:sp>
      <p:sp>
        <p:nvSpPr>
          <p:cNvPr id="151" name="직사각형 150">
            <a:extLst>
              <a:ext uri="{FF2B5EF4-FFF2-40B4-BE49-F238E27FC236}">
                <a16:creationId xmlns="" xmlns:a16="http://schemas.microsoft.com/office/drawing/2014/main" id="{C53D36E5-5476-4409-B7F7-5ECC3840BD36}"/>
              </a:ext>
            </a:extLst>
          </p:cNvPr>
          <p:cNvSpPr/>
          <p:nvPr/>
        </p:nvSpPr>
        <p:spPr>
          <a:xfrm>
            <a:off x="336000" y="1340768"/>
            <a:ext cx="8556480" cy="45719"/>
          </a:xfrm>
          <a:prstGeom prst="rect">
            <a:avLst/>
          </a:prstGeom>
          <a:solidFill>
            <a:srgbClr val="0255B8"/>
          </a:solidFill>
          <a:ln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ts val="600"/>
              </a:spcBef>
            </a:pPr>
            <a:endParaRPr lang="ko-KR" altLang="en-US" b="1" kern="0" dirty="0">
              <a:solidFill>
                <a:srgbClr val="0255B8"/>
              </a:solidFill>
            </a:endParaRPr>
          </a:p>
        </p:txBody>
      </p:sp>
      <p:pic>
        <p:nvPicPr>
          <p:cNvPr id="153" name="Picture 157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533"/>
          <a:stretch/>
        </p:blipFill>
        <p:spPr bwMode="auto">
          <a:xfrm>
            <a:off x="4756830" y="2688790"/>
            <a:ext cx="4135650" cy="331236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58908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28650" y="74814"/>
            <a:ext cx="50624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prstClr val="black"/>
                </a:solidFill>
              </a:rPr>
              <a:t>세부 연구 </a:t>
            </a:r>
            <a:r>
              <a:rPr lang="ko-KR" altLang="en-US" sz="3200" b="1" dirty="0" smtClean="0">
                <a:solidFill>
                  <a:prstClr val="black"/>
                </a:solidFill>
              </a:rPr>
              <a:t>내역</a:t>
            </a:r>
            <a:endParaRPr lang="ko-KR" altLang="en-US" sz="3200" b="1" dirty="0">
              <a:solidFill>
                <a:prstClr val="black"/>
              </a:solidFill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48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="" xmlns:a16="http://schemas.microsoft.com/office/drawing/2014/main" id="{4C70D3A6-2D13-4F22-9C06-C56F2B48E196}"/>
              </a:ext>
            </a:extLst>
          </p:cNvPr>
          <p:cNvSpPr/>
          <p:nvPr/>
        </p:nvSpPr>
        <p:spPr>
          <a:xfrm>
            <a:off x="336000" y="1386890"/>
            <a:ext cx="8556480" cy="13047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600" kern="0" spc="-50" dirty="0">
                <a:solidFill>
                  <a:prstClr val="black"/>
                </a:solidFill>
              </a:rPr>
              <a:t>ECCPoW</a:t>
            </a:r>
            <a:r>
              <a:rPr lang="ko-KR" altLang="en-US" sz="1600" kern="0" spc="-50" dirty="0">
                <a:solidFill>
                  <a:prstClr val="black"/>
                </a:solidFill>
              </a:rPr>
              <a:t>의 </a:t>
            </a:r>
            <a:r>
              <a:rPr lang="ko-KR" altLang="en-US" sz="1600" b="1" kern="0" spc="-50" dirty="0">
                <a:solidFill>
                  <a:srgbClr val="FF0000"/>
                </a:solidFill>
              </a:rPr>
              <a:t>암호 퍼즐은 합성 함수</a:t>
            </a:r>
            <a:r>
              <a:rPr lang="ko-KR" altLang="en-US" sz="1600" kern="0" spc="-50" dirty="0">
                <a:solidFill>
                  <a:prstClr val="black"/>
                </a:solidFill>
              </a:rPr>
              <a:t>에 의해 생성됨</a:t>
            </a:r>
            <a:r>
              <a:rPr lang="en-US" altLang="ko-KR" sz="1600" kern="0" spc="-50" dirty="0">
                <a:solidFill>
                  <a:prstClr val="black"/>
                </a:solidFill>
              </a:rPr>
              <a:t>. </a:t>
            </a:r>
          </a:p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kern="0" spc="-50" dirty="0">
                <a:solidFill>
                  <a:prstClr val="black"/>
                </a:solidFill>
              </a:rPr>
              <a:t>이 합성 함수의 </a:t>
            </a:r>
            <a:r>
              <a:rPr lang="ko-KR" altLang="en-US" sz="1600" b="1" kern="0" spc="-50" dirty="0">
                <a:solidFill>
                  <a:srgbClr val="FF0000"/>
                </a:solidFill>
              </a:rPr>
              <a:t>입력</a:t>
            </a:r>
            <a:r>
              <a:rPr lang="en-US" altLang="ko-KR" sz="1600" b="1" kern="0" spc="-50" dirty="0">
                <a:solidFill>
                  <a:srgbClr val="FF0000"/>
                </a:solidFill>
              </a:rPr>
              <a:t>/</a:t>
            </a:r>
            <a:r>
              <a:rPr lang="ko-KR" altLang="en-US" sz="1600" b="1" kern="0" spc="-50" dirty="0">
                <a:solidFill>
                  <a:srgbClr val="FF0000"/>
                </a:solidFill>
              </a:rPr>
              <a:t>출력 값의 관계는 패리티 체크 행렬</a:t>
            </a:r>
            <a:r>
              <a:rPr lang="ko-KR" altLang="en-US" sz="1600" kern="0" spc="-50" dirty="0">
                <a:solidFill>
                  <a:prstClr val="black"/>
                </a:solidFill>
              </a:rPr>
              <a:t>에 의해 결정됨</a:t>
            </a:r>
            <a:r>
              <a:rPr lang="en-US" altLang="ko-KR" sz="1600" kern="0" spc="-50" dirty="0">
                <a:solidFill>
                  <a:prstClr val="black"/>
                </a:solidFill>
              </a:rPr>
              <a:t>.</a:t>
            </a:r>
          </a:p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b="1" kern="0" spc="-50" dirty="0">
                <a:solidFill>
                  <a:srgbClr val="FF0000"/>
                </a:solidFill>
              </a:rPr>
              <a:t>이전 해쉬 값</a:t>
            </a:r>
            <a:r>
              <a:rPr lang="ko-KR" altLang="en-US" sz="1600" kern="0" spc="-50" dirty="0">
                <a:solidFill>
                  <a:prstClr val="black"/>
                </a:solidFill>
              </a:rPr>
              <a:t>을 이용해 패리티 체크 행렬을 설계하도록 구현함</a:t>
            </a:r>
            <a:r>
              <a:rPr lang="en-US" altLang="ko-KR" sz="1600" kern="0" spc="-50" dirty="0">
                <a:solidFill>
                  <a:prstClr val="black"/>
                </a:solidFill>
              </a:rPr>
              <a:t>. 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="" xmlns:a16="http://schemas.microsoft.com/office/drawing/2014/main" id="{C53D36E5-5476-4409-B7F7-5ECC3840BD36}"/>
              </a:ext>
            </a:extLst>
          </p:cNvPr>
          <p:cNvSpPr/>
          <p:nvPr/>
        </p:nvSpPr>
        <p:spPr>
          <a:xfrm>
            <a:off x="336000" y="1340768"/>
            <a:ext cx="8556480" cy="45719"/>
          </a:xfrm>
          <a:prstGeom prst="rect">
            <a:avLst/>
          </a:prstGeom>
          <a:solidFill>
            <a:srgbClr val="0255B8"/>
          </a:solidFill>
          <a:ln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ts val="600"/>
              </a:spcBef>
            </a:pPr>
            <a:endParaRPr lang="ko-KR" altLang="en-US" b="1" kern="0" dirty="0">
              <a:solidFill>
                <a:srgbClr val="0255B8"/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827584" y="899428"/>
            <a:ext cx="41953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prstClr val="black"/>
                </a:solidFill>
              </a:rPr>
              <a:t>매 블록마다 바뀌는 암호 퍼즐 생성 연구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="" xmlns:a16="http://schemas.microsoft.com/office/drawing/2014/main" id="{935E5D17-7C7F-4EF3-9020-1EA392396CB2}"/>
              </a:ext>
            </a:extLst>
          </p:cNvPr>
          <p:cNvGrpSpPr/>
          <p:nvPr/>
        </p:nvGrpSpPr>
        <p:grpSpPr>
          <a:xfrm>
            <a:off x="755576" y="2863231"/>
            <a:ext cx="7543799" cy="3086049"/>
            <a:chOff x="2674850" y="1924594"/>
            <a:chExt cx="7183253" cy="2646489"/>
          </a:xfrm>
        </p:grpSpPr>
        <p:sp>
          <p:nvSpPr>
            <p:cNvPr id="31" name="직사각형 30">
              <a:extLst>
                <a:ext uri="{FF2B5EF4-FFF2-40B4-BE49-F238E27FC236}">
                  <a16:creationId xmlns="" xmlns:a16="http://schemas.microsoft.com/office/drawing/2014/main" id="{5A78DA76-EC29-434C-AA9F-BAF72F50AE31}"/>
                </a:ext>
              </a:extLst>
            </p:cNvPr>
            <p:cNvSpPr/>
            <p:nvPr/>
          </p:nvSpPr>
          <p:spPr>
            <a:xfrm>
              <a:off x="2674850" y="1924594"/>
              <a:ext cx="1897150" cy="813310"/>
            </a:xfrm>
            <a:prstGeom prst="rect">
              <a:avLst/>
            </a:prstGeom>
            <a:noFill/>
            <a:ln w="6350">
              <a:solidFill>
                <a:srgbClr val="0255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 dirty="0">
                  <a:solidFill>
                    <a:srgbClr val="0255B8"/>
                  </a:solidFill>
                </a:rPr>
                <a:t>블록 헤더</a:t>
              </a:r>
            </a:p>
            <a:p>
              <a:pPr algn="ctr"/>
              <a:r>
                <a:rPr lang="en-US" altLang="ko-KR" sz="1400" dirty="0">
                  <a:solidFill>
                    <a:srgbClr val="0255B8"/>
                  </a:solidFill>
                </a:rPr>
                <a:t>(version, previous hash value, </a:t>
              </a:r>
              <a:r>
                <a:rPr lang="en-US" altLang="ko-KR" sz="1400" dirty="0" err="1">
                  <a:solidFill>
                    <a:srgbClr val="0255B8"/>
                  </a:solidFill>
                </a:rPr>
                <a:t>merkle</a:t>
              </a:r>
              <a:r>
                <a:rPr lang="en-US" altLang="ko-KR" sz="1400" dirty="0">
                  <a:solidFill>
                    <a:srgbClr val="0255B8"/>
                  </a:solidFill>
                </a:rPr>
                <a:t> tree value ...)</a:t>
              </a: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="" xmlns:a16="http://schemas.microsoft.com/office/drawing/2014/main" id="{203CFEA0-E25D-40F2-A1A9-3E2D713A89F0}"/>
                </a:ext>
              </a:extLst>
            </p:cNvPr>
            <p:cNvSpPr/>
            <p:nvPr/>
          </p:nvSpPr>
          <p:spPr>
            <a:xfrm>
              <a:off x="5535687" y="2987040"/>
              <a:ext cx="2194086" cy="813310"/>
            </a:xfrm>
            <a:prstGeom prst="rect">
              <a:avLst/>
            </a:prstGeom>
            <a:solidFill>
              <a:srgbClr val="0255B8"/>
            </a:solidFill>
            <a:ln w="6350">
              <a:solidFill>
                <a:srgbClr val="0255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>
                  <a:solidFill>
                    <a:prstClr val="white"/>
                  </a:solidFill>
                </a:rPr>
                <a:t>패리티 체크 행렬 생성 부분</a:t>
              </a:r>
            </a:p>
            <a:p>
              <a:pPr algn="ctr"/>
              <a:r>
                <a:rPr lang="ko-KR" altLang="en-US" sz="1400" dirty="0">
                  <a:solidFill>
                    <a:prstClr val="white"/>
                  </a:solidFill>
                </a:rPr>
                <a:t>입력 </a:t>
              </a:r>
              <a:r>
                <a:rPr lang="en-US" altLang="ko-KR" sz="1400" dirty="0">
                  <a:solidFill>
                    <a:prstClr val="white"/>
                  </a:solidFill>
                </a:rPr>
                <a:t>: previous hash, difficulty</a:t>
              </a:r>
              <a:endParaRPr lang="ko-KR" altLang="en-US" sz="1400" dirty="0">
                <a:solidFill>
                  <a:prstClr val="white"/>
                </a:solidFill>
              </a:endParaRPr>
            </a:p>
            <a:p>
              <a:pPr algn="ctr"/>
              <a:r>
                <a:rPr lang="ko-KR" altLang="en-US" sz="1400" dirty="0">
                  <a:solidFill>
                    <a:prstClr val="white"/>
                  </a:solidFill>
                </a:rPr>
                <a:t>출력 </a:t>
              </a:r>
              <a:r>
                <a:rPr lang="en-US" altLang="ko-KR" sz="1400" dirty="0">
                  <a:solidFill>
                    <a:prstClr val="white"/>
                  </a:solidFill>
                </a:rPr>
                <a:t>: parity check matrix H</a:t>
              </a:r>
              <a:endParaRPr lang="en-US" altLang="ko-KR" sz="1600" dirty="0">
                <a:solidFill>
                  <a:prstClr val="white"/>
                </a:solidFill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="" xmlns:a16="http://schemas.microsoft.com/office/drawing/2014/main" id="{DD1A8B28-23E4-4783-9517-CF97EE7B9051}"/>
                </a:ext>
              </a:extLst>
            </p:cNvPr>
            <p:cNvSpPr/>
            <p:nvPr/>
          </p:nvSpPr>
          <p:spPr>
            <a:xfrm>
              <a:off x="8693459" y="2987040"/>
              <a:ext cx="1164644" cy="813310"/>
            </a:xfrm>
            <a:prstGeom prst="rect">
              <a:avLst/>
            </a:prstGeom>
            <a:solidFill>
              <a:srgbClr val="0255B8"/>
            </a:solidFill>
            <a:ln w="6350">
              <a:solidFill>
                <a:srgbClr val="0255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>
                  <a:solidFill>
                    <a:prstClr val="white"/>
                  </a:solidFill>
                </a:rPr>
                <a:t>난이도</a:t>
              </a:r>
              <a:endParaRPr lang="en-US" altLang="ko-KR" sz="1400" b="1" dirty="0">
                <a:solidFill>
                  <a:prstClr val="white"/>
                </a:solidFill>
              </a:endParaRPr>
            </a:p>
            <a:p>
              <a:pPr algn="ctr"/>
              <a:r>
                <a:rPr lang="ko-KR" altLang="en-US" sz="1400" b="1" dirty="0">
                  <a:solidFill>
                    <a:prstClr val="white"/>
                  </a:solidFill>
                </a:rPr>
                <a:t>조절 장치</a:t>
              </a:r>
              <a:endParaRPr lang="en-US" altLang="ko-KR" sz="1600" dirty="0">
                <a:solidFill>
                  <a:prstClr val="white"/>
                </a:solidFill>
              </a:endParaRPr>
            </a:p>
          </p:txBody>
        </p:sp>
        <p:cxnSp>
          <p:nvCxnSpPr>
            <p:cNvPr id="34" name="연결선: 꺾임 3">
              <a:extLst>
                <a:ext uri="{FF2B5EF4-FFF2-40B4-BE49-F238E27FC236}">
                  <a16:creationId xmlns="" xmlns:a16="http://schemas.microsoft.com/office/drawing/2014/main" id="{FE5D0B6F-FDAA-459D-8DC6-A8C702A89D00}"/>
                </a:ext>
              </a:extLst>
            </p:cNvPr>
            <p:cNvCxnSpPr>
              <a:cxnSpLocks/>
              <a:stCxn id="31" idx="2"/>
              <a:endCxn id="32" idx="1"/>
            </p:cNvCxnSpPr>
            <p:nvPr/>
          </p:nvCxnSpPr>
          <p:spPr>
            <a:xfrm rot="16200000" flipH="1">
              <a:off x="4251661" y="2109668"/>
              <a:ext cx="655791" cy="1912262"/>
            </a:xfrm>
            <a:prstGeom prst="bentConnector2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="" xmlns:a16="http://schemas.microsoft.com/office/drawing/2014/main" id="{6411B497-CF5D-4093-97D7-5BBC68175A2C}"/>
                </a:ext>
              </a:extLst>
            </p:cNvPr>
            <p:cNvCxnSpPr>
              <a:cxnSpLocks/>
              <a:stCxn id="33" idx="1"/>
              <a:endCxn id="32" idx="3"/>
            </p:cNvCxnSpPr>
            <p:nvPr/>
          </p:nvCxnSpPr>
          <p:spPr>
            <a:xfrm flipH="1">
              <a:off x="7729773" y="3393695"/>
              <a:ext cx="963686" cy="0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연결선: 꺾임 52">
              <a:extLst>
                <a:ext uri="{FF2B5EF4-FFF2-40B4-BE49-F238E27FC236}">
                  <a16:creationId xmlns="" xmlns:a16="http://schemas.microsoft.com/office/drawing/2014/main" id="{A86BF4BC-43BB-410F-A363-B1A9542EB347}"/>
                </a:ext>
              </a:extLst>
            </p:cNvPr>
            <p:cNvCxnSpPr>
              <a:cxnSpLocks/>
              <a:stCxn id="31" idx="3"/>
              <a:endCxn id="33" idx="0"/>
            </p:cNvCxnSpPr>
            <p:nvPr/>
          </p:nvCxnSpPr>
          <p:spPr>
            <a:xfrm>
              <a:off x="4572000" y="2331249"/>
              <a:ext cx="4703781" cy="655791"/>
            </a:xfrm>
            <a:prstGeom prst="bentConnector2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직사각형 36">
              <a:extLst>
                <a:ext uri="{FF2B5EF4-FFF2-40B4-BE49-F238E27FC236}">
                  <a16:creationId xmlns="" xmlns:a16="http://schemas.microsoft.com/office/drawing/2014/main" id="{CFAAC7F4-2C26-4305-B65C-20E25D90AF9B}"/>
                </a:ext>
              </a:extLst>
            </p:cNvPr>
            <p:cNvSpPr/>
            <p:nvPr/>
          </p:nvSpPr>
          <p:spPr>
            <a:xfrm>
              <a:off x="6746771" y="1954494"/>
              <a:ext cx="2617758" cy="290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ko-KR" altLang="en-US" sz="1600" b="1" dirty="0">
                  <a:solidFill>
                    <a:prstClr val="black"/>
                  </a:solidFill>
                </a:rPr>
                <a:t>현재 블록 높이 </a:t>
              </a:r>
              <a:r>
                <a:rPr lang="en-US" altLang="ko-KR" sz="1600" b="1" dirty="0">
                  <a:solidFill>
                    <a:prstClr val="black"/>
                  </a:solidFill>
                </a:rPr>
                <a:t>(Block Height)</a:t>
              </a: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="" xmlns:a16="http://schemas.microsoft.com/office/drawing/2014/main" id="{B8B35063-D71B-4EA7-99D6-73FE0FDFD311}"/>
                </a:ext>
              </a:extLst>
            </p:cNvPr>
            <p:cNvSpPr/>
            <p:nvPr/>
          </p:nvSpPr>
          <p:spPr>
            <a:xfrm>
              <a:off x="3528703" y="3459555"/>
              <a:ext cx="1938576" cy="50148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600" b="1" dirty="0">
                  <a:solidFill>
                    <a:srgbClr val="FF0000"/>
                  </a:solidFill>
                </a:rPr>
                <a:t>이전 </a:t>
              </a:r>
              <a:r>
                <a:rPr lang="ko-KR" altLang="en-US" sz="1600" b="1" dirty="0" err="1">
                  <a:solidFill>
                    <a:srgbClr val="FF0000"/>
                  </a:solidFill>
                </a:rPr>
                <a:t>해쉬</a:t>
              </a:r>
              <a:r>
                <a:rPr lang="ko-KR" altLang="en-US" sz="1600" b="1" dirty="0">
                  <a:solidFill>
                    <a:srgbClr val="FF0000"/>
                  </a:solidFill>
                </a:rPr>
                <a:t> 값 </a:t>
              </a:r>
            </a:p>
            <a:p>
              <a:pPr algn="ctr"/>
              <a:r>
                <a:rPr lang="en-US" altLang="ko-KR" sz="1600" b="1" dirty="0">
                  <a:solidFill>
                    <a:srgbClr val="FF0000"/>
                  </a:solidFill>
                </a:rPr>
                <a:t>(Previous Hash Value)</a:t>
              </a:r>
            </a:p>
          </p:txBody>
        </p:sp>
        <p:sp>
          <p:nvSpPr>
            <p:cNvPr id="39" name="자유형: 도형 61">
              <a:extLst>
                <a:ext uri="{FF2B5EF4-FFF2-40B4-BE49-F238E27FC236}">
                  <a16:creationId xmlns="" xmlns:a16="http://schemas.microsoft.com/office/drawing/2014/main" id="{29C1683C-C063-4B8F-B548-610FCCC63DF5}"/>
                </a:ext>
              </a:extLst>
            </p:cNvPr>
            <p:cNvSpPr/>
            <p:nvPr/>
          </p:nvSpPr>
          <p:spPr>
            <a:xfrm>
              <a:off x="6635931" y="3840480"/>
              <a:ext cx="0" cy="609600"/>
            </a:xfrm>
            <a:custGeom>
              <a:avLst/>
              <a:gdLst>
                <a:gd name="connsiteX0" fmla="*/ 0 w 0"/>
                <a:gd name="connsiteY0" fmla="*/ 0 h 609600"/>
                <a:gd name="connsiteX1" fmla="*/ 0 w 0"/>
                <a:gd name="connsiteY1" fmla="*/ 609600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609600">
                  <a:moveTo>
                    <a:pt x="0" y="0"/>
                  </a:moveTo>
                  <a:lnTo>
                    <a:pt x="0" y="609600"/>
                  </a:lnTo>
                </a:path>
              </a:pathLst>
            </a:custGeom>
            <a:ln w="1905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2000">
                <a:solidFill>
                  <a:prstClr val="black"/>
                </a:solidFill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="" xmlns:a16="http://schemas.microsoft.com/office/drawing/2014/main" id="{9BBC0F81-A230-42CD-9CC6-254F20136978}"/>
                </a:ext>
              </a:extLst>
            </p:cNvPr>
            <p:cNvSpPr/>
            <p:nvPr/>
          </p:nvSpPr>
          <p:spPr>
            <a:xfrm>
              <a:off x="6877765" y="4069600"/>
              <a:ext cx="2050674" cy="50148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600" b="1" dirty="0">
                  <a:solidFill>
                    <a:prstClr val="black"/>
                  </a:solidFill>
                </a:rPr>
                <a:t>패리티 체크 행렬</a:t>
              </a:r>
              <a:endParaRPr lang="en-US" altLang="ko-KR" sz="1600" b="1" dirty="0">
                <a:solidFill>
                  <a:prstClr val="black"/>
                </a:solidFill>
              </a:endParaRPr>
            </a:p>
            <a:p>
              <a:pPr algn="ctr"/>
              <a:r>
                <a:rPr lang="en-US" altLang="ko-KR" sz="1600" b="1" dirty="0">
                  <a:solidFill>
                    <a:prstClr val="black"/>
                  </a:solidFill>
                </a:rPr>
                <a:t>(Parity Check Matrix) H</a:t>
              </a: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="" xmlns:a16="http://schemas.microsoft.com/office/drawing/2014/main" id="{E4D9033D-EB86-4E51-992B-CE199F2E7062}"/>
                </a:ext>
              </a:extLst>
            </p:cNvPr>
            <p:cNvSpPr/>
            <p:nvPr/>
          </p:nvSpPr>
          <p:spPr>
            <a:xfrm>
              <a:off x="7830628" y="3059777"/>
              <a:ext cx="761974" cy="290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600" b="1">
                  <a:solidFill>
                    <a:prstClr val="black"/>
                  </a:solidFill>
                </a:rPr>
                <a:t>난이도</a:t>
              </a:r>
              <a:endParaRPr lang="en-US" altLang="ko-KR" sz="1600" b="1" dirty="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79863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28650" y="74814"/>
            <a:ext cx="50624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prstClr val="black"/>
                </a:solidFill>
              </a:rPr>
              <a:t>세부 연구 </a:t>
            </a:r>
            <a:r>
              <a:rPr lang="ko-KR" altLang="en-US" sz="3200" b="1" dirty="0" smtClean="0">
                <a:solidFill>
                  <a:prstClr val="black"/>
                </a:solidFill>
              </a:rPr>
              <a:t>내역</a:t>
            </a:r>
            <a:endParaRPr lang="ko-KR" altLang="en-US" sz="3200" b="1" dirty="0">
              <a:solidFill>
                <a:prstClr val="black"/>
              </a:solidFill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49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="" xmlns:a16="http://schemas.microsoft.com/office/drawing/2014/main" id="{4C70D3A6-2D13-4F22-9C06-C56F2B48E196}"/>
              </a:ext>
            </a:extLst>
          </p:cNvPr>
          <p:cNvSpPr/>
          <p:nvPr/>
        </p:nvSpPr>
        <p:spPr>
          <a:xfrm>
            <a:off x="336000" y="1404142"/>
            <a:ext cx="8556480" cy="10167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kern="0" spc="-50" dirty="0">
                <a:solidFill>
                  <a:prstClr val="black"/>
                </a:solidFill>
              </a:rPr>
              <a:t>현재 블록 헤더 </a:t>
            </a:r>
            <a:r>
              <a:rPr lang="en-US" altLang="ko-KR" sz="1600" kern="0" spc="-50" dirty="0">
                <a:solidFill>
                  <a:prstClr val="black"/>
                </a:solidFill>
              </a:rPr>
              <a:t>(Current Block Header, CBH)</a:t>
            </a:r>
            <a:r>
              <a:rPr lang="ko-KR" altLang="en-US" sz="1600" kern="0" spc="-50" dirty="0">
                <a:solidFill>
                  <a:prstClr val="black"/>
                </a:solidFill>
              </a:rPr>
              <a:t>는 </a:t>
            </a:r>
            <a:r>
              <a:rPr lang="ko-KR" altLang="en-US" sz="1600" kern="0" spc="-50" dirty="0" err="1">
                <a:solidFill>
                  <a:prstClr val="black"/>
                </a:solidFill>
              </a:rPr>
              <a:t>논스가</a:t>
            </a:r>
            <a:r>
              <a:rPr lang="ko-KR" altLang="en-US" sz="1600" kern="0" spc="-50" dirty="0">
                <a:solidFill>
                  <a:prstClr val="black"/>
                </a:solidFill>
              </a:rPr>
              <a:t> 정해지면 결정됨</a:t>
            </a:r>
            <a:r>
              <a:rPr lang="en-US" altLang="ko-KR" sz="1600" kern="0" spc="-50" dirty="0">
                <a:solidFill>
                  <a:prstClr val="black"/>
                </a:solidFill>
              </a:rPr>
              <a:t>.</a:t>
            </a:r>
          </a:p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kern="0" spc="-50" dirty="0">
                <a:solidFill>
                  <a:prstClr val="black"/>
                </a:solidFill>
              </a:rPr>
              <a:t>오류 정정 부호 디코더는 </a:t>
            </a:r>
            <a:r>
              <a:rPr lang="en-US" altLang="ko-KR" sz="1600" kern="0" spc="-50" dirty="0">
                <a:solidFill>
                  <a:prstClr val="black"/>
                </a:solidFill>
              </a:rPr>
              <a:t> 1) </a:t>
            </a:r>
            <a:r>
              <a:rPr lang="ko-KR" altLang="en-US" sz="1600" kern="0" spc="-50" dirty="0">
                <a:solidFill>
                  <a:prstClr val="black"/>
                </a:solidFill>
              </a:rPr>
              <a:t>해쉬 벡터</a:t>
            </a:r>
            <a:r>
              <a:rPr lang="en-US" altLang="ko-KR" sz="1600" kern="0" spc="-50" dirty="0">
                <a:solidFill>
                  <a:prstClr val="black"/>
                </a:solidFill>
              </a:rPr>
              <a:t>, 2) </a:t>
            </a:r>
            <a:r>
              <a:rPr lang="ko-KR" altLang="en-US" sz="1600" kern="0" spc="-50" dirty="0">
                <a:solidFill>
                  <a:prstClr val="black"/>
                </a:solidFill>
              </a:rPr>
              <a:t>패리티 체크 행렬을 취득하고 </a:t>
            </a:r>
            <a:r>
              <a:rPr lang="en-US" altLang="ko-KR" sz="1600" b="1" kern="0" spc="-50" dirty="0">
                <a:solidFill>
                  <a:srgbClr val="FF0000"/>
                </a:solidFill>
              </a:rPr>
              <a:t>Message-Passing</a:t>
            </a:r>
            <a:r>
              <a:rPr lang="ko-KR" altLang="en-US" sz="1600" b="1" kern="0" spc="-50" dirty="0">
                <a:solidFill>
                  <a:srgbClr val="FF0000"/>
                </a:solidFill>
              </a:rPr>
              <a:t> 알고리즘</a:t>
            </a:r>
            <a:r>
              <a:rPr lang="ko-KR" altLang="en-US" sz="1600" kern="0" spc="-50" dirty="0">
                <a:solidFill>
                  <a:prstClr val="black"/>
                </a:solidFill>
              </a:rPr>
              <a:t>을 실행하여 출력 값인 </a:t>
            </a:r>
            <a:r>
              <a:rPr lang="en-US" altLang="ko-KR" sz="1600" kern="0" spc="-50" dirty="0">
                <a:solidFill>
                  <a:prstClr val="black"/>
                </a:solidFill>
              </a:rPr>
              <a:t>c</a:t>
            </a:r>
            <a:r>
              <a:rPr lang="ko-KR" altLang="en-US" sz="1600" kern="0" spc="-50" dirty="0">
                <a:solidFill>
                  <a:prstClr val="black"/>
                </a:solidFill>
              </a:rPr>
              <a:t>를 산출하도록 설계함</a:t>
            </a:r>
            <a:r>
              <a:rPr lang="en-US" altLang="ko-KR" sz="1600" kern="0" spc="-50" dirty="0">
                <a:solidFill>
                  <a:prstClr val="black"/>
                </a:solidFill>
              </a:rPr>
              <a:t>.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="" xmlns:a16="http://schemas.microsoft.com/office/drawing/2014/main" id="{C53D36E5-5476-4409-B7F7-5ECC3840BD36}"/>
              </a:ext>
            </a:extLst>
          </p:cNvPr>
          <p:cNvSpPr/>
          <p:nvPr/>
        </p:nvSpPr>
        <p:spPr>
          <a:xfrm>
            <a:off x="336000" y="1340768"/>
            <a:ext cx="8556480" cy="45719"/>
          </a:xfrm>
          <a:prstGeom prst="rect">
            <a:avLst/>
          </a:prstGeom>
          <a:solidFill>
            <a:srgbClr val="0255B8"/>
          </a:solidFill>
          <a:ln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ts val="600"/>
              </a:spcBef>
            </a:pPr>
            <a:endParaRPr lang="ko-KR" altLang="en-US" b="1" kern="0" dirty="0">
              <a:solidFill>
                <a:srgbClr val="0255B8"/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827584" y="899428"/>
            <a:ext cx="44262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prstClr val="black"/>
                </a:solidFill>
              </a:rPr>
              <a:t>매 블록마다 바뀌는 암호 퍼즐 </a:t>
            </a:r>
            <a:r>
              <a:rPr lang="ko-KR" altLang="en-US" b="1" dirty="0" err="1">
                <a:solidFill>
                  <a:prstClr val="black"/>
                </a:solidFill>
              </a:rPr>
              <a:t>디코더</a:t>
            </a:r>
            <a:r>
              <a:rPr lang="ko-KR" altLang="en-US" b="1" dirty="0">
                <a:solidFill>
                  <a:prstClr val="black"/>
                </a:solidFill>
              </a:rPr>
              <a:t> 개발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="" xmlns:a16="http://schemas.microsoft.com/office/drawing/2014/main" id="{F5F6A314-E155-4358-AE42-E15D3C742CB3}"/>
              </a:ext>
            </a:extLst>
          </p:cNvPr>
          <p:cNvGrpSpPr/>
          <p:nvPr/>
        </p:nvGrpSpPr>
        <p:grpSpPr>
          <a:xfrm>
            <a:off x="792945" y="2564904"/>
            <a:ext cx="7523471" cy="1675608"/>
            <a:chOff x="1057260" y="3665033"/>
            <a:chExt cx="10031295" cy="1480571"/>
          </a:xfrm>
        </p:grpSpPr>
        <p:sp>
          <p:nvSpPr>
            <p:cNvPr id="21" name="직사각형 20">
              <a:extLst>
                <a:ext uri="{FF2B5EF4-FFF2-40B4-BE49-F238E27FC236}">
                  <a16:creationId xmlns="" xmlns:a16="http://schemas.microsoft.com/office/drawing/2014/main" id="{E1496055-DE08-43B0-B86A-F494FA92AFE1}"/>
                </a:ext>
              </a:extLst>
            </p:cNvPr>
            <p:cNvSpPr/>
            <p:nvPr/>
          </p:nvSpPr>
          <p:spPr>
            <a:xfrm>
              <a:off x="1057260" y="4344285"/>
              <a:ext cx="1637498" cy="675693"/>
            </a:xfrm>
            <a:prstGeom prst="rect">
              <a:avLst/>
            </a:prstGeom>
            <a:noFill/>
            <a:ln w="6350">
              <a:solidFill>
                <a:srgbClr val="0255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>
                  <a:solidFill>
                    <a:prstClr val="black"/>
                  </a:solidFill>
                </a:rPr>
                <a:t>논스</a:t>
              </a:r>
              <a:r>
                <a:rPr lang="ko-KR" altLang="en-US" sz="1200" dirty="0">
                  <a:solidFill>
                    <a:prstClr val="black"/>
                  </a:solidFill>
                </a:rPr>
                <a:t> </a:t>
              </a:r>
              <a:r>
                <a:rPr lang="ko-KR" altLang="en-US" sz="1200" dirty="0" err="1">
                  <a:solidFill>
                    <a:prstClr val="black"/>
                  </a:solidFill>
                </a:rPr>
                <a:t>생성기</a:t>
              </a:r>
              <a:endParaRPr lang="ko-KR" altLang="en-US" sz="1200" dirty="0">
                <a:solidFill>
                  <a:prstClr val="black"/>
                </a:solidFill>
              </a:endParaRPr>
            </a:p>
            <a:p>
              <a:pPr algn="ctr"/>
              <a:r>
                <a:rPr lang="en-US" altLang="ko-KR" sz="1100" dirty="0">
                  <a:solidFill>
                    <a:prstClr val="black"/>
                  </a:solidFill>
                </a:rPr>
                <a:t>(Nonce Generator)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="" xmlns:a16="http://schemas.microsoft.com/office/drawing/2014/main" id="{33C942C1-8EF2-40A1-BEAC-905041D2EED9}"/>
                </a:ext>
              </a:extLst>
            </p:cNvPr>
            <p:cNvSpPr/>
            <p:nvPr/>
          </p:nvSpPr>
          <p:spPr>
            <a:xfrm>
              <a:off x="6808669" y="4344285"/>
              <a:ext cx="2449532" cy="675693"/>
            </a:xfrm>
            <a:prstGeom prst="rect">
              <a:avLst/>
            </a:prstGeom>
            <a:solidFill>
              <a:srgbClr val="0255B8"/>
            </a:solidFill>
            <a:ln w="6350">
              <a:solidFill>
                <a:srgbClr val="0255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prstClr val="white"/>
                  </a:solidFill>
                </a:rPr>
                <a:t>오류 정정 부호 </a:t>
              </a:r>
              <a:r>
                <a:rPr lang="ko-KR" altLang="en-US" sz="1200" dirty="0" err="1">
                  <a:solidFill>
                    <a:prstClr val="white"/>
                  </a:solidFill>
                </a:rPr>
                <a:t>디코더</a:t>
              </a:r>
              <a:endParaRPr lang="en-US" altLang="ko-KR" sz="1200" dirty="0">
                <a:solidFill>
                  <a:prstClr val="white"/>
                </a:solidFill>
              </a:endParaRPr>
            </a:p>
            <a:p>
              <a:pPr algn="ctr"/>
              <a:r>
                <a:rPr lang="ko-KR" altLang="en-US" sz="1100" dirty="0">
                  <a:solidFill>
                    <a:prstClr val="white"/>
                  </a:solidFill>
                </a:rPr>
                <a:t>입력 </a:t>
              </a:r>
              <a:r>
                <a:rPr lang="en-US" altLang="ko-KR" sz="1100" dirty="0">
                  <a:solidFill>
                    <a:prstClr val="white"/>
                  </a:solidFill>
                </a:rPr>
                <a:t>: </a:t>
              </a:r>
              <a:r>
                <a:rPr lang="en-US" altLang="ko-KR" sz="1100" b="1" dirty="0">
                  <a:solidFill>
                    <a:prstClr val="white"/>
                  </a:solidFill>
                </a:rPr>
                <a:t>H</a:t>
              </a:r>
              <a:r>
                <a:rPr lang="en-US" altLang="ko-KR" sz="1100" dirty="0">
                  <a:solidFill>
                    <a:prstClr val="white"/>
                  </a:solidFill>
                </a:rPr>
                <a:t>, </a:t>
              </a:r>
              <a:r>
                <a:rPr lang="en-US" altLang="ko-KR" sz="1100" b="1" dirty="0">
                  <a:solidFill>
                    <a:prstClr val="white"/>
                  </a:solidFill>
                </a:rPr>
                <a:t>r</a:t>
              </a:r>
              <a:r>
                <a:rPr lang="en-US" altLang="ko-KR" sz="1100" dirty="0">
                  <a:solidFill>
                    <a:prstClr val="white"/>
                  </a:solidFill>
                </a:rPr>
                <a:t> / </a:t>
              </a:r>
              <a:r>
                <a:rPr lang="ko-KR" altLang="en-US" sz="1100" dirty="0">
                  <a:solidFill>
                    <a:prstClr val="white"/>
                  </a:solidFill>
                </a:rPr>
                <a:t>출력 </a:t>
              </a:r>
              <a:r>
                <a:rPr lang="en-US" altLang="ko-KR" sz="1100" dirty="0">
                  <a:solidFill>
                    <a:prstClr val="white"/>
                  </a:solidFill>
                </a:rPr>
                <a:t>: </a:t>
              </a:r>
              <a:r>
                <a:rPr lang="en-US" altLang="ko-KR" sz="1100" b="1" dirty="0">
                  <a:solidFill>
                    <a:prstClr val="white"/>
                  </a:solidFill>
                </a:rPr>
                <a:t>c</a:t>
              </a:r>
              <a:endParaRPr lang="en-US" altLang="ko-KR" sz="1200" b="1" dirty="0">
                <a:solidFill>
                  <a:prstClr val="white"/>
                </a:solidFill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="" xmlns:a16="http://schemas.microsoft.com/office/drawing/2014/main" id="{C3AC94E8-C3E0-4000-9683-3F035A74F0A2}"/>
                </a:ext>
              </a:extLst>
            </p:cNvPr>
            <p:cNvSpPr/>
            <p:nvPr/>
          </p:nvSpPr>
          <p:spPr>
            <a:xfrm>
              <a:off x="2735627" y="4711594"/>
              <a:ext cx="656591" cy="24475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200" dirty="0" err="1">
                  <a:solidFill>
                    <a:prstClr val="black"/>
                  </a:solidFill>
                </a:rPr>
                <a:t>논스</a:t>
              </a:r>
              <a:endParaRPr lang="ko-KR" altLang="en-US" sz="1200" dirty="0">
                <a:solidFill>
                  <a:prstClr val="black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="" xmlns:a16="http://schemas.microsoft.com/office/drawing/2014/main" id="{B0426FBB-CE6D-4CAE-BD3C-85732A6B06F7}"/>
                </a:ext>
              </a:extLst>
            </p:cNvPr>
            <p:cNvSpPr/>
            <p:nvPr/>
          </p:nvSpPr>
          <p:spPr>
            <a:xfrm>
              <a:off x="3574952" y="4344285"/>
              <a:ext cx="1637498" cy="675693"/>
            </a:xfrm>
            <a:prstGeom prst="rect">
              <a:avLst/>
            </a:prstGeom>
            <a:noFill/>
            <a:ln w="6350">
              <a:solidFill>
                <a:srgbClr val="0255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>
                  <a:solidFill>
                    <a:prstClr val="black"/>
                  </a:solidFill>
                </a:rPr>
                <a:t>해쉬</a:t>
              </a:r>
              <a:r>
                <a:rPr lang="ko-KR" altLang="en-US" sz="1200" dirty="0">
                  <a:solidFill>
                    <a:prstClr val="black"/>
                  </a:solidFill>
                </a:rPr>
                <a:t> 알고리즘</a:t>
              </a:r>
              <a:r>
                <a:rPr lang="en-US" altLang="ko-KR" sz="1200" dirty="0">
                  <a:solidFill>
                    <a:prstClr val="black"/>
                  </a:solidFill>
                </a:rPr>
                <a:t>, </a:t>
              </a:r>
            </a:p>
            <a:p>
              <a:pPr algn="ctr"/>
              <a:r>
                <a:rPr lang="en-US" altLang="ko-KR" sz="1200" dirty="0">
                  <a:solidFill>
                    <a:prstClr val="black"/>
                  </a:solidFill>
                </a:rPr>
                <a:t>e.g., SHA256</a:t>
              </a: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="" xmlns:a16="http://schemas.microsoft.com/office/drawing/2014/main" id="{352D92A5-A659-40CC-978F-00EC012936CB}"/>
                </a:ext>
              </a:extLst>
            </p:cNvPr>
            <p:cNvCxnSpPr>
              <a:stCxn id="21" idx="3"/>
              <a:endCxn id="24" idx="1"/>
            </p:cNvCxnSpPr>
            <p:nvPr/>
          </p:nvCxnSpPr>
          <p:spPr>
            <a:xfrm>
              <a:off x="2694758" y="4682131"/>
              <a:ext cx="880194" cy="0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="" xmlns:a16="http://schemas.microsoft.com/office/drawing/2014/main" id="{62E41A45-7D6E-4249-9CF7-A23D963A9838}"/>
                </a:ext>
              </a:extLst>
            </p:cNvPr>
            <p:cNvCxnSpPr>
              <a:stCxn id="24" idx="3"/>
              <a:endCxn id="22" idx="1"/>
            </p:cNvCxnSpPr>
            <p:nvPr/>
          </p:nvCxnSpPr>
          <p:spPr>
            <a:xfrm>
              <a:off x="5212449" y="4682131"/>
              <a:ext cx="1596219" cy="0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="" xmlns:a16="http://schemas.microsoft.com/office/drawing/2014/main" id="{A869DD9A-5E20-4332-B22E-815F6745B181}"/>
                </a:ext>
              </a:extLst>
            </p:cNvPr>
            <p:cNvCxnSpPr/>
            <p:nvPr/>
          </p:nvCxnSpPr>
          <p:spPr>
            <a:xfrm>
              <a:off x="9263387" y="4682131"/>
              <a:ext cx="1800000" cy="0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직사각형 27">
              <a:extLst>
                <a:ext uri="{FF2B5EF4-FFF2-40B4-BE49-F238E27FC236}">
                  <a16:creationId xmlns="" xmlns:a16="http://schemas.microsoft.com/office/drawing/2014/main" id="{7F41703C-3D3F-465B-8FB8-62B1E8BA80A3}"/>
                </a:ext>
              </a:extLst>
            </p:cNvPr>
            <p:cNvSpPr/>
            <p:nvPr/>
          </p:nvSpPr>
          <p:spPr>
            <a:xfrm>
              <a:off x="5303657" y="4737676"/>
              <a:ext cx="1275307" cy="40792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solidFill>
                    <a:prstClr val="black"/>
                  </a:solidFill>
                </a:rPr>
                <a:t>해쉬 벡터 </a:t>
              </a:r>
              <a:r>
                <a:rPr lang="en-US" altLang="ko-KR" sz="1200" b="1" dirty="0">
                  <a:solidFill>
                    <a:prstClr val="black"/>
                  </a:solidFill>
                </a:rPr>
                <a:t>r</a:t>
              </a:r>
            </a:p>
            <a:p>
              <a:pPr>
                <a:defRPr/>
              </a:pPr>
              <a:r>
                <a:rPr lang="ko-KR" altLang="en-US" sz="1200" b="1" dirty="0">
                  <a:solidFill>
                    <a:prstClr val="black"/>
                  </a:solidFill>
                </a:rPr>
                <a:t>크기</a:t>
              </a:r>
              <a:r>
                <a:rPr lang="en-US" altLang="ko-KR" sz="1200" b="1" dirty="0">
                  <a:solidFill>
                    <a:prstClr val="black"/>
                  </a:solidFill>
                </a:rPr>
                <a:t>: n by 1</a:t>
              </a: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="" xmlns:a16="http://schemas.microsoft.com/office/drawing/2014/main" id="{63E0BD85-5201-4792-A79B-8A8E4DDCF151}"/>
                </a:ext>
              </a:extLst>
            </p:cNvPr>
            <p:cNvSpPr/>
            <p:nvPr/>
          </p:nvSpPr>
          <p:spPr>
            <a:xfrm>
              <a:off x="9324824" y="4737675"/>
              <a:ext cx="1763731" cy="24475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200" dirty="0" err="1">
                  <a:solidFill>
                    <a:prstClr val="black"/>
                  </a:solidFill>
                </a:rPr>
                <a:t>디코더</a:t>
              </a:r>
              <a:r>
                <a:rPr lang="ko-KR" altLang="en-US" sz="1200" dirty="0">
                  <a:solidFill>
                    <a:prstClr val="black"/>
                  </a:solidFill>
                </a:rPr>
                <a:t> 출력 값 𝐜 ̂</a:t>
              </a: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="" xmlns:a16="http://schemas.microsoft.com/office/drawing/2014/main" id="{FB9C731F-BC2B-4B44-BFBE-392B4BE187F5}"/>
                </a:ext>
              </a:extLst>
            </p:cNvPr>
            <p:cNvSpPr/>
            <p:nvPr/>
          </p:nvSpPr>
          <p:spPr>
            <a:xfrm>
              <a:off x="7231190" y="3693570"/>
              <a:ext cx="2000976" cy="40792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200" b="1" dirty="0">
                  <a:solidFill>
                    <a:prstClr val="black"/>
                  </a:solidFill>
                </a:rPr>
                <a:t>패리티 체크 행렬 </a:t>
              </a:r>
              <a:r>
                <a:rPr lang="en-US" altLang="ko-KR" sz="1200" b="1" dirty="0">
                  <a:solidFill>
                    <a:prstClr val="black"/>
                  </a:solidFill>
                </a:rPr>
                <a:t>H </a:t>
              </a:r>
            </a:p>
            <a:p>
              <a:r>
                <a:rPr lang="ko-KR" altLang="en-US" sz="1200" b="1" dirty="0">
                  <a:solidFill>
                    <a:prstClr val="black"/>
                  </a:solidFill>
                </a:rPr>
                <a:t>크기</a:t>
              </a:r>
              <a:r>
                <a:rPr lang="en-US" altLang="ko-KR" sz="1200" b="1" dirty="0">
                  <a:solidFill>
                    <a:prstClr val="black"/>
                  </a:solidFill>
                </a:rPr>
                <a:t>: </a:t>
              </a:r>
              <a:r>
                <a:rPr lang="en-US" altLang="ko-KR" sz="1200" b="1" i="1" dirty="0">
                  <a:solidFill>
                    <a:prstClr val="black"/>
                  </a:solidFill>
                </a:rPr>
                <a:t>m</a:t>
              </a:r>
              <a:r>
                <a:rPr lang="en-US" altLang="ko-KR" sz="1200" b="1" dirty="0">
                  <a:solidFill>
                    <a:prstClr val="black"/>
                  </a:solidFill>
                </a:rPr>
                <a:t> by </a:t>
              </a:r>
              <a:r>
                <a:rPr lang="en-US" altLang="ko-KR" sz="1200" b="1" i="1" dirty="0">
                  <a:solidFill>
                    <a:prstClr val="black"/>
                  </a:solidFill>
                </a:rPr>
                <a:t>n</a:t>
              </a:r>
              <a:r>
                <a:rPr lang="en-US" altLang="ko-KR" sz="1200" b="1" dirty="0">
                  <a:solidFill>
                    <a:prstClr val="black"/>
                  </a:solidFill>
                </a:rPr>
                <a:t> </a:t>
              </a:r>
              <a:endParaRPr lang="ko-KR" altLang="en-US" sz="1200" b="1" dirty="0">
                <a:solidFill>
                  <a:prstClr val="black"/>
                </a:solidFill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="" xmlns:a16="http://schemas.microsoft.com/office/drawing/2014/main" id="{D585FC54-E9A2-4165-9364-9348E1BAD1F3}"/>
                </a:ext>
              </a:extLst>
            </p:cNvPr>
            <p:cNvSpPr/>
            <p:nvPr/>
          </p:nvSpPr>
          <p:spPr>
            <a:xfrm>
              <a:off x="4074241" y="3665033"/>
              <a:ext cx="2776829" cy="5711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200" dirty="0" err="1">
                  <a:solidFill>
                    <a:prstClr val="black"/>
                  </a:solidFill>
                </a:rPr>
                <a:t>논스를</a:t>
              </a:r>
              <a:r>
                <a:rPr lang="ko-KR" altLang="en-US" sz="1200" dirty="0">
                  <a:solidFill>
                    <a:prstClr val="black"/>
                  </a:solidFill>
                </a:rPr>
                <a:t> 제외한 블록 헤더</a:t>
              </a:r>
              <a:endParaRPr lang="en-US" altLang="ko-KR" sz="1200" dirty="0">
                <a:solidFill>
                  <a:prstClr val="black"/>
                </a:solidFill>
              </a:endParaRPr>
            </a:p>
            <a:p>
              <a:pPr algn="ctr"/>
              <a:r>
                <a:rPr lang="en-US" altLang="ko-KR" sz="1200" dirty="0">
                  <a:solidFill>
                    <a:prstClr val="black"/>
                  </a:solidFill>
                </a:rPr>
                <a:t>(version, previous hash </a:t>
              </a:r>
              <a:r>
                <a:rPr lang="en-US" altLang="ko-KR" sz="1200" dirty="0" smtClean="0">
                  <a:solidFill>
                    <a:prstClr val="black"/>
                  </a:solidFill>
                </a:rPr>
                <a:t>value,</a:t>
              </a:r>
              <a:endParaRPr lang="en-US" altLang="ko-KR" sz="1200" dirty="0">
                <a:solidFill>
                  <a:prstClr val="black"/>
                </a:solidFill>
              </a:endParaRPr>
            </a:p>
            <a:p>
              <a:pPr algn="ctr"/>
              <a:r>
                <a:rPr lang="en-US" altLang="ko-KR" sz="1200" dirty="0" smtClean="0">
                  <a:solidFill>
                    <a:prstClr val="black"/>
                  </a:solidFill>
                </a:rPr>
                <a:t>merkle </a:t>
              </a:r>
              <a:r>
                <a:rPr lang="en-US" altLang="ko-KR" sz="1200" dirty="0">
                  <a:solidFill>
                    <a:prstClr val="black"/>
                  </a:solidFill>
                </a:rPr>
                <a:t>tree value ...)</a:t>
              </a:r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="" xmlns:a16="http://schemas.microsoft.com/office/drawing/2014/main" id="{2123321D-E631-4B68-AF69-6D021B0213B1}"/>
                </a:ext>
              </a:extLst>
            </p:cNvPr>
            <p:cNvGrpSpPr/>
            <p:nvPr/>
          </p:nvGrpSpPr>
          <p:grpSpPr>
            <a:xfrm>
              <a:off x="4027593" y="3811075"/>
              <a:ext cx="3181870" cy="533206"/>
              <a:chOff x="3815121" y="2358978"/>
              <a:chExt cx="2850054" cy="488725"/>
            </a:xfrm>
          </p:grpSpPr>
          <p:sp>
            <p:nvSpPr>
              <p:cNvPr id="45" name="자유형: 도형 64">
                <a:extLst>
                  <a:ext uri="{FF2B5EF4-FFF2-40B4-BE49-F238E27FC236}">
                    <a16:creationId xmlns="" xmlns:a16="http://schemas.microsoft.com/office/drawing/2014/main" id="{2CD3A0C1-4E07-44AB-93D0-A17D218748B8}"/>
                  </a:ext>
                </a:extLst>
              </p:cNvPr>
              <p:cNvSpPr/>
              <p:nvPr/>
            </p:nvSpPr>
            <p:spPr>
              <a:xfrm flipH="1">
                <a:off x="6610573" y="2358978"/>
                <a:ext cx="54602" cy="488725"/>
              </a:xfrm>
              <a:custGeom>
                <a:avLst/>
                <a:gdLst>
                  <a:gd name="connsiteX0" fmla="*/ 0 w 0"/>
                  <a:gd name="connsiteY0" fmla="*/ 1227909 h 1227909"/>
                  <a:gd name="connsiteX1" fmla="*/ 0 w 0"/>
                  <a:gd name="connsiteY1" fmla="*/ 0 h 12279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1227909">
                    <a:moveTo>
                      <a:pt x="0" y="1227909"/>
                    </a:moveTo>
                    <a:lnTo>
                      <a:pt x="0" y="0"/>
                    </a:lnTo>
                  </a:path>
                </a:pathLst>
              </a:custGeom>
              <a:ln w="19050">
                <a:solidFill>
                  <a:schemeClr val="tx1">
                    <a:lumMod val="95000"/>
                    <a:lumOff val="5000"/>
                  </a:schemeClr>
                </a:solidFill>
                <a:headEnd type="triangle" w="lg" len="lg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600">
                  <a:solidFill>
                    <a:prstClr val="black"/>
                  </a:solidFill>
                </a:endParaRPr>
              </a:p>
            </p:txBody>
          </p:sp>
          <p:sp>
            <p:nvSpPr>
              <p:cNvPr id="46" name="자유형: 도형 66">
                <a:extLst>
                  <a:ext uri="{FF2B5EF4-FFF2-40B4-BE49-F238E27FC236}">
                    <a16:creationId xmlns="" xmlns:a16="http://schemas.microsoft.com/office/drawing/2014/main" id="{4B65F6F9-8570-4472-A665-89379393DBA4}"/>
                  </a:ext>
                </a:extLst>
              </p:cNvPr>
              <p:cNvSpPr/>
              <p:nvPr/>
            </p:nvSpPr>
            <p:spPr>
              <a:xfrm flipH="1">
                <a:off x="3815121" y="2358978"/>
                <a:ext cx="54602" cy="488725"/>
              </a:xfrm>
              <a:custGeom>
                <a:avLst/>
                <a:gdLst>
                  <a:gd name="connsiteX0" fmla="*/ 0 w 0"/>
                  <a:gd name="connsiteY0" fmla="*/ 1227909 h 1227909"/>
                  <a:gd name="connsiteX1" fmla="*/ 0 w 0"/>
                  <a:gd name="connsiteY1" fmla="*/ 0 h 12279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1227909">
                    <a:moveTo>
                      <a:pt x="0" y="1227909"/>
                    </a:moveTo>
                    <a:lnTo>
                      <a:pt x="0" y="0"/>
                    </a:lnTo>
                  </a:path>
                </a:pathLst>
              </a:custGeom>
              <a:ln w="19050">
                <a:solidFill>
                  <a:schemeClr val="tx1">
                    <a:lumMod val="95000"/>
                    <a:lumOff val="5000"/>
                  </a:schemeClr>
                </a:solidFill>
                <a:headEnd type="triangle" w="lg" len="lg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600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168" name="그룹 167"/>
          <p:cNvGrpSpPr/>
          <p:nvPr/>
        </p:nvGrpSpPr>
        <p:grpSpPr>
          <a:xfrm>
            <a:off x="794606" y="4325164"/>
            <a:ext cx="3149574" cy="1882078"/>
            <a:chOff x="4423213" y="4427242"/>
            <a:chExt cx="3149574" cy="1882078"/>
          </a:xfrm>
        </p:grpSpPr>
        <p:sp>
          <p:nvSpPr>
            <p:cNvPr id="9" name="직사각형 8"/>
            <p:cNvSpPr/>
            <p:nvPr/>
          </p:nvSpPr>
          <p:spPr>
            <a:xfrm>
              <a:off x="4423213" y="4427242"/>
              <a:ext cx="3149574" cy="188207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 fontAlgn="base"/>
              <a:endParaRPr lang="en-US" altLang="ko-KR" sz="1050" dirty="0">
                <a:solidFill>
                  <a:prstClr val="black"/>
                </a:solidFill>
              </a:endParaRPr>
            </a:p>
            <a:p>
              <a:pPr algn="ctr" fontAlgn="base"/>
              <a:r>
                <a:rPr lang="ko-KR" altLang="en-US" sz="1600" dirty="0">
                  <a:solidFill>
                    <a:prstClr val="black"/>
                  </a:solidFill>
                </a:rPr>
                <a:t>해쉬 벡터 </a:t>
              </a:r>
              <a:r>
                <a:rPr lang="en-US" altLang="ko-KR" sz="1600" b="1" dirty="0">
                  <a:solidFill>
                    <a:prstClr val="black"/>
                  </a:solidFill>
                </a:rPr>
                <a:t>r</a:t>
              </a:r>
              <a:r>
                <a:rPr lang="ko-KR" altLang="en-US" sz="1600" dirty="0">
                  <a:solidFill>
                    <a:prstClr val="black"/>
                  </a:solidFill>
                </a:rPr>
                <a:t>의 생성 방법</a:t>
              </a:r>
            </a:p>
          </p:txBody>
        </p:sp>
        <p:graphicFrame>
          <p:nvGraphicFramePr>
            <p:cNvPr id="6" name="개체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8698321"/>
                </p:ext>
              </p:extLst>
            </p:nvPr>
          </p:nvGraphicFramePr>
          <p:xfrm>
            <a:off x="4689763" y="5013325"/>
            <a:ext cx="2527300" cy="508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3" name="Equation" r:id="rId4" imgW="2527200" imgH="507960" progId="Equation.DSMT4">
                    <p:embed/>
                  </p:oleObj>
                </mc:Choice>
                <mc:Fallback>
                  <p:oleObj name="Equation" r:id="rId4" imgW="2527200" imgH="5079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9763" y="5013325"/>
                          <a:ext cx="2527300" cy="508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개체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96044437"/>
                </p:ext>
              </p:extLst>
            </p:nvPr>
          </p:nvGraphicFramePr>
          <p:xfrm>
            <a:off x="4689763" y="5602288"/>
            <a:ext cx="18796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4" name="Equation" r:id="rId6" imgW="1879560" imgH="279360" progId="Equation.DSMT4">
                    <p:embed/>
                  </p:oleObj>
                </mc:Choice>
                <mc:Fallback>
                  <p:oleObj name="Equation" r:id="rId6" imgW="1879560" imgH="2793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9763" y="5602288"/>
                          <a:ext cx="1879600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개체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29472979"/>
                </p:ext>
              </p:extLst>
            </p:nvPr>
          </p:nvGraphicFramePr>
          <p:xfrm>
            <a:off x="4689763" y="5962650"/>
            <a:ext cx="26670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5" name="Equation" r:id="rId8" imgW="2666880" imgH="279360" progId="Equation.DSMT4">
                    <p:embed/>
                  </p:oleObj>
                </mc:Choice>
                <mc:Fallback>
                  <p:oleObj name="Equation" r:id="rId8" imgW="2666880" imgH="2793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9763" y="5962650"/>
                          <a:ext cx="2667000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170" name="직선 연결선 169"/>
          <p:cNvCxnSpPr/>
          <p:nvPr/>
        </p:nvCxnSpPr>
        <p:spPr>
          <a:xfrm>
            <a:off x="1920053" y="5779386"/>
            <a:ext cx="3832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001003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28650" y="74814"/>
            <a:ext cx="50624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prstClr val="black"/>
                </a:solidFill>
              </a:rPr>
              <a:t>세부 연구 </a:t>
            </a:r>
            <a:r>
              <a:rPr lang="ko-KR" altLang="en-US" sz="3200" b="1" dirty="0" smtClean="0">
                <a:solidFill>
                  <a:prstClr val="black"/>
                </a:solidFill>
              </a:rPr>
              <a:t>내역</a:t>
            </a:r>
            <a:endParaRPr lang="ko-KR" altLang="en-US" sz="3200" b="1" dirty="0">
              <a:solidFill>
                <a:prstClr val="black"/>
              </a:solidFill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50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="" xmlns:a16="http://schemas.microsoft.com/office/drawing/2014/main" id="{4C70D3A6-2D13-4F22-9C06-C56F2B48E196}"/>
              </a:ext>
            </a:extLst>
          </p:cNvPr>
          <p:cNvSpPr/>
          <p:nvPr/>
        </p:nvSpPr>
        <p:spPr>
          <a:xfrm>
            <a:off x="336000" y="1404142"/>
            <a:ext cx="8556480" cy="13047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b="1" dirty="0" smtClean="0">
                <a:solidFill>
                  <a:schemeClr val="tx1"/>
                </a:solidFill>
              </a:rPr>
              <a:t>독자적인 </a:t>
            </a:r>
            <a:r>
              <a:rPr lang="ko-KR" altLang="en-US" sz="1600" b="1" dirty="0">
                <a:solidFill>
                  <a:schemeClr val="tx1"/>
                </a:solidFill>
              </a:rPr>
              <a:t>방식 </a:t>
            </a:r>
            <a:r>
              <a:rPr lang="en-US" altLang="ko-KR" sz="1600" b="1" dirty="0">
                <a:solidFill>
                  <a:schemeClr val="tx1"/>
                </a:solidFill>
              </a:rPr>
              <a:t>: </a:t>
            </a:r>
            <a:r>
              <a:rPr lang="ko-KR" altLang="en-US" sz="1600" dirty="0">
                <a:solidFill>
                  <a:schemeClr val="tx1"/>
                </a:solidFill>
              </a:rPr>
              <a:t>디코더의 결과 값이 </a:t>
            </a:r>
            <a:r>
              <a:rPr lang="en-US" altLang="ko-KR" sz="1600" dirty="0">
                <a:solidFill>
                  <a:schemeClr val="tx1"/>
                </a:solidFill>
              </a:rPr>
              <a:t>a) </a:t>
            </a:r>
            <a:r>
              <a:rPr lang="ko-KR" altLang="en-US" sz="1600" dirty="0">
                <a:solidFill>
                  <a:schemeClr val="tx1"/>
                </a:solidFill>
              </a:rPr>
              <a:t>부호이고</a:t>
            </a:r>
            <a:r>
              <a:rPr lang="en-US" altLang="ko-KR" sz="1600" dirty="0">
                <a:solidFill>
                  <a:schemeClr val="tx1"/>
                </a:solidFill>
              </a:rPr>
              <a:t>, b) </a:t>
            </a:r>
            <a:r>
              <a:rPr lang="ko-KR" altLang="en-US" sz="1600" dirty="0">
                <a:solidFill>
                  <a:schemeClr val="tx1"/>
                </a:solidFill>
              </a:rPr>
              <a:t>특정 </a:t>
            </a:r>
            <a:r>
              <a:rPr lang="ko-KR" altLang="en-US" sz="1600" dirty="0" err="1">
                <a:solidFill>
                  <a:schemeClr val="tx1"/>
                </a:solidFill>
              </a:rPr>
              <a:t>해밍</a:t>
            </a:r>
            <a:r>
              <a:rPr lang="ko-KR" altLang="en-US" sz="1600" dirty="0">
                <a:solidFill>
                  <a:schemeClr val="tx1"/>
                </a:solidFill>
              </a:rPr>
              <a:t> 가중치를 가지면 해결 한 것으로 </a:t>
            </a:r>
            <a:r>
              <a:rPr lang="ko-KR" altLang="en-US" sz="1600" dirty="0" smtClean="0">
                <a:solidFill>
                  <a:schemeClr val="tx1"/>
                </a:solidFill>
              </a:rPr>
              <a:t>판단함</a:t>
            </a:r>
            <a:r>
              <a:rPr lang="en-US" altLang="ko-KR" sz="1600" dirty="0" smtClean="0">
                <a:solidFill>
                  <a:schemeClr val="tx1"/>
                </a:solidFill>
              </a:rPr>
              <a:t>.</a:t>
            </a:r>
          </a:p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600" b="1" dirty="0">
                <a:solidFill>
                  <a:schemeClr val="tx1"/>
                </a:solidFill>
              </a:rPr>
              <a:t>(</a:t>
            </a:r>
            <a:r>
              <a:rPr lang="ko-KR" altLang="en-US" sz="1600" b="1" dirty="0">
                <a:solidFill>
                  <a:schemeClr val="tx1"/>
                </a:solidFill>
              </a:rPr>
              <a:t>조건 </a:t>
            </a:r>
            <a:r>
              <a:rPr lang="en-US" altLang="ko-KR" sz="1600" b="1" dirty="0">
                <a:solidFill>
                  <a:schemeClr val="tx1"/>
                </a:solidFill>
              </a:rPr>
              <a:t>1) </a:t>
            </a:r>
            <a:r>
              <a:rPr lang="ko-KR" altLang="en-US" sz="1600" dirty="0">
                <a:solidFill>
                  <a:schemeClr val="tx1"/>
                </a:solidFill>
              </a:rPr>
              <a:t>출력 값이 부호일 것</a:t>
            </a:r>
            <a:r>
              <a:rPr lang="en-US" altLang="ko-KR" sz="1600" dirty="0">
                <a:solidFill>
                  <a:schemeClr val="tx1"/>
                </a:solidFill>
              </a:rPr>
              <a:t>.</a:t>
            </a:r>
            <a:br>
              <a:rPr lang="en-US" altLang="ko-KR" sz="1600" dirty="0">
                <a:solidFill>
                  <a:schemeClr val="tx1"/>
                </a:solidFill>
              </a:rPr>
            </a:br>
            <a:r>
              <a:rPr lang="en-US" altLang="ko-KR" sz="1600" b="1" dirty="0">
                <a:solidFill>
                  <a:schemeClr val="tx1"/>
                </a:solidFill>
              </a:rPr>
              <a:t>(</a:t>
            </a:r>
            <a:r>
              <a:rPr lang="ko-KR" altLang="en-US" sz="1600" b="1" dirty="0">
                <a:solidFill>
                  <a:schemeClr val="tx1"/>
                </a:solidFill>
              </a:rPr>
              <a:t>조건 </a:t>
            </a:r>
            <a:r>
              <a:rPr lang="en-US" altLang="ko-KR" sz="1600" b="1" dirty="0">
                <a:solidFill>
                  <a:schemeClr val="tx1"/>
                </a:solidFill>
              </a:rPr>
              <a:t>2)</a:t>
            </a:r>
            <a:r>
              <a:rPr lang="en-US" altLang="ko-KR" sz="1600" dirty="0">
                <a:solidFill>
                  <a:schemeClr val="tx1"/>
                </a:solidFill>
              </a:rPr>
              <a:t> </a:t>
            </a:r>
            <a:r>
              <a:rPr lang="ko-KR" altLang="en-US" sz="1600" dirty="0">
                <a:solidFill>
                  <a:schemeClr val="tx1"/>
                </a:solidFill>
              </a:rPr>
              <a:t>출력 값의 </a:t>
            </a:r>
            <a:r>
              <a:rPr lang="ko-KR" altLang="en-US" sz="1600" dirty="0" err="1">
                <a:solidFill>
                  <a:schemeClr val="tx1"/>
                </a:solidFill>
              </a:rPr>
              <a:t>해밍</a:t>
            </a:r>
            <a:r>
              <a:rPr lang="ko-KR" altLang="en-US" sz="1600" dirty="0">
                <a:solidFill>
                  <a:schemeClr val="tx1"/>
                </a:solidFill>
              </a:rPr>
              <a:t> 가중치가 주어진 집합 </a:t>
            </a:r>
            <a:r>
              <a:rPr lang="en-US" altLang="ko-KR" sz="1600" dirty="0">
                <a:solidFill>
                  <a:schemeClr val="tx1"/>
                </a:solidFill>
              </a:rPr>
              <a:t>S</a:t>
            </a:r>
            <a:r>
              <a:rPr lang="ko-KR" altLang="en-US" sz="1600" dirty="0">
                <a:solidFill>
                  <a:schemeClr val="tx1"/>
                </a:solidFill>
              </a:rPr>
              <a:t>의 원소 일 것</a:t>
            </a:r>
            <a:r>
              <a:rPr lang="en-US" altLang="ko-KR" sz="1600" dirty="0">
                <a:solidFill>
                  <a:schemeClr val="tx1"/>
                </a:solidFill>
              </a:rPr>
              <a:t>. </a:t>
            </a:r>
            <a:endParaRPr lang="en-US" altLang="ko-KR" sz="1600" dirty="0" smtClean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="" xmlns:a16="http://schemas.microsoft.com/office/drawing/2014/main" id="{C53D36E5-5476-4409-B7F7-5ECC3840BD36}"/>
              </a:ext>
            </a:extLst>
          </p:cNvPr>
          <p:cNvSpPr/>
          <p:nvPr/>
        </p:nvSpPr>
        <p:spPr>
          <a:xfrm>
            <a:off x="336000" y="1340768"/>
            <a:ext cx="8556480" cy="45719"/>
          </a:xfrm>
          <a:prstGeom prst="rect">
            <a:avLst/>
          </a:prstGeom>
          <a:solidFill>
            <a:srgbClr val="0255B8"/>
          </a:solidFill>
          <a:ln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ts val="600"/>
              </a:spcBef>
            </a:pPr>
            <a:endParaRPr lang="ko-KR" altLang="en-US" b="1" kern="0" dirty="0">
              <a:solidFill>
                <a:srgbClr val="0255B8"/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827584" y="899428"/>
            <a:ext cx="33265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 smtClean="0">
                <a:solidFill>
                  <a:prstClr val="black"/>
                </a:solidFill>
              </a:rPr>
              <a:t>암호 퍼즐 난이도 조절 방법 </a:t>
            </a:r>
            <a:r>
              <a:rPr lang="en-US" altLang="ko-KR" b="1" dirty="0" smtClean="0">
                <a:solidFill>
                  <a:prstClr val="black"/>
                </a:solidFill>
              </a:rPr>
              <a:t>– 1 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0" name="표 29">
                <a:extLst>
                  <a:ext uri="{FF2B5EF4-FFF2-40B4-BE49-F238E27FC236}">
                    <a16:creationId xmlns:a16="http://schemas.microsoft.com/office/drawing/2014/main" xmlns="" id="{BFB32488-8CE9-4725-A39A-386B63AAC4D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09124051"/>
                  </p:ext>
                </p:extLst>
              </p:nvPr>
            </p:nvGraphicFramePr>
            <p:xfrm>
              <a:off x="395537" y="2924944"/>
              <a:ext cx="4248471" cy="2285888"/>
            </p:xfrm>
            <a:graphic>
              <a:graphicData uri="http://schemas.openxmlformats.org/drawingml/2006/table">
                <a:tbl>
                  <a:tblPr/>
                  <a:tblGrid>
                    <a:gridCol w="504055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360040"/>
                    <a:gridCol w="288032"/>
                    <a:gridCol w="288032"/>
                    <a:gridCol w="1008112"/>
                    <a:gridCol w="1800200"/>
                  </a:tblGrid>
                  <a:tr h="349225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b="1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Level</a:t>
                          </a:r>
                        </a:p>
                      </a:txBody>
                      <a:tcPr marL="64770" marR="64770" marT="17907" marB="17907" anchor="ctr">
                        <a:lnL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100" b="1" i="1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n</a:t>
                          </a:r>
                          <a:endParaRPr lang="ko-KR" altLang="en-US" sz="1100" b="1" i="1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100" b="1" i="1" kern="0" spc="0" dirty="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w</a:t>
                          </a:r>
                          <a:r>
                            <a:rPr lang="en-US" altLang="ko-KR" sz="1100" b="1" i="1" kern="0" spc="0" baseline="-25000" dirty="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ko-KR" altLang="en-US" sz="1100" b="1" i="1" kern="0" spc="0" baseline="-2500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100" b="1" i="1" kern="0" spc="0" dirty="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w</a:t>
                          </a:r>
                          <a:r>
                            <a:rPr lang="en-US" altLang="ko-KR" sz="1100" b="1" i="1" kern="0" spc="0" baseline="-25000" dirty="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r</a:t>
                          </a:r>
                          <a:endParaRPr lang="ko-KR" altLang="en-US" sz="1100" b="1" i="1" kern="0" spc="0" baseline="-2500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100" b="1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집합 </a:t>
                          </a:r>
                          <a:r>
                            <a:rPr lang="en-US" altLang="ko-KR" sz="1100" b="1" i="1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S</a:t>
                          </a:r>
                          <a:r>
                            <a:rPr lang="ko-KR" altLang="en-US" sz="1100" b="1" i="1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100"/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398821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1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ko-KR" altLang="en-US" sz="11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1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32</a:t>
                          </a:r>
                          <a:endParaRPr lang="ko-KR" altLang="en-US" sz="11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1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ko-KR" altLang="en-US" sz="11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1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ko-KR" altLang="en-US" sz="11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1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{10,12,…,20,22]</a:t>
                          </a:r>
                          <a:endParaRPr lang="ko-KR" altLang="en-US" sz="11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1100" i="1" kern="0" spc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≈</m:t>
                                </m:r>
                                <m:r>
                                  <a:rPr lang="en-US" altLang="ko-KR" sz="1100" b="0" i="1" kern="0" spc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3.07×</m:t>
                                </m:r>
                                <m:sSup>
                                  <m:sSupPr>
                                    <m:ctrlPr>
                                      <a:rPr lang="en-US" altLang="ko-KR" sz="1100" b="0" i="1" kern="0" spc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+mj-ea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100" b="0" i="1" kern="0" spc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altLang="ko-KR" sz="1100" b="0" i="1" kern="0" spc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−5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1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398821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1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ko-KR" altLang="en-US" sz="11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1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32</a:t>
                          </a:r>
                          <a:endParaRPr lang="ko-KR" altLang="en-US" sz="11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1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ko-KR" altLang="en-US" sz="11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1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ko-KR" altLang="en-US" sz="11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1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{10,12,…,14,16}</a:t>
                          </a:r>
                          <a:endParaRPr lang="ko-KR" altLang="en-US" sz="11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1100" i="1" kern="0" spc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≈</m:t>
                                </m:r>
                                <m:r>
                                  <a:rPr lang="en-US" altLang="ko-KR" sz="1100" b="0" i="1" kern="0" spc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2.02×</m:t>
                                </m:r>
                                <m:sSup>
                                  <m:sSupPr>
                                    <m:ctrlPr>
                                      <a:rPr lang="en-US" altLang="ko-KR" sz="1100" b="0" i="1" kern="0" spc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+mj-ea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100" b="0" i="1" kern="0" spc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altLang="ko-KR" sz="1100" b="0" i="1" kern="0" spc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−5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1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349225">
                    <a:tc gridSpan="6"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...</a:t>
                          </a:r>
                        </a:p>
                      </a:txBody>
                      <a:tcPr marL="64770" marR="64770" marT="17907" marB="17907" anchor="ctr">
                        <a:lnL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394898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1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379</a:t>
                          </a:r>
                          <a:endParaRPr lang="ko-KR" altLang="en-US" sz="11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1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128</a:t>
                          </a:r>
                          <a:endParaRPr lang="ko-KR" altLang="en-US" sz="11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1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ko-KR" altLang="en-US" sz="11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1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ko-KR" altLang="en-US" sz="11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1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{34,94}</a:t>
                          </a:r>
                          <a:endParaRPr lang="ko-KR" altLang="en-US" sz="11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1100" i="1" kern="0" spc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≈</m:t>
                                </m:r>
                                <m:r>
                                  <a:rPr lang="en-US" altLang="ko-KR" sz="1100" b="0" i="1" kern="0" spc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5.12×</m:t>
                                </m:r>
                                <m:sSup>
                                  <m:sSupPr>
                                    <m:ctrlPr>
                                      <a:rPr lang="en-US" altLang="ko-KR" sz="1100" b="0" i="1" kern="0" spc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+mj-ea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100" b="0" i="1" kern="0" spc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altLang="ko-KR" sz="1100" b="0" i="1" kern="0" spc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−23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1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  <a:tr h="394898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1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380</a:t>
                          </a:r>
                          <a:endParaRPr lang="ko-KR" altLang="en-US" sz="11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1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128</a:t>
                          </a:r>
                          <a:endParaRPr lang="ko-KR" altLang="en-US" sz="11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1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ko-KR" altLang="en-US" sz="11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1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ko-KR" altLang="en-US" sz="11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1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{34}</a:t>
                          </a:r>
                          <a:endParaRPr lang="ko-KR" altLang="en-US" sz="11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1100" i="1" kern="0" spc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≈</m:t>
                                </m:r>
                                <m:r>
                                  <a:rPr lang="en-US" altLang="ko-KR" sz="1100" b="0" i="1" kern="0" spc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2.60×</m:t>
                                </m:r>
                                <m:sSup>
                                  <m:sSupPr>
                                    <m:ctrlPr>
                                      <a:rPr lang="en-US" altLang="ko-KR" sz="1100" b="0" i="1" kern="0" spc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+mj-ea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100" b="0" i="1" kern="0" spc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altLang="ko-KR" sz="1100" b="0" i="1" kern="0" spc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−23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1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0" name="표 2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BFB32488-8CE9-4725-A39A-386B63AAC4D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09124051"/>
                  </p:ext>
                </p:extLst>
              </p:nvPr>
            </p:nvGraphicFramePr>
            <p:xfrm>
              <a:off x="395537" y="2924944"/>
              <a:ext cx="4248471" cy="2285888"/>
            </p:xfrm>
            <a:graphic>
              <a:graphicData uri="http://schemas.openxmlformats.org/drawingml/2006/table">
                <a:tbl>
                  <a:tblPr/>
                  <a:tblGrid>
                    <a:gridCol w="504055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0"/>
                        </a:ext>
                      </a:extLst>
                    </a:gridCol>
                    <a:gridCol w="360040"/>
                    <a:gridCol w="288032"/>
                    <a:gridCol w="288032"/>
                    <a:gridCol w="1008112"/>
                    <a:gridCol w="1800200"/>
                  </a:tblGrid>
                  <a:tr h="349225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b="1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Level</a:t>
                          </a:r>
                        </a:p>
                      </a:txBody>
                      <a:tcPr marL="64770" marR="64770" marT="17907" marB="17907" anchor="ctr">
                        <a:lnL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100" b="1" i="1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n</a:t>
                          </a:r>
                          <a:endParaRPr lang="ko-KR" altLang="en-US" sz="1100" b="1" i="1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100" b="1" i="1" kern="0" spc="0" dirty="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w</a:t>
                          </a:r>
                          <a:r>
                            <a:rPr lang="en-US" altLang="ko-KR" sz="1100" b="1" i="1" kern="0" spc="0" baseline="-25000" dirty="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ko-KR" altLang="en-US" sz="1100" b="1" i="1" kern="0" spc="0" baseline="-2500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100" b="1" i="1" kern="0" spc="0" dirty="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w</a:t>
                          </a:r>
                          <a:r>
                            <a:rPr lang="en-US" altLang="ko-KR" sz="1100" b="1" i="1" kern="0" spc="0" baseline="-25000" dirty="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r</a:t>
                          </a:r>
                          <a:endParaRPr lang="ko-KR" altLang="en-US" sz="1100" b="1" i="1" kern="0" spc="0" baseline="-2500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100" b="1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집합 </a:t>
                          </a:r>
                          <a:r>
                            <a:rPr lang="en-US" altLang="ko-KR" sz="1100" b="1" i="1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S</a:t>
                          </a:r>
                          <a:r>
                            <a:rPr lang="ko-KR" altLang="en-US" sz="1100" b="1" i="1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100"/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0"/>
                      </a:ext>
                    </a:extLst>
                  </a:tr>
                  <a:tr h="398821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1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ko-KR" altLang="en-US" sz="11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1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32</a:t>
                          </a:r>
                          <a:endParaRPr lang="ko-KR" altLang="en-US" sz="11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1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ko-KR" altLang="en-US" sz="11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1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ko-KR" altLang="en-US" sz="11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1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{10,12,…,20,22]</a:t>
                          </a:r>
                          <a:endParaRPr lang="ko-KR" altLang="en-US" sz="11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36610" t="-87879" b="-38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1"/>
                      </a:ext>
                    </a:extLst>
                  </a:tr>
                  <a:tr h="398821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1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ko-KR" altLang="en-US" sz="11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1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32</a:t>
                          </a:r>
                          <a:endParaRPr lang="ko-KR" altLang="en-US" sz="11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1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ko-KR" altLang="en-US" sz="11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1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ko-KR" altLang="en-US" sz="11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1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{10,12,…,14,16}</a:t>
                          </a:r>
                          <a:endParaRPr lang="ko-KR" altLang="en-US" sz="11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36610" t="-190769" b="-28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2"/>
                      </a:ext>
                    </a:extLst>
                  </a:tr>
                  <a:tr h="349225">
                    <a:tc gridSpan="6"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...</a:t>
                          </a:r>
                        </a:p>
                      </a:txBody>
                      <a:tcPr marL="64770" marR="64770" marT="17907" marB="17907" anchor="ctr">
                        <a:lnL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3"/>
                      </a:ext>
                    </a:extLst>
                  </a:tr>
                  <a:tr h="394898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1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379</a:t>
                          </a:r>
                          <a:endParaRPr lang="ko-KR" altLang="en-US" sz="11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1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128</a:t>
                          </a:r>
                          <a:endParaRPr lang="ko-KR" altLang="en-US" sz="11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1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ko-KR" altLang="en-US" sz="11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1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ko-KR" altLang="en-US" sz="11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1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{34,94}</a:t>
                          </a:r>
                          <a:endParaRPr lang="ko-KR" altLang="en-US" sz="11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36610" t="-378462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4"/>
                      </a:ext>
                    </a:extLst>
                  </a:tr>
                  <a:tr h="394898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1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380</a:t>
                          </a:r>
                          <a:endParaRPr lang="ko-KR" altLang="en-US" sz="11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1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128</a:t>
                          </a:r>
                          <a:endParaRPr lang="ko-KR" altLang="en-US" sz="11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1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ko-KR" altLang="en-US" sz="11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1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ko-KR" altLang="en-US" sz="11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1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{34}</a:t>
                          </a:r>
                          <a:endParaRPr lang="ko-KR" altLang="en-US" sz="11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36610" t="-4784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31" name="개체 30">
            <a:extLst>
              <a:ext uri="{FF2B5EF4-FFF2-40B4-BE49-F238E27FC236}">
                <a16:creationId xmlns:a16="http://schemas.microsoft.com/office/drawing/2014/main" xmlns="" id="{42AB004D-E0E1-4F43-BCC2-F0082B27CD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0692134"/>
              </p:ext>
            </p:extLst>
          </p:nvPr>
        </p:nvGraphicFramePr>
        <p:xfrm>
          <a:off x="2840634" y="3040736"/>
          <a:ext cx="1773606" cy="2399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87" name="Equation" r:id="rId5" imgW="2628720" imgH="355320" progId="Equation.DSMT4">
                  <p:embed/>
                </p:oleObj>
              </mc:Choice>
              <mc:Fallback>
                <p:oleObj name="Equation" r:id="rId5" imgW="262872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0634" y="3040736"/>
                        <a:ext cx="1773606" cy="2399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개체 34">
            <a:extLst>
              <a:ext uri="{FF2B5EF4-FFF2-40B4-BE49-F238E27FC236}">
                <a16:creationId xmlns:a16="http://schemas.microsoft.com/office/drawing/2014/main" xmlns="" id="{9FC98366-1D7C-48F9-93D1-527067C4B9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7405525"/>
              </p:ext>
            </p:extLst>
          </p:nvPr>
        </p:nvGraphicFramePr>
        <p:xfrm>
          <a:off x="6209773" y="1960265"/>
          <a:ext cx="1536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88" name="Equation" r:id="rId7" imgW="1536480" imgH="330120" progId="Equation.DSMT4">
                  <p:embed/>
                </p:oleObj>
              </mc:Choice>
              <mc:Fallback>
                <p:oleObj name="Equation" r:id="rId7" imgW="15364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9773" y="1960265"/>
                        <a:ext cx="15367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개체 35">
            <a:extLst>
              <a:ext uri="{FF2B5EF4-FFF2-40B4-BE49-F238E27FC236}">
                <a16:creationId xmlns:a16="http://schemas.microsoft.com/office/drawing/2014/main" xmlns="" id="{DED84557-07CB-4695-8535-72D8B6BB16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150133"/>
              </p:ext>
            </p:extLst>
          </p:nvPr>
        </p:nvGraphicFramePr>
        <p:xfrm>
          <a:off x="6199609" y="2257822"/>
          <a:ext cx="1473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89" name="Equation" r:id="rId9" imgW="1473120" imgH="355320" progId="Equation.DSMT4">
                  <p:embed/>
                </p:oleObj>
              </mc:Choice>
              <mc:Fallback>
                <p:oleObj name="Equation" r:id="rId9" imgW="147312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9609" y="2257822"/>
                        <a:ext cx="14732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7" name="그림 3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16016" y="2934117"/>
            <a:ext cx="4176464" cy="278275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직사각형 3"/>
          <p:cNvSpPr/>
          <p:nvPr/>
        </p:nvSpPr>
        <p:spPr>
          <a:xfrm>
            <a:off x="323528" y="5263677"/>
            <a:ext cx="244827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 smtClean="0"/>
              <a:t>Level 1: </a:t>
            </a:r>
            <a:r>
              <a:rPr lang="ko-KR" altLang="en-US" sz="1400" dirty="0" smtClean="0"/>
              <a:t>가장 쉬운 문제</a:t>
            </a:r>
            <a:endParaRPr lang="en-US" altLang="ko-KR" sz="1400" dirty="0" smtClean="0"/>
          </a:p>
          <a:p>
            <a:r>
              <a:rPr lang="en-US" altLang="ko-KR" sz="1400" dirty="0" smtClean="0"/>
              <a:t>Level 380: </a:t>
            </a:r>
            <a:r>
              <a:rPr lang="ko-KR" altLang="en-US" sz="1400" dirty="0" smtClean="0"/>
              <a:t>가장 어려운 문제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54331586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28650" y="74814"/>
            <a:ext cx="50624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prstClr val="black"/>
                </a:solidFill>
              </a:rPr>
              <a:t>세부 연구 </a:t>
            </a:r>
            <a:r>
              <a:rPr lang="ko-KR" altLang="en-US" sz="3200" b="1" dirty="0" smtClean="0">
                <a:solidFill>
                  <a:prstClr val="black"/>
                </a:solidFill>
              </a:rPr>
              <a:t>내역</a:t>
            </a:r>
            <a:endParaRPr lang="ko-KR" altLang="en-US" sz="3200" b="1" dirty="0">
              <a:solidFill>
                <a:prstClr val="black"/>
              </a:solidFill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51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="" xmlns:a16="http://schemas.microsoft.com/office/drawing/2014/main" id="{4C70D3A6-2D13-4F22-9C06-C56F2B48E196}"/>
              </a:ext>
            </a:extLst>
          </p:cNvPr>
          <p:cNvSpPr/>
          <p:nvPr/>
        </p:nvSpPr>
        <p:spPr>
          <a:xfrm>
            <a:off x="336000" y="1404142"/>
            <a:ext cx="8556480" cy="18088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b="1" dirty="0" smtClean="0">
                <a:solidFill>
                  <a:schemeClr val="tx1"/>
                </a:solidFill>
              </a:rPr>
              <a:t>기존 작업증명 방식</a:t>
            </a:r>
            <a:r>
              <a:rPr lang="en-US" altLang="ko-KR" sz="1600" b="1" dirty="0" smtClean="0">
                <a:solidFill>
                  <a:schemeClr val="tx1"/>
                </a:solidFill>
              </a:rPr>
              <a:t>: </a:t>
            </a:r>
            <a:r>
              <a:rPr lang="ko-KR" altLang="en-US" sz="1600" dirty="0">
                <a:solidFill>
                  <a:schemeClr val="tx1"/>
                </a:solidFill>
              </a:rPr>
              <a:t>디코더의 결과 값을 다시 </a:t>
            </a:r>
            <a:r>
              <a:rPr lang="ko-KR" altLang="en-US" sz="1600" dirty="0" err="1">
                <a:solidFill>
                  <a:schemeClr val="tx1"/>
                </a:solidFill>
              </a:rPr>
              <a:t>해싱</a:t>
            </a:r>
            <a:r>
              <a:rPr lang="ko-KR" altLang="en-US" sz="1600" dirty="0">
                <a:solidFill>
                  <a:schemeClr val="tx1"/>
                </a:solidFill>
              </a:rPr>
              <a:t> 하여 나온 값이 특정 값 보다 작으면 해결 한 것으로 판단</a:t>
            </a:r>
            <a:r>
              <a:rPr lang="en-US" altLang="ko-KR" sz="1600" dirty="0" smtClean="0">
                <a:solidFill>
                  <a:schemeClr val="tx1"/>
                </a:solidFill>
              </a:rPr>
              <a:t>.</a:t>
            </a:r>
          </a:p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solidFill>
                  <a:schemeClr val="tx1"/>
                </a:solidFill>
              </a:rPr>
              <a:t>암호 </a:t>
            </a:r>
            <a:r>
              <a:rPr lang="ko-KR" altLang="en-US" sz="1600" dirty="0">
                <a:solidFill>
                  <a:schemeClr val="tx1"/>
                </a:solidFill>
              </a:rPr>
              <a:t>퍼즐의 난이도는 </a:t>
            </a:r>
            <a:r>
              <a:rPr lang="en-US" altLang="ko-KR" sz="1600" dirty="0">
                <a:solidFill>
                  <a:schemeClr val="tx1"/>
                </a:solidFill>
              </a:rPr>
              <a:t>Target </a:t>
            </a:r>
            <a:r>
              <a:rPr lang="ko-KR" altLang="en-US" sz="1600" dirty="0">
                <a:solidFill>
                  <a:schemeClr val="tx1"/>
                </a:solidFill>
              </a:rPr>
              <a:t>값에 의해 결정됨</a:t>
            </a:r>
            <a:r>
              <a:rPr lang="en-US" altLang="ko-KR" sz="1600" dirty="0" smtClean="0">
                <a:solidFill>
                  <a:schemeClr val="tx1"/>
                </a:solidFill>
              </a:rPr>
              <a:t>.</a:t>
            </a:r>
          </a:p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600" dirty="0" smtClean="0">
                <a:solidFill>
                  <a:schemeClr val="tx1"/>
                </a:solidFill>
              </a:rPr>
              <a:t>Target </a:t>
            </a:r>
            <a:r>
              <a:rPr lang="ko-KR" altLang="en-US" sz="1600" dirty="0">
                <a:solidFill>
                  <a:schemeClr val="tx1"/>
                </a:solidFill>
              </a:rPr>
              <a:t>값을 증가 시키면 난이도 </a:t>
            </a:r>
            <a:r>
              <a:rPr lang="ko-KR" altLang="en-US" sz="1600" dirty="0" smtClean="0">
                <a:solidFill>
                  <a:schemeClr val="tx1"/>
                </a:solidFill>
              </a:rPr>
              <a:t>하락</a:t>
            </a:r>
            <a:endParaRPr lang="en-US" altLang="ko-KR" sz="1600" dirty="0" smtClean="0">
              <a:solidFill>
                <a:schemeClr val="tx1"/>
              </a:solidFill>
            </a:endParaRPr>
          </a:p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600" dirty="0" smtClean="0">
                <a:solidFill>
                  <a:schemeClr val="tx1"/>
                </a:solidFill>
              </a:rPr>
              <a:t>Target </a:t>
            </a:r>
            <a:r>
              <a:rPr lang="ko-KR" altLang="en-US" sz="1600" dirty="0">
                <a:solidFill>
                  <a:schemeClr val="tx1"/>
                </a:solidFill>
              </a:rPr>
              <a:t>값을 감소 시키면 난이도 </a:t>
            </a:r>
            <a:r>
              <a:rPr lang="ko-KR" altLang="en-US" sz="1600" dirty="0" smtClean="0">
                <a:solidFill>
                  <a:schemeClr val="tx1"/>
                </a:solidFill>
              </a:rPr>
              <a:t>상승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="" xmlns:a16="http://schemas.microsoft.com/office/drawing/2014/main" id="{C53D36E5-5476-4409-B7F7-5ECC3840BD36}"/>
              </a:ext>
            </a:extLst>
          </p:cNvPr>
          <p:cNvSpPr/>
          <p:nvPr/>
        </p:nvSpPr>
        <p:spPr>
          <a:xfrm>
            <a:off x="336000" y="1340768"/>
            <a:ext cx="8556480" cy="45719"/>
          </a:xfrm>
          <a:prstGeom prst="rect">
            <a:avLst/>
          </a:prstGeom>
          <a:solidFill>
            <a:srgbClr val="0255B8"/>
          </a:solidFill>
          <a:ln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ts val="600"/>
              </a:spcBef>
            </a:pPr>
            <a:endParaRPr lang="ko-KR" altLang="en-US" b="1" kern="0" dirty="0">
              <a:solidFill>
                <a:srgbClr val="0255B8"/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827584" y="899428"/>
            <a:ext cx="33265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 smtClean="0">
                <a:solidFill>
                  <a:prstClr val="black"/>
                </a:solidFill>
              </a:rPr>
              <a:t>암호 퍼즐 난이도 조절 방법 </a:t>
            </a:r>
            <a:r>
              <a:rPr lang="en-US" altLang="ko-KR" b="1" dirty="0" smtClean="0">
                <a:solidFill>
                  <a:prstClr val="black"/>
                </a:solidFill>
              </a:rPr>
              <a:t>– 2 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xmlns="" id="{370D4696-521C-4E2D-B056-2EA94E81C5FA}"/>
              </a:ext>
            </a:extLst>
          </p:cNvPr>
          <p:cNvGrpSpPr/>
          <p:nvPr/>
        </p:nvGrpSpPr>
        <p:grpSpPr>
          <a:xfrm>
            <a:off x="857090" y="3648448"/>
            <a:ext cx="7389175" cy="2372840"/>
            <a:chOff x="854060" y="1947103"/>
            <a:chExt cx="10702977" cy="3436980"/>
          </a:xfrm>
        </p:grpSpPr>
        <p:sp>
          <p:nvSpPr>
            <p:cNvPr id="41" name="모서리가 둥근 직사각형 26">
              <a:extLst>
                <a:ext uri="{FF2B5EF4-FFF2-40B4-BE49-F238E27FC236}">
                  <a16:creationId xmlns:a16="http://schemas.microsoft.com/office/drawing/2014/main" xmlns="" id="{2466B5B3-93BB-4CAD-A0F0-EE15F73BC901}"/>
                </a:ext>
              </a:extLst>
            </p:cNvPr>
            <p:cNvSpPr/>
            <p:nvPr/>
          </p:nvSpPr>
          <p:spPr>
            <a:xfrm>
              <a:off x="3027246" y="2511827"/>
              <a:ext cx="5852594" cy="1501373"/>
            </a:xfrm>
            <a:prstGeom prst="rect">
              <a:avLst/>
            </a:prstGeom>
            <a:noFill/>
            <a:ln w="12700" cap="flat" cmpd="sng" algn="ctr">
              <a:solidFill>
                <a:srgbClr val="0255B8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맑은 고딕"/>
                <a:cs typeface="+mn-cs"/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xmlns="" id="{C6EA5B77-AB98-4F71-B869-E8A1CE605829}"/>
                </a:ext>
              </a:extLst>
            </p:cNvPr>
            <p:cNvSpPr/>
            <p:nvPr/>
          </p:nvSpPr>
          <p:spPr>
            <a:xfrm>
              <a:off x="854060" y="1947103"/>
              <a:ext cx="1637498" cy="764701"/>
            </a:xfrm>
            <a:prstGeom prst="rect">
              <a:avLst/>
            </a:prstGeom>
            <a:noFill/>
            <a:ln w="6350" cap="flat" cmpd="sng" algn="ctr">
              <a:solidFill>
                <a:srgbClr val="0255B8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0255B8"/>
                  </a:solidFill>
                  <a:effectLst/>
                  <a:uLnTx/>
                  <a:uFillTx/>
                  <a:ea typeface="맑은 고딕"/>
                  <a:cs typeface="+mn-cs"/>
                </a:rPr>
                <a:t>논스</a:t>
              </a:r>
              <a:r>
                <a:rPr kumimoji="0" lang="ko-KR" altLang="en-US" sz="12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255B8"/>
                  </a:solidFill>
                  <a:effectLst/>
                  <a:uLnTx/>
                  <a:uFillTx/>
                  <a:ea typeface="맑은 고딕"/>
                  <a:cs typeface="+mn-cs"/>
                </a:rPr>
                <a:t> </a:t>
              </a:r>
              <a:r>
                <a:rPr kumimoji="0" lang="ko-KR" altLang="en-US" sz="1200" b="1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0255B8"/>
                  </a:solidFill>
                  <a:effectLst/>
                  <a:uLnTx/>
                  <a:uFillTx/>
                  <a:ea typeface="맑은 고딕"/>
                  <a:cs typeface="+mn-cs"/>
                </a:rPr>
                <a:t>생성기</a:t>
              </a:r>
              <a:endPara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0255B8"/>
                </a:solidFill>
                <a:effectLst/>
                <a:uLnTx/>
                <a:uFillTx/>
                <a:ea typeface="맑은 고딕"/>
                <a:cs typeface="+mn-cs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255B8"/>
                  </a:solidFill>
                  <a:effectLst/>
                  <a:uLnTx/>
                  <a:uFillTx/>
                  <a:ea typeface="맑은 고딕"/>
                  <a:cs typeface="+mn-cs"/>
                </a:rPr>
                <a:t>(Nonce Generator)</a:t>
              </a: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xmlns="" id="{761C6C97-FF49-490D-B10A-CE3B227CAE15}"/>
                </a:ext>
              </a:extLst>
            </p:cNvPr>
            <p:cNvSpPr/>
            <p:nvPr/>
          </p:nvSpPr>
          <p:spPr>
            <a:xfrm>
              <a:off x="6124749" y="2975064"/>
              <a:ext cx="2449532" cy="764701"/>
            </a:xfrm>
            <a:prstGeom prst="rect">
              <a:avLst/>
            </a:prstGeom>
            <a:solidFill>
              <a:srgbClr val="0255B8"/>
            </a:solidFill>
            <a:ln w="6350" cap="flat" cmpd="sng" algn="ctr">
              <a:solidFill>
                <a:srgbClr val="0255B8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맑은 고딕"/>
                  <a:cs typeface="+mn-cs"/>
                </a:rPr>
                <a:t>오류 정정 부호 </a:t>
              </a:r>
              <a:r>
                <a:rPr kumimoji="0" lang="ko-KR" altLang="en-US" sz="1200" b="1" i="0" u="none" strike="noStrike" kern="0" cap="none" spc="0" normalizeH="0" baseline="0" noProof="0" dirty="0" err="1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맑은 고딕"/>
                  <a:cs typeface="+mn-cs"/>
                </a:rPr>
                <a:t>디코더</a:t>
              </a:r>
              <a:endPara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맑은 고딕"/>
                <a:cs typeface="+mn-cs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맑은 고딕"/>
                  <a:cs typeface="+mn-cs"/>
                </a:rPr>
                <a:t>e.g., LDPC </a:t>
              </a:r>
              <a:r>
                <a:rPr kumimoji="0" lang="ko-KR" altLang="en-US" sz="1200" b="1" i="0" u="none" strike="noStrike" kern="0" cap="none" spc="0" normalizeH="0" baseline="0" noProof="0" dirty="0" err="1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맑은 고딕"/>
                  <a:cs typeface="+mn-cs"/>
                </a:rPr>
                <a:t>디코더</a:t>
              </a:r>
              <a:endPara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맑은 고딕"/>
                <a:cs typeface="+mn-cs"/>
              </a:endParaRP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xmlns="" id="{3284E0FB-0F48-4381-8174-CB479F62E304}"/>
                </a:ext>
              </a:extLst>
            </p:cNvPr>
            <p:cNvSpPr/>
            <p:nvPr/>
          </p:nvSpPr>
          <p:spPr>
            <a:xfrm>
              <a:off x="3371752" y="2975064"/>
              <a:ext cx="1637498" cy="764701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rgbClr val="0255B8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0255B8"/>
                  </a:solidFill>
                  <a:effectLst/>
                  <a:uLnTx/>
                  <a:uFillTx/>
                  <a:ea typeface="맑은 고딕"/>
                  <a:cs typeface="+mn-cs"/>
                </a:rPr>
                <a:t>해쉬</a:t>
              </a:r>
              <a:r>
                <a:rPr kumimoji="0" lang="ko-KR" altLang="en-US" sz="12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255B8"/>
                  </a:solidFill>
                  <a:effectLst/>
                  <a:uLnTx/>
                  <a:uFillTx/>
                  <a:ea typeface="맑은 고딕"/>
                  <a:cs typeface="+mn-cs"/>
                </a:rPr>
                <a:t> 알고리즘</a:t>
              </a:r>
              <a:r>
                <a:rPr kumimoji="0" lang="en-US" altLang="ko-KR" sz="12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255B8"/>
                  </a:solidFill>
                  <a:effectLst/>
                  <a:uLnTx/>
                  <a:uFillTx/>
                  <a:ea typeface="맑은 고딕"/>
                  <a:cs typeface="+mn-cs"/>
                </a:rPr>
                <a:t>, 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255B8"/>
                  </a:solidFill>
                  <a:effectLst/>
                  <a:uLnTx/>
                  <a:uFillTx/>
                  <a:ea typeface="맑은 고딕"/>
                  <a:cs typeface="+mn-cs"/>
                </a:rPr>
                <a:t>e.g., SHA256</a:t>
              </a:r>
            </a:p>
          </p:txBody>
        </p: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xmlns="" id="{A7FFD3E4-D4E2-4A04-9A26-725E09BDDF0E}"/>
                </a:ext>
              </a:extLst>
            </p:cNvPr>
            <p:cNvCxnSpPr/>
            <p:nvPr/>
          </p:nvCxnSpPr>
          <p:spPr>
            <a:xfrm>
              <a:off x="5009250" y="3357415"/>
              <a:ext cx="1115499" cy="0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>
                  <a:lumMod val="95000"/>
                  <a:lumOff val="5000"/>
                </a:sysClr>
              </a:solidFill>
              <a:prstDash val="solid"/>
              <a:miter lim="800000"/>
              <a:headEnd type="none" w="med" len="med"/>
              <a:tailEnd type="triangle" w="lg" len="lg"/>
            </a:ln>
            <a:effectLst/>
          </p:spPr>
        </p:cxn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xmlns="" id="{9CB8AB7A-0A6C-4B65-BCE0-DCFB970B98F4}"/>
                </a:ext>
              </a:extLst>
            </p:cNvPr>
            <p:cNvSpPr/>
            <p:nvPr/>
          </p:nvSpPr>
          <p:spPr>
            <a:xfrm>
              <a:off x="5073364" y="3420275"/>
              <a:ext cx="987272" cy="4012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해쉬</a:t>
              </a: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 값</a:t>
              </a:r>
              <a:endPara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xmlns="" id="{B47E44E2-700E-4718-AE38-926A96984833}"/>
                </a:ext>
              </a:extLst>
            </p:cNvPr>
            <p:cNvCxnSpPr/>
            <p:nvPr/>
          </p:nvCxnSpPr>
          <p:spPr>
            <a:xfrm>
              <a:off x="8580949" y="3357415"/>
              <a:ext cx="1115499" cy="0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>
                  <a:lumMod val="95000"/>
                  <a:lumOff val="5000"/>
                </a:sysClr>
              </a:solidFill>
              <a:prstDash val="solid"/>
              <a:miter lim="800000"/>
              <a:headEnd type="none" w="med" len="med"/>
              <a:tailEnd type="triangle" w="lg" len="lg"/>
            </a:ln>
            <a:effectLst/>
          </p:spPr>
        </p:cxn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xmlns="" id="{1332F008-4267-4EAB-B144-1804FB74E222}"/>
                </a:ext>
              </a:extLst>
            </p:cNvPr>
            <p:cNvSpPr/>
            <p:nvPr/>
          </p:nvSpPr>
          <p:spPr>
            <a:xfrm>
              <a:off x="9703116" y="2975064"/>
              <a:ext cx="1637498" cy="764701"/>
            </a:xfrm>
            <a:prstGeom prst="rect">
              <a:avLst/>
            </a:prstGeom>
            <a:noFill/>
            <a:ln w="6350" cap="flat" cmpd="sng" algn="ctr">
              <a:solidFill>
                <a:srgbClr val="0255B8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0255B8"/>
                  </a:solidFill>
                  <a:effectLst/>
                  <a:uLnTx/>
                  <a:uFillTx/>
                  <a:ea typeface="맑은 고딕"/>
                  <a:cs typeface="+mn-cs"/>
                </a:rPr>
                <a:t>해쉬</a:t>
              </a:r>
              <a:r>
                <a:rPr kumimoji="0" lang="ko-KR" altLang="en-US" sz="12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255B8"/>
                  </a:solidFill>
                  <a:effectLst/>
                  <a:uLnTx/>
                  <a:uFillTx/>
                  <a:ea typeface="맑은 고딕"/>
                  <a:cs typeface="+mn-cs"/>
                </a:rPr>
                <a:t> 알고리즘</a:t>
              </a:r>
              <a:r>
                <a:rPr kumimoji="0" lang="en-US" altLang="ko-KR" sz="12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255B8"/>
                  </a:solidFill>
                  <a:effectLst/>
                  <a:uLnTx/>
                  <a:uFillTx/>
                  <a:ea typeface="맑은 고딕"/>
                  <a:cs typeface="+mn-cs"/>
                </a:rPr>
                <a:t>, 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255B8"/>
                  </a:solidFill>
                  <a:effectLst/>
                  <a:uLnTx/>
                  <a:uFillTx/>
                  <a:ea typeface="맑은 고딕"/>
                  <a:cs typeface="+mn-cs"/>
                </a:rPr>
                <a:t>e.g., SHA256</a:t>
              </a:r>
            </a:p>
          </p:txBody>
        </p:sp>
        <p:sp>
          <p:nvSpPr>
            <p:cNvPr id="49" name="다이아몬드 48">
              <a:extLst>
                <a:ext uri="{FF2B5EF4-FFF2-40B4-BE49-F238E27FC236}">
                  <a16:creationId xmlns:a16="http://schemas.microsoft.com/office/drawing/2014/main" xmlns="" id="{CCA14131-49C2-498E-B66C-A22D661D32CA}"/>
                </a:ext>
              </a:extLst>
            </p:cNvPr>
            <p:cNvSpPr/>
            <p:nvPr/>
          </p:nvSpPr>
          <p:spPr>
            <a:xfrm>
              <a:off x="9703116" y="4163784"/>
              <a:ext cx="1637498" cy="764701"/>
            </a:xfrm>
            <a:prstGeom prst="diamond">
              <a:avLst/>
            </a:prstGeom>
            <a:solidFill>
              <a:srgbClr val="0255B8"/>
            </a:solidFill>
            <a:ln w="6350" cap="flat" cmpd="sng" algn="ctr">
              <a:solidFill>
                <a:srgbClr val="0255B8"/>
              </a:solidFill>
              <a:prstDash val="solid"/>
              <a:miter lim="800000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0" cap="none" spc="0" normalizeH="0" baseline="0" noProof="0" err="1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맑은 고딕"/>
                  <a:cs typeface="+mn-cs"/>
                </a:rPr>
                <a:t>해쉬</a:t>
              </a:r>
              <a:r>
                <a:rPr kumimoji="0" lang="ko-KR" altLang="en-US" sz="1200" b="1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맑은 고딕"/>
                  <a:cs typeface="+mn-cs"/>
                </a:rPr>
                <a:t> 값</a:t>
              </a:r>
              <a:endParaRPr kumimoji="0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맑은 고딕"/>
                <a:cs typeface="+mn-cs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맑은 고딕"/>
                  <a:cs typeface="+mn-cs"/>
                </a:rPr>
                <a:t>&lt; Target</a:t>
              </a:r>
              <a:endParaRPr kumimoji="0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맑은 고딕"/>
                <a:cs typeface="+mn-cs"/>
              </a:endParaRPr>
            </a:p>
          </p:txBody>
        </p:sp>
        <p:cxnSp>
          <p:nvCxnSpPr>
            <p:cNvPr id="50" name="연결선: 꺾임 6">
              <a:extLst>
                <a:ext uri="{FF2B5EF4-FFF2-40B4-BE49-F238E27FC236}">
                  <a16:creationId xmlns:a16="http://schemas.microsoft.com/office/drawing/2014/main" xmlns="" id="{431E01F9-BEC2-4CF7-B051-3D601F1F2EAF}"/>
                </a:ext>
              </a:extLst>
            </p:cNvPr>
            <p:cNvCxnSpPr>
              <a:stCxn id="49" idx="1"/>
              <a:endCxn id="42" idx="2"/>
            </p:cNvCxnSpPr>
            <p:nvPr/>
          </p:nvCxnSpPr>
          <p:spPr>
            <a:xfrm rot="10800000">
              <a:off x="1672810" y="2711805"/>
              <a:ext cx="8030307" cy="1834331"/>
            </a:xfrm>
            <a:prstGeom prst="bentConnector2">
              <a:avLst/>
            </a:prstGeom>
            <a:noFill/>
            <a:ln w="19050" cap="flat" cmpd="sng" algn="ctr">
              <a:solidFill>
                <a:sysClr val="windowText" lastClr="000000">
                  <a:lumMod val="95000"/>
                  <a:lumOff val="5000"/>
                </a:sysClr>
              </a:solidFill>
              <a:prstDash val="solid"/>
              <a:miter lim="800000"/>
              <a:headEnd type="none" w="med" len="med"/>
              <a:tailEnd type="triangle" w="lg" len="lg"/>
            </a:ln>
            <a:effectLst/>
          </p:spPr>
        </p:cxnSp>
        <p:sp>
          <p:nvSpPr>
            <p:cNvPr id="51" name="자유형: 도형 65">
              <a:extLst>
                <a:ext uri="{FF2B5EF4-FFF2-40B4-BE49-F238E27FC236}">
                  <a16:creationId xmlns:a16="http://schemas.microsoft.com/office/drawing/2014/main" xmlns="" id="{3E2EF1B6-4433-4AC5-9CA9-E458F0A147A0}"/>
                </a:ext>
              </a:extLst>
            </p:cNvPr>
            <p:cNvSpPr/>
            <p:nvPr/>
          </p:nvSpPr>
          <p:spPr>
            <a:xfrm>
              <a:off x="2865120" y="2346959"/>
              <a:ext cx="499964" cy="1007100"/>
            </a:xfrm>
            <a:custGeom>
              <a:avLst/>
              <a:gdLst>
                <a:gd name="connsiteX0" fmla="*/ 0 w 528320"/>
                <a:gd name="connsiteY0" fmla="*/ 0 h 680720"/>
                <a:gd name="connsiteX1" fmla="*/ 0 w 528320"/>
                <a:gd name="connsiteY1" fmla="*/ 680720 h 680720"/>
                <a:gd name="connsiteX2" fmla="*/ 528320 w 528320"/>
                <a:gd name="connsiteY2" fmla="*/ 680720 h 68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8320" h="680720">
                  <a:moveTo>
                    <a:pt x="0" y="0"/>
                  </a:moveTo>
                  <a:lnTo>
                    <a:pt x="0" y="680720"/>
                  </a:lnTo>
                  <a:lnTo>
                    <a:pt x="528320" y="680720"/>
                  </a:lnTo>
                </a:path>
              </a:pathLst>
            </a:custGeom>
            <a:noFill/>
            <a:ln w="19050" cap="flat" cmpd="sng" algn="ctr">
              <a:solidFill>
                <a:sysClr val="windowText" lastClr="000000">
                  <a:lumMod val="95000"/>
                  <a:lumOff val="5000"/>
                </a:sysClr>
              </a:solidFill>
              <a:prstDash val="solid"/>
              <a:miter lim="800000"/>
              <a:headEnd type="none" w="med" len="med"/>
              <a:tailEnd type="triangle" w="lg" len="lg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/>
                <a:cs typeface="+mn-cs"/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xmlns="" id="{F92AA871-9477-4439-8587-65EEE2A47C20}"/>
                </a:ext>
              </a:extLst>
            </p:cNvPr>
            <p:cNvSpPr/>
            <p:nvPr/>
          </p:nvSpPr>
          <p:spPr>
            <a:xfrm>
              <a:off x="5299748" y="4537877"/>
              <a:ext cx="534502" cy="4012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No</a:t>
              </a: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xmlns="" id="{A13A6120-0C33-4C11-A2C2-04B0CA7964A4}"/>
                </a:ext>
              </a:extLst>
            </p:cNvPr>
            <p:cNvSpPr/>
            <p:nvPr/>
          </p:nvSpPr>
          <p:spPr>
            <a:xfrm>
              <a:off x="2435336" y="1955180"/>
              <a:ext cx="859567" cy="4012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Nonce</a:t>
              </a: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xmlns="" id="{8FE9E8FE-E540-4CB8-9351-2FE47AAC94C5}"/>
                </a:ext>
              </a:extLst>
            </p:cNvPr>
            <p:cNvSpPr/>
            <p:nvPr/>
          </p:nvSpPr>
          <p:spPr>
            <a:xfrm>
              <a:off x="10569766" y="3844939"/>
              <a:ext cx="987271" cy="4012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해쉬</a:t>
              </a: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 값</a:t>
              </a:r>
              <a:endPara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xmlns="" id="{4C12564E-6F33-4B02-A3B8-6E4A21F9E678}"/>
                </a:ext>
              </a:extLst>
            </p:cNvPr>
            <p:cNvCxnSpPr>
              <a:stCxn id="48" idx="2"/>
            </p:cNvCxnSpPr>
            <p:nvPr/>
          </p:nvCxnSpPr>
          <p:spPr>
            <a:xfrm>
              <a:off x="10521865" y="3739765"/>
              <a:ext cx="0" cy="432000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>
                  <a:lumMod val="95000"/>
                  <a:lumOff val="5000"/>
                </a:sysClr>
              </a:solidFill>
              <a:prstDash val="solid"/>
              <a:miter lim="800000"/>
              <a:headEnd type="none" w="med" len="med"/>
              <a:tailEnd type="triangle" w="lg" len="lg"/>
            </a:ln>
            <a:effectLst/>
          </p:spPr>
        </p:cxn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xmlns="" id="{5D6663F9-A7C3-4707-89FE-86906ECCF33B}"/>
                </a:ext>
              </a:extLst>
            </p:cNvPr>
            <p:cNvSpPr/>
            <p:nvPr/>
          </p:nvSpPr>
          <p:spPr>
            <a:xfrm>
              <a:off x="4961913" y="2576995"/>
              <a:ext cx="1210174" cy="4012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합성 함수</a:t>
              </a:r>
              <a:endPara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xmlns="" id="{AB89795F-326D-4C38-991C-7263353F53DC}"/>
                </a:ext>
              </a:extLst>
            </p:cNvPr>
            <p:cNvSpPr/>
            <p:nvPr/>
          </p:nvSpPr>
          <p:spPr>
            <a:xfrm>
              <a:off x="10569766" y="4982859"/>
              <a:ext cx="583260" cy="4012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Yes</a:t>
              </a:r>
            </a:p>
          </p:txBody>
        </p: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xmlns="" id="{1553D8BF-8AD8-4AF4-8EC2-A38D6E3B909A}"/>
                </a:ext>
              </a:extLst>
            </p:cNvPr>
            <p:cNvCxnSpPr/>
            <p:nvPr/>
          </p:nvCxnSpPr>
          <p:spPr>
            <a:xfrm>
              <a:off x="10521865" y="4918325"/>
              <a:ext cx="0" cy="432000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>
                  <a:lumMod val="95000"/>
                  <a:lumOff val="5000"/>
                </a:sysClr>
              </a:solidFill>
              <a:prstDash val="solid"/>
              <a:miter lim="800000"/>
              <a:headEnd type="none" w="med" len="med"/>
              <a:tailEnd type="triangle" w="lg" len="lg"/>
            </a:ln>
            <a:effectLst/>
          </p:spPr>
        </p:cxnSp>
      </p:grpSp>
      <p:sp>
        <p:nvSpPr>
          <p:cNvPr id="59" name="자유형: 도형 81">
            <a:extLst>
              <a:ext uri="{FF2B5EF4-FFF2-40B4-BE49-F238E27FC236}">
                <a16:creationId xmlns:a16="http://schemas.microsoft.com/office/drawing/2014/main" xmlns="" id="{EFE52F28-E524-4178-AE71-9B0030203D67}"/>
              </a:ext>
            </a:extLst>
          </p:cNvPr>
          <p:cNvSpPr/>
          <p:nvPr/>
        </p:nvSpPr>
        <p:spPr>
          <a:xfrm>
            <a:off x="1987594" y="3914229"/>
            <a:ext cx="4685562" cy="701432"/>
          </a:xfrm>
          <a:custGeom>
            <a:avLst/>
            <a:gdLst>
              <a:gd name="connsiteX0" fmla="*/ 0 w 6786880"/>
              <a:gd name="connsiteY0" fmla="*/ 0 h 1016000"/>
              <a:gd name="connsiteX1" fmla="*/ 6786880 w 6786880"/>
              <a:gd name="connsiteY1" fmla="*/ 0 h 1016000"/>
              <a:gd name="connsiteX2" fmla="*/ 6786880 w 6786880"/>
              <a:gd name="connsiteY2" fmla="*/ 1016000 h 10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86880" h="1016000">
                <a:moveTo>
                  <a:pt x="0" y="0"/>
                </a:moveTo>
                <a:lnTo>
                  <a:pt x="6786880" y="0"/>
                </a:lnTo>
                <a:lnTo>
                  <a:pt x="6786880" y="1016000"/>
                </a:lnTo>
              </a:path>
            </a:pathLst>
          </a:custGeom>
          <a:noFill/>
          <a:ln w="19050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876885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28650" y="74814"/>
            <a:ext cx="50624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prstClr val="black"/>
                </a:solidFill>
              </a:rPr>
              <a:t>세부 연구 </a:t>
            </a:r>
            <a:r>
              <a:rPr lang="ko-KR" altLang="en-US" sz="3200" b="1" dirty="0" smtClean="0">
                <a:solidFill>
                  <a:prstClr val="black"/>
                </a:solidFill>
              </a:rPr>
              <a:t>내역</a:t>
            </a:r>
            <a:endParaRPr lang="ko-KR" altLang="en-US" sz="3200" b="1" dirty="0">
              <a:solidFill>
                <a:prstClr val="black"/>
              </a:solidFill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52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="" xmlns:a16="http://schemas.microsoft.com/office/drawing/2014/main" id="{4C70D3A6-2D13-4F22-9C06-C56F2B48E196}"/>
              </a:ext>
            </a:extLst>
          </p:cNvPr>
          <p:cNvSpPr/>
          <p:nvPr/>
        </p:nvSpPr>
        <p:spPr>
          <a:xfrm>
            <a:off x="336000" y="1404142"/>
            <a:ext cx="8556480" cy="7287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kern="0" spc="-50" dirty="0" smtClean="0">
                <a:solidFill>
                  <a:prstClr val="black"/>
                </a:solidFill>
              </a:rPr>
              <a:t>비트코인의 작업증명 함수를 </a:t>
            </a:r>
            <a:r>
              <a:rPr lang="en-US" altLang="ko-KR" sz="1600" kern="0" spc="-50" dirty="0" smtClean="0">
                <a:solidFill>
                  <a:prstClr val="black"/>
                </a:solidFill>
              </a:rPr>
              <a:t>ECCPoW</a:t>
            </a:r>
            <a:r>
              <a:rPr lang="ko-KR" altLang="en-US" sz="1600" kern="0" spc="-50" dirty="0" smtClean="0">
                <a:solidFill>
                  <a:prstClr val="black"/>
                </a:solidFill>
              </a:rPr>
              <a:t>로 교체</a:t>
            </a:r>
            <a:endParaRPr lang="en-US" altLang="ko-KR" sz="1600" kern="0" spc="-50" dirty="0" smtClean="0">
              <a:solidFill>
                <a:prstClr val="black"/>
              </a:solidFill>
            </a:endParaRPr>
          </a:p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600" kern="0" spc="-50" dirty="0" smtClean="0">
                <a:solidFill>
                  <a:prstClr val="black"/>
                </a:solidFill>
              </a:rPr>
              <a:t>Pow.cpp</a:t>
            </a:r>
            <a:r>
              <a:rPr lang="ko-KR" altLang="en-US" sz="1600" kern="0" spc="-50" dirty="0" smtClean="0">
                <a:solidFill>
                  <a:prstClr val="black"/>
                </a:solidFill>
              </a:rPr>
              <a:t>의 </a:t>
            </a:r>
            <a:r>
              <a:rPr lang="en-US" altLang="ko-KR" sz="1600" kern="0" spc="-50" dirty="0" err="1" smtClean="0">
                <a:solidFill>
                  <a:prstClr val="black"/>
                </a:solidFill>
              </a:rPr>
              <a:t>CheckProofofWork</a:t>
            </a:r>
            <a:r>
              <a:rPr lang="en-US" altLang="ko-KR" sz="1600" kern="0" spc="-50" dirty="0" smtClean="0">
                <a:solidFill>
                  <a:prstClr val="black"/>
                </a:solidFill>
              </a:rPr>
              <a:t> </a:t>
            </a:r>
            <a:r>
              <a:rPr lang="ko-KR" altLang="en-US" sz="1600" kern="0" spc="-50" dirty="0" smtClean="0">
                <a:solidFill>
                  <a:prstClr val="black"/>
                </a:solidFill>
              </a:rPr>
              <a:t>함수 수정</a:t>
            </a:r>
            <a:endParaRPr lang="en-US" altLang="ko-KR" sz="1600" kern="0" spc="-50" dirty="0" smtClean="0">
              <a:solidFill>
                <a:prstClr val="black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="" xmlns:a16="http://schemas.microsoft.com/office/drawing/2014/main" id="{C53D36E5-5476-4409-B7F7-5ECC3840BD36}"/>
              </a:ext>
            </a:extLst>
          </p:cNvPr>
          <p:cNvSpPr/>
          <p:nvPr/>
        </p:nvSpPr>
        <p:spPr>
          <a:xfrm>
            <a:off x="336000" y="1340768"/>
            <a:ext cx="8556480" cy="45719"/>
          </a:xfrm>
          <a:prstGeom prst="rect">
            <a:avLst/>
          </a:prstGeom>
          <a:solidFill>
            <a:srgbClr val="0255B8"/>
          </a:solidFill>
          <a:ln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ts val="600"/>
              </a:spcBef>
            </a:pPr>
            <a:endParaRPr lang="ko-KR" altLang="en-US" b="1" kern="0" dirty="0">
              <a:solidFill>
                <a:srgbClr val="0255B8"/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751793" y="899428"/>
            <a:ext cx="81406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 latinLnBrk="0"/>
            <a:r>
              <a:rPr lang="en-US" altLang="ko-KR" b="1" dirty="0">
                <a:solidFill>
                  <a:sysClr val="windowText" lastClr="000000"/>
                </a:solidFill>
              </a:rPr>
              <a:t>ECCPoW </a:t>
            </a:r>
            <a:r>
              <a:rPr lang="ko-KR" altLang="en-US" b="1" dirty="0">
                <a:solidFill>
                  <a:sysClr val="windowText" lastClr="000000"/>
                </a:solidFill>
              </a:rPr>
              <a:t>개발 및 기존의 암호화폐</a:t>
            </a:r>
            <a:r>
              <a:rPr lang="en-US" altLang="ko-KR" b="1" dirty="0">
                <a:solidFill>
                  <a:sysClr val="windowText" lastClr="000000"/>
                </a:solidFill>
              </a:rPr>
              <a:t>(</a:t>
            </a:r>
            <a:r>
              <a:rPr lang="ko-KR" altLang="en-US" b="1" dirty="0">
                <a:solidFill>
                  <a:sysClr val="windowText" lastClr="000000"/>
                </a:solidFill>
              </a:rPr>
              <a:t>비트코인</a:t>
            </a:r>
            <a:r>
              <a:rPr lang="en-US" altLang="ko-KR" b="1" dirty="0" smtClean="0">
                <a:solidFill>
                  <a:sysClr val="windowText" lastClr="000000"/>
                </a:solidFill>
              </a:rPr>
              <a:t>) </a:t>
            </a:r>
            <a:r>
              <a:rPr lang="ko-KR" altLang="en-US" b="1" dirty="0" smtClean="0">
                <a:solidFill>
                  <a:sysClr val="windowText" lastClr="000000"/>
                </a:solidFill>
              </a:rPr>
              <a:t>시스템에 적용 </a:t>
            </a:r>
            <a:r>
              <a:rPr lang="en-US" altLang="ko-KR" b="1" dirty="0" smtClean="0">
                <a:solidFill>
                  <a:sysClr val="windowText" lastClr="000000"/>
                </a:solidFill>
              </a:rPr>
              <a:t>– 1</a:t>
            </a:r>
            <a:endParaRPr lang="ko-KR" altLang="en-US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6145" name="_x235576160" descr="EMB00003ecc5d0c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10" b="4155"/>
          <a:stretch/>
        </p:blipFill>
        <p:spPr bwMode="auto">
          <a:xfrm>
            <a:off x="336000" y="2247663"/>
            <a:ext cx="4884072" cy="3773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E7934E3E-883D-44EC-B3DE-20168881FFD5}"/>
              </a:ext>
            </a:extLst>
          </p:cNvPr>
          <p:cNvSpPr txBox="1"/>
          <p:nvPr/>
        </p:nvSpPr>
        <p:spPr>
          <a:xfrm>
            <a:off x="6042148" y="3100264"/>
            <a:ext cx="2454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블록헤더의 유효성 검사</a:t>
            </a:r>
            <a:endParaRPr lang="ko-KR" altLang="en-US" sz="1400" dirty="0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xmlns="" id="{F3512AE6-5604-499E-83DF-1D0E7E296CE1}"/>
              </a:ext>
            </a:extLst>
          </p:cNvPr>
          <p:cNvGrpSpPr/>
          <p:nvPr/>
        </p:nvGrpSpPr>
        <p:grpSpPr>
          <a:xfrm>
            <a:off x="5313332" y="3111760"/>
            <a:ext cx="191734" cy="315562"/>
            <a:chOff x="3219970" y="2049848"/>
            <a:chExt cx="819826" cy="1646582"/>
          </a:xfrm>
        </p:grpSpPr>
        <p:sp>
          <p:nvSpPr>
            <p:cNvPr id="44" name="자유형: 도형 26">
              <a:extLst>
                <a:ext uri="{FF2B5EF4-FFF2-40B4-BE49-F238E27FC236}">
                  <a16:creationId xmlns:a16="http://schemas.microsoft.com/office/drawing/2014/main" xmlns="" id="{3CF03029-B0C4-4E60-8AD8-BD13AA24C618}"/>
                </a:ext>
              </a:extLst>
            </p:cNvPr>
            <p:cNvSpPr/>
            <p:nvPr/>
          </p:nvSpPr>
          <p:spPr>
            <a:xfrm rot="5400000">
              <a:off x="2806592" y="2463226"/>
              <a:ext cx="1646582" cy="819826"/>
            </a:xfrm>
            <a:custGeom>
              <a:avLst/>
              <a:gdLst>
                <a:gd name="connsiteX0" fmla="*/ 0 w 1646582"/>
                <a:gd name="connsiteY0" fmla="*/ 819826 h 819826"/>
                <a:gd name="connsiteX1" fmla="*/ 823291 w 1646582"/>
                <a:gd name="connsiteY1" fmla="*/ 0 h 819826"/>
                <a:gd name="connsiteX2" fmla="*/ 1646582 w 1646582"/>
                <a:gd name="connsiteY2" fmla="*/ 819826 h 819826"/>
                <a:gd name="connsiteX3" fmla="*/ 1217553 w 1646582"/>
                <a:gd name="connsiteY3" fmla="*/ 819826 h 819826"/>
                <a:gd name="connsiteX4" fmla="*/ 1217552 w 1646582"/>
                <a:gd name="connsiteY4" fmla="*/ 819825 h 819826"/>
                <a:gd name="connsiteX5" fmla="*/ 1320422 w 1646582"/>
                <a:gd name="connsiteY5" fmla="*/ 819825 h 819826"/>
                <a:gd name="connsiteX6" fmla="*/ 823292 w 1646582"/>
                <a:gd name="connsiteY6" fmla="*/ 324784 h 819826"/>
                <a:gd name="connsiteX7" fmla="*/ 326162 w 1646582"/>
                <a:gd name="connsiteY7" fmla="*/ 819825 h 819826"/>
                <a:gd name="connsiteX8" fmla="*/ 429034 w 1646582"/>
                <a:gd name="connsiteY8" fmla="*/ 819825 h 819826"/>
                <a:gd name="connsiteX9" fmla="*/ 429033 w 1646582"/>
                <a:gd name="connsiteY9" fmla="*/ 819826 h 819826"/>
                <a:gd name="connsiteX10" fmla="*/ 0 w 1646582"/>
                <a:gd name="connsiteY10" fmla="*/ 819826 h 81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46582" h="819826">
                  <a:moveTo>
                    <a:pt x="0" y="819826"/>
                  </a:moveTo>
                  <a:lnTo>
                    <a:pt x="823291" y="0"/>
                  </a:lnTo>
                  <a:lnTo>
                    <a:pt x="1646582" y="819826"/>
                  </a:lnTo>
                  <a:lnTo>
                    <a:pt x="1217553" y="819826"/>
                  </a:lnTo>
                  <a:lnTo>
                    <a:pt x="1217552" y="819825"/>
                  </a:lnTo>
                  <a:lnTo>
                    <a:pt x="1320422" y="819825"/>
                  </a:lnTo>
                  <a:lnTo>
                    <a:pt x="823292" y="324784"/>
                  </a:lnTo>
                  <a:lnTo>
                    <a:pt x="326162" y="819825"/>
                  </a:lnTo>
                  <a:lnTo>
                    <a:pt x="429034" y="819825"/>
                  </a:lnTo>
                  <a:lnTo>
                    <a:pt x="429033" y="819826"/>
                  </a:lnTo>
                  <a:lnTo>
                    <a:pt x="0" y="819826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sz="1400"/>
            </a:p>
          </p:txBody>
        </p:sp>
        <p:sp>
          <p:nvSpPr>
            <p:cNvPr id="45" name="자유형: 도형 27">
              <a:extLst>
                <a:ext uri="{FF2B5EF4-FFF2-40B4-BE49-F238E27FC236}">
                  <a16:creationId xmlns:a16="http://schemas.microsoft.com/office/drawing/2014/main" xmlns="" id="{C166D615-D447-47B4-9E87-E0FE7343DD4A}"/>
                </a:ext>
              </a:extLst>
            </p:cNvPr>
            <p:cNvSpPr/>
            <p:nvPr/>
          </p:nvSpPr>
          <p:spPr>
            <a:xfrm rot="5400000">
              <a:off x="3022012" y="2676841"/>
              <a:ext cx="788518" cy="392601"/>
            </a:xfrm>
            <a:custGeom>
              <a:avLst/>
              <a:gdLst>
                <a:gd name="connsiteX0" fmla="*/ 0 w 788518"/>
                <a:gd name="connsiteY0" fmla="*/ 392601 h 392601"/>
                <a:gd name="connsiteX1" fmla="*/ 394259 w 788518"/>
                <a:gd name="connsiteY1" fmla="*/ 0 h 392601"/>
                <a:gd name="connsiteX2" fmla="*/ 788518 w 788518"/>
                <a:gd name="connsiteY2" fmla="*/ 392601 h 392601"/>
                <a:gd name="connsiteX3" fmla="*/ 0 w 788518"/>
                <a:gd name="connsiteY3" fmla="*/ 392601 h 392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518" h="392601">
                  <a:moveTo>
                    <a:pt x="0" y="392601"/>
                  </a:moveTo>
                  <a:lnTo>
                    <a:pt x="394259" y="0"/>
                  </a:lnTo>
                  <a:lnTo>
                    <a:pt x="788518" y="392601"/>
                  </a:lnTo>
                  <a:lnTo>
                    <a:pt x="0" y="392601"/>
                  </a:lnTo>
                  <a:close/>
                </a:path>
              </a:pathLst>
            </a:custGeom>
            <a:solidFill>
              <a:srgbClr val="BC44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sz="1400"/>
            </a:p>
          </p:txBody>
        </p:sp>
      </p:grpSp>
      <p:sp>
        <p:nvSpPr>
          <p:cNvPr id="46" name="타원 45">
            <a:extLst>
              <a:ext uri="{FF2B5EF4-FFF2-40B4-BE49-F238E27FC236}">
                <a16:creationId xmlns:a16="http://schemas.microsoft.com/office/drawing/2014/main" xmlns="" id="{873C42AC-C8CA-4F3E-9569-C3E251411B92}"/>
              </a:ext>
            </a:extLst>
          </p:cNvPr>
          <p:cNvSpPr/>
          <p:nvPr/>
        </p:nvSpPr>
        <p:spPr>
          <a:xfrm>
            <a:off x="5611056" y="3070859"/>
            <a:ext cx="397364" cy="397364"/>
          </a:xfrm>
          <a:prstGeom prst="ellipse">
            <a:avLst/>
          </a:prstGeom>
          <a:solidFill>
            <a:srgbClr val="BC4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1400" b="1" dirty="0"/>
              <a:t>01</a:t>
            </a:r>
            <a:endParaRPr lang="ko-KR" altLang="en-US" sz="14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xmlns="" id="{612C4681-2414-48BF-8831-8FE24B992A89}"/>
              </a:ext>
            </a:extLst>
          </p:cNvPr>
          <p:cNvSpPr txBox="1"/>
          <p:nvPr/>
        </p:nvSpPr>
        <p:spPr>
          <a:xfrm>
            <a:off x="6042148" y="3790544"/>
            <a:ext cx="29903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ECCPoW </a:t>
            </a:r>
            <a:r>
              <a:rPr lang="ko-KR" altLang="en-US" sz="1400" dirty="0" smtClean="0"/>
              <a:t>암호 퍼즐 난이도 결정</a:t>
            </a:r>
            <a:endParaRPr lang="ko-KR" altLang="en-US" sz="1400" dirty="0"/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xmlns="" id="{F233F1F7-0CF2-4B17-8AC7-034A4480568B}"/>
              </a:ext>
            </a:extLst>
          </p:cNvPr>
          <p:cNvGrpSpPr/>
          <p:nvPr/>
        </p:nvGrpSpPr>
        <p:grpSpPr>
          <a:xfrm>
            <a:off x="5313332" y="3802040"/>
            <a:ext cx="191734" cy="315562"/>
            <a:chOff x="3219970" y="2049848"/>
            <a:chExt cx="819826" cy="1646582"/>
          </a:xfrm>
        </p:grpSpPr>
        <p:sp>
          <p:nvSpPr>
            <p:cNvPr id="68" name="자유형: 도형 32">
              <a:extLst>
                <a:ext uri="{FF2B5EF4-FFF2-40B4-BE49-F238E27FC236}">
                  <a16:creationId xmlns:a16="http://schemas.microsoft.com/office/drawing/2014/main" xmlns="" id="{01483DED-4CF3-4BF6-BBED-EDC61A2A66AC}"/>
                </a:ext>
              </a:extLst>
            </p:cNvPr>
            <p:cNvSpPr/>
            <p:nvPr/>
          </p:nvSpPr>
          <p:spPr>
            <a:xfrm rot="5400000">
              <a:off x="2806592" y="2463226"/>
              <a:ext cx="1646582" cy="819826"/>
            </a:xfrm>
            <a:custGeom>
              <a:avLst/>
              <a:gdLst>
                <a:gd name="connsiteX0" fmla="*/ 0 w 1646582"/>
                <a:gd name="connsiteY0" fmla="*/ 819826 h 819826"/>
                <a:gd name="connsiteX1" fmla="*/ 823291 w 1646582"/>
                <a:gd name="connsiteY1" fmla="*/ 0 h 819826"/>
                <a:gd name="connsiteX2" fmla="*/ 1646582 w 1646582"/>
                <a:gd name="connsiteY2" fmla="*/ 819826 h 819826"/>
                <a:gd name="connsiteX3" fmla="*/ 1217553 w 1646582"/>
                <a:gd name="connsiteY3" fmla="*/ 819826 h 819826"/>
                <a:gd name="connsiteX4" fmla="*/ 1217552 w 1646582"/>
                <a:gd name="connsiteY4" fmla="*/ 819825 h 819826"/>
                <a:gd name="connsiteX5" fmla="*/ 1320422 w 1646582"/>
                <a:gd name="connsiteY5" fmla="*/ 819825 h 819826"/>
                <a:gd name="connsiteX6" fmla="*/ 823292 w 1646582"/>
                <a:gd name="connsiteY6" fmla="*/ 324784 h 819826"/>
                <a:gd name="connsiteX7" fmla="*/ 326162 w 1646582"/>
                <a:gd name="connsiteY7" fmla="*/ 819825 h 819826"/>
                <a:gd name="connsiteX8" fmla="*/ 429034 w 1646582"/>
                <a:gd name="connsiteY8" fmla="*/ 819825 h 819826"/>
                <a:gd name="connsiteX9" fmla="*/ 429033 w 1646582"/>
                <a:gd name="connsiteY9" fmla="*/ 819826 h 819826"/>
                <a:gd name="connsiteX10" fmla="*/ 0 w 1646582"/>
                <a:gd name="connsiteY10" fmla="*/ 819826 h 81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46582" h="819826">
                  <a:moveTo>
                    <a:pt x="0" y="819826"/>
                  </a:moveTo>
                  <a:lnTo>
                    <a:pt x="823291" y="0"/>
                  </a:lnTo>
                  <a:lnTo>
                    <a:pt x="1646582" y="819826"/>
                  </a:lnTo>
                  <a:lnTo>
                    <a:pt x="1217553" y="819826"/>
                  </a:lnTo>
                  <a:lnTo>
                    <a:pt x="1217552" y="819825"/>
                  </a:lnTo>
                  <a:lnTo>
                    <a:pt x="1320422" y="819825"/>
                  </a:lnTo>
                  <a:lnTo>
                    <a:pt x="823292" y="324784"/>
                  </a:lnTo>
                  <a:lnTo>
                    <a:pt x="326162" y="819825"/>
                  </a:lnTo>
                  <a:lnTo>
                    <a:pt x="429034" y="819825"/>
                  </a:lnTo>
                  <a:lnTo>
                    <a:pt x="429033" y="819826"/>
                  </a:lnTo>
                  <a:lnTo>
                    <a:pt x="0" y="819826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sz="1400"/>
            </a:p>
          </p:txBody>
        </p:sp>
        <p:sp>
          <p:nvSpPr>
            <p:cNvPr id="69" name="자유형: 도형 33">
              <a:extLst>
                <a:ext uri="{FF2B5EF4-FFF2-40B4-BE49-F238E27FC236}">
                  <a16:creationId xmlns:a16="http://schemas.microsoft.com/office/drawing/2014/main" xmlns="" id="{FB72D986-E615-480B-8411-5F5CAD996704}"/>
                </a:ext>
              </a:extLst>
            </p:cNvPr>
            <p:cNvSpPr/>
            <p:nvPr/>
          </p:nvSpPr>
          <p:spPr>
            <a:xfrm rot="5400000">
              <a:off x="3022012" y="2676841"/>
              <a:ext cx="788518" cy="392601"/>
            </a:xfrm>
            <a:custGeom>
              <a:avLst/>
              <a:gdLst>
                <a:gd name="connsiteX0" fmla="*/ 0 w 788518"/>
                <a:gd name="connsiteY0" fmla="*/ 392601 h 392601"/>
                <a:gd name="connsiteX1" fmla="*/ 394259 w 788518"/>
                <a:gd name="connsiteY1" fmla="*/ 0 h 392601"/>
                <a:gd name="connsiteX2" fmla="*/ 788518 w 788518"/>
                <a:gd name="connsiteY2" fmla="*/ 392601 h 392601"/>
                <a:gd name="connsiteX3" fmla="*/ 0 w 788518"/>
                <a:gd name="connsiteY3" fmla="*/ 392601 h 392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518" h="392601">
                  <a:moveTo>
                    <a:pt x="0" y="392601"/>
                  </a:moveTo>
                  <a:lnTo>
                    <a:pt x="394259" y="0"/>
                  </a:lnTo>
                  <a:lnTo>
                    <a:pt x="788518" y="392601"/>
                  </a:lnTo>
                  <a:lnTo>
                    <a:pt x="0" y="392601"/>
                  </a:lnTo>
                  <a:close/>
                </a:path>
              </a:pathLst>
            </a:custGeom>
            <a:solidFill>
              <a:srgbClr val="94B7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sz="1400"/>
            </a:p>
          </p:txBody>
        </p:sp>
      </p:grpSp>
      <p:sp>
        <p:nvSpPr>
          <p:cNvPr id="70" name="타원 69">
            <a:extLst>
              <a:ext uri="{FF2B5EF4-FFF2-40B4-BE49-F238E27FC236}">
                <a16:creationId xmlns:a16="http://schemas.microsoft.com/office/drawing/2014/main" xmlns="" id="{343747CF-A49C-4BF3-BB2A-8A76B040FB0A}"/>
              </a:ext>
            </a:extLst>
          </p:cNvPr>
          <p:cNvSpPr/>
          <p:nvPr/>
        </p:nvSpPr>
        <p:spPr>
          <a:xfrm>
            <a:off x="5611056" y="3761139"/>
            <a:ext cx="397364" cy="397364"/>
          </a:xfrm>
          <a:prstGeom prst="ellipse">
            <a:avLst/>
          </a:prstGeom>
          <a:solidFill>
            <a:srgbClr val="94B7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1400" b="1" dirty="0" smtClean="0"/>
              <a:t>02</a:t>
            </a:r>
            <a:endParaRPr lang="ko-KR" altLang="en-US" sz="1400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xmlns="" id="{38AD9C58-8F77-A346-A7C7-304866DE6FDA}"/>
              </a:ext>
            </a:extLst>
          </p:cNvPr>
          <p:cNvSpPr txBox="1"/>
          <p:nvPr/>
        </p:nvSpPr>
        <p:spPr>
          <a:xfrm>
            <a:off x="6042148" y="4496797"/>
            <a:ext cx="25888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ECCPoW </a:t>
            </a:r>
            <a:r>
              <a:rPr lang="ko-KR" altLang="en-US" sz="1400" dirty="0" smtClean="0"/>
              <a:t>수행</a:t>
            </a:r>
            <a:endParaRPr lang="ko-KR" altLang="en-US" sz="1400" dirty="0"/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xmlns="" id="{8C486680-8B33-D54C-9D05-6E7C6653757A}"/>
              </a:ext>
            </a:extLst>
          </p:cNvPr>
          <p:cNvGrpSpPr/>
          <p:nvPr/>
        </p:nvGrpSpPr>
        <p:grpSpPr>
          <a:xfrm>
            <a:off x="5313332" y="4490399"/>
            <a:ext cx="191734" cy="315562"/>
            <a:chOff x="3219970" y="2049848"/>
            <a:chExt cx="819826" cy="1646582"/>
          </a:xfrm>
        </p:grpSpPr>
        <p:sp>
          <p:nvSpPr>
            <p:cNvPr id="73" name="자유형: 도형 58">
              <a:extLst>
                <a:ext uri="{FF2B5EF4-FFF2-40B4-BE49-F238E27FC236}">
                  <a16:creationId xmlns:a16="http://schemas.microsoft.com/office/drawing/2014/main" xmlns="" id="{5539C70D-7748-E945-B353-5B694680B909}"/>
                </a:ext>
              </a:extLst>
            </p:cNvPr>
            <p:cNvSpPr/>
            <p:nvPr/>
          </p:nvSpPr>
          <p:spPr>
            <a:xfrm rot="5400000">
              <a:off x="2806592" y="2463226"/>
              <a:ext cx="1646582" cy="819826"/>
            </a:xfrm>
            <a:custGeom>
              <a:avLst/>
              <a:gdLst>
                <a:gd name="connsiteX0" fmla="*/ 0 w 1646582"/>
                <a:gd name="connsiteY0" fmla="*/ 819826 h 819826"/>
                <a:gd name="connsiteX1" fmla="*/ 823291 w 1646582"/>
                <a:gd name="connsiteY1" fmla="*/ 0 h 819826"/>
                <a:gd name="connsiteX2" fmla="*/ 1646582 w 1646582"/>
                <a:gd name="connsiteY2" fmla="*/ 819826 h 819826"/>
                <a:gd name="connsiteX3" fmla="*/ 1217553 w 1646582"/>
                <a:gd name="connsiteY3" fmla="*/ 819826 h 819826"/>
                <a:gd name="connsiteX4" fmla="*/ 1217552 w 1646582"/>
                <a:gd name="connsiteY4" fmla="*/ 819825 h 819826"/>
                <a:gd name="connsiteX5" fmla="*/ 1320422 w 1646582"/>
                <a:gd name="connsiteY5" fmla="*/ 819825 h 819826"/>
                <a:gd name="connsiteX6" fmla="*/ 823292 w 1646582"/>
                <a:gd name="connsiteY6" fmla="*/ 324784 h 819826"/>
                <a:gd name="connsiteX7" fmla="*/ 326162 w 1646582"/>
                <a:gd name="connsiteY7" fmla="*/ 819825 h 819826"/>
                <a:gd name="connsiteX8" fmla="*/ 429034 w 1646582"/>
                <a:gd name="connsiteY8" fmla="*/ 819825 h 819826"/>
                <a:gd name="connsiteX9" fmla="*/ 429033 w 1646582"/>
                <a:gd name="connsiteY9" fmla="*/ 819826 h 819826"/>
                <a:gd name="connsiteX10" fmla="*/ 0 w 1646582"/>
                <a:gd name="connsiteY10" fmla="*/ 819826 h 81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46582" h="819826">
                  <a:moveTo>
                    <a:pt x="0" y="819826"/>
                  </a:moveTo>
                  <a:lnTo>
                    <a:pt x="823291" y="0"/>
                  </a:lnTo>
                  <a:lnTo>
                    <a:pt x="1646582" y="819826"/>
                  </a:lnTo>
                  <a:lnTo>
                    <a:pt x="1217553" y="819826"/>
                  </a:lnTo>
                  <a:lnTo>
                    <a:pt x="1217552" y="819825"/>
                  </a:lnTo>
                  <a:lnTo>
                    <a:pt x="1320422" y="819825"/>
                  </a:lnTo>
                  <a:lnTo>
                    <a:pt x="823292" y="324784"/>
                  </a:lnTo>
                  <a:lnTo>
                    <a:pt x="326162" y="819825"/>
                  </a:lnTo>
                  <a:lnTo>
                    <a:pt x="429034" y="819825"/>
                  </a:lnTo>
                  <a:lnTo>
                    <a:pt x="429033" y="819826"/>
                  </a:lnTo>
                  <a:lnTo>
                    <a:pt x="0" y="819826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sz="1400"/>
            </a:p>
          </p:txBody>
        </p:sp>
        <p:sp>
          <p:nvSpPr>
            <p:cNvPr id="74" name="자유형: 도형 59">
              <a:extLst>
                <a:ext uri="{FF2B5EF4-FFF2-40B4-BE49-F238E27FC236}">
                  <a16:creationId xmlns:a16="http://schemas.microsoft.com/office/drawing/2014/main" xmlns="" id="{9C0D565E-246D-8C41-9C04-D4E3764DC25A}"/>
                </a:ext>
              </a:extLst>
            </p:cNvPr>
            <p:cNvSpPr/>
            <p:nvPr/>
          </p:nvSpPr>
          <p:spPr>
            <a:xfrm rot="5400000">
              <a:off x="3022012" y="2676841"/>
              <a:ext cx="788518" cy="392601"/>
            </a:xfrm>
            <a:custGeom>
              <a:avLst/>
              <a:gdLst>
                <a:gd name="connsiteX0" fmla="*/ 0 w 788518"/>
                <a:gd name="connsiteY0" fmla="*/ 392601 h 392601"/>
                <a:gd name="connsiteX1" fmla="*/ 394259 w 788518"/>
                <a:gd name="connsiteY1" fmla="*/ 0 h 392601"/>
                <a:gd name="connsiteX2" fmla="*/ 788518 w 788518"/>
                <a:gd name="connsiteY2" fmla="*/ 392601 h 392601"/>
                <a:gd name="connsiteX3" fmla="*/ 0 w 788518"/>
                <a:gd name="connsiteY3" fmla="*/ 392601 h 392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518" h="392601">
                  <a:moveTo>
                    <a:pt x="0" y="392601"/>
                  </a:moveTo>
                  <a:lnTo>
                    <a:pt x="394259" y="0"/>
                  </a:lnTo>
                  <a:lnTo>
                    <a:pt x="788518" y="392601"/>
                  </a:lnTo>
                  <a:lnTo>
                    <a:pt x="0" y="392601"/>
                  </a:lnTo>
                  <a:close/>
                </a:path>
              </a:pathLst>
            </a:custGeom>
            <a:solidFill>
              <a:srgbClr val="37284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sz="1400"/>
            </a:p>
          </p:txBody>
        </p:sp>
      </p:grpSp>
      <p:sp>
        <p:nvSpPr>
          <p:cNvPr id="75" name="타원 74">
            <a:extLst>
              <a:ext uri="{FF2B5EF4-FFF2-40B4-BE49-F238E27FC236}">
                <a16:creationId xmlns:a16="http://schemas.microsoft.com/office/drawing/2014/main" xmlns="" id="{B047F316-7D55-5643-9C2B-073E3C321D76}"/>
              </a:ext>
            </a:extLst>
          </p:cNvPr>
          <p:cNvSpPr/>
          <p:nvPr/>
        </p:nvSpPr>
        <p:spPr>
          <a:xfrm>
            <a:off x="5611056" y="4437112"/>
            <a:ext cx="397364" cy="397364"/>
          </a:xfrm>
          <a:prstGeom prst="ellipse">
            <a:avLst/>
          </a:prstGeom>
          <a:solidFill>
            <a:srgbClr val="3728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1400" b="1" dirty="0"/>
              <a:t>03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71356481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28650" y="74814"/>
            <a:ext cx="50624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prstClr val="black"/>
                </a:solidFill>
              </a:rPr>
              <a:t>세부 연구 </a:t>
            </a:r>
            <a:r>
              <a:rPr lang="ko-KR" altLang="en-US" sz="3200" b="1" dirty="0" smtClean="0">
                <a:solidFill>
                  <a:prstClr val="black"/>
                </a:solidFill>
              </a:rPr>
              <a:t>내역</a:t>
            </a:r>
            <a:endParaRPr lang="ko-KR" altLang="en-US" sz="3200" b="1" dirty="0">
              <a:solidFill>
                <a:prstClr val="black"/>
              </a:solidFill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53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="" xmlns:a16="http://schemas.microsoft.com/office/drawing/2014/main" id="{4C70D3A6-2D13-4F22-9C06-C56F2B48E196}"/>
              </a:ext>
            </a:extLst>
          </p:cNvPr>
          <p:cNvSpPr/>
          <p:nvPr/>
        </p:nvSpPr>
        <p:spPr>
          <a:xfrm>
            <a:off x="336000" y="1404143"/>
            <a:ext cx="8556480" cy="8007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600" kern="0" spc="-50" dirty="0" smtClean="0">
                <a:solidFill>
                  <a:prstClr val="black"/>
                </a:solidFill>
              </a:rPr>
              <a:t>ECCPoW </a:t>
            </a:r>
            <a:r>
              <a:rPr lang="ko-KR" altLang="en-US" sz="1600" kern="0" spc="-50" dirty="0" smtClean="0">
                <a:solidFill>
                  <a:prstClr val="black"/>
                </a:solidFill>
              </a:rPr>
              <a:t>퍼즐의 난이도를 </a:t>
            </a:r>
            <a:r>
              <a:rPr lang="en-US" altLang="ko-KR" sz="1600" kern="0" spc="-50" dirty="0" smtClean="0">
                <a:solidFill>
                  <a:prstClr val="black"/>
                </a:solidFill>
              </a:rPr>
              <a:t>380</a:t>
            </a:r>
            <a:r>
              <a:rPr lang="ko-KR" altLang="en-US" sz="1600" kern="0" spc="-50" dirty="0" smtClean="0">
                <a:solidFill>
                  <a:prstClr val="black"/>
                </a:solidFill>
              </a:rPr>
              <a:t>개로 세분화 하여 난이도 테이블 제작함</a:t>
            </a:r>
            <a:r>
              <a:rPr lang="en-US" altLang="ko-KR" sz="1600" kern="0" spc="-50" dirty="0" smtClean="0">
                <a:solidFill>
                  <a:prstClr val="black"/>
                </a:solidFill>
              </a:rPr>
              <a:t>.</a:t>
            </a:r>
          </a:p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kern="0" spc="-50" dirty="0" smtClean="0">
                <a:solidFill>
                  <a:prstClr val="black"/>
                </a:solidFill>
              </a:rPr>
              <a:t>비트코인의 </a:t>
            </a:r>
            <a:r>
              <a:rPr lang="en-US" altLang="ko-KR" sz="1600" kern="0" spc="-50" dirty="0" err="1" smtClean="0">
                <a:solidFill>
                  <a:prstClr val="black"/>
                </a:solidFill>
              </a:rPr>
              <a:t>nBit</a:t>
            </a:r>
            <a:r>
              <a:rPr lang="en-US" altLang="ko-KR" sz="1600" kern="0" spc="-50" dirty="0" smtClean="0">
                <a:solidFill>
                  <a:prstClr val="black"/>
                </a:solidFill>
              </a:rPr>
              <a:t> </a:t>
            </a:r>
            <a:r>
              <a:rPr lang="ko-KR" altLang="en-US" sz="1600" kern="0" spc="-50" dirty="0" smtClean="0">
                <a:solidFill>
                  <a:prstClr val="black"/>
                </a:solidFill>
              </a:rPr>
              <a:t>변수를 이용해 난이도를 계산하고</a:t>
            </a:r>
            <a:r>
              <a:rPr lang="en-US" altLang="ko-KR" sz="1600" kern="0" spc="-50" dirty="0" smtClean="0">
                <a:solidFill>
                  <a:prstClr val="black"/>
                </a:solidFill>
              </a:rPr>
              <a:t>,  </a:t>
            </a:r>
            <a:r>
              <a:rPr lang="ko-KR" altLang="en-US" sz="1600" kern="0" spc="-50" dirty="0" smtClean="0">
                <a:solidFill>
                  <a:prstClr val="black"/>
                </a:solidFill>
              </a:rPr>
              <a:t>이 결과를 난이도 테이블에 </a:t>
            </a:r>
            <a:r>
              <a:rPr lang="ko-KR" altLang="en-US" sz="1600" kern="0" spc="-50" dirty="0" err="1" smtClean="0">
                <a:solidFill>
                  <a:prstClr val="black"/>
                </a:solidFill>
              </a:rPr>
              <a:t>맵핑함</a:t>
            </a:r>
            <a:r>
              <a:rPr lang="en-US" altLang="ko-KR" sz="1600" kern="0" spc="-50" dirty="0" smtClean="0">
                <a:solidFill>
                  <a:prstClr val="black"/>
                </a:solidFill>
              </a:rPr>
              <a:t>.</a:t>
            </a:r>
            <a:endParaRPr lang="en-US" altLang="ko-KR" sz="1600" kern="0" spc="-50" dirty="0">
              <a:solidFill>
                <a:prstClr val="black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="" xmlns:a16="http://schemas.microsoft.com/office/drawing/2014/main" id="{C53D36E5-5476-4409-B7F7-5ECC3840BD36}"/>
              </a:ext>
            </a:extLst>
          </p:cNvPr>
          <p:cNvSpPr/>
          <p:nvPr/>
        </p:nvSpPr>
        <p:spPr>
          <a:xfrm>
            <a:off x="336000" y="1340768"/>
            <a:ext cx="8556480" cy="45719"/>
          </a:xfrm>
          <a:prstGeom prst="rect">
            <a:avLst/>
          </a:prstGeom>
          <a:solidFill>
            <a:srgbClr val="0255B8"/>
          </a:solidFill>
          <a:ln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ts val="600"/>
              </a:spcBef>
            </a:pPr>
            <a:endParaRPr lang="ko-KR" altLang="en-US" b="1" kern="0" dirty="0">
              <a:solidFill>
                <a:srgbClr val="0255B8"/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751793" y="899428"/>
            <a:ext cx="83922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 latinLnBrk="0"/>
            <a:r>
              <a:rPr lang="en-US" altLang="ko-KR" b="1" dirty="0">
                <a:solidFill>
                  <a:sysClr val="windowText" lastClr="000000"/>
                </a:solidFill>
              </a:rPr>
              <a:t>ECCPoW </a:t>
            </a:r>
            <a:r>
              <a:rPr lang="ko-KR" altLang="en-US" b="1" dirty="0">
                <a:solidFill>
                  <a:sysClr val="windowText" lastClr="000000"/>
                </a:solidFill>
              </a:rPr>
              <a:t>개발 및 기존의 암호화폐</a:t>
            </a:r>
            <a:r>
              <a:rPr lang="en-US" altLang="ko-KR" b="1" dirty="0">
                <a:solidFill>
                  <a:sysClr val="windowText" lastClr="000000"/>
                </a:solidFill>
              </a:rPr>
              <a:t>(</a:t>
            </a:r>
            <a:r>
              <a:rPr lang="ko-KR" altLang="en-US" b="1" dirty="0">
                <a:solidFill>
                  <a:sysClr val="windowText" lastClr="000000"/>
                </a:solidFill>
              </a:rPr>
              <a:t>비트코인</a:t>
            </a:r>
            <a:r>
              <a:rPr lang="en-US" altLang="ko-KR" b="1" dirty="0" smtClean="0">
                <a:solidFill>
                  <a:sysClr val="windowText" lastClr="000000"/>
                </a:solidFill>
              </a:rPr>
              <a:t>) </a:t>
            </a:r>
            <a:r>
              <a:rPr lang="ko-KR" altLang="en-US" b="1" dirty="0" smtClean="0">
                <a:solidFill>
                  <a:sysClr val="windowText" lastClr="000000"/>
                </a:solidFill>
              </a:rPr>
              <a:t>시스템에 적용 </a:t>
            </a:r>
            <a:r>
              <a:rPr lang="en-US" altLang="ko-KR" b="1" dirty="0" smtClean="0">
                <a:solidFill>
                  <a:sysClr val="windowText" lastClr="000000"/>
                </a:solidFill>
              </a:rPr>
              <a:t>– 2</a:t>
            </a:r>
            <a:endParaRPr lang="ko-KR" altLang="en-US" b="1" dirty="0">
              <a:solidFill>
                <a:sysClr val="windowText" lastClr="00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E7934E3E-883D-44EC-B3DE-20168881FFD5}"/>
              </a:ext>
            </a:extLst>
          </p:cNvPr>
          <p:cNvSpPr txBox="1"/>
          <p:nvPr/>
        </p:nvSpPr>
        <p:spPr>
          <a:xfrm>
            <a:off x="3779726" y="2869047"/>
            <a:ext cx="35462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/>
              <a:t>ECCPoW</a:t>
            </a:r>
            <a:r>
              <a:rPr lang="en-US" altLang="ko-KR" sz="1600" dirty="0"/>
              <a:t> </a:t>
            </a:r>
            <a:r>
              <a:rPr lang="ko-KR" altLang="en-US" sz="1600" dirty="0"/>
              <a:t>암호 퍼즐 난이도로 맵핑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xmlns="" id="{F3512AE6-5604-499E-83DF-1D0E7E296CE1}"/>
              </a:ext>
            </a:extLst>
          </p:cNvPr>
          <p:cNvGrpSpPr/>
          <p:nvPr/>
        </p:nvGrpSpPr>
        <p:grpSpPr>
          <a:xfrm>
            <a:off x="3050911" y="2880543"/>
            <a:ext cx="191734" cy="315562"/>
            <a:chOff x="3219970" y="2049848"/>
            <a:chExt cx="819826" cy="1646582"/>
          </a:xfrm>
        </p:grpSpPr>
        <p:sp>
          <p:nvSpPr>
            <p:cNvPr id="32" name="자유형: 도형 26">
              <a:extLst>
                <a:ext uri="{FF2B5EF4-FFF2-40B4-BE49-F238E27FC236}">
                  <a16:creationId xmlns:a16="http://schemas.microsoft.com/office/drawing/2014/main" xmlns="" id="{3CF03029-B0C4-4E60-8AD8-BD13AA24C618}"/>
                </a:ext>
              </a:extLst>
            </p:cNvPr>
            <p:cNvSpPr/>
            <p:nvPr/>
          </p:nvSpPr>
          <p:spPr>
            <a:xfrm rot="5400000">
              <a:off x="2806592" y="2463226"/>
              <a:ext cx="1646582" cy="819826"/>
            </a:xfrm>
            <a:custGeom>
              <a:avLst/>
              <a:gdLst>
                <a:gd name="connsiteX0" fmla="*/ 0 w 1646582"/>
                <a:gd name="connsiteY0" fmla="*/ 819826 h 819826"/>
                <a:gd name="connsiteX1" fmla="*/ 823291 w 1646582"/>
                <a:gd name="connsiteY1" fmla="*/ 0 h 819826"/>
                <a:gd name="connsiteX2" fmla="*/ 1646582 w 1646582"/>
                <a:gd name="connsiteY2" fmla="*/ 819826 h 819826"/>
                <a:gd name="connsiteX3" fmla="*/ 1217553 w 1646582"/>
                <a:gd name="connsiteY3" fmla="*/ 819826 h 819826"/>
                <a:gd name="connsiteX4" fmla="*/ 1217552 w 1646582"/>
                <a:gd name="connsiteY4" fmla="*/ 819825 h 819826"/>
                <a:gd name="connsiteX5" fmla="*/ 1320422 w 1646582"/>
                <a:gd name="connsiteY5" fmla="*/ 819825 h 819826"/>
                <a:gd name="connsiteX6" fmla="*/ 823292 w 1646582"/>
                <a:gd name="connsiteY6" fmla="*/ 324784 h 819826"/>
                <a:gd name="connsiteX7" fmla="*/ 326162 w 1646582"/>
                <a:gd name="connsiteY7" fmla="*/ 819825 h 819826"/>
                <a:gd name="connsiteX8" fmla="*/ 429034 w 1646582"/>
                <a:gd name="connsiteY8" fmla="*/ 819825 h 819826"/>
                <a:gd name="connsiteX9" fmla="*/ 429033 w 1646582"/>
                <a:gd name="connsiteY9" fmla="*/ 819826 h 819826"/>
                <a:gd name="connsiteX10" fmla="*/ 0 w 1646582"/>
                <a:gd name="connsiteY10" fmla="*/ 819826 h 81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46582" h="819826">
                  <a:moveTo>
                    <a:pt x="0" y="819826"/>
                  </a:moveTo>
                  <a:lnTo>
                    <a:pt x="823291" y="0"/>
                  </a:lnTo>
                  <a:lnTo>
                    <a:pt x="1646582" y="819826"/>
                  </a:lnTo>
                  <a:lnTo>
                    <a:pt x="1217553" y="819826"/>
                  </a:lnTo>
                  <a:lnTo>
                    <a:pt x="1217552" y="819825"/>
                  </a:lnTo>
                  <a:lnTo>
                    <a:pt x="1320422" y="819825"/>
                  </a:lnTo>
                  <a:lnTo>
                    <a:pt x="823292" y="324784"/>
                  </a:lnTo>
                  <a:lnTo>
                    <a:pt x="326162" y="819825"/>
                  </a:lnTo>
                  <a:lnTo>
                    <a:pt x="429034" y="819825"/>
                  </a:lnTo>
                  <a:lnTo>
                    <a:pt x="429033" y="819826"/>
                  </a:lnTo>
                  <a:lnTo>
                    <a:pt x="0" y="819826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3" name="자유형: 도형 27">
              <a:extLst>
                <a:ext uri="{FF2B5EF4-FFF2-40B4-BE49-F238E27FC236}">
                  <a16:creationId xmlns:a16="http://schemas.microsoft.com/office/drawing/2014/main" xmlns="" id="{C166D615-D447-47B4-9E87-E0FE7343DD4A}"/>
                </a:ext>
              </a:extLst>
            </p:cNvPr>
            <p:cNvSpPr/>
            <p:nvPr/>
          </p:nvSpPr>
          <p:spPr>
            <a:xfrm rot="5400000">
              <a:off x="3022012" y="2676841"/>
              <a:ext cx="788518" cy="392601"/>
            </a:xfrm>
            <a:custGeom>
              <a:avLst/>
              <a:gdLst>
                <a:gd name="connsiteX0" fmla="*/ 0 w 788518"/>
                <a:gd name="connsiteY0" fmla="*/ 392601 h 392601"/>
                <a:gd name="connsiteX1" fmla="*/ 394259 w 788518"/>
                <a:gd name="connsiteY1" fmla="*/ 0 h 392601"/>
                <a:gd name="connsiteX2" fmla="*/ 788518 w 788518"/>
                <a:gd name="connsiteY2" fmla="*/ 392601 h 392601"/>
                <a:gd name="connsiteX3" fmla="*/ 0 w 788518"/>
                <a:gd name="connsiteY3" fmla="*/ 392601 h 392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518" h="392601">
                  <a:moveTo>
                    <a:pt x="0" y="392601"/>
                  </a:moveTo>
                  <a:lnTo>
                    <a:pt x="394259" y="0"/>
                  </a:lnTo>
                  <a:lnTo>
                    <a:pt x="788518" y="392601"/>
                  </a:lnTo>
                  <a:lnTo>
                    <a:pt x="0" y="392601"/>
                  </a:lnTo>
                  <a:close/>
                </a:path>
              </a:pathLst>
            </a:custGeom>
            <a:solidFill>
              <a:srgbClr val="BC44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34" name="타원 33">
            <a:extLst>
              <a:ext uri="{FF2B5EF4-FFF2-40B4-BE49-F238E27FC236}">
                <a16:creationId xmlns:a16="http://schemas.microsoft.com/office/drawing/2014/main" xmlns="" id="{873C42AC-C8CA-4F3E-9569-C3E251411B92}"/>
              </a:ext>
            </a:extLst>
          </p:cNvPr>
          <p:cNvSpPr/>
          <p:nvPr/>
        </p:nvSpPr>
        <p:spPr>
          <a:xfrm>
            <a:off x="3348635" y="2839642"/>
            <a:ext cx="397364" cy="397364"/>
          </a:xfrm>
          <a:prstGeom prst="ellipse">
            <a:avLst/>
          </a:prstGeom>
          <a:solidFill>
            <a:srgbClr val="BC4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b="1" dirty="0"/>
              <a:t>01</a:t>
            </a:r>
            <a:endParaRPr lang="ko-KR" altLang="en-US" b="1" dirty="0"/>
          </a:p>
        </p:txBody>
      </p:sp>
      <p:pic>
        <p:nvPicPr>
          <p:cNvPr id="35" name="_x214996240" descr="EMB000038c40ccc">
            <a:extLst>
              <a:ext uri="{FF2B5EF4-FFF2-40B4-BE49-F238E27FC236}">
                <a16:creationId xmlns:a16="http://schemas.microsoft.com/office/drawing/2014/main" xmlns="" id="{29180342-E092-419C-BD0F-02B0D79FAE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504" b="2477"/>
          <a:stretch/>
        </p:blipFill>
        <p:spPr bwMode="auto">
          <a:xfrm>
            <a:off x="323528" y="2250583"/>
            <a:ext cx="2644797" cy="2005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612C4681-2414-48BF-8831-8FE24B992A89}"/>
              </a:ext>
            </a:extLst>
          </p:cNvPr>
          <p:cNvSpPr txBox="1"/>
          <p:nvPr/>
        </p:nvSpPr>
        <p:spPr>
          <a:xfrm>
            <a:off x="3779726" y="3554847"/>
            <a:ext cx="35462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/>
              <a:t>380</a:t>
            </a:r>
            <a:r>
              <a:rPr lang="ko-KR" altLang="en-US" sz="1600" dirty="0" smtClean="0"/>
              <a:t>개의 레벨로 구성</a:t>
            </a:r>
            <a:endParaRPr lang="ko-KR" altLang="en-US" sz="1600" dirty="0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xmlns="" id="{F233F1F7-0CF2-4B17-8AC7-034A4480568B}"/>
              </a:ext>
            </a:extLst>
          </p:cNvPr>
          <p:cNvGrpSpPr/>
          <p:nvPr/>
        </p:nvGrpSpPr>
        <p:grpSpPr>
          <a:xfrm>
            <a:off x="3050911" y="3566343"/>
            <a:ext cx="191734" cy="315562"/>
            <a:chOff x="3219970" y="2049848"/>
            <a:chExt cx="819826" cy="1646582"/>
          </a:xfrm>
        </p:grpSpPr>
        <p:sp>
          <p:nvSpPr>
            <p:cNvPr id="38" name="자유형: 도형 32">
              <a:extLst>
                <a:ext uri="{FF2B5EF4-FFF2-40B4-BE49-F238E27FC236}">
                  <a16:creationId xmlns:a16="http://schemas.microsoft.com/office/drawing/2014/main" xmlns="" id="{01483DED-4CF3-4BF6-BBED-EDC61A2A66AC}"/>
                </a:ext>
              </a:extLst>
            </p:cNvPr>
            <p:cNvSpPr/>
            <p:nvPr/>
          </p:nvSpPr>
          <p:spPr>
            <a:xfrm rot="5400000">
              <a:off x="2806592" y="2463226"/>
              <a:ext cx="1646582" cy="819826"/>
            </a:xfrm>
            <a:custGeom>
              <a:avLst/>
              <a:gdLst>
                <a:gd name="connsiteX0" fmla="*/ 0 w 1646582"/>
                <a:gd name="connsiteY0" fmla="*/ 819826 h 819826"/>
                <a:gd name="connsiteX1" fmla="*/ 823291 w 1646582"/>
                <a:gd name="connsiteY1" fmla="*/ 0 h 819826"/>
                <a:gd name="connsiteX2" fmla="*/ 1646582 w 1646582"/>
                <a:gd name="connsiteY2" fmla="*/ 819826 h 819826"/>
                <a:gd name="connsiteX3" fmla="*/ 1217553 w 1646582"/>
                <a:gd name="connsiteY3" fmla="*/ 819826 h 819826"/>
                <a:gd name="connsiteX4" fmla="*/ 1217552 w 1646582"/>
                <a:gd name="connsiteY4" fmla="*/ 819825 h 819826"/>
                <a:gd name="connsiteX5" fmla="*/ 1320422 w 1646582"/>
                <a:gd name="connsiteY5" fmla="*/ 819825 h 819826"/>
                <a:gd name="connsiteX6" fmla="*/ 823292 w 1646582"/>
                <a:gd name="connsiteY6" fmla="*/ 324784 h 819826"/>
                <a:gd name="connsiteX7" fmla="*/ 326162 w 1646582"/>
                <a:gd name="connsiteY7" fmla="*/ 819825 h 819826"/>
                <a:gd name="connsiteX8" fmla="*/ 429034 w 1646582"/>
                <a:gd name="connsiteY8" fmla="*/ 819825 h 819826"/>
                <a:gd name="connsiteX9" fmla="*/ 429033 w 1646582"/>
                <a:gd name="connsiteY9" fmla="*/ 819826 h 819826"/>
                <a:gd name="connsiteX10" fmla="*/ 0 w 1646582"/>
                <a:gd name="connsiteY10" fmla="*/ 819826 h 81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46582" h="819826">
                  <a:moveTo>
                    <a:pt x="0" y="819826"/>
                  </a:moveTo>
                  <a:lnTo>
                    <a:pt x="823291" y="0"/>
                  </a:lnTo>
                  <a:lnTo>
                    <a:pt x="1646582" y="819826"/>
                  </a:lnTo>
                  <a:lnTo>
                    <a:pt x="1217553" y="819826"/>
                  </a:lnTo>
                  <a:lnTo>
                    <a:pt x="1217552" y="819825"/>
                  </a:lnTo>
                  <a:lnTo>
                    <a:pt x="1320422" y="819825"/>
                  </a:lnTo>
                  <a:lnTo>
                    <a:pt x="823292" y="324784"/>
                  </a:lnTo>
                  <a:lnTo>
                    <a:pt x="326162" y="819825"/>
                  </a:lnTo>
                  <a:lnTo>
                    <a:pt x="429034" y="819825"/>
                  </a:lnTo>
                  <a:lnTo>
                    <a:pt x="429033" y="819826"/>
                  </a:lnTo>
                  <a:lnTo>
                    <a:pt x="0" y="819826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9" name="자유형: 도형 33">
              <a:extLst>
                <a:ext uri="{FF2B5EF4-FFF2-40B4-BE49-F238E27FC236}">
                  <a16:creationId xmlns:a16="http://schemas.microsoft.com/office/drawing/2014/main" xmlns="" id="{FB72D986-E615-480B-8411-5F5CAD996704}"/>
                </a:ext>
              </a:extLst>
            </p:cNvPr>
            <p:cNvSpPr/>
            <p:nvPr/>
          </p:nvSpPr>
          <p:spPr>
            <a:xfrm rot="5400000">
              <a:off x="3022012" y="2676841"/>
              <a:ext cx="788518" cy="392601"/>
            </a:xfrm>
            <a:custGeom>
              <a:avLst/>
              <a:gdLst>
                <a:gd name="connsiteX0" fmla="*/ 0 w 788518"/>
                <a:gd name="connsiteY0" fmla="*/ 392601 h 392601"/>
                <a:gd name="connsiteX1" fmla="*/ 394259 w 788518"/>
                <a:gd name="connsiteY1" fmla="*/ 0 h 392601"/>
                <a:gd name="connsiteX2" fmla="*/ 788518 w 788518"/>
                <a:gd name="connsiteY2" fmla="*/ 392601 h 392601"/>
                <a:gd name="connsiteX3" fmla="*/ 0 w 788518"/>
                <a:gd name="connsiteY3" fmla="*/ 392601 h 392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518" h="392601">
                  <a:moveTo>
                    <a:pt x="0" y="392601"/>
                  </a:moveTo>
                  <a:lnTo>
                    <a:pt x="394259" y="0"/>
                  </a:lnTo>
                  <a:lnTo>
                    <a:pt x="788518" y="392601"/>
                  </a:lnTo>
                  <a:lnTo>
                    <a:pt x="0" y="392601"/>
                  </a:lnTo>
                  <a:close/>
                </a:path>
              </a:pathLst>
            </a:custGeom>
            <a:solidFill>
              <a:srgbClr val="94B7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40" name="타원 39">
            <a:extLst>
              <a:ext uri="{FF2B5EF4-FFF2-40B4-BE49-F238E27FC236}">
                <a16:creationId xmlns:a16="http://schemas.microsoft.com/office/drawing/2014/main" xmlns="" id="{343747CF-A49C-4BF3-BB2A-8A76B040FB0A}"/>
              </a:ext>
            </a:extLst>
          </p:cNvPr>
          <p:cNvSpPr/>
          <p:nvPr/>
        </p:nvSpPr>
        <p:spPr>
          <a:xfrm>
            <a:off x="3348635" y="3525442"/>
            <a:ext cx="397364" cy="397364"/>
          </a:xfrm>
          <a:prstGeom prst="ellipse">
            <a:avLst/>
          </a:prstGeom>
          <a:solidFill>
            <a:srgbClr val="94B7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b="1" dirty="0"/>
              <a:t>02</a:t>
            </a:r>
            <a:endParaRPr lang="ko-KR" altLang="en-US" b="1" dirty="0"/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xmlns="" id="{E46D5B01-E370-46F3-9B66-7CFFAD6811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6153954"/>
              </p:ext>
            </p:extLst>
          </p:nvPr>
        </p:nvGraphicFramePr>
        <p:xfrm>
          <a:off x="5781622" y="3990550"/>
          <a:ext cx="3113547" cy="1694568"/>
        </p:xfrm>
        <a:graphic>
          <a:graphicData uri="http://schemas.openxmlformats.org/drawingml/2006/table">
            <a:tbl>
              <a:tblPr/>
              <a:tblGrid>
                <a:gridCol w="56257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5669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154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5069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42818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25888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Level</a:t>
                      </a:r>
                    </a:p>
                  </a:txBody>
                  <a:tcPr marL="64770" marR="64770" marT="17907" marB="17907" anchor="ctr">
                    <a:lnL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i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n</a:t>
                      </a:r>
                      <a:endParaRPr lang="ko-KR" altLang="en-US" sz="1400" b="1" i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i="1" kern="0" spc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altLang="ko-KR" sz="1400" b="1" i="1" kern="0" spc="0" baseline="-25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c</a:t>
                      </a:r>
                      <a:endParaRPr lang="ko-KR" altLang="en-US" sz="1400" b="1" i="1" kern="0" spc="0" baseline="-2500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i="1" kern="0" spc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altLang="ko-KR" sz="1400" b="1" i="1" kern="0" spc="0" baseline="-25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r</a:t>
                      </a:r>
                      <a:endParaRPr lang="ko-KR" altLang="en-US" sz="1400" b="1" i="1" kern="0" spc="0" baseline="-2500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집합 </a:t>
                      </a:r>
                      <a:r>
                        <a:rPr lang="en-US" altLang="ko-KR" sz="1400" b="1" i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ko-KR" altLang="en-US" sz="1400" b="1" i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9565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32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4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{10,12,…,20,22]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9565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32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4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{10,12,…,14,16}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58887">
                <a:tc grid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...</a:t>
                      </a:r>
                    </a:p>
                  </a:txBody>
                  <a:tcPr marL="64770" marR="64770" marT="17907" marB="17907" anchor="ctr">
                    <a:lnL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9274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379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128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4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{34,94}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9274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380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128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4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{34}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grpSp>
        <p:nvGrpSpPr>
          <p:cNvPr id="4" name="그룹 3"/>
          <p:cNvGrpSpPr/>
          <p:nvPr/>
        </p:nvGrpSpPr>
        <p:grpSpPr>
          <a:xfrm>
            <a:off x="481120" y="4335015"/>
            <a:ext cx="5209981" cy="1830289"/>
            <a:chOff x="481118" y="4479031"/>
            <a:chExt cx="7442385" cy="1830289"/>
          </a:xfrm>
        </p:grpSpPr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xmlns="" id="{AC1C7AF0-EC8A-4EDF-843E-A9CD96AE075A}"/>
                </a:ext>
              </a:extLst>
            </p:cNvPr>
            <p:cNvSpPr/>
            <p:nvPr/>
          </p:nvSpPr>
          <p:spPr>
            <a:xfrm>
              <a:off x="2713612" y="6021288"/>
              <a:ext cx="1898025" cy="2880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Log2(difficulty)</a:t>
              </a:r>
              <a:r>
                <a:rPr lang="ko-KR" altLang="en-US" sz="1400" dirty="0"/>
                <a:t> 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xmlns="" id="{6D176E55-2CD6-4312-9A5E-3EBDC2FA3973}"/>
                </a:ext>
              </a:extLst>
            </p:cNvPr>
            <p:cNvSpPr txBox="1"/>
            <p:nvPr/>
          </p:nvSpPr>
          <p:spPr>
            <a:xfrm>
              <a:off x="481118" y="6001543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/>
                <a:t>0</a:t>
              </a:r>
              <a:endParaRPr lang="ko-KR" altLang="en-US" sz="1400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xmlns="" id="{258B9B3E-EA70-47FB-868C-40A3EBD54A55}"/>
                </a:ext>
              </a:extLst>
            </p:cNvPr>
            <p:cNvSpPr txBox="1"/>
            <p:nvPr/>
          </p:nvSpPr>
          <p:spPr>
            <a:xfrm>
              <a:off x="5447662" y="6001543"/>
              <a:ext cx="20633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/>
                <a:t>Log2(</a:t>
              </a:r>
              <a:r>
                <a:rPr lang="en-US" altLang="ko-KR" sz="1400" dirty="0" err="1"/>
                <a:t>max_target</a:t>
              </a:r>
              <a:r>
                <a:rPr lang="en-US" altLang="ko-KR" sz="1400" dirty="0"/>
                <a:t>)</a:t>
              </a:r>
              <a:endParaRPr lang="ko-KR" altLang="en-US" sz="1400" dirty="0"/>
            </a:p>
          </p:txBody>
        </p:sp>
        <p:sp>
          <p:nvSpPr>
            <p:cNvPr id="50" name="자유형: 도형 1">
              <a:extLst>
                <a:ext uri="{FF2B5EF4-FFF2-40B4-BE49-F238E27FC236}">
                  <a16:creationId xmlns:a16="http://schemas.microsoft.com/office/drawing/2014/main" xmlns="" id="{A6B14B92-1B5A-4274-89DD-53EFCB88D68C}"/>
                </a:ext>
              </a:extLst>
            </p:cNvPr>
            <p:cNvSpPr/>
            <p:nvPr/>
          </p:nvSpPr>
          <p:spPr>
            <a:xfrm>
              <a:off x="529925" y="5968196"/>
              <a:ext cx="6810103" cy="0"/>
            </a:xfrm>
            <a:custGeom>
              <a:avLst/>
              <a:gdLst>
                <a:gd name="connsiteX0" fmla="*/ 6540138 w 6540138"/>
                <a:gd name="connsiteY0" fmla="*/ 0 h 0"/>
                <a:gd name="connsiteX1" fmla="*/ 0 w 6540138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40138">
                  <a:moveTo>
                    <a:pt x="6540138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43434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xmlns="" id="{28141EB1-5A88-4260-8865-BA95B6309776}"/>
                </a:ext>
              </a:extLst>
            </p:cNvPr>
            <p:cNvGrpSpPr/>
            <p:nvPr/>
          </p:nvGrpSpPr>
          <p:grpSpPr>
            <a:xfrm>
              <a:off x="529926" y="5794025"/>
              <a:ext cx="992778" cy="139336"/>
              <a:chOff x="1018904" y="5521234"/>
              <a:chExt cx="992778" cy="139336"/>
            </a:xfrm>
          </p:grpSpPr>
          <p:sp>
            <p:nvSpPr>
              <p:cNvPr id="52" name="오른쪽 대괄호 51">
                <a:extLst>
                  <a:ext uri="{FF2B5EF4-FFF2-40B4-BE49-F238E27FC236}">
                    <a16:creationId xmlns:a16="http://schemas.microsoft.com/office/drawing/2014/main" xmlns="" id="{A802CF6A-0357-447A-99C4-2048CA2C06E7}"/>
                  </a:ext>
                </a:extLst>
              </p:cNvPr>
              <p:cNvSpPr/>
              <p:nvPr/>
            </p:nvSpPr>
            <p:spPr>
              <a:xfrm rot="16200000">
                <a:off x="1188722" y="5351416"/>
                <a:ext cx="139336" cy="478971"/>
              </a:xfrm>
              <a:prstGeom prst="rightBracket">
                <a:avLst>
                  <a:gd name="adj" fmla="val 87879"/>
                </a:avLst>
              </a:prstGeom>
              <a:ln w="12700">
                <a:solidFill>
                  <a:srgbClr val="43434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" name="오른쪽 대괄호 52">
                <a:extLst>
                  <a:ext uri="{FF2B5EF4-FFF2-40B4-BE49-F238E27FC236}">
                    <a16:creationId xmlns:a16="http://schemas.microsoft.com/office/drawing/2014/main" xmlns="" id="{34BB7514-E28A-417D-B010-9C4626037B40}"/>
                  </a:ext>
                </a:extLst>
              </p:cNvPr>
              <p:cNvSpPr/>
              <p:nvPr/>
            </p:nvSpPr>
            <p:spPr>
              <a:xfrm rot="16200000">
                <a:off x="1702529" y="5351416"/>
                <a:ext cx="139336" cy="478971"/>
              </a:xfrm>
              <a:prstGeom prst="rightBracket">
                <a:avLst>
                  <a:gd name="adj" fmla="val 87879"/>
                </a:avLst>
              </a:prstGeom>
              <a:ln w="12700">
                <a:solidFill>
                  <a:srgbClr val="43434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xmlns="" id="{7094B0A8-D90A-4D79-B906-7CE3C5C08759}"/>
                </a:ext>
              </a:extLst>
            </p:cNvPr>
            <p:cNvGrpSpPr/>
            <p:nvPr/>
          </p:nvGrpSpPr>
          <p:grpSpPr>
            <a:xfrm>
              <a:off x="6347250" y="5794025"/>
              <a:ext cx="992778" cy="139336"/>
              <a:chOff x="1018904" y="5521234"/>
              <a:chExt cx="992778" cy="139336"/>
            </a:xfrm>
          </p:grpSpPr>
          <p:sp>
            <p:nvSpPr>
              <p:cNvPr id="55" name="오른쪽 대괄호 54">
                <a:extLst>
                  <a:ext uri="{FF2B5EF4-FFF2-40B4-BE49-F238E27FC236}">
                    <a16:creationId xmlns:a16="http://schemas.microsoft.com/office/drawing/2014/main" xmlns="" id="{8F2F2DFF-D206-4089-A5EE-853E6191E93B}"/>
                  </a:ext>
                </a:extLst>
              </p:cNvPr>
              <p:cNvSpPr/>
              <p:nvPr/>
            </p:nvSpPr>
            <p:spPr>
              <a:xfrm rot="16200000">
                <a:off x="1188722" y="5351416"/>
                <a:ext cx="139336" cy="478971"/>
              </a:xfrm>
              <a:prstGeom prst="rightBracket">
                <a:avLst>
                  <a:gd name="adj" fmla="val 87879"/>
                </a:avLst>
              </a:prstGeom>
              <a:ln w="12700">
                <a:solidFill>
                  <a:srgbClr val="43434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6" name="오른쪽 대괄호 55">
                <a:extLst>
                  <a:ext uri="{FF2B5EF4-FFF2-40B4-BE49-F238E27FC236}">
                    <a16:creationId xmlns:a16="http://schemas.microsoft.com/office/drawing/2014/main" xmlns="" id="{9C140BF5-E6DF-481C-B052-13D1809E6602}"/>
                  </a:ext>
                </a:extLst>
              </p:cNvPr>
              <p:cNvSpPr/>
              <p:nvPr/>
            </p:nvSpPr>
            <p:spPr>
              <a:xfrm rot="16200000">
                <a:off x="1702529" y="5351416"/>
                <a:ext cx="139336" cy="478971"/>
              </a:xfrm>
              <a:prstGeom prst="rightBracket">
                <a:avLst>
                  <a:gd name="adj" fmla="val 87879"/>
                </a:avLst>
              </a:prstGeom>
              <a:ln w="12700">
                <a:solidFill>
                  <a:srgbClr val="43434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7" name="자유형: 도형 47">
              <a:extLst>
                <a:ext uri="{FF2B5EF4-FFF2-40B4-BE49-F238E27FC236}">
                  <a16:creationId xmlns:a16="http://schemas.microsoft.com/office/drawing/2014/main" xmlns="" id="{BC715428-1830-4F53-A6C3-67B9B2233784}"/>
                </a:ext>
              </a:extLst>
            </p:cNvPr>
            <p:cNvSpPr/>
            <p:nvPr/>
          </p:nvSpPr>
          <p:spPr>
            <a:xfrm>
              <a:off x="6599799" y="5358596"/>
              <a:ext cx="1323703" cy="444137"/>
            </a:xfrm>
            <a:custGeom>
              <a:avLst/>
              <a:gdLst>
                <a:gd name="connsiteX0" fmla="*/ 0 w 1323703"/>
                <a:gd name="connsiteY0" fmla="*/ 444137 h 444137"/>
                <a:gd name="connsiteX1" fmla="*/ 0 w 1323703"/>
                <a:gd name="connsiteY1" fmla="*/ 0 h 444137"/>
                <a:gd name="connsiteX2" fmla="*/ 1323703 w 1323703"/>
                <a:gd name="connsiteY2" fmla="*/ 0 h 44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23703" h="444137">
                  <a:moveTo>
                    <a:pt x="0" y="444137"/>
                  </a:moveTo>
                  <a:lnTo>
                    <a:pt x="0" y="0"/>
                  </a:lnTo>
                  <a:lnTo>
                    <a:pt x="1323703" y="0"/>
                  </a:lnTo>
                </a:path>
              </a:pathLst>
            </a:custGeom>
            <a:noFill/>
            <a:ln w="19050">
              <a:solidFill>
                <a:srgbClr val="434348"/>
              </a:solidFill>
              <a:prstDash val="dash"/>
              <a:headEnd type="none" w="med" len="med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58" name="자유형: 도형 50">
              <a:extLst>
                <a:ext uri="{FF2B5EF4-FFF2-40B4-BE49-F238E27FC236}">
                  <a16:creationId xmlns:a16="http://schemas.microsoft.com/office/drawing/2014/main" xmlns="" id="{10E1EAA2-66A7-44CF-BE12-4B7A46842933}"/>
                </a:ext>
              </a:extLst>
            </p:cNvPr>
            <p:cNvSpPr/>
            <p:nvPr/>
          </p:nvSpPr>
          <p:spPr>
            <a:xfrm>
              <a:off x="7096189" y="5593728"/>
              <a:ext cx="827314" cy="209005"/>
            </a:xfrm>
            <a:custGeom>
              <a:avLst/>
              <a:gdLst>
                <a:gd name="connsiteX0" fmla="*/ 0 w 1323703"/>
                <a:gd name="connsiteY0" fmla="*/ 444137 h 444137"/>
                <a:gd name="connsiteX1" fmla="*/ 0 w 1323703"/>
                <a:gd name="connsiteY1" fmla="*/ 0 h 444137"/>
                <a:gd name="connsiteX2" fmla="*/ 1323703 w 1323703"/>
                <a:gd name="connsiteY2" fmla="*/ 0 h 44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23703" h="444137">
                  <a:moveTo>
                    <a:pt x="0" y="444137"/>
                  </a:moveTo>
                  <a:lnTo>
                    <a:pt x="0" y="0"/>
                  </a:lnTo>
                  <a:lnTo>
                    <a:pt x="1323703" y="0"/>
                  </a:lnTo>
                </a:path>
              </a:pathLst>
            </a:custGeom>
            <a:noFill/>
            <a:ln w="19050">
              <a:solidFill>
                <a:srgbClr val="434348"/>
              </a:solidFill>
              <a:prstDash val="dash"/>
              <a:headEnd type="none" w="med" len="med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59" name="자유형: 도형 51">
              <a:extLst>
                <a:ext uri="{FF2B5EF4-FFF2-40B4-BE49-F238E27FC236}">
                  <a16:creationId xmlns:a16="http://schemas.microsoft.com/office/drawing/2014/main" xmlns="" id="{7CEDC748-B7E8-4F4D-8FC3-E17A749F28D8}"/>
                </a:ext>
              </a:extLst>
            </p:cNvPr>
            <p:cNvSpPr/>
            <p:nvPr/>
          </p:nvSpPr>
          <p:spPr>
            <a:xfrm>
              <a:off x="782473" y="4479031"/>
              <a:ext cx="7141030" cy="1306285"/>
            </a:xfrm>
            <a:custGeom>
              <a:avLst/>
              <a:gdLst>
                <a:gd name="connsiteX0" fmla="*/ 0 w 1323703"/>
                <a:gd name="connsiteY0" fmla="*/ 444137 h 444137"/>
                <a:gd name="connsiteX1" fmla="*/ 0 w 1323703"/>
                <a:gd name="connsiteY1" fmla="*/ 0 h 444137"/>
                <a:gd name="connsiteX2" fmla="*/ 1323703 w 1323703"/>
                <a:gd name="connsiteY2" fmla="*/ 0 h 44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23703" h="444137">
                  <a:moveTo>
                    <a:pt x="0" y="444137"/>
                  </a:moveTo>
                  <a:lnTo>
                    <a:pt x="0" y="0"/>
                  </a:lnTo>
                  <a:lnTo>
                    <a:pt x="1323703" y="0"/>
                  </a:lnTo>
                </a:path>
              </a:pathLst>
            </a:custGeom>
            <a:noFill/>
            <a:ln w="19050">
              <a:solidFill>
                <a:srgbClr val="434348"/>
              </a:solidFill>
              <a:prstDash val="dash"/>
              <a:headEnd type="none" w="med" len="med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60" name="자유형: 도형 52">
              <a:extLst>
                <a:ext uri="{FF2B5EF4-FFF2-40B4-BE49-F238E27FC236}">
                  <a16:creationId xmlns:a16="http://schemas.microsoft.com/office/drawing/2014/main" xmlns="" id="{1C9C3FD4-8489-4C6C-9FFE-F811E0D701EB}"/>
                </a:ext>
              </a:extLst>
            </p:cNvPr>
            <p:cNvSpPr/>
            <p:nvPr/>
          </p:nvSpPr>
          <p:spPr>
            <a:xfrm>
              <a:off x="1299775" y="4783831"/>
              <a:ext cx="6623728" cy="1000201"/>
            </a:xfrm>
            <a:custGeom>
              <a:avLst/>
              <a:gdLst>
                <a:gd name="connsiteX0" fmla="*/ 0 w 1323703"/>
                <a:gd name="connsiteY0" fmla="*/ 444137 h 444137"/>
                <a:gd name="connsiteX1" fmla="*/ 0 w 1323703"/>
                <a:gd name="connsiteY1" fmla="*/ 0 h 444137"/>
                <a:gd name="connsiteX2" fmla="*/ 1323703 w 1323703"/>
                <a:gd name="connsiteY2" fmla="*/ 0 h 44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23703" h="444137">
                  <a:moveTo>
                    <a:pt x="0" y="444137"/>
                  </a:moveTo>
                  <a:lnTo>
                    <a:pt x="0" y="0"/>
                  </a:lnTo>
                  <a:lnTo>
                    <a:pt x="1323703" y="0"/>
                  </a:lnTo>
                </a:path>
              </a:pathLst>
            </a:custGeom>
            <a:noFill/>
            <a:ln w="19050">
              <a:solidFill>
                <a:srgbClr val="434348"/>
              </a:solidFill>
              <a:prstDash val="dash"/>
              <a:headEnd type="none" w="med" len="med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5223053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28650" y="74814"/>
            <a:ext cx="50624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prstClr val="black"/>
                </a:solidFill>
              </a:rPr>
              <a:t>세부 연구 </a:t>
            </a:r>
            <a:r>
              <a:rPr lang="ko-KR" altLang="en-US" sz="3200" b="1" dirty="0" smtClean="0">
                <a:solidFill>
                  <a:prstClr val="black"/>
                </a:solidFill>
              </a:rPr>
              <a:t>내역</a:t>
            </a:r>
            <a:endParaRPr lang="ko-KR" altLang="en-US" sz="3200" b="1" dirty="0">
              <a:solidFill>
                <a:prstClr val="black"/>
              </a:solidFill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7F9B-DA73-4DFC-91F0-91E8EC892A9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54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="" xmlns:a16="http://schemas.microsoft.com/office/drawing/2014/main" id="{4C70D3A6-2D13-4F22-9C06-C56F2B48E196}"/>
              </a:ext>
            </a:extLst>
          </p:cNvPr>
          <p:cNvSpPr/>
          <p:nvPr/>
        </p:nvSpPr>
        <p:spPr>
          <a:xfrm>
            <a:off x="336000" y="1404143"/>
            <a:ext cx="8556480" cy="8007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kern="0" spc="-50" dirty="0" smtClean="0">
                <a:solidFill>
                  <a:prstClr val="black"/>
                </a:solidFill>
              </a:rPr>
              <a:t>이더리움 작업증명에 </a:t>
            </a:r>
            <a:r>
              <a:rPr lang="en-US" altLang="ko-KR" sz="1600" kern="0" spc="-50" dirty="0" smtClean="0">
                <a:solidFill>
                  <a:prstClr val="black"/>
                </a:solidFill>
              </a:rPr>
              <a:t>ECCPoW </a:t>
            </a:r>
            <a:r>
              <a:rPr lang="ko-KR" altLang="en-US" sz="1600" kern="0" spc="-50" dirty="0" smtClean="0">
                <a:solidFill>
                  <a:prstClr val="black"/>
                </a:solidFill>
              </a:rPr>
              <a:t>작업증명을 추가함</a:t>
            </a:r>
            <a:r>
              <a:rPr lang="en-US" altLang="ko-KR" sz="1600" kern="0" spc="-50" dirty="0" smtClean="0">
                <a:solidFill>
                  <a:prstClr val="black"/>
                </a:solidFill>
              </a:rPr>
              <a:t>.</a:t>
            </a:r>
          </a:p>
          <a:p>
            <a:pPr marL="285750" indent="-28575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600" kern="0" spc="-50" dirty="0" err="1" smtClean="0">
                <a:solidFill>
                  <a:prstClr val="black"/>
                </a:solidFill>
              </a:rPr>
              <a:t>Algorithm.go</a:t>
            </a:r>
            <a:r>
              <a:rPr lang="ko-KR" altLang="en-US" sz="1600" kern="0" spc="-50" dirty="0" smtClean="0">
                <a:solidFill>
                  <a:prstClr val="black"/>
                </a:solidFill>
              </a:rPr>
              <a:t>의 </a:t>
            </a:r>
            <a:r>
              <a:rPr lang="en-US" altLang="ko-KR" sz="1600" kern="0" spc="-50" dirty="0" err="1" smtClean="0">
                <a:solidFill>
                  <a:prstClr val="black"/>
                </a:solidFill>
              </a:rPr>
              <a:t>hasimoto</a:t>
            </a:r>
            <a:r>
              <a:rPr lang="en-US" altLang="ko-KR" sz="1600" kern="0" spc="-50" dirty="0" smtClean="0">
                <a:solidFill>
                  <a:prstClr val="black"/>
                </a:solidFill>
              </a:rPr>
              <a:t> </a:t>
            </a:r>
            <a:r>
              <a:rPr lang="ko-KR" altLang="en-US" sz="1600" kern="0" spc="-50" dirty="0" smtClean="0">
                <a:solidFill>
                  <a:prstClr val="black"/>
                </a:solidFill>
              </a:rPr>
              <a:t>함수 변경함</a:t>
            </a:r>
            <a:r>
              <a:rPr lang="en-US" altLang="ko-KR" sz="1600" kern="0" spc="-50" dirty="0" smtClean="0">
                <a:solidFill>
                  <a:prstClr val="black"/>
                </a:solidFill>
              </a:rPr>
              <a:t>.</a:t>
            </a:r>
            <a:endParaRPr lang="en-US" altLang="ko-KR" sz="1600" kern="0" spc="-50" dirty="0">
              <a:solidFill>
                <a:prstClr val="black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="" xmlns:a16="http://schemas.microsoft.com/office/drawing/2014/main" id="{C53D36E5-5476-4409-B7F7-5ECC3840BD36}"/>
              </a:ext>
            </a:extLst>
          </p:cNvPr>
          <p:cNvSpPr/>
          <p:nvPr/>
        </p:nvSpPr>
        <p:spPr>
          <a:xfrm>
            <a:off x="336000" y="1340768"/>
            <a:ext cx="8556480" cy="45719"/>
          </a:xfrm>
          <a:prstGeom prst="rect">
            <a:avLst/>
          </a:prstGeom>
          <a:solidFill>
            <a:srgbClr val="0255B8"/>
          </a:solidFill>
          <a:ln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ts val="600"/>
              </a:spcBef>
            </a:pPr>
            <a:endParaRPr lang="ko-KR" altLang="en-US" b="1" kern="0" dirty="0">
              <a:solidFill>
                <a:srgbClr val="0255B8"/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751793" y="899428"/>
            <a:ext cx="81406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 latinLnBrk="0"/>
            <a:r>
              <a:rPr lang="en-US" altLang="ko-KR" b="1" dirty="0">
                <a:solidFill>
                  <a:sysClr val="windowText" lastClr="000000"/>
                </a:solidFill>
              </a:rPr>
              <a:t>ECCPoW </a:t>
            </a:r>
            <a:r>
              <a:rPr lang="ko-KR" altLang="en-US" b="1" dirty="0">
                <a:solidFill>
                  <a:sysClr val="windowText" lastClr="000000"/>
                </a:solidFill>
              </a:rPr>
              <a:t>개발 및 기존의 암호화폐</a:t>
            </a:r>
            <a:r>
              <a:rPr lang="en-US" altLang="ko-KR" b="1" dirty="0">
                <a:solidFill>
                  <a:sysClr val="windowText" lastClr="000000"/>
                </a:solidFill>
              </a:rPr>
              <a:t>(</a:t>
            </a:r>
            <a:r>
              <a:rPr lang="ko-KR" altLang="en-US" b="1" dirty="0">
                <a:solidFill>
                  <a:sysClr val="windowText" lastClr="000000"/>
                </a:solidFill>
              </a:rPr>
              <a:t>이더리움</a:t>
            </a:r>
            <a:r>
              <a:rPr lang="en-US" altLang="ko-KR" b="1" dirty="0" smtClean="0">
                <a:solidFill>
                  <a:sysClr val="windowText" lastClr="000000"/>
                </a:solidFill>
              </a:rPr>
              <a:t>) </a:t>
            </a:r>
            <a:r>
              <a:rPr lang="ko-KR" altLang="en-US" b="1" dirty="0" smtClean="0">
                <a:solidFill>
                  <a:sysClr val="windowText" lastClr="000000"/>
                </a:solidFill>
              </a:rPr>
              <a:t>시스템에 적용</a:t>
            </a:r>
            <a:endParaRPr lang="ko-KR" altLang="en-US" b="1" dirty="0">
              <a:solidFill>
                <a:sysClr val="windowText" lastClr="000000"/>
              </a:solidFill>
            </a:endParaRPr>
          </a:p>
        </p:txBody>
      </p:sp>
      <p:grpSp>
        <p:nvGrpSpPr>
          <p:cNvPr id="31" name="Google Shape;1778;g7a6da0afd1_0_11">
            <a:extLst>
              <a:ext uri="{FF2B5EF4-FFF2-40B4-BE49-F238E27FC236}">
                <a16:creationId xmlns:a16="http://schemas.microsoft.com/office/drawing/2014/main" xmlns="" id="{9A6595D2-EB84-A144-A42B-940335E8CBDA}"/>
              </a:ext>
            </a:extLst>
          </p:cNvPr>
          <p:cNvGrpSpPr/>
          <p:nvPr/>
        </p:nvGrpSpPr>
        <p:grpSpPr>
          <a:xfrm>
            <a:off x="251520" y="2230669"/>
            <a:ext cx="6080025" cy="3718611"/>
            <a:chOff x="2143825" y="371475"/>
            <a:chExt cx="6080025" cy="3943350"/>
          </a:xfrm>
        </p:grpSpPr>
        <p:pic>
          <p:nvPicPr>
            <p:cNvPr id="32" name="Google Shape;1779;g7a6da0afd1_0_11">
              <a:extLst>
                <a:ext uri="{FF2B5EF4-FFF2-40B4-BE49-F238E27FC236}">
                  <a16:creationId xmlns:a16="http://schemas.microsoft.com/office/drawing/2014/main" xmlns="" id="{18E7C91C-A5D2-2342-A2D4-034FEAC79F0F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143825" y="371475"/>
              <a:ext cx="5467350" cy="3943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" name="Google Shape;1780;g7a6da0afd1_0_11">
              <a:extLst>
                <a:ext uri="{FF2B5EF4-FFF2-40B4-BE49-F238E27FC236}">
                  <a16:creationId xmlns:a16="http://schemas.microsoft.com/office/drawing/2014/main" xmlns="" id="{594A215E-85CD-3647-92C4-184D49B09A2C}"/>
                </a:ext>
              </a:extLst>
            </p:cNvPr>
            <p:cNvSpPr/>
            <p:nvPr/>
          </p:nvSpPr>
          <p:spPr>
            <a:xfrm>
              <a:off x="2243800" y="428475"/>
              <a:ext cx="5248500" cy="792300"/>
            </a:xfrm>
            <a:prstGeom prst="rect">
              <a:avLst/>
            </a:prstGeom>
            <a:noFill/>
            <a:ln w="9525" cap="flat" cmpd="sng">
              <a:solidFill>
                <a:srgbClr val="BD444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781;g7a6da0afd1_0_11">
              <a:extLst>
                <a:ext uri="{FF2B5EF4-FFF2-40B4-BE49-F238E27FC236}">
                  <a16:creationId xmlns:a16="http://schemas.microsoft.com/office/drawing/2014/main" xmlns="" id="{561F667E-A87E-E346-8E23-B97F8FE26368}"/>
                </a:ext>
              </a:extLst>
            </p:cNvPr>
            <p:cNvSpPr/>
            <p:nvPr/>
          </p:nvSpPr>
          <p:spPr>
            <a:xfrm>
              <a:off x="2243800" y="1308400"/>
              <a:ext cx="5248500" cy="1044600"/>
            </a:xfrm>
            <a:prstGeom prst="rect">
              <a:avLst/>
            </a:prstGeom>
            <a:noFill/>
            <a:ln w="9525" cap="flat" cmpd="sng">
              <a:solidFill>
                <a:srgbClr val="91B3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782;g7a6da0afd1_0_11">
              <a:extLst>
                <a:ext uri="{FF2B5EF4-FFF2-40B4-BE49-F238E27FC236}">
                  <a16:creationId xmlns:a16="http://schemas.microsoft.com/office/drawing/2014/main" xmlns="" id="{957D53A7-8EBB-9D4A-9C0E-0059E7BF4D7C}"/>
                </a:ext>
              </a:extLst>
            </p:cNvPr>
            <p:cNvSpPr/>
            <p:nvPr/>
          </p:nvSpPr>
          <p:spPr>
            <a:xfrm>
              <a:off x="2243800" y="2410575"/>
              <a:ext cx="5248500" cy="1904100"/>
            </a:xfrm>
            <a:prstGeom prst="rect">
              <a:avLst/>
            </a:prstGeom>
            <a:noFill/>
            <a:ln w="9525" cap="flat" cmpd="sng">
              <a:solidFill>
                <a:srgbClr val="38274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784;g7a6da0afd1_0_11">
              <a:extLst>
                <a:ext uri="{FF2B5EF4-FFF2-40B4-BE49-F238E27FC236}">
                  <a16:creationId xmlns:a16="http://schemas.microsoft.com/office/drawing/2014/main" xmlns="" id="{2763125B-E94F-2642-8337-142770AEF4E2}"/>
                </a:ext>
              </a:extLst>
            </p:cNvPr>
            <p:cNvSpPr/>
            <p:nvPr/>
          </p:nvSpPr>
          <p:spPr>
            <a:xfrm>
              <a:off x="7711150" y="1402058"/>
              <a:ext cx="512700" cy="3396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 dirty="0"/>
            </a:p>
          </p:txBody>
        </p:sp>
        <p:sp>
          <p:nvSpPr>
            <p:cNvPr id="37" name="Google Shape;1785;g7a6da0afd1_0_11">
              <a:extLst>
                <a:ext uri="{FF2B5EF4-FFF2-40B4-BE49-F238E27FC236}">
                  <a16:creationId xmlns:a16="http://schemas.microsoft.com/office/drawing/2014/main" xmlns="" id="{11149CA4-EF17-7545-A6B9-0A98FC1758D1}"/>
                </a:ext>
              </a:extLst>
            </p:cNvPr>
            <p:cNvSpPr/>
            <p:nvPr/>
          </p:nvSpPr>
          <p:spPr>
            <a:xfrm>
              <a:off x="7720577" y="2468858"/>
              <a:ext cx="391800" cy="3396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/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B05BFC12-820B-744E-8A8B-BC00CE9875B1}"/>
              </a:ext>
            </a:extLst>
          </p:cNvPr>
          <p:cNvSpPr txBox="1"/>
          <p:nvPr/>
        </p:nvSpPr>
        <p:spPr>
          <a:xfrm>
            <a:off x="6447685" y="2484686"/>
            <a:ext cx="25168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400" dirty="0"/>
              <a:t>기존 </a:t>
            </a:r>
            <a:r>
              <a:rPr lang="ko-KR" altLang="ko-KR" sz="1400" dirty="0" err="1"/>
              <a:t>hashimoto</a:t>
            </a:r>
            <a:r>
              <a:rPr lang="ko-KR" altLang="ko-KR" sz="1400" dirty="0"/>
              <a:t> 함수의 마지막 부분</a:t>
            </a:r>
            <a:endParaRPr lang="ko-KR" alt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B834E563-A945-5440-8687-A9213AB81E16}"/>
              </a:ext>
            </a:extLst>
          </p:cNvPr>
          <p:cNvSpPr txBox="1"/>
          <p:nvPr/>
        </p:nvSpPr>
        <p:spPr>
          <a:xfrm>
            <a:off x="6447685" y="3534491"/>
            <a:ext cx="24447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ECCPoW </a:t>
            </a:r>
            <a:r>
              <a:rPr lang="ko-KR" altLang="en-US" sz="1400" dirty="0" smtClean="0"/>
              <a:t>실행</a:t>
            </a:r>
            <a:endParaRPr lang="ko-KR" altLang="en-US" sz="14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38AD9C58-8F77-A346-A7C7-304866DE6FDA}"/>
              </a:ext>
            </a:extLst>
          </p:cNvPr>
          <p:cNvSpPr txBox="1"/>
          <p:nvPr/>
        </p:nvSpPr>
        <p:spPr>
          <a:xfrm>
            <a:off x="6447685" y="4942910"/>
            <a:ext cx="25888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결과 값을 바탕으로 작업증명 완료 유무 결정</a:t>
            </a:r>
            <a:endParaRPr lang="ko-KR" altLang="en-US" sz="1400" dirty="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xmlns="" id="{1839F533-3D68-704B-80C7-A501E9D5673E}"/>
              </a:ext>
            </a:extLst>
          </p:cNvPr>
          <p:cNvGrpSpPr/>
          <p:nvPr/>
        </p:nvGrpSpPr>
        <p:grpSpPr>
          <a:xfrm>
            <a:off x="5718870" y="2496182"/>
            <a:ext cx="191734" cy="315562"/>
            <a:chOff x="3219970" y="2049848"/>
            <a:chExt cx="819826" cy="1646582"/>
          </a:xfrm>
        </p:grpSpPr>
        <p:sp>
          <p:nvSpPr>
            <p:cNvPr id="42" name="자유형: 도형 49">
              <a:extLst>
                <a:ext uri="{FF2B5EF4-FFF2-40B4-BE49-F238E27FC236}">
                  <a16:creationId xmlns:a16="http://schemas.microsoft.com/office/drawing/2014/main" xmlns="" id="{3F44062F-4E2B-4141-842B-9ED3D718753F}"/>
                </a:ext>
              </a:extLst>
            </p:cNvPr>
            <p:cNvSpPr/>
            <p:nvPr/>
          </p:nvSpPr>
          <p:spPr>
            <a:xfrm rot="5400000">
              <a:off x="2806592" y="2463226"/>
              <a:ext cx="1646582" cy="819826"/>
            </a:xfrm>
            <a:custGeom>
              <a:avLst/>
              <a:gdLst>
                <a:gd name="connsiteX0" fmla="*/ 0 w 1646582"/>
                <a:gd name="connsiteY0" fmla="*/ 819826 h 819826"/>
                <a:gd name="connsiteX1" fmla="*/ 823291 w 1646582"/>
                <a:gd name="connsiteY1" fmla="*/ 0 h 819826"/>
                <a:gd name="connsiteX2" fmla="*/ 1646582 w 1646582"/>
                <a:gd name="connsiteY2" fmla="*/ 819826 h 819826"/>
                <a:gd name="connsiteX3" fmla="*/ 1217553 w 1646582"/>
                <a:gd name="connsiteY3" fmla="*/ 819826 h 819826"/>
                <a:gd name="connsiteX4" fmla="*/ 1217552 w 1646582"/>
                <a:gd name="connsiteY4" fmla="*/ 819825 h 819826"/>
                <a:gd name="connsiteX5" fmla="*/ 1320422 w 1646582"/>
                <a:gd name="connsiteY5" fmla="*/ 819825 h 819826"/>
                <a:gd name="connsiteX6" fmla="*/ 823292 w 1646582"/>
                <a:gd name="connsiteY6" fmla="*/ 324784 h 819826"/>
                <a:gd name="connsiteX7" fmla="*/ 326162 w 1646582"/>
                <a:gd name="connsiteY7" fmla="*/ 819825 h 819826"/>
                <a:gd name="connsiteX8" fmla="*/ 429034 w 1646582"/>
                <a:gd name="connsiteY8" fmla="*/ 819825 h 819826"/>
                <a:gd name="connsiteX9" fmla="*/ 429033 w 1646582"/>
                <a:gd name="connsiteY9" fmla="*/ 819826 h 819826"/>
                <a:gd name="connsiteX10" fmla="*/ 0 w 1646582"/>
                <a:gd name="connsiteY10" fmla="*/ 819826 h 81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46582" h="819826">
                  <a:moveTo>
                    <a:pt x="0" y="819826"/>
                  </a:moveTo>
                  <a:lnTo>
                    <a:pt x="823291" y="0"/>
                  </a:lnTo>
                  <a:lnTo>
                    <a:pt x="1646582" y="819826"/>
                  </a:lnTo>
                  <a:lnTo>
                    <a:pt x="1217553" y="819826"/>
                  </a:lnTo>
                  <a:lnTo>
                    <a:pt x="1217552" y="819825"/>
                  </a:lnTo>
                  <a:lnTo>
                    <a:pt x="1320422" y="819825"/>
                  </a:lnTo>
                  <a:lnTo>
                    <a:pt x="823292" y="324784"/>
                  </a:lnTo>
                  <a:lnTo>
                    <a:pt x="326162" y="819825"/>
                  </a:lnTo>
                  <a:lnTo>
                    <a:pt x="429034" y="819825"/>
                  </a:lnTo>
                  <a:lnTo>
                    <a:pt x="429033" y="819826"/>
                  </a:lnTo>
                  <a:lnTo>
                    <a:pt x="0" y="819826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sz="1200"/>
            </a:p>
          </p:txBody>
        </p:sp>
        <p:sp>
          <p:nvSpPr>
            <p:cNvPr id="43" name="자유형: 도형 53">
              <a:extLst>
                <a:ext uri="{FF2B5EF4-FFF2-40B4-BE49-F238E27FC236}">
                  <a16:creationId xmlns:a16="http://schemas.microsoft.com/office/drawing/2014/main" xmlns="" id="{73AB5181-7CD5-F848-980F-353E2D095F70}"/>
                </a:ext>
              </a:extLst>
            </p:cNvPr>
            <p:cNvSpPr/>
            <p:nvPr/>
          </p:nvSpPr>
          <p:spPr>
            <a:xfrm rot="5400000">
              <a:off x="3022012" y="2676841"/>
              <a:ext cx="788518" cy="392601"/>
            </a:xfrm>
            <a:custGeom>
              <a:avLst/>
              <a:gdLst>
                <a:gd name="connsiteX0" fmla="*/ 0 w 788518"/>
                <a:gd name="connsiteY0" fmla="*/ 392601 h 392601"/>
                <a:gd name="connsiteX1" fmla="*/ 394259 w 788518"/>
                <a:gd name="connsiteY1" fmla="*/ 0 h 392601"/>
                <a:gd name="connsiteX2" fmla="*/ 788518 w 788518"/>
                <a:gd name="connsiteY2" fmla="*/ 392601 h 392601"/>
                <a:gd name="connsiteX3" fmla="*/ 0 w 788518"/>
                <a:gd name="connsiteY3" fmla="*/ 392601 h 392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518" h="392601">
                  <a:moveTo>
                    <a:pt x="0" y="392601"/>
                  </a:moveTo>
                  <a:lnTo>
                    <a:pt x="394259" y="0"/>
                  </a:lnTo>
                  <a:lnTo>
                    <a:pt x="788518" y="392601"/>
                  </a:lnTo>
                  <a:lnTo>
                    <a:pt x="0" y="392601"/>
                  </a:lnTo>
                  <a:close/>
                </a:path>
              </a:pathLst>
            </a:custGeom>
            <a:solidFill>
              <a:srgbClr val="BC44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sz="1200"/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xmlns="" id="{2264AD4C-3337-1A48-8315-8579E51680DC}"/>
              </a:ext>
            </a:extLst>
          </p:cNvPr>
          <p:cNvGrpSpPr/>
          <p:nvPr/>
        </p:nvGrpSpPr>
        <p:grpSpPr>
          <a:xfrm>
            <a:off x="5718870" y="3545987"/>
            <a:ext cx="191734" cy="315562"/>
            <a:chOff x="3219970" y="2049848"/>
            <a:chExt cx="819826" cy="1646582"/>
          </a:xfrm>
        </p:grpSpPr>
        <p:sp>
          <p:nvSpPr>
            <p:cNvPr id="45" name="자유형: 도형 55">
              <a:extLst>
                <a:ext uri="{FF2B5EF4-FFF2-40B4-BE49-F238E27FC236}">
                  <a16:creationId xmlns:a16="http://schemas.microsoft.com/office/drawing/2014/main" xmlns="" id="{73458A52-D1AD-9842-B49F-E202E31A5127}"/>
                </a:ext>
              </a:extLst>
            </p:cNvPr>
            <p:cNvSpPr/>
            <p:nvPr/>
          </p:nvSpPr>
          <p:spPr>
            <a:xfrm rot="5400000">
              <a:off x="2806592" y="2463226"/>
              <a:ext cx="1646582" cy="819826"/>
            </a:xfrm>
            <a:custGeom>
              <a:avLst/>
              <a:gdLst>
                <a:gd name="connsiteX0" fmla="*/ 0 w 1646582"/>
                <a:gd name="connsiteY0" fmla="*/ 819826 h 819826"/>
                <a:gd name="connsiteX1" fmla="*/ 823291 w 1646582"/>
                <a:gd name="connsiteY1" fmla="*/ 0 h 819826"/>
                <a:gd name="connsiteX2" fmla="*/ 1646582 w 1646582"/>
                <a:gd name="connsiteY2" fmla="*/ 819826 h 819826"/>
                <a:gd name="connsiteX3" fmla="*/ 1217553 w 1646582"/>
                <a:gd name="connsiteY3" fmla="*/ 819826 h 819826"/>
                <a:gd name="connsiteX4" fmla="*/ 1217552 w 1646582"/>
                <a:gd name="connsiteY4" fmla="*/ 819825 h 819826"/>
                <a:gd name="connsiteX5" fmla="*/ 1320422 w 1646582"/>
                <a:gd name="connsiteY5" fmla="*/ 819825 h 819826"/>
                <a:gd name="connsiteX6" fmla="*/ 823292 w 1646582"/>
                <a:gd name="connsiteY6" fmla="*/ 324784 h 819826"/>
                <a:gd name="connsiteX7" fmla="*/ 326162 w 1646582"/>
                <a:gd name="connsiteY7" fmla="*/ 819825 h 819826"/>
                <a:gd name="connsiteX8" fmla="*/ 429034 w 1646582"/>
                <a:gd name="connsiteY8" fmla="*/ 819825 h 819826"/>
                <a:gd name="connsiteX9" fmla="*/ 429033 w 1646582"/>
                <a:gd name="connsiteY9" fmla="*/ 819826 h 819826"/>
                <a:gd name="connsiteX10" fmla="*/ 0 w 1646582"/>
                <a:gd name="connsiteY10" fmla="*/ 819826 h 81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46582" h="819826">
                  <a:moveTo>
                    <a:pt x="0" y="819826"/>
                  </a:moveTo>
                  <a:lnTo>
                    <a:pt x="823291" y="0"/>
                  </a:lnTo>
                  <a:lnTo>
                    <a:pt x="1646582" y="819826"/>
                  </a:lnTo>
                  <a:lnTo>
                    <a:pt x="1217553" y="819826"/>
                  </a:lnTo>
                  <a:lnTo>
                    <a:pt x="1217552" y="819825"/>
                  </a:lnTo>
                  <a:lnTo>
                    <a:pt x="1320422" y="819825"/>
                  </a:lnTo>
                  <a:lnTo>
                    <a:pt x="823292" y="324784"/>
                  </a:lnTo>
                  <a:lnTo>
                    <a:pt x="326162" y="819825"/>
                  </a:lnTo>
                  <a:lnTo>
                    <a:pt x="429034" y="819825"/>
                  </a:lnTo>
                  <a:lnTo>
                    <a:pt x="429033" y="819826"/>
                  </a:lnTo>
                  <a:lnTo>
                    <a:pt x="0" y="819826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sz="1200"/>
            </a:p>
          </p:txBody>
        </p:sp>
        <p:sp>
          <p:nvSpPr>
            <p:cNvPr id="46" name="자유형: 도형 56">
              <a:extLst>
                <a:ext uri="{FF2B5EF4-FFF2-40B4-BE49-F238E27FC236}">
                  <a16:creationId xmlns:a16="http://schemas.microsoft.com/office/drawing/2014/main" xmlns="" id="{90B3659E-62B2-E247-AD23-740F86FCBE55}"/>
                </a:ext>
              </a:extLst>
            </p:cNvPr>
            <p:cNvSpPr/>
            <p:nvPr/>
          </p:nvSpPr>
          <p:spPr>
            <a:xfrm rot="5400000">
              <a:off x="3022012" y="2676841"/>
              <a:ext cx="788518" cy="392601"/>
            </a:xfrm>
            <a:custGeom>
              <a:avLst/>
              <a:gdLst>
                <a:gd name="connsiteX0" fmla="*/ 0 w 788518"/>
                <a:gd name="connsiteY0" fmla="*/ 392601 h 392601"/>
                <a:gd name="connsiteX1" fmla="*/ 394259 w 788518"/>
                <a:gd name="connsiteY1" fmla="*/ 0 h 392601"/>
                <a:gd name="connsiteX2" fmla="*/ 788518 w 788518"/>
                <a:gd name="connsiteY2" fmla="*/ 392601 h 392601"/>
                <a:gd name="connsiteX3" fmla="*/ 0 w 788518"/>
                <a:gd name="connsiteY3" fmla="*/ 392601 h 392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518" h="392601">
                  <a:moveTo>
                    <a:pt x="0" y="392601"/>
                  </a:moveTo>
                  <a:lnTo>
                    <a:pt x="394259" y="0"/>
                  </a:lnTo>
                  <a:lnTo>
                    <a:pt x="788518" y="392601"/>
                  </a:lnTo>
                  <a:lnTo>
                    <a:pt x="0" y="392601"/>
                  </a:lnTo>
                  <a:close/>
                </a:path>
              </a:pathLst>
            </a:custGeom>
            <a:solidFill>
              <a:srgbClr val="94B7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sz="1200"/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xmlns="" id="{8C486680-8B33-D54C-9D05-6E7C6653757A}"/>
              </a:ext>
            </a:extLst>
          </p:cNvPr>
          <p:cNvGrpSpPr/>
          <p:nvPr/>
        </p:nvGrpSpPr>
        <p:grpSpPr>
          <a:xfrm>
            <a:off x="5718870" y="4954406"/>
            <a:ext cx="191734" cy="315562"/>
            <a:chOff x="3219970" y="2049848"/>
            <a:chExt cx="819826" cy="1646582"/>
          </a:xfrm>
        </p:grpSpPr>
        <p:sp>
          <p:nvSpPr>
            <p:cNvPr id="48" name="자유형: 도형 58">
              <a:extLst>
                <a:ext uri="{FF2B5EF4-FFF2-40B4-BE49-F238E27FC236}">
                  <a16:creationId xmlns:a16="http://schemas.microsoft.com/office/drawing/2014/main" xmlns="" id="{5539C70D-7748-E945-B353-5B694680B909}"/>
                </a:ext>
              </a:extLst>
            </p:cNvPr>
            <p:cNvSpPr/>
            <p:nvPr/>
          </p:nvSpPr>
          <p:spPr>
            <a:xfrm rot="5400000">
              <a:off x="2806592" y="2463226"/>
              <a:ext cx="1646582" cy="819826"/>
            </a:xfrm>
            <a:custGeom>
              <a:avLst/>
              <a:gdLst>
                <a:gd name="connsiteX0" fmla="*/ 0 w 1646582"/>
                <a:gd name="connsiteY0" fmla="*/ 819826 h 819826"/>
                <a:gd name="connsiteX1" fmla="*/ 823291 w 1646582"/>
                <a:gd name="connsiteY1" fmla="*/ 0 h 819826"/>
                <a:gd name="connsiteX2" fmla="*/ 1646582 w 1646582"/>
                <a:gd name="connsiteY2" fmla="*/ 819826 h 819826"/>
                <a:gd name="connsiteX3" fmla="*/ 1217553 w 1646582"/>
                <a:gd name="connsiteY3" fmla="*/ 819826 h 819826"/>
                <a:gd name="connsiteX4" fmla="*/ 1217552 w 1646582"/>
                <a:gd name="connsiteY4" fmla="*/ 819825 h 819826"/>
                <a:gd name="connsiteX5" fmla="*/ 1320422 w 1646582"/>
                <a:gd name="connsiteY5" fmla="*/ 819825 h 819826"/>
                <a:gd name="connsiteX6" fmla="*/ 823292 w 1646582"/>
                <a:gd name="connsiteY6" fmla="*/ 324784 h 819826"/>
                <a:gd name="connsiteX7" fmla="*/ 326162 w 1646582"/>
                <a:gd name="connsiteY7" fmla="*/ 819825 h 819826"/>
                <a:gd name="connsiteX8" fmla="*/ 429034 w 1646582"/>
                <a:gd name="connsiteY8" fmla="*/ 819825 h 819826"/>
                <a:gd name="connsiteX9" fmla="*/ 429033 w 1646582"/>
                <a:gd name="connsiteY9" fmla="*/ 819826 h 819826"/>
                <a:gd name="connsiteX10" fmla="*/ 0 w 1646582"/>
                <a:gd name="connsiteY10" fmla="*/ 819826 h 81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46582" h="819826">
                  <a:moveTo>
                    <a:pt x="0" y="819826"/>
                  </a:moveTo>
                  <a:lnTo>
                    <a:pt x="823291" y="0"/>
                  </a:lnTo>
                  <a:lnTo>
                    <a:pt x="1646582" y="819826"/>
                  </a:lnTo>
                  <a:lnTo>
                    <a:pt x="1217553" y="819826"/>
                  </a:lnTo>
                  <a:lnTo>
                    <a:pt x="1217552" y="819825"/>
                  </a:lnTo>
                  <a:lnTo>
                    <a:pt x="1320422" y="819825"/>
                  </a:lnTo>
                  <a:lnTo>
                    <a:pt x="823292" y="324784"/>
                  </a:lnTo>
                  <a:lnTo>
                    <a:pt x="326162" y="819825"/>
                  </a:lnTo>
                  <a:lnTo>
                    <a:pt x="429034" y="819825"/>
                  </a:lnTo>
                  <a:lnTo>
                    <a:pt x="429033" y="819826"/>
                  </a:lnTo>
                  <a:lnTo>
                    <a:pt x="0" y="819826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sz="1200"/>
            </a:p>
          </p:txBody>
        </p:sp>
        <p:sp>
          <p:nvSpPr>
            <p:cNvPr id="49" name="자유형: 도형 59">
              <a:extLst>
                <a:ext uri="{FF2B5EF4-FFF2-40B4-BE49-F238E27FC236}">
                  <a16:creationId xmlns:a16="http://schemas.microsoft.com/office/drawing/2014/main" xmlns="" id="{9C0D565E-246D-8C41-9C04-D4E3764DC25A}"/>
                </a:ext>
              </a:extLst>
            </p:cNvPr>
            <p:cNvSpPr/>
            <p:nvPr/>
          </p:nvSpPr>
          <p:spPr>
            <a:xfrm rot="5400000">
              <a:off x="3022012" y="2676841"/>
              <a:ext cx="788518" cy="392601"/>
            </a:xfrm>
            <a:custGeom>
              <a:avLst/>
              <a:gdLst>
                <a:gd name="connsiteX0" fmla="*/ 0 w 788518"/>
                <a:gd name="connsiteY0" fmla="*/ 392601 h 392601"/>
                <a:gd name="connsiteX1" fmla="*/ 394259 w 788518"/>
                <a:gd name="connsiteY1" fmla="*/ 0 h 392601"/>
                <a:gd name="connsiteX2" fmla="*/ 788518 w 788518"/>
                <a:gd name="connsiteY2" fmla="*/ 392601 h 392601"/>
                <a:gd name="connsiteX3" fmla="*/ 0 w 788518"/>
                <a:gd name="connsiteY3" fmla="*/ 392601 h 392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518" h="392601">
                  <a:moveTo>
                    <a:pt x="0" y="392601"/>
                  </a:moveTo>
                  <a:lnTo>
                    <a:pt x="394259" y="0"/>
                  </a:lnTo>
                  <a:lnTo>
                    <a:pt x="788518" y="392601"/>
                  </a:lnTo>
                  <a:lnTo>
                    <a:pt x="0" y="392601"/>
                  </a:lnTo>
                  <a:close/>
                </a:path>
              </a:pathLst>
            </a:custGeom>
            <a:solidFill>
              <a:srgbClr val="37284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sz="1200"/>
            </a:p>
          </p:txBody>
        </p:sp>
      </p:grpSp>
      <p:sp>
        <p:nvSpPr>
          <p:cNvPr id="50" name="타원 49">
            <a:extLst>
              <a:ext uri="{FF2B5EF4-FFF2-40B4-BE49-F238E27FC236}">
                <a16:creationId xmlns:a16="http://schemas.microsoft.com/office/drawing/2014/main" xmlns="" id="{562BD095-5F7A-0547-A662-AAEDCF7876DC}"/>
              </a:ext>
            </a:extLst>
          </p:cNvPr>
          <p:cNvSpPr/>
          <p:nvPr/>
        </p:nvSpPr>
        <p:spPr>
          <a:xfrm>
            <a:off x="6016594" y="2455281"/>
            <a:ext cx="397364" cy="397364"/>
          </a:xfrm>
          <a:prstGeom prst="ellipse">
            <a:avLst/>
          </a:prstGeom>
          <a:solidFill>
            <a:srgbClr val="BC4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1200" b="1" dirty="0"/>
              <a:t>01</a:t>
            </a:r>
            <a:endParaRPr lang="ko-KR" altLang="en-US" sz="1200" b="1" dirty="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xmlns="" id="{3CB73482-8201-EE40-94BF-2D6118613818}"/>
              </a:ext>
            </a:extLst>
          </p:cNvPr>
          <p:cNvSpPr/>
          <p:nvPr/>
        </p:nvSpPr>
        <p:spPr>
          <a:xfrm>
            <a:off x="6016594" y="3505086"/>
            <a:ext cx="397364" cy="397364"/>
          </a:xfrm>
          <a:prstGeom prst="ellipse">
            <a:avLst/>
          </a:prstGeom>
          <a:solidFill>
            <a:srgbClr val="94B7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1200" b="1" dirty="0"/>
              <a:t>02</a:t>
            </a:r>
            <a:endParaRPr lang="ko-KR" altLang="en-US" sz="1200" b="1" dirty="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xmlns="" id="{B047F316-7D55-5643-9C2B-073E3C321D76}"/>
              </a:ext>
            </a:extLst>
          </p:cNvPr>
          <p:cNvSpPr/>
          <p:nvPr/>
        </p:nvSpPr>
        <p:spPr>
          <a:xfrm>
            <a:off x="6016594" y="4913505"/>
            <a:ext cx="397364" cy="397364"/>
          </a:xfrm>
          <a:prstGeom prst="ellipse">
            <a:avLst/>
          </a:prstGeom>
          <a:solidFill>
            <a:srgbClr val="3728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1200" b="1" dirty="0"/>
              <a:t>03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73408351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사용자 지정 3">
    <a:majorFont>
      <a:latin typeface="Calibri"/>
      <a:ea typeface="맑은 고딕"/>
      <a:cs typeface=""/>
    </a:majorFont>
    <a:minorFont>
      <a:latin typeface="Calibri"/>
      <a:ea typeface="맑은 고딕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1338</TotalTime>
  <Words>4068</Words>
  <Application>Microsoft Office PowerPoint</Application>
  <PresentationFormat>화면 슬라이드 쇼(4:3)</PresentationFormat>
  <Paragraphs>991</Paragraphs>
  <Slides>54</Slides>
  <Notes>48</Notes>
  <HiddenSlides>0</HiddenSlides>
  <MMClips>0</MMClips>
  <ScaleCrop>false</ScaleCrop>
  <HeadingPairs>
    <vt:vector size="6" baseType="variant">
      <vt:variant>
        <vt:lpstr>테마</vt:lpstr>
      </vt:variant>
      <vt:variant>
        <vt:i4>3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54</vt:i4>
      </vt:variant>
    </vt:vector>
  </HeadingPairs>
  <TitlesOfParts>
    <vt:vector size="58" baseType="lpstr">
      <vt:lpstr>1_Office 테마</vt:lpstr>
      <vt:lpstr>2_Office 테마</vt:lpstr>
      <vt:lpstr>3_Office 테마</vt:lpstr>
      <vt:lpstr>Equation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Windows 사용자</cp:lastModifiedBy>
  <cp:revision>69</cp:revision>
  <dcterms:created xsi:type="dcterms:W3CDTF">2020-02-07T10:17:02Z</dcterms:created>
  <dcterms:modified xsi:type="dcterms:W3CDTF">2020-02-10T05:39:46Z</dcterms:modified>
</cp:coreProperties>
</file>